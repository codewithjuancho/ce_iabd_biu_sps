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6DEA51A9-5F1E-8642-99E9-550A6D037C17}"/>
    <pc:docChg chg="addSld modSld">
      <pc:chgData name="juan jose sanchez sanchez" userId="bf9c9b758c35a626" providerId="LiveId" clId="{6DEA51A9-5F1E-8642-99E9-550A6D037C17}" dt="2026-10-01T11:19:36.431" v="0"/>
      <pc:docMkLst>
        <pc:docMk/>
      </pc:docMkLst>
      <pc:sldChg chg="add">
        <pc:chgData name="juan jose sanchez sanchez" userId="bf9c9b758c35a626" providerId="LiveId" clId="{6DEA51A9-5F1E-8642-99E9-550A6D037C17}" dt="2026-10-01T11:19:36.431" v="0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284" y="253491"/>
            <a:ext cx="1975485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4084" y="1475739"/>
            <a:ext cx="3931920" cy="160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g"/><Relationship Id="rId10" Type="http://schemas.openxmlformats.org/officeDocument/2006/relationships/image" Target="../media/image13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3397117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lang="es-ES" sz="1600" dirty="0">
                <a:latin typeface="Arial"/>
                <a:cs typeface="Arial"/>
              </a:rPr>
              <a:t>Juan José Sánchez Sánchez</a:t>
            </a:r>
          </a:p>
          <a:p>
            <a:pPr marL="58419">
              <a:lnSpc>
                <a:spcPts val="1360"/>
              </a:lnSpc>
            </a:pPr>
            <a:r>
              <a:rPr lang="es-ES" sz="1300" dirty="0" err="1">
                <a:latin typeface="Arial"/>
                <a:cs typeface="Arial"/>
              </a:rPr>
              <a:t>juanjose_sanchez@cifpzonzamas.es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146683" y="2471885"/>
            <a:ext cx="3931920" cy="62606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lang="es-ES" spc="-10" dirty="0"/>
              <a:t>Presentación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200"/>
              </a:lnSpc>
            </a:pPr>
            <a:r>
              <a:rPr spc="-265" dirty="0"/>
              <a:t>Presentación </a:t>
            </a:r>
            <a:r>
              <a:rPr spc="-150" dirty="0"/>
              <a:t>participantes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9489" y="2597280"/>
            <a:ext cx="3827779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100"/>
              </a:spcBef>
              <a:buSzPct val="97142"/>
              <a:buChar char="•"/>
              <a:tabLst>
                <a:tab pos="233679" algn="l"/>
              </a:tabLst>
            </a:pPr>
            <a:r>
              <a:rPr sz="3500" spc="-10" dirty="0">
                <a:latin typeface="Arial"/>
                <a:cs typeface="Arial"/>
              </a:rPr>
              <a:t>Motivación</a:t>
            </a:r>
            <a:endParaRPr sz="350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100"/>
              </a:spcBef>
              <a:buSzPct val="97142"/>
              <a:buChar char="•"/>
              <a:tabLst>
                <a:tab pos="233679" algn="l"/>
              </a:tabLst>
            </a:pPr>
            <a:r>
              <a:rPr sz="3500" spc="-145" dirty="0">
                <a:latin typeface="Arial"/>
                <a:cs typeface="Arial"/>
              </a:rPr>
              <a:t>¿Imparten</a:t>
            </a:r>
            <a:r>
              <a:rPr sz="3500" spc="-170" dirty="0">
                <a:latin typeface="Arial"/>
                <a:cs typeface="Arial"/>
              </a:rPr>
              <a:t> </a:t>
            </a:r>
            <a:r>
              <a:rPr sz="3500" spc="-105" dirty="0">
                <a:latin typeface="Arial"/>
                <a:cs typeface="Arial"/>
              </a:rPr>
              <a:t>el</a:t>
            </a:r>
            <a:r>
              <a:rPr sz="3500" spc="-170" dirty="0">
                <a:latin typeface="Arial"/>
                <a:cs typeface="Arial"/>
              </a:rPr>
              <a:t> </a:t>
            </a:r>
            <a:r>
              <a:rPr sz="3500" spc="-175" dirty="0">
                <a:latin typeface="Arial"/>
                <a:cs typeface="Arial"/>
              </a:rPr>
              <a:t>curso?</a:t>
            </a:r>
            <a:endParaRPr sz="3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0134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4496" y="1326387"/>
            <a:ext cx="13531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Objetivos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390651"/>
            <a:ext cx="5175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Gestionar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soluciones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problemas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0052" y="680211"/>
            <a:ext cx="1663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Big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1137411"/>
            <a:ext cx="3633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Gestión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sistemas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430019"/>
            <a:ext cx="2443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887219"/>
            <a:ext cx="4226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Desarrollar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mecanismos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0052" y="2179827"/>
            <a:ext cx="3989948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>
                <a:latin typeface="Arial"/>
                <a:cs typeface="Arial"/>
              </a:rPr>
              <a:t>integridad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4302" y="2637027"/>
            <a:ext cx="4621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90" dirty="0">
                <a:latin typeface="Arial"/>
                <a:cs typeface="Arial"/>
              </a:rPr>
              <a:t>Implementar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seguimiento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0052" y="2929635"/>
            <a:ext cx="47910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monitorización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sistema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Big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44302" y="3234435"/>
            <a:ext cx="475932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Validación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técnicas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Big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9858" y="1326387"/>
            <a:ext cx="1627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Contenidos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390651"/>
            <a:ext cx="4255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Almacenamiento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680211"/>
            <a:ext cx="4792446" cy="195198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marR="567055">
              <a:lnSpc>
                <a:spcPct val="71400"/>
              </a:lnSpc>
              <a:spcBef>
                <a:spcPts val="1060"/>
              </a:spcBef>
            </a:pPr>
            <a:r>
              <a:rPr sz="2800" spc="-165" dirty="0">
                <a:latin typeface="Arial"/>
                <a:cs typeface="Arial"/>
              </a:rPr>
              <a:t>masivos,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procesamiento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14" dirty="0">
                <a:latin typeface="Arial"/>
                <a:cs typeface="Arial"/>
              </a:rPr>
              <a:t>analítica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Big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Data</a:t>
            </a:r>
            <a:endParaRPr sz="2800" dirty="0">
              <a:latin typeface="Arial"/>
              <a:cs typeface="Arial"/>
            </a:endParaRPr>
          </a:p>
          <a:p>
            <a:pPr marL="298450" marR="892810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135" dirty="0">
                <a:latin typeface="Arial"/>
                <a:cs typeface="Arial"/>
              </a:rPr>
              <a:t>Computación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paralela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0" dirty="0">
                <a:latin typeface="Arial"/>
                <a:cs typeface="Arial"/>
              </a:rPr>
              <a:t>distribuida.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Calidad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integridad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datos.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052" y="2484627"/>
            <a:ext cx="392217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Actualización </a:t>
            </a:r>
            <a:r>
              <a:rPr sz="2800" spc="-140" dirty="0">
                <a:latin typeface="Arial"/>
                <a:cs typeface="Arial"/>
              </a:rPr>
              <a:t>y </a:t>
            </a:r>
            <a:r>
              <a:rPr sz="2800" spc="-90" dirty="0">
                <a:latin typeface="Arial"/>
                <a:cs typeface="Arial"/>
              </a:rPr>
              <a:t>migración.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4302" y="2746755"/>
            <a:ext cx="5418698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Arial"/>
                <a:cs typeface="Arial"/>
              </a:rPr>
              <a:t>Metadatos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Monitorización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sistemas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Validación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técnicas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Big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0051" y="3984244"/>
            <a:ext cx="4114613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latin typeface="Arial"/>
                <a:cs typeface="Arial"/>
              </a:rPr>
              <a:t>entornos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Inteligencia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0052" y="4276851"/>
            <a:ext cx="12525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latin typeface="Arial"/>
                <a:cs typeface="Arial"/>
              </a:rPr>
              <a:t>Negocio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54886" y="3943584"/>
            <a:ext cx="926482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4357" y="1326387"/>
            <a:ext cx="1703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Tecnologías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10221" y="2847082"/>
            <a:ext cx="5834380" cy="2296795"/>
            <a:chOff x="3310221" y="2847082"/>
            <a:chExt cx="5834380" cy="2296795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2921" y="2859782"/>
              <a:ext cx="4993640" cy="2157095"/>
            </a:xfrm>
            <a:custGeom>
              <a:avLst/>
              <a:gdLst/>
              <a:ahLst/>
              <a:cxnLst/>
              <a:rect l="l" t="t" r="r" b="b"/>
              <a:pathLst>
                <a:path w="4993640" h="2157095">
                  <a:moveTo>
                    <a:pt x="0" y="359434"/>
                  </a:moveTo>
                  <a:lnTo>
                    <a:pt x="3281" y="310661"/>
                  </a:lnTo>
                  <a:lnTo>
                    <a:pt x="12839" y="263882"/>
                  </a:lnTo>
                  <a:lnTo>
                    <a:pt x="28246" y="219526"/>
                  </a:lnTo>
                  <a:lnTo>
                    <a:pt x="49073" y="178021"/>
                  </a:lnTo>
                  <a:lnTo>
                    <a:pt x="74892" y="139794"/>
                  </a:lnTo>
                  <a:lnTo>
                    <a:pt x="105275" y="105275"/>
                  </a:lnTo>
                  <a:lnTo>
                    <a:pt x="139794" y="74892"/>
                  </a:lnTo>
                  <a:lnTo>
                    <a:pt x="178020" y="49073"/>
                  </a:lnTo>
                  <a:lnTo>
                    <a:pt x="219526" y="28246"/>
                  </a:lnTo>
                  <a:lnTo>
                    <a:pt x="263882" y="12839"/>
                  </a:lnTo>
                  <a:lnTo>
                    <a:pt x="310661" y="3281"/>
                  </a:lnTo>
                  <a:lnTo>
                    <a:pt x="359434" y="0"/>
                  </a:lnTo>
                  <a:lnTo>
                    <a:pt x="4634059" y="0"/>
                  </a:lnTo>
                  <a:lnTo>
                    <a:pt x="4682832" y="3281"/>
                  </a:lnTo>
                  <a:lnTo>
                    <a:pt x="4729610" y="12839"/>
                  </a:lnTo>
                  <a:lnTo>
                    <a:pt x="4773967" y="28246"/>
                  </a:lnTo>
                  <a:lnTo>
                    <a:pt x="4815472" y="49073"/>
                  </a:lnTo>
                  <a:lnTo>
                    <a:pt x="4853698" y="74892"/>
                  </a:lnTo>
                  <a:lnTo>
                    <a:pt x="4888217" y="105275"/>
                  </a:lnTo>
                  <a:lnTo>
                    <a:pt x="4918600" y="139794"/>
                  </a:lnTo>
                  <a:lnTo>
                    <a:pt x="4944419" y="178021"/>
                  </a:lnTo>
                  <a:lnTo>
                    <a:pt x="4965246" y="219526"/>
                  </a:lnTo>
                  <a:lnTo>
                    <a:pt x="4980653" y="263882"/>
                  </a:lnTo>
                  <a:lnTo>
                    <a:pt x="4990211" y="310661"/>
                  </a:lnTo>
                  <a:lnTo>
                    <a:pt x="4993493" y="359434"/>
                  </a:lnTo>
                  <a:lnTo>
                    <a:pt x="4993493" y="1797123"/>
                  </a:lnTo>
                  <a:lnTo>
                    <a:pt x="4990211" y="1845896"/>
                  </a:lnTo>
                  <a:lnTo>
                    <a:pt x="4980653" y="1892675"/>
                  </a:lnTo>
                  <a:lnTo>
                    <a:pt x="4965246" y="1937031"/>
                  </a:lnTo>
                  <a:lnTo>
                    <a:pt x="4944419" y="1978536"/>
                  </a:lnTo>
                  <a:lnTo>
                    <a:pt x="4918600" y="2016763"/>
                  </a:lnTo>
                  <a:lnTo>
                    <a:pt x="4888217" y="2051282"/>
                  </a:lnTo>
                  <a:lnTo>
                    <a:pt x="4853698" y="2081665"/>
                  </a:lnTo>
                  <a:lnTo>
                    <a:pt x="4815472" y="2107484"/>
                  </a:lnTo>
                  <a:lnTo>
                    <a:pt x="4773967" y="2128311"/>
                  </a:lnTo>
                  <a:lnTo>
                    <a:pt x="4729610" y="2143718"/>
                  </a:lnTo>
                  <a:lnTo>
                    <a:pt x="4682832" y="2153276"/>
                  </a:lnTo>
                  <a:lnTo>
                    <a:pt x="4634059" y="2156558"/>
                  </a:lnTo>
                  <a:lnTo>
                    <a:pt x="359434" y="2156558"/>
                  </a:lnTo>
                  <a:lnTo>
                    <a:pt x="310661" y="2153276"/>
                  </a:lnTo>
                  <a:lnTo>
                    <a:pt x="263882" y="2143718"/>
                  </a:lnTo>
                  <a:lnTo>
                    <a:pt x="219526" y="2128311"/>
                  </a:lnTo>
                  <a:lnTo>
                    <a:pt x="178020" y="2107484"/>
                  </a:lnTo>
                  <a:lnTo>
                    <a:pt x="139794" y="2081665"/>
                  </a:lnTo>
                  <a:lnTo>
                    <a:pt x="105275" y="2051282"/>
                  </a:lnTo>
                  <a:lnTo>
                    <a:pt x="74892" y="2016763"/>
                  </a:lnTo>
                  <a:lnTo>
                    <a:pt x="49073" y="1978536"/>
                  </a:lnTo>
                  <a:lnTo>
                    <a:pt x="28246" y="1937031"/>
                  </a:lnTo>
                  <a:lnTo>
                    <a:pt x="12839" y="1892675"/>
                  </a:lnTo>
                  <a:lnTo>
                    <a:pt x="3281" y="1845896"/>
                  </a:lnTo>
                  <a:lnTo>
                    <a:pt x="0" y="1797123"/>
                  </a:lnTo>
                  <a:lnTo>
                    <a:pt x="0" y="359434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7753" y="4443958"/>
              <a:ext cx="1513389" cy="4351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671" y="3631810"/>
              <a:ext cx="1569673" cy="9336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3125" y="4115762"/>
              <a:ext cx="1577696" cy="74982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7332" y="4211554"/>
              <a:ext cx="736459" cy="73645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5595" y="3147813"/>
              <a:ext cx="3563887" cy="92438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3250" y="3046859"/>
              <a:ext cx="1391157" cy="6348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3932" y="4121762"/>
              <a:ext cx="937286" cy="84355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335166" y="368997"/>
            <a:ext cx="2329815" cy="2329815"/>
            <a:chOff x="3335166" y="368997"/>
            <a:chExt cx="2329815" cy="2329815"/>
          </a:xfrm>
        </p:grpSpPr>
        <p:sp>
          <p:nvSpPr>
            <p:cNvPr id="15" name="object 15"/>
            <p:cNvSpPr/>
            <p:nvPr/>
          </p:nvSpPr>
          <p:spPr>
            <a:xfrm>
              <a:off x="3347866" y="381697"/>
              <a:ext cx="2304415" cy="2304415"/>
            </a:xfrm>
            <a:custGeom>
              <a:avLst/>
              <a:gdLst/>
              <a:ahLst/>
              <a:cxnLst/>
              <a:rect l="l" t="t" r="r" b="b"/>
              <a:pathLst>
                <a:path w="2304415" h="2304415">
                  <a:moveTo>
                    <a:pt x="0" y="384050"/>
                  </a:moveTo>
                  <a:lnTo>
                    <a:pt x="2992" y="335875"/>
                  </a:lnTo>
                  <a:lnTo>
                    <a:pt x="11729" y="289487"/>
                  </a:lnTo>
                  <a:lnTo>
                    <a:pt x="25850" y="245243"/>
                  </a:lnTo>
                  <a:lnTo>
                    <a:pt x="44997" y="203506"/>
                  </a:lnTo>
                  <a:lnTo>
                    <a:pt x="68809" y="164634"/>
                  </a:lnTo>
                  <a:lnTo>
                    <a:pt x="96925" y="128987"/>
                  </a:lnTo>
                  <a:lnTo>
                    <a:pt x="128987" y="96925"/>
                  </a:lnTo>
                  <a:lnTo>
                    <a:pt x="164634" y="68808"/>
                  </a:lnTo>
                  <a:lnTo>
                    <a:pt x="203506" y="44997"/>
                  </a:lnTo>
                  <a:lnTo>
                    <a:pt x="245243" y="25850"/>
                  </a:lnTo>
                  <a:lnTo>
                    <a:pt x="289487" y="11729"/>
                  </a:lnTo>
                  <a:lnTo>
                    <a:pt x="335875" y="2992"/>
                  </a:lnTo>
                  <a:lnTo>
                    <a:pt x="384050" y="0"/>
                  </a:lnTo>
                  <a:lnTo>
                    <a:pt x="1920204" y="0"/>
                  </a:lnTo>
                  <a:lnTo>
                    <a:pt x="1968378" y="2992"/>
                  </a:lnTo>
                  <a:lnTo>
                    <a:pt x="2014767" y="11729"/>
                  </a:lnTo>
                  <a:lnTo>
                    <a:pt x="2059010" y="25850"/>
                  </a:lnTo>
                  <a:lnTo>
                    <a:pt x="2100747" y="44997"/>
                  </a:lnTo>
                  <a:lnTo>
                    <a:pt x="2139620" y="68808"/>
                  </a:lnTo>
                  <a:lnTo>
                    <a:pt x="2175266" y="96925"/>
                  </a:lnTo>
                  <a:lnTo>
                    <a:pt x="2207328" y="128987"/>
                  </a:lnTo>
                  <a:lnTo>
                    <a:pt x="2235445" y="164634"/>
                  </a:lnTo>
                  <a:lnTo>
                    <a:pt x="2259256" y="203506"/>
                  </a:lnTo>
                  <a:lnTo>
                    <a:pt x="2278403" y="245243"/>
                  </a:lnTo>
                  <a:lnTo>
                    <a:pt x="2292524" y="289487"/>
                  </a:lnTo>
                  <a:lnTo>
                    <a:pt x="2301261" y="335875"/>
                  </a:lnTo>
                  <a:lnTo>
                    <a:pt x="2304254" y="384050"/>
                  </a:lnTo>
                  <a:lnTo>
                    <a:pt x="2304254" y="1920206"/>
                  </a:lnTo>
                  <a:lnTo>
                    <a:pt x="2301261" y="1968380"/>
                  </a:lnTo>
                  <a:lnTo>
                    <a:pt x="2292524" y="2014769"/>
                  </a:lnTo>
                  <a:lnTo>
                    <a:pt x="2278403" y="2059012"/>
                  </a:lnTo>
                  <a:lnTo>
                    <a:pt x="2259256" y="2100749"/>
                  </a:lnTo>
                  <a:lnTo>
                    <a:pt x="2235445" y="2139622"/>
                  </a:lnTo>
                  <a:lnTo>
                    <a:pt x="2207328" y="2175268"/>
                  </a:lnTo>
                  <a:lnTo>
                    <a:pt x="2175266" y="2207330"/>
                  </a:lnTo>
                  <a:lnTo>
                    <a:pt x="2139620" y="2235447"/>
                  </a:lnTo>
                  <a:lnTo>
                    <a:pt x="2100747" y="2259258"/>
                  </a:lnTo>
                  <a:lnTo>
                    <a:pt x="2059010" y="2278405"/>
                  </a:lnTo>
                  <a:lnTo>
                    <a:pt x="2014767" y="2292526"/>
                  </a:lnTo>
                  <a:lnTo>
                    <a:pt x="1968378" y="2301263"/>
                  </a:lnTo>
                  <a:lnTo>
                    <a:pt x="1920204" y="2304256"/>
                  </a:lnTo>
                  <a:lnTo>
                    <a:pt x="384050" y="2304256"/>
                  </a:lnTo>
                  <a:lnTo>
                    <a:pt x="335875" y="2301263"/>
                  </a:lnTo>
                  <a:lnTo>
                    <a:pt x="289487" y="2292526"/>
                  </a:lnTo>
                  <a:lnTo>
                    <a:pt x="245243" y="2278405"/>
                  </a:lnTo>
                  <a:lnTo>
                    <a:pt x="203506" y="2259258"/>
                  </a:lnTo>
                  <a:lnTo>
                    <a:pt x="164634" y="2235447"/>
                  </a:lnTo>
                  <a:lnTo>
                    <a:pt x="128987" y="2207330"/>
                  </a:lnTo>
                  <a:lnTo>
                    <a:pt x="96925" y="2175268"/>
                  </a:lnTo>
                  <a:lnTo>
                    <a:pt x="68809" y="2139622"/>
                  </a:lnTo>
                  <a:lnTo>
                    <a:pt x="44997" y="2100749"/>
                  </a:lnTo>
                  <a:lnTo>
                    <a:pt x="25850" y="2059012"/>
                  </a:lnTo>
                  <a:lnTo>
                    <a:pt x="11729" y="2014769"/>
                  </a:lnTo>
                  <a:lnTo>
                    <a:pt x="2992" y="1968380"/>
                  </a:lnTo>
                  <a:lnTo>
                    <a:pt x="0" y="1920206"/>
                  </a:lnTo>
                  <a:lnTo>
                    <a:pt x="0" y="38405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8184" y="1733798"/>
              <a:ext cx="693935" cy="6939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47863" y="1707654"/>
              <a:ext cx="693936" cy="6939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2003" y="1565001"/>
              <a:ext cx="911461" cy="1078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34103" y="959994"/>
              <a:ext cx="1512167" cy="675651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6372199" y="381697"/>
            <a:ext cx="2304415" cy="2304415"/>
          </a:xfrm>
          <a:custGeom>
            <a:avLst/>
            <a:gdLst/>
            <a:ahLst/>
            <a:cxnLst/>
            <a:rect l="l" t="t" r="r" b="b"/>
            <a:pathLst>
              <a:path w="2304415" h="2304415">
                <a:moveTo>
                  <a:pt x="0" y="384050"/>
                </a:moveTo>
                <a:lnTo>
                  <a:pt x="2992" y="335875"/>
                </a:lnTo>
                <a:lnTo>
                  <a:pt x="11729" y="289487"/>
                </a:lnTo>
                <a:lnTo>
                  <a:pt x="25850" y="245243"/>
                </a:lnTo>
                <a:lnTo>
                  <a:pt x="44997" y="203506"/>
                </a:lnTo>
                <a:lnTo>
                  <a:pt x="68809" y="164634"/>
                </a:lnTo>
                <a:lnTo>
                  <a:pt x="96925" y="128987"/>
                </a:lnTo>
                <a:lnTo>
                  <a:pt x="128987" y="96925"/>
                </a:lnTo>
                <a:lnTo>
                  <a:pt x="164634" y="68808"/>
                </a:lnTo>
                <a:lnTo>
                  <a:pt x="203506" y="44997"/>
                </a:lnTo>
                <a:lnTo>
                  <a:pt x="245243" y="25850"/>
                </a:lnTo>
                <a:lnTo>
                  <a:pt x="289487" y="11729"/>
                </a:lnTo>
                <a:lnTo>
                  <a:pt x="335875" y="2992"/>
                </a:lnTo>
                <a:lnTo>
                  <a:pt x="384050" y="0"/>
                </a:lnTo>
                <a:lnTo>
                  <a:pt x="1920204" y="0"/>
                </a:lnTo>
                <a:lnTo>
                  <a:pt x="1968378" y="2992"/>
                </a:lnTo>
                <a:lnTo>
                  <a:pt x="2014767" y="11729"/>
                </a:lnTo>
                <a:lnTo>
                  <a:pt x="2059010" y="25850"/>
                </a:lnTo>
                <a:lnTo>
                  <a:pt x="2100747" y="44997"/>
                </a:lnTo>
                <a:lnTo>
                  <a:pt x="2139620" y="68808"/>
                </a:lnTo>
                <a:lnTo>
                  <a:pt x="2175266" y="96925"/>
                </a:lnTo>
                <a:lnTo>
                  <a:pt x="2207328" y="128987"/>
                </a:lnTo>
                <a:lnTo>
                  <a:pt x="2235445" y="164634"/>
                </a:lnTo>
                <a:lnTo>
                  <a:pt x="2259256" y="203506"/>
                </a:lnTo>
                <a:lnTo>
                  <a:pt x="2278403" y="245243"/>
                </a:lnTo>
                <a:lnTo>
                  <a:pt x="2292524" y="289487"/>
                </a:lnTo>
                <a:lnTo>
                  <a:pt x="2301261" y="335875"/>
                </a:lnTo>
                <a:lnTo>
                  <a:pt x="2304254" y="384050"/>
                </a:lnTo>
                <a:lnTo>
                  <a:pt x="2304254" y="1920206"/>
                </a:lnTo>
                <a:lnTo>
                  <a:pt x="2301261" y="1968380"/>
                </a:lnTo>
                <a:lnTo>
                  <a:pt x="2292524" y="2014769"/>
                </a:lnTo>
                <a:lnTo>
                  <a:pt x="2278403" y="2059012"/>
                </a:lnTo>
                <a:lnTo>
                  <a:pt x="2259256" y="2100749"/>
                </a:lnTo>
                <a:lnTo>
                  <a:pt x="2235445" y="2139622"/>
                </a:lnTo>
                <a:lnTo>
                  <a:pt x="2207328" y="2175268"/>
                </a:lnTo>
                <a:lnTo>
                  <a:pt x="2175266" y="2207330"/>
                </a:lnTo>
                <a:lnTo>
                  <a:pt x="2139620" y="2235447"/>
                </a:lnTo>
                <a:lnTo>
                  <a:pt x="2100747" y="2259258"/>
                </a:lnTo>
                <a:lnTo>
                  <a:pt x="2059010" y="2278405"/>
                </a:lnTo>
                <a:lnTo>
                  <a:pt x="2014767" y="2292526"/>
                </a:lnTo>
                <a:lnTo>
                  <a:pt x="1968378" y="2301263"/>
                </a:lnTo>
                <a:lnTo>
                  <a:pt x="1920204" y="2304256"/>
                </a:lnTo>
                <a:lnTo>
                  <a:pt x="384050" y="2304256"/>
                </a:lnTo>
                <a:lnTo>
                  <a:pt x="335875" y="2301263"/>
                </a:lnTo>
                <a:lnTo>
                  <a:pt x="289487" y="2292526"/>
                </a:lnTo>
                <a:lnTo>
                  <a:pt x="245243" y="2278405"/>
                </a:lnTo>
                <a:lnTo>
                  <a:pt x="203506" y="2259258"/>
                </a:lnTo>
                <a:lnTo>
                  <a:pt x="164634" y="2235447"/>
                </a:lnTo>
                <a:lnTo>
                  <a:pt x="128987" y="2207330"/>
                </a:lnTo>
                <a:lnTo>
                  <a:pt x="96925" y="2175268"/>
                </a:lnTo>
                <a:lnTo>
                  <a:pt x="68809" y="2139622"/>
                </a:lnTo>
                <a:lnTo>
                  <a:pt x="44997" y="2100749"/>
                </a:lnTo>
                <a:lnTo>
                  <a:pt x="25850" y="2059012"/>
                </a:lnTo>
                <a:lnTo>
                  <a:pt x="11729" y="2014769"/>
                </a:lnTo>
                <a:lnTo>
                  <a:pt x="2992" y="1968380"/>
                </a:lnTo>
                <a:lnTo>
                  <a:pt x="0" y="1920206"/>
                </a:lnTo>
                <a:lnTo>
                  <a:pt x="0" y="384050"/>
                </a:lnTo>
                <a:close/>
              </a:path>
            </a:pathLst>
          </a:custGeom>
          <a:ln w="25400">
            <a:solidFill>
              <a:srgbClr val="0442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52077" y="380491"/>
            <a:ext cx="1777364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37795" marR="5080" indent="-125730">
              <a:lnSpc>
                <a:spcPts val="2110"/>
              </a:lnSpc>
              <a:spcBef>
                <a:spcPts val="210"/>
              </a:spcBef>
            </a:pPr>
            <a:r>
              <a:rPr sz="1800" b="1" dirty="0">
                <a:solidFill>
                  <a:srgbClr val="044247"/>
                </a:solidFill>
                <a:latin typeface="Arial Narrow"/>
                <a:cs typeface="Arial Narrow"/>
              </a:rPr>
              <a:t>Gestión</a:t>
            </a:r>
            <a:r>
              <a:rPr sz="1800" b="1" spc="-6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Soluciones Almacenamiento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95629" y="2879851"/>
            <a:ext cx="3151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Supercomputación,</a:t>
            </a:r>
            <a:r>
              <a:rPr sz="1800" b="1" spc="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Monitorización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64095" y="423163"/>
            <a:ext cx="212344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422909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solidFill>
                  <a:srgbClr val="044247"/>
                </a:solidFill>
                <a:latin typeface="Arial Narrow"/>
                <a:cs typeface="Arial Narrow"/>
              </a:rPr>
              <a:t>Calidad</a:t>
            </a:r>
            <a:r>
              <a:rPr sz="18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Datos </a:t>
            </a:r>
            <a:r>
              <a:rPr sz="1800" b="1" dirty="0">
                <a:solidFill>
                  <a:srgbClr val="044247"/>
                </a:solidFill>
                <a:latin typeface="Arial Narrow"/>
                <a:cs typeface="Arial Narrow"/>
              </a:rPr>
              <a:t>Inteligencia</a:t>
            </a:r>
            <a:r>
              <a:rPr sz="18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18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18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Negocio</a:t>
            </a:r>
            <a:endParaRPr sz="1800">
              <a:latin typeface="Arial Narrow"/>
              <a:cs typeface="Arial Narrow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54446" y="1018114"/>
            <a:ext cx="1616326" cy="16023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596" y="1326387"/>
            <a:ext cx="1823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Planificación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43100" y="581258"/>
          <a:ext cx="5483225" cy="3204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3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Tema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98B954"/>
                      </a:solidFill>
                      <a:prstDash val="solid"/>
                    </a:lnL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Semanas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9525">
                      <a:solidFill>
                        <a:srgbClr val="98B954"/>
                      </a:solidFill>
                      <a:prstDash val="solid"/>
                    </a:ln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90805" marR="1694814">
                        <a:lnSpc>
                          <a:spcPct val="101400"/>
                        </a:lnSpc>
                        <a:spcBef>
                          <a:spcPts val="70"/>
                        </a:spcBef>
                      </a:pPr>
                      <a:r>
                        <a:rPr sz="2800" spc="-15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2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14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2800" spc="-160" dirty="0">
                          <a:latin typeface="Arial"/>
                          <a:cs typeface="Arial"/>
                        </a:rPr>
                        <a:t>Soluciones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98B954"/>
                      </a:solidFill>
                      <a:prstDash val="solid"/>
                    </a:lnL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800" spc="-120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2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6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4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R w="9525">
                      <a:solidFill>
                        <a:srgbClr val="98B954"/>
                      </a:solidFill>
                      <a:prstDash val="solid"/>
                    </a:lnR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75" dirty="0">
                          <a:latin typeface="Arial"/>
                          <a:cs typeface="Arial"/>
                        </a:rPr>
                        <a:t>Supercomputación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9525">
                      <a:solidFill>
                        <a:srgbClr val="98B954"/>
                      </a:solidFill>
                      <a:prstDash val="solid"/>
                    </a:lnL>
                    <a:lnT w="9525">
                      <a:solidFill>
                        <a:srgbClr val="98B954"/>
                      </a:solidFill>
                      <a:prstDash val="solid"/>
                    </a:lnT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20" dirty="0">
                          <a:latin typeface="Arial"/>
                          <a:cs typeface="Arial"/>
                        </a:rPr>
                        <a:t>5,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20" dirty="0">
                          <a:latin typeface="Arial"/>
                          <a:cs typeface="Arial"/>
                        </a:rPr>
                        <a:t>6,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6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4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R w="9525">
                      <a:solidFill>
                        <a:srgbClr val="98B954"/>
                      </a:solidFill>
                      <a:prstDash val="solid"/>
                    </a:lnR>
                    <a:lnT w="9525">
                      <a:solidFill>
                        <a:srgbClr val="98B954"/>
                      </a:solidFill>
                      <a:prstDash val="solid"/>
                    </a:lnT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marL="90805" marR="372745">
                        <a:lnSpc>
                          <a:spcPct val="101400"/>
                        </a:lnSpc>
                        <a:spcBef>
                          <a:spcPts val="100"/>
                        </a:spcBef>
                      </a:pPr>
                      <a:r>
                        <a:rPr sz="2800" spc="-175" dirty="0">
                          <a:latin typeface="Arial"/>
                          <a:cs typeface="Arial"/>
                        </a:rPr>
                        <a:t>Calidad</a:t>
                      </a:r>
                      <a:r>
                        <a:rPr sz="2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8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2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80" dirty="0">
                          <a:latin typeface="Arial"/>
                          <a:cs typeface="Arial"/>
                        </a:rPr>
                        <a:t>integridad </a:t>
                      </a:r>
                      <a:r>
                        <a:rPr sz="2800" spc="-14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20" dirty="0">
                          <a:latin typeface="Arial"/>
                          <a:cs typeface="Arial"/>
                        </a:rPr>
                        <a:t>datos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98B954"/>
                      </a:solidFill>
                      <a:prstDash val="solid"/>
                    </a:lnL>
                    <a:lnT w="9525">
                      <a:solidFill>
                        <a:srgbClr val="98B954"/>
                      </a:solidFill>
                      <a:prstDash val="solid"/>
                    </a:lnT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spc="-16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4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2800" spc="-25" dirty="0">
                          <a:latin typeface="Arial"/>
                          <a:cs typeface="Arial"/>
                        </a:rPr>
                        <a:t>10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R w="9525">
                      <a:solidFill>
                        <a:srgbClr val="98B954"/>
                      </a:solidFill>
                      <a:prstDash val="solid"/>
                    </a:lnR>
                    <a:lnT w="9525">
                      <a:solidFill>
                        <a:srgbClr val="98B954"/>
                      </a:solidFill>
                      <a:prstDash val="solid"/>
                    </a:lnT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596" y="1326387"/>
            <a:ext cx="1823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Planificación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71093" y="546000"/>
          <a:ext cx="5486400" cy="3204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680720" algn="ctr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3158490" algn="l"/>
                        </a:tabLst>
                      </a:pPr>
                      <a:r>
                        <a:rPr sz="2800" b="1" spc="-3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Tema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800" b="1" spc="-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Semanas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98B954"/>
                      </a:solidFill>
                      <a:prstDash val="solid"/>
                    </a:lnL>
                    <a:lnR w="9525">
                      <a:solidFill>
                        <a:srgbClr val="98B954"/>
                      </a:solidFill>
                      <a:prstDash val="solid"/>
                    </a:ln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marL="90805" marR="84455">
                        <a:lnSpc>
                          <a:spcPct val="100699"/>
                        </a:lnSpc>
                        <a:spcBef>
                          <a:spcPts val="110"/>
                        </a:spcBef>
                        <a:tabLst>
                          <a:tab pos="4347210" algn="l"/>
                        </a:tabLst>
                      </a:pPr>
                      <a:r>
                        <a:rPr sz="2800" spc="-80" dirty="0">
                          <a:latin typeface="Arial"/>
                          <a:cs typeface="Arial"/>
                        </a:rPr>
                        <a:t>Monitorización</a:t>
                      </a:r>
                      <a:r>
                        <a:rPr sz="2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2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800" spc="-16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40" dirty="0">
                          <a:latin typeface="Arial"/>
                          <a:cs typeface="Arial"/>
                        </a:rPr>
                        <a:t>y 12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sistemas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9525">
                      <a:solidFill>
                        <a:srgbClr val="98B954"/>
                      </a:solidFill>
                      <a:prstDash val="solid"/>
                    </a:lnL>
                    <a:lnR w="9525">
                      <a:solidFill>
                        <a:srgbClr val="98B954"/>
                      </a:solidFill>
                      <a:prstDash val="solid"/>
                    </a:lnR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130">
                <a:tc>
                  <a:txBody>
                    <a:bodyPr/>
                    <a:lstStyle/>
                    <a:p>
                      <a:pPr marL="90805" marR="85090">
                        <a:lnSpc>
                          <a:spcPct val="100699"/>
                        </a:lnSpc>
                        <a:spcBef>
                          <a:spcPts val="145"/>
                        </a:spcBef>
                        <a:tabLst>
                          <a:tab pos="3283585" algn="l"/>
                        </a:tabLst>
                      </a:pPr>
                      <a:r>
                        <a:rPr sz="2800" spc="-105" dirty="0">
                          <a:latin typeface="Arial"/>
                          <a:cs typeface="Arial"/>
                        </a:rPr>
                        <a:t>Modelos</a:t>
                      </a:r>
                      <a:r>
                        <a:rPr sz="28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2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13,</a:t>
                      </a:r>
                      <a:r>
                        <a:rPr sz="2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14,</a:t>
                      </a:r>
                      <a:r>
                        <a:rPr sz="2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60" dirty="0">
                          <a:latin typeface="Arial"/>
                          <a:cs typeface="Arial"/>
                        </a:rPr>
                        <a:t>15</a:t>
                      </a:r>
                      <a:r>
                        <a:rPr sz="2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4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10" dirty="0">
                          <a:latin typeface="Arial"/>
                          <a:cs typeface="Arial"/>
                        </a:rPr>
                        <a:t>16 </a:t>
                      </a:r>
                      <a:r>
                        <a:rPr sz="2800" spc="-100" dirty="0">
                          <a:latin typeface="Arial"/>
                          <a:cs typeface="Arial"/>
                        </a:rPr>
                        <a:t>inteligencia</a:t>
                      </a:r>
                      <a:r>
                        <a:rPr sz="2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25" dirty="0">
                          <a:latin typeface="Arial"/>
                          <a:cs typeface="Arial"/>
                        </a:rPr>
                        <a:t>de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ts val="3310"/>
                        </a:lnSpc>
                      </a:pPr>
                      <a:r>
                        <a:rPr sz="2800" spc="-40" dirty="0">
                          <a:latin typeface="Arial"/>
                          <a:cs typeface="Arial"/>
                        </a:rPr>
                        <a:t>negocios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9525">
                      <a:solidFill>
                        <a:srgbClr val="98B954"/>
                      </a:solidFill>
                      <a:prstDash val="solid"/>
                    </a:lnL>
                    <a:lnR w="9525">
                      <a:solidFill>
                        <a:srgbClr val="98B954"/>
                      </a:solidFill>
                      <a:prstDash val="solid"/>
                    </a:lnR>
                    <a:lnT w="9525">
                      <a:solidFill>
                        <a:srgbClr val="98B954"/>
                      </a:solidFill>
                      <a:prstDash val="solid"/>
                    </a:lnT>
                    <a:lnB w="9525">
                      <a:solidFill>
                        <a:srgbClr val="98B9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10" dirty="0"/>
              <a:t> </a:t>
            </a:r>
            <a:r>
              <a:rPr spc="-110" dirty="0"/>
              <a:t>DATA</a:t>
            </a:r>
          </a:p>
          <a:p>
            <a:pPr marL="12700">
              <a:lnSpc>
                <a:spcPts val="4105"/>
              </a:lnSpc>
            </a:pPr>
            <a:r>
              <a:rPr spc="-10" dirty="0"/>
              <a:t>Aplicado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3359" y="1326387"/>
            <a:ext cx="1564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Evaluación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1503" y="460755"/>
            <a:ext cx="37058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Gestión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soluciones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1503" y="753363"/>
            <a:ext cx="3271520" cy="120205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marR="546735">
              <a:lnSpc>
                <a:spcPct val="71400"/>
              </a:lnSpc>
              <a:spcBef>
                <a:spcPts val="1060"/>
              </a:spcBef>
            </a:pPr>
            <a:r>
              <a:rPr sz="2800" spc="-180" dirty="0">
                <a:latin typeface="Arial"/>
                <a:cs typeface="Arial"/>
              </a:rPr>
              <a:t>sistemas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spc="-120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Supercomputación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7253" y="1807971"/>
            <a:ext cx="2629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monitorización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7253" y="2100579"/>
            <a:ext cx="1266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0" dirty="0">
                <a:latin typeface="Arial"/>
                <a:cs typeface="Arial"/>
              </a:rPr>
              <a:t>sistemas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1503" y="2557779"/>
            <a:ext cx="27901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Calidad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datos.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7253" y="2850387"/>
            <a:ext cx="347154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ct val="71400"/>
              </a:lnSpc>
              <a:spcBef>
                <a:spcPts val="1060"/>
              </a:spcBef>
            </a:pPr>
            <a:r>
              <a:rPr sz="2800" spc="-105" dirty="0">
                <a:latin typeface="Arial"/>
                <a:cs typeface="Arial"/>
              </a:rPr>
              <a:t>Modelos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Inteligencia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Negocios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328" y="483518"/>
            <a:ext cx="915565" cy="9155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328" y="1491630"/>
            <a:ext cx="915565" cy="9155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328" y="2578459"/>
            <a:ext cx="915565" cy="915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CA05-D66A-8609-33E3-01691A69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2B692D-9259-2299-E46E-034CFE7E3AF1}"/>
              </a:ext>
            </a:extLst>
          </p:cNvPr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959FC7-160E-419A-4C8D-F1D8AC8B2EA7}"/>
              </a:ext>
            </a:extLst>
          </p:cNvPr>
          <p:cNvSpPr txBox="1"/>
          <p:nvPr/>
        </p:nvSpPr>
        <p:spPr>
          <a:xfrm>
            <a:off x="4146683" y="3165348"/>
            <a:ext cx="3397117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lang="es-ES" sz="1600" dirty="0">
                <a:latin typeface="Arial"/>
                <a:cs typeface="Arial"/>
              </a:rPr>
              <a:t>Juan José Sánchez Sánchez</a:t>
            </a:r>
          </a:p>
          <a:p>
            <a:pPr marL="58419">
              <a:lnSpc>
                <a:spcPts val="1360"/>
              </a:lnSpc>
            </a:pPr>
            <a:r>
              <a:rPr lang="es-ES" sz="1300" dirty="0" err="1">
                <a:latin typeface="Arial"/>
                <a:cs typeface="Arial"/>
              </a:rPr>
              <a:t>juanjose_sanchez@cifpzonzamas.es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E9BFAC1-14F2-1D2A-A342-482DA6854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46683" y="2471885"/>
            <a:ext cx="3931920" cy="62606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lang="es-ES" spc="-10" dirty="0"/>
              <a:t>Presentación</a:t>
            </a:r>
            <a:endParaRPr spc="-10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AD0EA631-B63F-0E76-AF02-9C8BDDF2E840}"/>
              </a:ext>
            </a:extLst>
          </p:cNvPr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F5D3C03-1746-762C-0F47-0D6B2A90967D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37E0C6B-A526-6987-0AE5-DC18FEA100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68282609-1032-FB38-F4C1-BAAE040255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2C1E45CC-8949-0100-234E-FB8D921E7508}"/>
              </a:ext>
            </a:extLst>
          </p:cNvPr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FF64F90-A2B3-A3B0-2C46-444ED3E8576C}"/>
                </a:ext>
              </a:extLst>
            </p:cNvPr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BB394D5-E88C-2E1C-F863-D1D1BA4B97D2}"/>
                </a:ext>
              </a:extLst>
            </p:cNvPr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E8DCF20-2EE6-A62C-A9C2-01183B22B93A}"/>
                </a:ext>
              </a:extLst>
            </p:cNvPr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9B173C9-7A07-C4A5-0E53-8FD135FEA636}"/>
                </a:ext>
              </a:extLst>
            </p:cNvPr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E039FDE-4E93-4FAB-542C-3CEE9EFE2B0C}"/>
                </a:ext>
              </a:extLst>
            </p:cNvPr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C0FE546-B4B8-35BF-BB42-F49465B25160}"/>
                </a:ext>
              </a:extLst>
            </p:cNvPr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8538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218</Words>
  <Application>Microsoft Macintosh PowerPoint</Application>
  <PresentationFormat>On-screen Show (16:9)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Narrow</vt:lpstr>
      <vt:lpstr>Office Theme</vt:lpstr>
      <vt:lpstr>PowerPoint Presentation</vt:lpstr>
      <vt:lpstr>Presentación participantes</vt:lpstr>
      <vt:lpstr>BIG DATA Aplicado</vt:lpstr>
      <vt:lpstr>BIG DATA Aplicado</vt:lpstr>
      <vt:lpstr>BIG DATA Aplicado</vt:lpstr>
      <vt:lpstr>BIG DATA Aplicado</vt:lpstr>
      <vt:lpstr>BIG DATA Aplicado</vt:lpstr>
      <vt:lpstr>BIG DATA Aplicado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jose sanchez sanchez</cp:lastModifiedBy>
  <cp:revision>1</cp:revision>
  <dcterms:created xsi:type="dcterms:W3CDTF">2026-10-01T11:15:27Z</dcterms:created>
  <dcterms:modified xsi:type="dcterms:W3CDTF">2026-10-01T11:19:37Z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2021-09-20T00:00:00Z</vt:filetime>
  </property>
  <property fmtid="{D5CDD505-2E9C-101B-9397-08002B2CF9AE}" pid="3" name="LastSaved">
    <vt:filetime>2026-10-01T00:00:00Z</vt:filetime>
  </property>
  <property fmtid="{D5CDD505-2E9C-101B-9397-08002B2CF9AE}" pid="4" name="Producer">
    <vt:lpwstr>macOS Versión 11.4 (Compilación 20F71) Quartz PDFContext</vt:lpwstr>
  </property>
</Properties>
</file>