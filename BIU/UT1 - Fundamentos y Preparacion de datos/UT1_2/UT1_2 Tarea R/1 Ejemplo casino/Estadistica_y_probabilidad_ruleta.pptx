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5.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337" r:id="rId2"/>
    <p:sldId id="338" r:id="rId3"/>
    <p:sldId id="339" r:id="rId4"/>
    <p:sldId id="340" r:id="rId5"/>
    <p:sldId id="341" r:id="rId6"/>
    <p:sldId id="342" r:id="rId7"/>
    <p:sldId id="343" r:id="rId8"/>
    <p:sldId id="263" r:id="rId9"/>
    <p:sldId id="344" r:id="rId10"/>
    <p:sldId id="345" r:id="rId11"/>
    <p:sldId id="346" r:id="rId12"/>
    <p:sldId id="347" r:id="rId13"/>
    <p:sldId id="348" r:id="rId14"/>
    <p:sldId id="349" r:id="rId15"/>
    <p:sldId id="350" r:id="rId16"/>
    <p:sldId id="351" r:id="rId17"/>
    <p:sldId id="352" r:id="rId18"/>
    <p:sldId id="273" r:id="rId19"/>
    <p:sldId id="353" r:id="rId20"/>
    <p:sldId id="354" r:id="rId21"/>
    <p:sldId id="355" r:id="rId22"/>
    <p:sldId id="357" r:id="rId23"/>
    <p:sldId id="277" r:id="rId24"/>
    <p:sldId id="359" r:id="rId25"/>
    <p:sldId id="278" r:id="rId26"/>
    <p:sldId id="279" r:id="rId27"/>
    <p:sldId id="280" r:id="rId28"/>
    <p:sldId id="281" r:id="rId29"/>
    <p:sldId id="282" r:id="rId30"/>
    <p:sldId id="283" r:id="rId31"/>
    <p:sldId id="284" r:id="rId32"/>
    <p:sldId id="285" r:id="rId33"/>
    <p:sldId id="286" r:id="rId34"/>
    <p:sldId id="287" r:id="rId35"/>
    <p:sldId id="288" r:id="rId36"/>
    <p:sldId id="290" r:id="rId37"/>
    <p:sldId id="291" r:id="rId38"/>
  </p:sldIdLst>
  <p:sldSz cx="9144000" cy="5143500" type="screen16x9"/>
  <p:notesSz cx="6858000" cy="9144000"/>
  <p:defaultTextStyle>
    <a:defPPr>
      <a:buNone/>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265"/>
  </p:normalViewPr>
  <p:slideViewPr>
    <p:cSldViewPr snapToGrid="0">
      <p:cViewPr varScale="1">
        <p:scale>
          <a:sx n="122" d="100"/>
          <a:sy n="122" d="100"/>
        </p:scale>
        <p:origin x="19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jose sanchez sanchez" userId="bf9c9b758c35a626" providerId="LiveId" clId="{3D07B5C5-B136-154B-B664-704D7863881E}"/>
    <pc:docChg chg="undo custSel addSld delSld modSld">
      <pc:chgData name="juan jose sanchez sanchez" userId="bf9c9b758c35a626" providerId="LiveId" clId="{3D07B5C5-B136-154B-B664-704D7863881E}" dt="2026-10-29T17:48:11.235" v="55" actId="2696"/>
      <pc:docMkLst>
        <pc:docMk/>
      </pc:docMkLst>
      <pc:sldChg chg="add del">
        <pc:chgData name="juan jose sanchez sanchez" userId="bf9c9b758c35a626" providerId="LiveId" clId="{3D07B5C5-B136-154B-B664-704D7863881E}" dt="2026-10-29T17:33:08.993" v="1"/>
        <pc:sldMkLst>
          <pc:docMk/>
          <pc:sldMk cId="1929912093" sldId="277"/>
        </pc:sldMkLst>
      </pc:sldChg>
      <pc:sldChg chg="add modNotesTx">
        <pc:chgData name="juan jose sanchez sanchez" userId="bf9c9b758c35a626" providerId="LiveId" clId="{3D07B5C5-B136-154B-B664-704D7863881E}" dt="2026-10-29T17:33:26.508" v="21" actId="20577"/>
        <pc:sldMkLst>
          <pc:docMk/>
          <pc:sldMk cId="3343283590" sldId="277"/>
        </pc:sldMkLst>
      </pc:sldChg>
      <pc:sldChg chg="add del">
        <pc:chgData name="juan jose sanchez sanchez" userId="bf9c9b758c35a626" providerId="LiveId" clId="{3D07B5C5-B136-154B-B664-704D7863881E}" dt="2026-10-29T17:33:08.993" v="1"/>
        <pc:sldMkLst>
          <pc:docMk/>
          <pc:sldMk cId="3275169520" sldId="278"/>
        </pc:sldMkLst>
      </pc:sldChg>
      <pc:sldChg chg="add">
        <pc:chgData name="juan jose sanchez sanchez" userId="bf9c9b758c35a626" providerId="LiveId" clId="{3D07B5C5-B136-154B-B664-704D7863881E}" dt="2026-10-29T17:33:13.698" v="8"/>
        <pc:sldMkLst>
          <pc:docMk/>
          <pc:sldMk cId="3304710310" sldId="278"/>
        </pc:sldMkLst>
      </pc:sldChg>
      <pc:sldChg chg="add del">
        <pc:chgData name="juan jose sanchez sanchez" userId="bf9c9b758c35a626" providerId="LiveId" clId="{3D07B5C5-B136-154B-B664-704D7863881E}" dt="2026-10-29T17:33:08.993" v="1"/>
        <pc:sldMkLst>
          <pc:docMk/>
          <pc:sldMk cId="859085283" sldId="279"/>
        </pc:sldMkLst>
      </pc:sldChg>
      <pc:sldChg chg="add">
        <pc:chgData name="juan jose sanchez sanchez" userId="bf9c9b758c35a626" providerId="LiveId" clId="{3D07B5C5-B136-154B-B664-704D7863881E}" dt="2026-10-29T17:33:13.698" v="8"/>
        <pc:sldMkLst>
          <pc:docMk/>
          <pc:sldMk cId="1734059026" sldId="279"/>
        </pc:sldMkLst>
      </pc:sldChg>
      <pc:sldChg chg="add">
        <pc:chgData name="juan jose sanchez sanchez" userId="bf9c9b758c35a626" providerId="LiveId" clId="{3D07B5C5-B136-154B-B664-704D7863881E}" dt="2026-10-29T17:33:13.698" v="8"/>
        <pc:sldMkLst>
          <pc:docMk/>
          <pc:sldMk cId="2122965270" sldId="280"/>
        </pc:sldMkLst>
      </pc:sldChg>
      <pc:sldChg chg="add del">
        <pc:chgData name="juan jose sanchez sanchez" userId="bf9c9b758c35a626" providerId="LiveId" clId="{3D07B5C5-B136-154B-B664-704D7863881E}" dt="2026-10-29T17:33:08.993" v="1"/>
        <pc:sldMkLst>
          <pc:docMk/>
          <pc:sldMk cId="4254225911" sldId="280"/>
        </pc:sldMkLst>
      </pc:sldChg>
      <pc:sldChg chg="add">
        <pc:chgData name="juan jose sanchez sanchez" userId="bf9c9b758c35a626" providerId="LiveId" clId="{3D07B5C5-B136-154B-B664-704D7863881E}" dt="2026-10-29T17:33:13.698" v="8"/>
        <pc:sldMkLst>
          <pc:docMk/>
          <pc:sldMk cId="888600841" sldId="281"/>
        </pc:sldMkLst>
      </pc:sldChg>
      <pc:sldChg chg="add del">
        <pc:chgData name="juan jose sanchez sanchez" userId="bf9c9b758c35a626" providerId="LiveId" clId="{3D07B5C5-B136-154B-B664-704D7863881E}" dt="2026-10-29T17:33:08.993" v="1"/>
        <pc:sldMkLst>
          <pc:docMk/>
          <pc:sldMk cId="4199690063" sldId="281"/>
        </pc:sldMkLst>
      </pc:sldChg>
      <pc:sldChg chg="add">
        <pc:chgData name="juan jose sanchez sanchez" userId="bf9c9b758c35a626" providerId="LiveId" clId="{3D07B5C5-B136-154B-B664-704D7863881E}" dt="2026-10-29T17:33:13.698" v="8"/>
        <pc:sldMkLst>
          <pc:docMk/>
          <pc:sldMk cId="2835153211" sldId="282"/>
        </pc:sldMkLst>
      </pc:sldChg>
      <pc:sldChg chg="add del">
        <pc:chgData name="juan jose sanchez sanchez" userId="bf9c9b758c35a626" providerId="LiveId" clId="{3D07B5C5-B136-154B-B664-704D7863881E}" dt="2026-10-29T17:33:08.993" v="1"/>
        <pc:sldMkLst>
          <pc:docMk/>
          <pc:sldMk cId="3691666003" sldId="282"/>
        </pc:sldMkLst>
      </pc:sldChg>
      <pc:sldChg chg="add del">
        <pc:chgData name="juan jose sanchez sanchez" userId="bf9c9b758c35a626" providerId="LiveId" clId="{3D07B5C5-B136-154B-B664-704D7863881E}" dt="2026-10-29T17:33:08.993" v="1"/>
        <pc:sldMkLst>
          <pc:docMk/>
          <pc:sldMk cId="966791195" sldId="283"/>
        </pc:sldMkLst>
      </pc:sldChg>
      <pc:sldChg chg="add">
        <pc:chgData name="juan jose sanchez sanchez" userId="bf9c9b758c35a626" providerId="LiveId" clId="{3D07B5C5-B136-154B-B664-704D7863881E}" dt="2026-10-29T17:33:13.698" v="8"/>
        <pc:sldMkLst>
          <pc:docMk/>
          <pc:sldMk cId="2651803418" sldId="283"/>
        </pc:sldMkLst>
      </pc:sldChg>
      <pc:sldChg chg="add del">
        <pc:chgData name="juan jose sanchez sanchez" userId="bf9c9b758c35a626" providerId="LiveId" clId="{3D07B5C5-B136-154B-B664-704D7863881E}" dt="2026-10-29T17:33:08.993" v="1"/>
        <pc:sldMkLst>
          <pc:docMk/>
          <pc:sldMk cId="1913674340" sldId="284"/>
        </pc:sldMkLst>
      </pc:sldChg>
      <pc:sldChg chg="add">
        <pc:chgData name="juan jose sanchez sanchez" userId="bf9c9b758c35a626" providerId="LiveId" clId="{3D07B5C5-B136-154B-B664-704D7863881E}" dt="2026-10-29T17:33:13.698" v="8"/>
        <pc:sldMkLst>
          <pc:docMk/>
          <pc:sldMk cId="1989938572" sldId="284"/>
        </pc:sldMkLst>
      </pc:sldChg>
      <pc:sldChg chg="add">
        <pc:chgData name="juan jose sanchez sanchez" userId="bf9c9b758c35a626" providerId="LiveId" clId="{3D07B5C5-B136-154B-B664-704D7863881E}" dt="2026-10-29T17:33:13.698" v="8"/>
        <pc:sldMkLst>
          <pc:docMk/>
          <pc:sldMk cId="1804894963" sldId="285"/>
        </pc:sldMkLst>
      </pc:sldChg>
      <pc:sldChg chg="add del">
        <pc:chgData name="juan jose sanchez sanchez" userId="bf9c9b758c35a626" providerId="LiveId" clId="{3D07B5C5-B136-154B-B664-704D7863881E}" dt="2026-10-29T17:33:08.993" v="1"/>
        <pc:sldMkLst>
          <pc:docMk/>
          <pc:sldMk cId="4249752119" sldId="285"/>
        </pc:sldMkLst>
      </pc:sldChg>
      <pc:sldChg chg="add del">
        <pc:chgData name="juan jose sanchez sanchez" userId="bf9c9b758c35a626" providerId="LiveId" clId="{3D07B5C5-B136-154B-B664-704D7863881E}" dt="2026-10-29T17:33:08.993" v="1"/>
        <pc:sldMkLst>
          <pc:docMk/>
          <pc:sldMk cId="191446008" sldId="286"/>
        </pc:sldMkLst>
      </pc:sldChg>
      <pc:sldChg chg="add">
        <pc:chgData name="juan jose sanchez sanchez" userId="bf9c9b758c35a626" providerId="LiveId" clId="{3D07B5C5-B136-154B-B664-704D7863881E}" dt="2026-10-29T17:33:13.698" v="8"/>
        <pc:sldMkLst>
          <pc:docMk/>
          <pc:sldMk cId="3920841722" sldId="286"/>
        </pc:sldMkLst>
      </pc:sldChg>
      <pc:sldChg chg="add del">
        <pc:chgData name="juan jose sanchez sanchez" userId="bf9c9b758c35a626" providerId="LiveId" clId="{3D07B5C5-B136-154B-B664-704D7863881E}" dt="2026-10-29T17:33:08.993" v="1"/>
        <pc:sldMkLst>
          <pc:docMk/>
          <pc:sldMk cId="834573487" sldId="287"/>
        </pc:sldMkLst>
      </pc:sldChg>
      <pc:sldChg chg="add">
        <pc:chgData name="juan jose sanchez sanchez" userId="bf9c9b758c35a626" providerId="LiveId" clId="{3D07B5C5-B136-154B-B664-704D7863881E}" dt="2026-10-29T17:33:13.698" v="8"/>
        <pc:sldMkLst>
          <pc:docMk/>
          <pc:sldMk cId="2078531698" sldId="287"/>
        </pc:sldMkLst>
      </pc:sldChg>
      <pc:sldChg chg="add">
        <pc:chgData name="juan jose sanchez sanchez" userId="bf9c9b758c35a626" providerId="LiveId" clId="{3D07B5C5-B136-154B-B664-704D7863881E}" dt="2026-10-29T17:33:13.698" v="8"/>
        <pc:sldMkLst>
          <pc:docMk/>
          <pc:sldMk cId="1496141526" sldId="288"/>
        </pc:sldMkLst>
      </pc:sldChg>
      <pc:sldChg chg="add del">
        <pc:chgData name="juan jose sanchez sanchez" userId="bf9c9b758c35a626" providerId="LiveId" clId="{3D07B5C5-B136-154B-B664-704D7863881E}" dt="2026-10-29T17:33:08.993" v="1"/>
        <pc:sldMkLst>
          <pc:docMk/>
          <pc:sldMk cId="2867643341" sldId="288"/>
        </pc:sldMkLst>
      </pc:sldChg>
      <pc:sldChg chg="add del">
        <pc:chgData name="juan jose sanchez sanchez" userId="bf9c9b758c35a626" providerId="LiveId" clId="{3D07B5C5-B136-154B-B664-704D7863881E}" dt="2026-10-29T17:40:51.242" v="22" actId="2696"/>
        <pc:sldMkLst>
          <pc:docMk/>
          <pc:sldMk cId="3438817364" sldId="289"/>
        </pc:sldMkLst>
      </pc:sldChg>
      <pc:sldChg chg="add del">
        <pc:chgData name="juan jose sanchez sanchez" userId="bf9c9b758c35a626" providerId="LiveId" clId="{3D07B5C5-B136-154B-B664-704D7863881E}" dt="2026-10-29T17:33:08.993" v="1"/>
        <pc:sldMkLst>
          <pc:docMk/>
          <pc:sldMk cId="3822521350" sldId="289"/>
        </pc:sldMkLst>
      </pc:sldChg>
      <pc:sldChg chg="add">
        <pc:chgData name="juan jose sanchez sanchez" userId="bf9c9b758c35a626" providerId="LiveId" clId="{3D07B5C5-B136-154B-B664-704D7863881E}" dt="2026-10-29T17:33:13.698" v="8"/>
        <pc:sldMkLst>
          <pc:docMk/>
          <pc:sldMk cId="1588550818" sldId="290"/>
        </pc:sldMkLst>
      </pc:sldChg>
      <pc:sldChg chg="add del">
        <pc:chgData name="juan jose sanchez sanchez" userId="bf9c9b758c35a626" providerId="LiveId" clId="{3D07B5C5-B136-154B-B664-704D7863881E}" dt="2026-10-29T17:33:08.993" v="1"/>
        <pc:sldMkLst>
          <pc:docMk/>
          <pc:sldMk cId="1993470795" sldId="290"/>
        </pc:sldMkLst>
      </pc:sldChg>
      <pc:sldChg chg="add">
        <pc:chgData name="juan jose sanchez sanchez" userId="bf9c9b758c35a626" providerId="LiveId" clId="{3D07B5C5-B136-154B-B664-704D7863881E}" dt="2026-10-29T17:33:13.698" v="8"/>
        <pc:sldMkLst>
          <pc:docMk/>
          <pc:sldMk cId="13913430" sldId="291"/>
        </pc:sldMkLst>
      </pc:sldChg>
      <pc:sldChg chg="add del">
        <pc:chgData name="juan jose sanchez sanchez" userId="bf9c9b758c35a626" providerId="LiveId" clId="{3D07B5C5-B136-154B-B664-704D7863881E}" dt="2026-10-29T17:33:08.993" v="1"/>
        <pc:sldMkLst>
          <pc:docMk/>
          <pc:sldMk cId="1993651010" sldId="291"/>
        </pc:sldMkLst>
      </pc:sldChg>
      <pc:sldChg chg="modSp del mod">
        <pc:chgData name="juan jose sanchez sanchez" userId="bf9c9b758c35a626" providerId="LiveId" clId="{3D07B5C5-B136-154B-B664-704D7863881E}" dt="2026-10-29T17:41:43.376" v="36" actId="2696"/>
        <pc:sldMkLst>
          <pc:docMk/>
          <pc:sldMk cId="1101884793" sldId="356"/>
        </pc:sldMkLst>
        <pc:spChg chg="mod">
          <ac:chgData name="juan jose sanchez sanchez" userId="bf9c9b758c35a626" providerId="LiveId" clId="{3D07B5C5-B136-154B-B664-704D7863881E}" dt="2026-10-29T17:41:34.417" v="29" actId="21"/>
          <ac:spMkLst>
            <pc:docMk/>
            <pc:sldMk cId="1101884793" sldId="356"/>
            <ac:spMk id="3" creationId="{B2D9C24D-1F4C-6B83-8040-C08056638DB6}"/>
          </ac:spMkLst>
        </pc:spChg>
        <pc:spChg chg="mod">
          <ac:chgData name="juan jose sanchez sanchez" userId="bf9c9b758c35a626" providerId="LiveId" clId="{3D07B5C5-B136-154B-B664-704D7863881E}" dt="2026-10-29T17:41:25.112" v="24" actId="21"/>
          <ac:spMkLst>
            <pc:docMk/>
            <pc:sldMk cId="1101884793" sldId="356"/>
            <ac:spMk id="6" creationId="{3D095305-1F71-10EE-E110-F9885B7BBC40}"/>
          </ac:spMkLst>
        </pc:spChg>
      </pc:sldChg>
      <pc:sldChg chg="del">
        <pc:chgData name="juan jose sanchez sanchez" userId="bf9c9b758c35a626" providerId="LiveId" clId="{3D07B5C5-B136-154B-B664-704D7863881E}" dt="2026-10-29T17:33:11.972" v="6" actId="2696"/>
        <pc:sldMkLst>
          <pc:docMk/>
          <pc:sldMk cId="2282002686" sldId="357"/>
        </pc:sldMkLst>
      </pc:sldChg>
      <pc:sldChg chg="modSp add mod">
        <pc:chgData name="juan jose sanchez sanchez" userId="bf9c9b758c35a626" providerId="LiveId" clId="{3D07B5C5-B136-154B-B664-704D7863881E}" dt="2026-10-29T17:41:47.567" v="46" actId="20577"/>
        <pc:sldMkLst>
          <pc:docMk/>
          <pc:sldMk cId="2456823003" sldId="357"/>
        </pc:sldMkLst>
        <pc:spChg chg="mod">
          <ac:chgData name="juan jose sanchez sanchez" userId="bf9c9b758c35a626" providerId="LiveId" clId="{3D07B5C5-B136-154B-B664-704D7863881E}" dt="2026-10-29T17:41:47.567" v="46" actId="20577"/>
          <ac:spMkLst>
            <pc:docMk/>
            <pc:sldMk cId="2456823003" sldId="357"/>
            <ac:spMk id="7" creationId="{8215B7BF-9659-A5EB-0812-8EB456561F78}"/>
          </ac:spMkLst>
        </pc:spChg>
        <pc:spChg chg="mod">
          <ac:chgData name="juan jose sanchez sanchez" userId="bf9c9b758c35a626" providerId="LiveId" clId="{3D07B5C5-B136-154B-B664-704D7863881E}" dt="2026-10-29T17:41:40.680" v="35" actId="20577"/>
          <ac:spMkLst>
            <pc:docMk/>
            <pc:sldMk cId="2456823003" sldId="357"/>
            <ac:spMk id="8" creationId="{F27D9193-7CAC-D169-6023-369F67F35DBB}"/>
          </ac:spMkLst>
        </pc:spChg>
      </pc:sldChg>
      <pc:sldChg chg="modSp del">
        <pc:chgData name="juan jose sanchez sanchez" userId="bf9c9b758c35a626" providerId="LiveId" clId="{3D07B5C5-B136-154B-B664-704D7863881E}" dt="2026-10-29T17:33:11.972" v="7"/>
        <pc:sldMkLst>
          <pc:docMk/>
          <pc:sldMk cId="2633489792" sldId="358"/>
        </pc:sldMkLst>
        <pc:graphicFrameChg chg="mod">
          <ac:chgData name="juan jose sanchez sanchez" userId="bf9c9b758c35a626" providerId="LiveId" clId="{3D07B5C5-B136-154B-B664-704D7863881E}" dt="2026-10-29T17:33:11.972" v="7"/>
          <ac:graphicFrameMkLst>
            <pc:docMk/>
            <pc:sldMk cId="2633489792" sldId="358"/>
            <ac:graphicFrameMk id="9" creationId="{B7609608-755B-4EA9-B495-9EBE103BD8E2}"/>
          </ac:graphicFrameMkLst>
        </pc:graphicFrameChg>
      </pc:sldChg>
      <pc:sldChg chg="add del">
        <pc:chgData name="juan jose sanchez sanchez" userId="bf9c9b758c35a626" providerId="LiveId" clId="{3D07B5C5-B136-154B-B664-704D7863881E}" dt="2026-10-29T17:48:11.235" v="55" actId="2696"/>
        <pc:sldMkLst>
          <pc:docMk/>
          <pc:sldMk cId="4188568562" sldId="358"/>
        </pc:sldMkLst>
      </pc:sldChg>
      <pc:sldChg chg="del">
        <pc:chgData name="juan jose sanchez sanchez" userId="bf9c9b758c35a626" providerId="LiveId" clId="{3D07B5C5-B136-154B-B664-704D7863881E}" dt="2026-10-29T17:33:11.964" v="4" actId="2696"/>
        <pc:sldMkLst>
          <pc:docMk/>
          <pc:sldMk cId="1432034488" sldId="359"/>
        </pc:sldMkLst>
      </pc:sldChg>
      <pc:sldChg chg="addSp delSp modSp add mod">
        <pc:chgData name="juan jose sanchez sanchez" userId="bf9c9b758c35a626" providerId="LiveId" clId="{3D07B5C5-B136-154B-B664-704D7863881E}" dt="2026-10-29T17:48:03.757" v="54" actId="1076"/>
        <pc:sldMkLst>
          <pc:docMk/>
          <pc:sldMk cId="3079728153" sldId="359"/>
        </pc:sldMkLst>
        <pc:spChg chg="del">
          <ac:chgData name="juan jose sanchez sanchez" userId="bf9c9b758c35a626" providerId="LiveId" clId="{3D07B5C5-B136-154B-B664-704D7863881E}" dt="2026-10-29T17:47:47.107" v="49" actId="478"/>
          <ac:spMkLst>
            <pc:docMk/>
            <pc:sldMk cId="3079728153" sldId="359"/>
            <ac:spMk id="7" creationId="{37E0466B-3E5F-EB1C-68EA-DCA07316533D}"/>
          </ac:spMkLst>
        </pc:spChg>
        <pc:spChg chg="del">
          <ac:chgData name="juan jose sanchez sanchez" userId="bf9c9b758c35a626" providerId="LiveId" clId="{3D07B5C5-B136-154B-B664-704D7863881E}" dt="2026-10-29T17:47:47.107" v="49" actId="478"/>
          <ac:spMkLst>
            <pc:docMk/>
            <pc:sldMk cId="3079728153" sldId="359"/>
            <ac:spMk id="8" creationId="{930A5246-F2E9-F604-0E5A-4F0B228D7C8D}"/>
          </ac:spMkLst>
        </pc:spChg>
        <pc:spChg chg="del">
          <ac:chgData name="juan jose sanchez sanchez" userId="bf9c9b758c35a626" providerId="LiveId" clId="{3D07B5C5-B136-154B-B664-704D7863881E}" dt="2026-10-29T17:47:47.107" v="49" actId="478"/>
          <ac:spMkLst>
            <pc:docMk/>
            <pc:sldMk cId="3079728153" sldId="359"/>
            <ac:spMk id="9" creationId="{011D4572-466A-EDB2-5B4A-240E89403D63}"/>
          </ac:spMkLst>
        </pc:spChg>
        <pc:spChg chg="del">
          <ac:chgData name="juan jose sanchez sanchez" userId="bf9c9b758c35a626" providerId="LiveId" clId="{3D07B5C5-B136-154B-B664-704D7863881E}" dt="2026-10-29T17:47:47.107" v="49" actId="478"/>
          <ac:spMkLst>
            <pc:docMk/>
            <pc:sldMk cId="3079728153" sldId="359"/>
            <ac:spMk id="10" creationId="{15966DC8-E8DC-B902-B671-B8F37F11CDDE}"/>
          </ac:spMkLst>
        </pc:spChg>
        <pc:spChg chg="del">
          <ac:chgData name="juan jose sanchez sanchez" userId="bf9c9b758c35a626" providerId="LiveId" clId="{3D07B5C5-B136-154B-B664-704D7863881E}" dt="2026-10-29T17:47:47.107" v="49" actId="478"/>
          <ac:spMkLst>
            <pc:docMk/>
            <pc:sldMk cId="3079728153" sldId="359"/>
            <ac:spMk id="11" creationId="{31120674-9BC2-91F6-D5EE-0FA1948B546B}"/>
          </ac:spMkLst>
        </pc:spChg>
        <pc:spChg chg="del">
          <ac:chgData name="juan jose sanchez sanchez" userId="bf9c9b758c35a626" providerId="LiveId" clId="{3D07B5C5-B136-154B-B664-704D7863881E}" dt="2026-10-29T17:47:47.107" v="49" actId="478"/>
          <ac:spMkLst>
            <pc:docMk/>
            <pc:sldMk cId="3079728153" sldId="359"/>
            <ac:spMk id="12" creationId="{90EFF6C4-9A36-4B21-2ED0-E3727528969A}"/>
          </ac:spMkLst>
        </pc:spChg>
        <pc:picChg chg="add mod">
          <ac:chgData name="juan jose sanchez sanchez" userId="bf9c9b758c35a626" providerId="LiveId" clId="{3D07B5C5-B136-154B-B664-704D7863881E}" dt="2026-10-29T17:48:03.757" v="54" actId="1076"/>
          <ac:picMkLst>
            <pc:docMk/>
            <pc:sldMk cId="3079728153" sldId="359"/>
            <ac:picMk id="3" creationId="{8CD8938D-FDD6-48A3-FC51-16EA1604600E}"/>
          </ac:picMkLst>
        </pc:picChg>
      </pc:sldChg>
      <pc:sldChg chg="del">
        <pc:chgData name="juan jose sanchez sanchez" userId="bf9c9b758c35a626" providerId="LiveId" clId="{3D07B5C5-B136-154B-B664-704D7863881E}" dt="2026-10-29T17:33:11.958" v="3" actId="2696"/>
        <pc:sldMkLst>
          <pc:docMk/>
          <pc:sldMk cId="588943352" sldId="360"/>
        </pc:sldMkLst>
      </pc:sldChg>
      <pc:sldChg chg="del">
        <pc:chgData name="juan jose sanchez sanchez" userId="bf9c9b758c35a626" providerId="LiveId" clId="{3D07B5C5-B136-154B-B664-704D7863881E}" dt="2026-10-29T17:33:11.952" v="2" actId="2696"/>
        <pc:sldMkLst>
          <pc:docMk/>
          <pc:sldMk cId="123015418" sldId="36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v>Resultados posibles</c:v>
          </c:tx>
          <c:dPt>
            <c:idx val="0"/>
            <c:bubble3D val="0"/>
            <c:spPr>
              <a:solidFill>
                <a:srgbClr val="BA3A43"/>
              </a:solidFill>
            </c:spPr>
            <c:extLst>
              <c:ext xmlns:c16="http://schemas.microsoft.com/office/drawing/2014/chart" uri="{C3380CC4-5D6E-409C-BE32-E72D297353CC}">
                <c16:uniqueId val="{00000001-9C29-A04A-A700-87B9BA7502B9}"/>
              </c:ext>
            </c:extLst>
          </c:dPt>
          <c:dPt>
            <c:idx val="1"/>
            <c:bubble3D val="0"/>
            <c:spPr>
              <a:solidFill>
                <a:srgbClr val="303A46"/>
              </a:solidFill>
            </c:spPr>
            <c:extLst>
              <c:ext xmlns:c16="http://schemas.microsoft.com/office/drawing/2014/chart" uri="{C3380CC4-5D6E-409C-BE32-E72D297353CC}">
                <c16:uniqueId val="{00000003-9C29-A04A-A700-87B9BA7502B9}"/>
              </c:ext>
            </c:extLst>
          </c:dPt>
          <c:dPt>
            <c:idx val="2"/>
            <c:bubble3D val="0"/>
            <c:spPr>
              <a:solidFill>
                <a:srgbClr val="168067"/>
              </a:solidFill>
            </c:spPr>
            <c:extLst>
              <c:ext xmlns:c16="http://schemas.microsoft.com/office/drawing/2014/chart" uri="{C3380CC4-5D6E-409C-BE32-E72D297353CC}">
                <c16:uniqueId val="{00000005-9C29-A04A-A700-87B9BA7502B9}"/>
              </c:ext>
            </c:extLst>
          </c:dPt>
          <c:dLbls>
            <c:spPr>
              <a:noFill/>
              <a:ln>
                <a:noFill/>
              </a:ln>
              <a:effectLst/>
            </c:spPr>
            <c:txPr>
              <a:bodyPr anchorCtr="1"/>
              <a:lstStyle/>
              <a:p>
                <a:pPr>
                  <a:defRPr sz="2000" b="1">
                    <a:solidFill>
                      <a:srgbClr val="FFFFFF"/>
                    </a:solidFill>
                    <a:latin typeface="Arial"/>
                    <a:ea typeface="Arial"/>
                    <a:cs typeface="Arial"/>
                  </a:defRPr>
                </a:pPr>
                <a:endParaRPr lang="en-US"/>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'Chart Data'!$A$2:$A$4</c:f>
              <c:strCache>
                <c:ptCount val="3"/>
                <c:pt idx="0">
                  <c:v>Rojo: 18</c:v>
                </c:pt>
                <c:pt idx="1">
                  <c:v>Negro: 18</c:v>
                </c:pt>
                <c:pt idx="2">
                  <c:v>Verde: 1</c:v>
                </c:pt>
              </c:strCache>
            </c:strRef>
          </c:cat>
          <c:val>
            <c:numRef>
              <c:f>'Chart Data'!$B$2:$B$4</c:f>
              <c:numCache>
                <c:formatCode>General</c:formatCode>
                <c:ptCount val="3"/>
                <c:pt idx="0">
                  <c:v>18</c:v>
                </c:pt>
                <c:pt idx="1">
                  <c:v>18</c:v>
                </c:pt>
                <c:pt idx="2">
                  <c:v>1</c:v>
                </c:pt>
              </c:numCache>
            </c:numRef>
          </c:val>
          <c:extLst>
            <c:ext xmlns:c16="http://schemas.microsoft.com/office/drawing/2014/chart" uri="{C3380CC4-5D6E-409C-BE32-E72D297353CC}">
              <c16:uniqueId val="{00000006-9C29-A04A-A700-87B9BA7502B9}"/>
            </c:ext>
          </c:extLst>
        </c:ser>
        <c:dLbls>
          <c:dLblPos val="bestFit"/>
          <c:showLegendKey val="0"/>
          <c:showVal val="1"/>
          <c:showCatName val="0"/>
          <c:showSerName val="0"/>
          <c:showPercent val="0"/>
          <c:showBubbleSize val="0"/>
          <c:showLeaderLines val="0"/>
        </c:dLbls>
        <c:firstSliceAng val="0"/>
      </c:pieChart>
      <c:spPr>
        <a:solidFill>
          <a:srgbClr val="FFFFFF"/>
        </a:solidFill>
        <a:ln w="0">
          <a:noFill/>
        </a:ln>
      </c:spPr>
    </c:plotArea>
    <c:legend>
      <c:legendPos val="b"/>
      <c:overlay val="0"/>
      <c:txPr>
        <a:bodyPr anchorCtr="1"/>
        <a:lstStyle/>
        <a:p>
          <a:pPr>
            <a:defRPr sz="1800">
              <a:latin typeface="Arial"/>
              <a:ea typeface="Arial"/>
              <a:cs typeface="Arial"/>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Observada</c:v>
          </c:tx>
          <c:spPr>
            <a:solidFill>
              <a:srgbClr val="044247"/>
            </a:solidFill>
          </c:spPr>
          <c:invertIfNegative val="0"/>
          <c:cat>
            <c:numRef>
              <c:f>'Chart Data'!$A$2:$A$38</c:f>
              <c:numCache>
                <c:formatCode>General</c:formatCode>
                <c:ptCount val="3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numCache>
            </c:numRef>
          </c:cat>
          <c:val>
            <c:numRef>
              <c:f>'Chart Data'!$B$2:$B$38</c:f>
              <c:numCache>
                <c:formatCode>General</c:formatCode>
                <c:ptCount val="37"/>
                <c:pt idx="0">
                  <c:v>32</c:v>
                </c:pt>
                <c:pt idx="1">
                  <c:v>32</c:v>
                </c:pt>
                <c:pt idx="2">
                  <c:v>31</c:v>
                </c:pt>
                <c:pt idx="3">
                  <c:v>29</c:v>
                </c:pt>
                <c:pt idx="4">
                  <c:v>21</c:v>
                </c:pt>
                <c:pt idx="5">
                  <c:v>25</c:v>
                </c:pt>
                <c:pt idx="6">
                  <c:v>22</c:v>
                </c:pt>
                <c:pt idx="7">
                  <c:v>31</c:v>
                </c:pt>
                <c:pt idx="8">
                  <c:v>30</c:v>
                </c:pt>
                <c:pt idx="9">
                  <c:v>28</c:v>
                </c:pt>
                <c:pt idx="10">
                  <c:v>23</c:v>
                </c:pt>
                <c:pt idx="11">
                  <c:v>25</c:v>
                </c:pt>
                <c:pt idx="12">
                  <c:v>23</c:v>
                </c:pt>
                <c:pt idx="13">
                  <c:v>24</c:v>
                </c:pt>
                <c:pt idx="14">
                  <c:v>28</c:v>
                </c:pt>
                <c:pt idx="15">
                  <c:v>24</c:v>
                </c:pt>
                <c:pt idx="16">
                  <c:v>25</c:v>
                </c:pt>
                <c:pt idx="17">
                  <c:v>43</c:v>
                </c:pt>
                <c:pt idx="18">
                  <c:v>31</c:v>
                </c:pt>
                <c:pt idx="19">
                  <c:v>27</c:v>
                </c:pt>
                <c:pt idx="20">
                  <c:v>27</c:v>
                </c:pt>
                <c:pt idx="21">
                  <c:v>32</c:v>
                </c:pt>
                <c:pt idx="22">
                  <c:v>24</c:v>
                </c:pt>
                <c:pt idx="23">
                  <c:v>24</c:v>
                </c:pt>
                <c:pt idx="24">
                  <c:v>22</c:v>
                </c:pt>
                <c:pt idx="25">
                  <c:v>32</c:v>
                </c:pt>
                <c:pt idx="26">
                  <c:v>19</c:v>
                </c:pt>
                <c:pt idx="27">
                  <c:v>15</c:v>
                </c:pt>
                <c:pt idx="28">
                  <c:v>26</c:v>
                </c:pt>
                <c:pt idx="29">
                  <c:v>32</c:v>
                </c:pt>
                <c:pt idx="30">
                  <c:v>34</c:v>
                </c:pt>
                <c:pt idx="31">
                  <c:v>31</c:v>
                </c:pt>
                <c:pt idx="32">
                  <c:v>26</c:v>
                </c:pt>
                <c:pt idx="33">
                  <c:v>24</c:v>
                </c:pt>
                <c:pt idx="34">
                  <c:v>19</c:v>
                </c:pt>
                <c:pt idx="35">
                  <c:v>36</c:v>
                </c:pt>
                <c:pt idx="36">
                  <c:v>23</c:v>
                </c:pt>
              </c:numCache>
            </c:numRef>
          </c:val>
          <c:extLst>
            <c:ext xmlns:c16="http://schemas.microsoft.com/office/drawing/2014/chart" uri="{C3380CC4-5D6E-409C-BE32-E72D297353CC}">
              <c16:uniqueId val="{00000000-4F0B-104C-AEFD-1F22CE86614D}"/>
            </c:ext>
          </c:extLst>
        </c:ser>
        <c:ser>
          <c:idx val="1"/>
          <c:order val="1"/>
          <c:tx>
            <c:v>Esperada</c:v>
          </c:tx>
          <c:spPr>
            <a:solidFill>
              <a:srgbClr val="2066A8"/>
            </a:solidFill>
          </c:spPr>
          <c:invertIfNegative val="0"/>
          <c:cat>
            <c:numRef>
              <c:f>'Chart Data'!$C$2:$C$38</c:f>
              <c:numCache>
                <c:formatCode>General</c:formatCode>
                <c:ptCount val="3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numCache>
            </c:numRef>
          </c:cat>
          <c:val>
            <c:numRef>
              <c:f>'Chart Data'!$D$2:$D$38</c:f>
              <c:numCache>
                <c:formatCode>General</c:formatCode>
                <c:ptCount val="37"/>
                <c:pt idx="0">
                  <c:v>27.027027027027</c:v>
                </c:pt>
                <c:pt idx="1">
                  <c:v>27.027027027027</c:v>
                </c:pt>
                <c:pt idx="2">
                  <c:v>27.027027027027</c:v>
                </c:pt>
                <c:pt idx="3">
                  <c:v>27.027027027027</c:v>
                </c:pt>
                <c:pt idx="4">
                  <c:v>27.027027027027</c:v>
                </c:pt>
                <c:pt idx="5">
                  <c:v>27.027027027027</c:v>
                </c:pt>
                <c:pt idx="6">
                  <c:v>27.027027027027</c:v>
                </c:pt>
                <c:pt idx="7">
                  <c:v>27.027027027027</c:v>
                </c:pt>
                <c:pt idx="8">
                  <c:v>27.027027027027</c:v>
                </c:pt>
                <c:pt idx="9">
                  <c:v>27.027027027027</c:v>
                </c:pt>
                <c:pt idx="10">
                  <c:v>27.027027027027</c:v>
                </c:pt>
                <c:pt idx="11">
                  <c:v>27.027027027027</c:v>
                </c:pt>
                <c:pt idx="12">
                  <c:v>27.027027027027</c:v>
                </c:pt>
                <c:pt idx="13">
                  <c:v>27.027027027027</c:v>
                </c:pt>
                <c:pt idx="14">
                  <c:v>27.027027027027</c:v>
                </c:pt>
                <c:pt idx="15">
                  <c:v>27.027027027027</c:v>
                </c:pt>
                <c:pt idx="16">
                  <c:v>27.027027027027</c:v>
                </c:pt>
                <c:pt idx="17">
                  <c:v>27.027027027027</c:v>
                </c:pt>
                <c:pt idx="18">
                  <c:v>27.027027027027</c:v>
                </c:pt>
                <c:pt idx="19">
                  <c:v>27.027027027027</c:v>
                </c:pt>
                <c:pt idx="20">
                  <c:v>27.027027027027</c:v>
                </c:pt>
                <c:pt idx="21">
                  <c:v>27.027027027027</c:v>
                </c:pt>
                <c:pt idx="22">
                  <c:v>27.027027027027</c:v>
                </c:pt>
                <c:pt idx="23">
                  <c:v>27.027027027027</c:v>
                </c:pt>
                <c:pt idx="24">
                  <c:v>27.027027027027</c:v>
                </c:pt>
                <c:pt idx="25">
                  <c:v>27.027027027027</c:v>
                </c:pt>
                <c:pt idx="26">
                  <c:v>27.027027027027</c:v>
                </c:pt>
                <c:pt idx="27">
                  <c:v>27.027027027027</c:v>
                </c:pt>
                <c:pt idx="28">
                  <c:v>27.027027027027</c:v>
                </c:pt>
                <c:pt idx="29">
                  <c:v>27.027027027027</c:v>
                </c:pt>
                <c:pt idx="30">
                  <c:v>27.027027027027</c:v>
                </c:pt>
                <c:pt idx="31">
                  <c:v>27.027027027027</c:v>
                </c:pt>
                <c:pt idx="32">
                  <c:v>27.027027027027</c:v>
                </c:pt>
                <c:pt idx="33">
                  <c:v>27.027027027027</c:v>
                </c:pt>
                <c:pt idx="34">
                  <c:v>27.027027027027</c:v>
                </c:pt>
                <c:pt idx="35">
                  <c:v>27.027027027027</c:v>
                </c:pt>
                <c:pt idx="36">
                  <c:v>27.027027027027</c:v>
                </c:pt>
              </c:numCache>
            </c:numRef>
          </c:val>
          <c:extLst>
            <c:ext xmlns:c16="http://schemas.microsoft.com/office/drawing/2014/chart" uri="{C3380CC4-5D6E-409C-BE32-E72D297353CC}">
              <c16:uniqueId val="{00000001-4F0B-104C-AEFD-1F22CE86614D}"/>
            </c:ext>
          </c:extLst>
        </c:ser>
        <c:dLbls>
          <c:showLegendKey val="0"/>
          <c:showVal val="0"/>
          <c:showCatName val="0"/>
          <c:showSerName val="0"/>
          <c:showPercent val="0"/>
          <c:showBubbleSize val="0"/>
        </c:dLbls>
        <c:gapWidth val="30"/>
        <c:axId val="48650112"/>
        <c:axId val="48672768"/>
      </c:barChart>
      <c:catAx>
        <c:axId val="48650112"/>
        <c:scaling>
          <c:orientation val="minMax"/>
        </c:scaling>
        <c:delete val="0"/>
        <c:axPos val="b"/>
        <c:title>
          <c:tx>
            <c:rich>
              <a:bodyPr/>
              <a:lstStyle/>
              <a:p>
                <a:r>
                  <a:rPr lang="en-US" sz="1400">
                    <a:latin typeface="Arial"/>
                    <a:ea typeface="Arial"/>
                    <a:cs typeface="Arial"/>
                  </a:rPr>
                  <a:t>Número</a:t>
                </a:r>
              </a:p>
            </c:rich>
          </c:tx>
          <c:overlay val="0"/>
        </c:title>
        <c:numFmt formatCode="General" sourceLinked="1"/>
        <c:majorTickMark val="none"/>
        <c:minorTickMark val="none"/>
        <c:tickLblPos val="nextTo"/>
        <c:spPr>
          <a:ln w="9525">
            <a:solidFill>
              <a:srgbClr val="536369"/>
            </a:solidFill>
          </a:ln>
        </c:spPr>
        <c:txPr>
          <a:bodyPr anchorCtr="1"/>
          <a:lstStyle/>
          <a:p>
            <a:pPr>
              <a:defRPr sz="1100">
                <a:solidFill>
                  <a:srgbClr val="11111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0"/>
        <c:axPos val="l"/>
        <c:majorGridlines>
          <c:spPr>
            <a:ln w="4763">
              <a:solidFill>
                <a:srgbClr val="E1E7E7"/>
              </a:solidFill>
            </a:ln>
          </c:spPr>
        </c:majorGridlines>
        <c:title>
          <c:tx>
            <c:rich>
              <a:bodyPr/>
              <a:lstStyle/>
              <a:p>
                <a:r>
                  <a:rPr lang="en-US" sz="1400">
                    <a:latin typeface="Arial"/>
                    <a:ea typeface="Arial"/>
                    <a:cs typeface="Arial"/>
                  </a:rPr>
                  <a:t>Apariciones</a:t>
                </a:r>
              </a:p>
            </c:rich>
          </c:tx>
          <c:overlay val="0"/>
        </c:title>
        <c:numFmt formatCode="General" sourceLinked="1"/>
        <c:majorTickMark val="none"/>
        <c:minorTickMark val="none"/>
        <c:tickLblPos val="nextTo"/>
        <c:spPr>
          <a:ln w="9525">
            <a:solidFill>
              <a:srgbClr val="536369"/>
            </a:solidFill>
          </a:ln>
        </c:spPr>
        <c:txPr>
          <a:bodyPr anchorCtr="1"/>
          <a:lstStyle/>
          <a:p>
            <a:pPr>
              <a:defRPr sz="1300">
                <a:solidFill>
                  <a:srgbClr val="111111"/>
                </a:solidFill>
                <a:latin typeface="Arial"/>
                <a:ea typeface="Arial"/>
                <a:cs typeface="Arial"/>
              </a:defRPr>
            </a:pPr>
            <a:endParaRPr lang="en-US"/>
          </a:p>
        </c:txPr>
        <c:crossAx val="48650112"/>
        <c:crosses val="autoZero"/>
        <c:crossBetween val="between"/>
        <c:majorUnit val="10"/>
      </c:valAx>
      <c:spPr>
        <a:solidFill>
          <a:srgbClr val="FFFFFF"/>
        </a:solidFill>
        <a:ln w="0">
          <a:noFill/>
        </a:ln>
      </c:spPr>
    </c:plotArea>
    <c:legend>
      <c:legendPos val="t"/>
      <c:overlay val="0"/>
      <c:txPr>
        <a:bodyPr anchorCtr="1"/>
        <a:lstStyle/>
        <a:p>
          <a:pPr>
            <a:defRPr sz="1400">
              <a:latin typeface="Arial"/>
              <a:ea typeface="Arial"/>
              <a:cs typeface="Arial"/>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Observado</c:v>
          </c:tx>
          <c:spPr>
            <a:solidFill>
              <a:srgbClr val="044247"/>
            </a:solidFill>
          </c:spPr>
          <c:invertIfNegative val="0"/>
          <c:cat>
            <c:strRef>
              <c:f>'Chart Data'!$A$2:$A$4</c:f>
              <c:strCache>
                <c:ptCount val="3"/>
                <c:pt idx="0">
                  <c:v>Rojo</c:v>
                </c:pt>
                <c:pt idx="1">
                  <c:v>Negro</c:v>
                </c:pt>
                <c:pt idx="2">
                  <c:v>Verde</c:v>
                </c:pt>
              </c:strCache>
            </c:strRef>
          </c:cat>
          <c:val>
            <c:numRef>
              <c:f>'Chart Data'!$B$2:$B$4</c:f>
              <c:numCache>
                <c:formatCode>0%</c:formatCode>
                <c:ptCount val="3"/>
                <c:pt idx="0">
                  <c:v>0.48399999999999999</c:v>
                </c:pt>
                <c:pt idx="1">
                  <c:v>0.48399999999999999</c:v>
                </c:pt>
                <c:pt idx="2">
                  <c:v>3.2000000000000001E-2</c:v>
                </c:pt>
              </c:numCache>
            </c:numRef>
          </c:val>
          <c:extLst>
            <c:ext xmlns:c16="http://schemas.microsoft.com/office/drawing/2014/chart" uri="{C3380CC4-5D6E-409C-BE32-E72D297353CC}">
              <c16:uniqueId val="{00000000-EFA3-B448-8366-5B2919B9491A}"/>
            </c:ext>
          </c:extLst>
        </c:ser>
        <c:ser>
          <c:idx val="1"/>
          <c:order val="1"/>
          <c:tx>
            <c:v>Modelo</c:v>
          </c:tx>
          <c:spPr>
            <a:solidFill>
              <a:srgbClr val="2066A8"/>
            </a:solidFill>
          </c:spPr>
          <c:invertIfNegative val="0"/>
          <c:cat>
            <c:strRef>
              <c:f>'Chart Data'!$C$2:$C$4</c:f>
              <c:strCache>
                <c:ptCount val="3"/>
                <c:pt idx="0">
                  <c:v>Rojo</c:v>
                </c:pt>
                <c:pt idx="1">
                  <c:v>Negro</c:v>
                </c:pt>
                <c:pt idx="2">
                  <c:v>Verde</c:v>
                </c:pt>
              </c:strCache>
            </c:strRef>
          </c:cat>
          <c:val>
            <c:numRef>
              <c:f>'Chart Data'!$D$2:$D$4</c:f>
              <c:numCache>
                <c:formatCode>0%</c:formatCode>
                <c:ptCount val="3"/>
                <c:pt idx="0">
                  <c:v>0.48648648648649001</c:v>
                </c:pt>
                <c:pt idx="1">
                  <c:v>0.48648648648649001</c:v>
                </c:pt>
                <c:pt idx="2">
                  <c:v>2.7027027027027001E-2</c:v>
                </c:pt>
              </c:numCache>
            </c:numRef>
          </c:val>
          <c:extLst>
            <c:ext xmlns:c16="http://schemas.microsoft.com/office/drawing/2014/chart" uri="{C3380CC4-5D6E-409C-BE32-E72D297353CC}">
              <c16:uniqueId val="{00000001-EFA3-B448-8366-5B2919B9491A}"/>
            </c:ext>
          </c:extLst>
        </c:ser>
        <c:dLbls>
          <c:showLegendKey val="0"/>
          <c:showVal val="0"/>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36369"/>
            </a:solidFill>
          </a:ln>
        </c:spPr>
        <c:txPr>
          <a:bodyPr anchorCtr="1"/>
          <a:lstStyle/>
          <a:p>
            <a:pPr>
              <a:defRPr sz="1800">
                <a:solidFill>
                  <a:srgbClr val="11111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6"/>
          <c:min val="0"/>
        </c:scaling>
        <c:delete val="0"/>
        <c:axPos val="l"/>
        <c:majorGridlines>
          <c:spPr>
            <a:ln w="4763">
              <a:solidFill>
                <a:srgbClr val="E1E7E7"/>
              </a:solidFill>
            </a:ln>
          </c:spPr>
        </c:majorGridlines>
        <c:numFmt formatCode="0%" sourceLinked="1"/>
        <c:majorTickMark val="none"/>
        <c:minorTickMark val="none"/>
        <c:tickLblPos val="nextTo"/>
        <c:spPr>
          <a:ln w="9525">
            <a:solidFill>
              <a:srgbClr val="536369"/>
            </a:solidFill>
          </a:ln>
        </c:spPr>
        <c:txPr>
          <a:bodyPr anchorCtr="1"/>
          <a:lstStyle/>
          <a:p>
            <a:pPr>
              <a:defRPr sz="1500">
                <a:solidFill>
                  <a:srgbClr val="111111"/>
                </a:solidFill>
                <a:latin typeface="Arial"/>
                <a:ea typeface="Arial"/>
                <a:cs typeface="Arial"/>
              </a:defRPr>
            </a:pPr>
            <a:endParaRPr lang="en-US"/>
          </a:p>
        </c:txPr>
        <c:crossAx val="48650112"/>
        <c:crosses val="autoZero"/>
        <c:crossBetween val="between"/>
        <c:majorUnit val="0.1"/>
      </c:valAx>
      <c:spPr>
        <a:solidFill>
          <a:srgbClr val="FFFFFF"/>
        </a:solidFill>
        <a:ln w="0">
          <a:noFill/>
        </a:ln>
      </c:spPr>
    </c:plotArea>
    <c:legend>
      <c:legendPos val="t"/>
      <c:overlay val="0"/>
      <c:txPr>
        <a:bodyPr anchorCtr="1"/>
        <a:lstStyle/>
        <a:p>
          <a:pPr>
            <a:defRPr sz="1600">
              <a:latin typeface="Arial"/>
              <a:ea typeface="Arial"/>
              <a:cs typeface="Arial"/>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Observado</c:v>
          </c:tx>
          <c:spPr>
            <a:ln w="19050">
              <a:solidFill>
                <a:srgbClr val="BA3A43"/>
              </a:solidFill>
              <a:prstDash val="solid"/>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0%</c:formatCode>
                <c:ptCount val="1000"/>
                <c:pt idx="0">
                  <c:v>0</c:v>
                </c:pt>
                <c:pt idx="1">
                  <c:v>0.5</c:v>
                </c:pt>
                <c:pt idx="2">
                  <c:v>0.33333333333332998</c:v>
                </c:pt>
                <c:pt idx="3">
                  <c:v>0.25</c:v>
                </c:pt>
                <c:pt idx="4">
                  <c:v>0.2</c:v>
                </c:pt>
                <c:pt idx="5">
                  <c:v>0.33333333333332998</c:v>
                </c:pt>
                <c:pt idx="6">
                  <c:v>0.28571428571428997</c:v>
                </c:pt>
                <c:pt idx="7">
                  <c:v>0.375</c:v>
                </c:pt>
                <c:pt idx="8">
                  <c:v>0.44444444444443998</c:v>
                </c:pt>
                <c:pt idx="9">
                  <c:v>0.5</c:v>
                </c:pt>
                <c:pt idx="10">
                  <c:v>0.45454545454544998</c:v>
                </c:pt>
                <c:pt idx="11">
                  <c:v>0.5</c:v>
                </c:pt>
                <c:pt idx="12">
                  <c:v>0.46153846153846001</c:v>
                </c:pt>
                <c:pt idx="13">
                  <c:v>0.42857142857142999</c:v>
                </c:pt>
                <c:pt idx="14">
                  <c:v>0.4</c:v>
                </c:pt>
                <c:pt idx="15">
                  <c:v>0.4375</c:v>
                </c:pt>
                <c:pt idx="16">
                  <c:v>0.41176470588234998</c:v>
                </c:pt>
                <c:pt idx="17">
                  <c:v>0.44444444444443998</c:v>
                </c:pt>
                <c:pt idx="18">
                  <c:v>0.47368421052631998</c:v>
                </c:pt>
                <c:pt idx="19">
                  <c:v>0.45</c:v>
                </c:pt>
                <c:pt idx="20">
                  <c:v>0.42857142857142999</c:v>
                </c:pt>
                <c:pt idx="21">
                  <c:v>0.45454545454544998</c:v>
                </c:pt>
                <c:pt idx="22">
                  <c:v>0.43478260869565</c:v>
                </c:pt>
                <c:pt idx="23">
                  <c:v>0.45833333333332998</c:v>
                </c:pt>
                <c:pt idx="24">
                  <c:v>0.48</c:v>
                </c:pt>
                <c:pt idx="25">
                  <c:v>0.46153846153846001</c:v>
                </c:pt>
                <c:pt idx="26">
                  <c:v>0.44444444444443998</c:v>
                </c:pt>
                <c:pt idx="27">
                  <c:v>0.42857142857142999</c:v>
                </c:pt>
                <c:pt idx="28">
                  <c:v>0.41379310344828002</c:v>
                </c:pt>
                <c:pt idx="29">
                  <c:v>0.4</c:v>
                </c:pt>
                <c:pt idx="30">
                  <c:v>0.38709677419354999</c:v>
                </c:pt>
                <c:pt idx="31">
                  <c:v>0.40625</c:v>
                </c:pt>
                <c:pt idx="32">
                  <c:v>0.39393939393938998</c:v>
                </c:pt>
                <c:pt idx="33">
                  <c:v>0.38235294117647001</c:v>
                </c:pt>
                <c:pt idx="34">
                  <c:v>0.4</c:v>
                </c:pt>
                <c:pt idx="35">
                  <c:v>0.41666666666667002</c:v>
                </c:pt>
                <c:pt idx="36">
                  <c:v>0.43243243243243001</c:v>
                </c:pt>
                <c:pt idx="37">
                  <c:v>0.44736842105263003</c:v>
                </c:pt>
                <c:pt idx="38">
                  <c:v>0.43589743589744001</c:v>
                </c:pt>
                <c:pt idx="39">
                  <c:v>0.42499999999999999</c:v>
                </c:pt>
                <c:pt idx="40">
                  <c:v>0.41463414634146001</c:v>
                </c:pt>
                <c:pt idx="41">
                  <c:v>0.40476190476189999</c:v>
                </c:pt>
                <c:pt idx="42">
                  <c:v>0.39534883720929997</c:v>
                </c:pt>
                <c:pt idx="43">
                  <c:v>0.38636363636364002</c:v>
                </c:pt>
                <c:pt idx="44">
                  <c:v>0.4</c:v>
                </c:pt>
                <c:pt idx="45">
                  <c:v>0.41304347826087001</c:v>
                </c:pt>
                <c:pt idx="46">
                  <c:v>0.40425531914893997</c:v>
                </c:pt>
                <c:pt idx="47">
                  <c:v>0.41666666666667002</c:v>
                </c:pt>
                <c:pt idx="48">
                  <c:v>0.42857142857142999</c:v>
                </c:pt>
                <c:pt idx="49">
                  <c:v>0.44</c:v>
                </c:pt>
                <c:pt idx="50">
                  <c:v>0.43137254901960997</c:v>
                </c:pt>
                <c:pt idx="51">
                  <c:v>0.44230769230769001</c:v>
                </c:pt>
                <c:pt idx="52">
                  <c:v>0.43396226415094002</c:v>
                </c:pt>
                <c:pt idx="53">
                  <c:v>0.44444444444443998</c:v>
                </c:pt>
                <c:pt idx="54">
                  <c:v>0.43636363636364001</c:v>
                </c:pt>
                <c:pt idx="55">
                  <c:v>0.42857142857142999</c:v>
                </c:pt>
                <c:pt idx="56">
                  <c:v>0.43859649122806998</c:v>
                </c:pt>
                <c:pt idx="57">
                  <c:v>0.44827586206897002</c:v>
                </c:pt>
                <c:pt idx="58">
                  <c:v>0.45762711864407002</c:v>
                </c:pt>
                <c:pt idx="59">
                  <c:v>0.46666666666667</c:v>
                </c:pt>
                <c:pt idx="60">
                  <c:v>0.47540983606557002</c:v>
                </c:pt>
                <c:pt idx="61">
                  <c:v>0.48387096774193999</c:v>
                </c:pt>
                <c:pt idx="62">
                  <c:v>0.47619047619047999</c:v>
                </c:pt>
                <c:pt idx="63">
                  <c:v>0.46875</c:v>
                </c:pt>
                <c:pt idx="64">
                  <c:v>0.46153846153846001</c:v>
                </c:pt>
                <c:pt idx="65">
                  <c:v>0.46969696969697</c:v>
                </c:pt>
                <c:pt idx="66">
                  <c:v>0.47761194029851001</c:v>
                </c:pt>
                <c:pt idx="67">
                  <c:v>0.47058823529412003</c:v>
                </c:pt>
                <c:pt idx="68">
                  <c:v>0.46376811594202999</c:v>
                </c:pt>
                <c:pt idx="69">
                  <c:v>0.45714285714286002</c:v>
                </c:pt>
                <c:pt idx="70">
                  <c:v>0.46478873239437002</c:v>
                </c:pt>
                <c:pt idx="71">
                  <c:v>0.47222222222221999</c:v>
                </c:pt>
                <c:pt idx="72">
                  <c:v>0.46575342465753</c:v>
                </c:pt>
                <c:pt idx="73">
                  <c:v>0.45945945945945998</c:v>
                </c:pt>
                <c:pt idx="74">
                  <c:v>0.46666666666667</c:v>
                </c:pt>
                <c:pt idx="75">
                  <c:v>0.47368421052631998</c:v>
                </c:pt>
                <c:pt idx="76">
                  <c:v>0.48051948051948001</c:v>
                </c:pt>
                <c:pt idx="77">
                  <c:v>0.47435897435897001</c:v>
                </c:pt>
                <c:pt idx="78">
                  <c:v>0.46835443037975</c:v>
                </c:pt>
                <c:pt idx="79">
                  <c:v>0.47499999999999998</c:v>
                </c:pt>
                <c:pt idx="80">
                  <c:v>0.48148148148148001</c:v>
                </c:pt>
                <c:pt idx="81">
                  <c:v>0.48780487804877998</c:v>
                </c:pt>
                <c:pt idx="82">
                  <c:v>0.49397590361445998</c:v>
                </c:pt>
                <c:pt idx="83">
                  <c:v>0.5</c:v>
                </c:pt>
                <c:pt idx="84">
                  <c:v>0.49411764705882</c:v>
                </c:pt>
                <c:pt idx="85">
                  <c:v>0.5</c:v>
                </c:pt>
                <c:pt idx="86">
                  <c:v>0.49425287356322001</c:v>
                </c:pt>
                <c:pt idx="87">
                  <c:v>0.5</c:v>
                </c:pt>
                <c:pt idx="88">
                  <c:v>0.49438202247190999</c:v>
                </c:pt>
                <c:pt idx="89">
                  <c:v>0.48888888888888998</c:v>
                </c:pt>
                <c:pt idx="90">
                  <c:v>0.49450549450548997</c:v>
                </c:pt>
                <c:pt idx="91">
                  <c:v>0.5</c:v>
                </c:pt>
                <c:pt idx="92">
                  <c:v>0.49462365591398</c:v>
                </c:pt>
                <c:pt idx="93">
                  <c:v>0.48936170212766</c:v>
                </c:pt>
                <c:pt idx="94">
                  <c:v>0.49473684210525998</c:v>
                </c:pt>
                <c:pt idx="95">
                  <c:v>0.5</c:v>
                </c:pt>
                <c:pt idx="96">
                  <c:v>0.49484536082474001</c:v>
                </c:pt>
                <c:pt idx="97">
                  <c:v>0.5</c:v>
                </c:pt>
                <c:pt idx="98">
                  <c:v>0.49494949494948998</c:v>
                </c:pt>
                <c:pt idx="99">
                  <c:v>0.49</c:v>
                </c:pt>
                <c:pt idx="100">
                  <c:v>0.49504950495049999</c:v>
                </c:pt>
                <c:pt idx="101">
                  <c:v>0.49019607843136997</c:v>
                </c:pt>
                <c:pt idx="102">
                  <c:v>0.48543689320388</c:v>
                </c:pt>
                <c:pt idx="103">
                  <c:v>0.49038461538462003</c:v>
                </c:pt>
                <c:pt idx="104">
                  <c:v>0.49523809523809997</c:v>
                </c:pt>
                <c:pt idx="105">
                  <c:v>0.5</c:v>
                </c:pt>
                <c:pt idx="106">
                  <c:v>0.49532710280373998</c:v>
                </c:pt>
                <c:pt idx="107">
                  <c:v>0.5</c:v>
                </c:pt>
                <c:pt idx="108">
                  <c:v>0.4954128440367</c:v>
                </c:pt>
                <c:pt idx="109">
                  <c:v>0.5</c:v>
                </c:pt>
                <c:pt idx="110">
                  <c:v>0.49549549549549998</c:v>
                </c:pt>
                <c:pt idx="111">
                  <c:v>0.5</c:v>
                </c:pt>
                <c:pt idx="112">
                  <c:v>0.49557522123893999</c:v>
                </c:pt>
                <c:pt idx="113">
                  <c:v>0.5</c:v>
                </c:pt>
                <c:pt idx="114">
                  <c:v>0.50434782608696005</c:v>
                </c:pt>
                <c:pt idx="115">
                  <c:v>0.5</c:v>
                </c:pt>
                <c:pt idx="116">
                  <c:v>0.50427350427350004</c:v>
                </c:pt>
                <c:pt idx="117">
                  <c:v>0.50847457627118997</c:v>
                </c:pt>
                <c:pt idx="118">
                  <c:v>0.51260504201681001</c:v>
                </c:pt>
                <c:pt idx="119">
                  <c:v>0.51666666666667005</c:v>
                </c:pt>
                <c:pt idx="120">
                  <c:v>0.51239669421487999</c:v>
                </c:pt>
                <c:pt idx="121">
                  <c:v>0.51639344262294995</c:v>
                </c:pt>
                <c:pt idx="122">
                  <c:v>0.52032520325203002</c:v>
                </c:pt>
                <c:pt idx="123">
                  <c:v>0.51612903225805995</c:v>
                </c:pt>
                <c:pt idx="124">
                  <c:v>0.51200000000000001</c:v>
                </c:pt>
                <c:pt idx="125">
                  <c:v>0.51587301587302004</c:v>
                </c:pt>
                <c:pt idx="126">
                  <c:v>0.51968503937008004</c:v>
                </c:pt>
                <c:pt idx="127">
                  <c:v>0.5234375</c:v>
                </c:pt>
                <c:pt idx="128">
                  <c:v>0.52713178294574004</c:v>
                </c:pt>
                <c:pt idx="129">
                  <c:v>0.53076923076922999</c:v>
                </c:pt>
                <c:pt idx="130">
                  <c:v>0.52671755725191005</c:v>
                </c:pt>
                <c:pt idx="131">
                  <c:v>0.52272727272727004</c:v>
                </c:pt>
                <c:pt idx="132">
                  <c:v>0.51879699248120004</c:v>
                </c:pt>
                <c:pt idx="133">
                  <c:v>0.51492537313432996</c:v>
                </c:pt>
                <c:pt idx="134">
                  <c:v>0.51111111111110996</c:v>
                </c:pt>
                <c:pt idx="135">
                  <c:v>0.50735294117647001</c:v>
                </c:pt>
                <c:pt idx="136">
                  <c:v>0.50364963503649995</c:v>
                </c:pt>
                <c:pt idx="137">
                  <c:v>0.50724637681159002</c:v>
                </c:pt>
                <c:pt idx="138">
                  <c:v>0.51079136690646998</c:v>
                </c:pt>
                <c:pt idx="139">
                  <c:v>0.50714285714286</c:v>
                </c:pt>
                <c:pt idx="140">
                  <c:v>0.50354609929077998</c:v>
                </c:pt>
                <c:pt idx="141">
                  <c:v>0.50704225352112997</c:v>
                </c:pt>
                <c:pt idx="142">
                  <c:v>0.51048951048950997</c:v>
                </c:pt>
                <c:pt idx="143">
                  <c:v>0.51388888888888995</c:v>
                </c:pt>
                <c:pt idx="144">
                  <c:v>0.51034482758621003</c:v>
                </c:pt>
                <c:pt idx="145">
                  <c:v>0.51369863013699002</c:v>
                </c:pt>
                <c:pt idx="146">
                  <c:v>0.51020408163264996</c:v>
                </c:pt>
                <c:pt idx="147">
                  <c:v>0.51351351351351004</c:v>
                </c:pt>
                <c:pt idx="148">
                  <c:v>0.51677852348993003</c:v>
                </c:pt>
                <c:pt idx="149">
                  <c:v>0.51333333333332998</c:v>
                </c:pt>
                <c:pt idx="150">
                  <c:v>0.50993377483444002</c:v>
                </c:pt>
                <c:pt idx="151">
                  <c:v>0.51315789473684004</c:v>
                </c:pt>
                <c:pt idx="152">
                  <c:v>0.51633986928105002</c:v>
                </c:pt>
                <c:pt idx="153">
                  <c:v>0.51948051948051999</c:v>
                </c:pt>
                <c:pt idx="154">
                  <c:v>0.52258064516128999</c:v>
                </c:pt>
                <c:pt idx="155">
                  <c:v>0.52564102564102999</c:v>
                </c:pt>
                <c:pt idx="156">
                  <c:v>0.52866242038217004</c:v>
                </c:pt>
                <c:pt idx="157">
                  <c:v>0.53164556962025</c:v>
                </c:pt>
                <c:pt idx="158">
                  <c:v>0.53459119496855001</c:v>
                </c:pt>
                <c:pt idx="159">
                  <c:v>0.53125</c:v>
                </c:pt>
                <c:pt idx="160">
                  <c:v>0.52795031055900998</c:v>
                </c:pt>
                <c:pt idx="161">
                  <c:v>0.52469135802469002</c:v>
                </c:pt>
                <c:pt idx="162">
                  <c:v>0.52147239263804002</c:v>
                </c:pt>
                <c:pt idx="163">
                  <c:v>0.51829268292682995</c:v>
                </c:pt>
                <c:pt idx="164">
                  <c:v>0.52121212121212002</c:v>
                </c:pt>
                <c:pt idx="165">
                  <c:v>0.51807228915662995</c:v>
                </c:pt>
                <c:pt idx="166">
                  <c:v>0.52095808383233999</c:v>
                </c:pt>
                <c:pt idx="167">
                  <c:v>0.52380952380951995</c:v>
                </c:pt>
                <c:pt idx="168">
                  <c:v>0.52662721893491005</c:v>
                </c:pt>
                <c:pt idx="169">
                  <c:v>0.52352941176471002</c:v>
                </c:pt>
                <c:pt idx="170">
                  <c:v>0.52046783625730997</c:v>
                </c:pt>
                <c:pt idx="171">
                  <c:v>0.52325581395348997</c:v>
                </c:pt>
                <c:pt idx="172">
                  <c:v>0.52601156069363997</c:v>
                </c:pt>
                <c:pt idx="173">
                  <c:v>0.52298850574712996</c:v>
                </c:pt>
                <c:pt idx="174">
                  <c:v>0.52</c:v>
                </c:pt>
                <c:pt idx="175">
                  <c:v>0.52272727272727004</c:v>
                </c:pt>
                <c:pt idx="176">
                  <c:v>0.52542372881356003</c:v>
                </c:pt>
                <c:pt idx="177">
                  <c:v>0.52808988764044995</c:v>
                </c:pt>
                <c:pt idx="178">
                  <c:v>0.52513966480447005</c:v>
                </c:pt>
                <c:pt idx="179">
                  <c:v>0.52777777777778001</c:v>
                </c:pt>
                <c:pt idx="180">
                  <c:v>0.52486187845304</c:v>
                </c:pt>
                <c:pt idx="181">
                  <c:v>0.52197802197802001</c:v>
                </c:pt>
                <c:pt idx="182">
                  <c:v>0.52459016393443003</c:v>
                </c:pt>
                <c:pt idx="183">
                  <c:v>0.52173913043478004</c:v>
                </c:pt>
                <c:pt idx="184">
                  <c:v>0.52432432432431997</c:v>
                </c:pt>
                <c:pt idx="185">
                  <c:v>0.52688172043010995</c:v>
                </c:pt>
                <c:pt idx="186">
                  <c:v>0.52406417112298997</c:v>
                </c:pt>
                <c:pt idx="187">
                  <c:v>0.52127659574467999</c:v>
                </c:pt>
                <c:pt idx="188">
                  <c:v>0.52380952380951995</c:v>
                </c:pt>
                <c:pt idx="189">
                  <c:v>0.52631578947367996</c:v>
                </c:pt>
                <c:pt idx="190">
                  <c:v>0.52356020942407999</c:v>
                </c:pt>
                <c:pt idx="191">
                  <c:v>0.52604166666666996</c:v>
                </c:pt>
                <c:pt idx="192">
                  <c:v>0.52331606217616999</c:v>
                </c:pt>
                <c:pt idx="193">
                  <c:v>0.52061855670102997</c:v>
                </c:pt>
                <c:pt idx="194">
                  <c:v>0.52307692307692</c:v>
                </c:pt>
                <c:pt idx="195">
                  <c:v>0.52040816326531003</c:v>
                </c:pt>
                <c:pt idx="196">
                  <c:v>0.51776649746193004</c:v>
                </c:pt>
                <c:pt idx="197">
                  <c:v>0.52020202020202</c:v>
                </c:pt>
                <c:pt idx="198">
                  <c:v>0.51758793969849004</c:v>
                </c:pt>
                <c:pt idx="199">
                  <c:v>0.52</c:v>
                </c:pt>
                <c:pt idx="200">
                  <c:v>0.51741293532337995</c:v>
                </c:pt>
                <c:pt idx="201">
                  <c:v>0.51485148514850998</c:v>
                </c:pt>
                <c:pt idx="202">
                  <c:v>0.51231527093595997</c:v>
                </c:pt>
                <c:pt idx="203">
                  <c:v>0.50980392156862997</c:v>
                </c:pt>
                <c:pt idx="204">
                  <c:v>0.50731707317073005</c:v>
                </c:pt>
                <c:pt idx="205">
                  <c:v>0.50485436893204005</c:v>
                </c:pt>
                <c:pt idx="206">
                  <c:v>0.50724637681159002</c:v>
                </c:pt>
                <c:pt idx="207">
                  <c:v>0.50961538461538003</c:v>
                </c:pt>
                <c:pt idx="208">
                  <c:v>0.50717703349281995</c:v>
                </c:pt>
                <c:pt idx="209">
                  <c:v>0.50476190476189997</c:v>
                </c:pt>
                <c:pt idx="210">
                  <c:v>0.50710900473933995</c:v>
                </c:pt>
                <c:pt idx="211">
                  <c:v>0.50471698113207997</c:v>
                </c:pt>
                <c:pt idx="212">
                  <c:v>0.50234741784037995</c:v>
                </c:pt>
                <c:pt idx="213">
                  <c:v>0.5</c:v>
                </c:pt>
                <c:pt idx="214">
                  <c:v>0.49767441860465</c:v>
                </c:pt>
                <c:pt idx="215">
                  <c:v>0.5</c:v>
                </c:pt>
                <c:pt idx="216">
                  <c:v>0.50230414746544005</c:v>
                </c:pt>
                <c:pt idx="217">
                  <c:v>0.5</c:v>
                </c:pt>
                <c:pt idx="218">
                  <c:v>0.50228310502283002</c:v>
                </c:pt>
                <c:pt idx="219">
                  <c:v>0.5</c:v>
                </c:pt>
                <c:pt idx="220">
                  <c:v>0.50226244343891002</c:v>
                </c:pt>
                <c:pt idx="221">
                  <c:v>0.50450450450450002</c:v>
                </c:pt>
                <c:pt idx="222">
                  <c:v>0.50224215246637005</c:v>
                </c:pt>
                <c:pt idx="223">
                  <c:v>0.5</c:v>
                </c:pt>
                <c:pt idx="224">
                  <c:v>0.49777777777777998</c:v>
                </c:pt>
                <c:pt idx="225">
                  <c:v>0.5</c:v>
                </c:pt>
                <c:pt idx="226">
                  <c:v>0.49779735682818999</c:v>
                </c:pt>
                <c:pt idx="227">
                  <c:v>0.49561403508772001</c:v>
                </c:pt>
                <c:pt idx="228">
                  <c:v>0.49781659388645999</c:v>
                </c:pt>
                <c:pt idx="229">
                  <c:v>0.49565217391304001</c:v>
                </c:pt>
                <c:pt idx="230">
                  <c:v>0.49783549783550002</c:v>
                </c:pt>
                <c:pt idx="231">
                  <c:v>0.49568965517240998</c:v>
                </c:pt>
                <c:pt idx="232">
                  <c:v>0.49356223175966002</c:v>
                </c:pt>
                <c:pt idx="233">
                  <c:v>0.49145299145298998</c:v>
                </c:pt>
                <c:pt idx="234">
                  <c:v>0.48936170212766</c:v>
                </c:pt>
                <c:pt idx="235">
                  <c:v>0.48728813559321998</c:v>
                </c:pt>
                <c:pt idx="236">
                  <c:v>0.48945147679325002</c:v>
                </c:pt>
                <c:pt idx="237">
                  <c:v>0.48739495798318999</c:v>
                </c:pt>
                <c:pt idx="238">
                  <c:v>0.48535564853556001</c:v>
                </c:pt>
                <c:pt idx="239">
                  <c:v>0.48749999999999999</c:v>
                </c:pt>
                <c:pt idx="240">
                  <c:v>0.48547717842324001</c:v>
                </c:pt>
                <c:pt idx="241">
                  <c:v>0.48760330578512001</c:v>
                </c:pt>
                <c:pt idx="242">
                  <c:v>0.48971193415637998</c:v>
                </c:pt>
                <c:pt idx="243">
                  <c:v>0.48770491803278998</c:v>
                </c:pt>
                <c:pt idx="244">
                  <c:v>0.48979591836734998</c:v>
                </c:pt>
                <c:pt idx="245">
                  <c:v>0.48780487804877998</c:v>
                </c:pt>
                <c:pt idx="246">
                  <c:v>0.48582995951417002</c:v>
                </c:pt>
                <c:pt idx="247">
                  <c:v>0.48790322580645001</c:v>
                </c:pt>
                <c:pt idx="248">
                  <c:v>0.48594377510039999</c:v>
                </c:pt>
                <c:pt idx="249">
                  <c:v>0.48799999999999999</c:v>
                </c:pt>
                <c:pt idx="250">
                  <c:v>0.48605577689243001</c:v>
                </c:pt>
                <c:pt idx="251">
                  <c:v>0.48809523809524002</c:v>
                </c:pt>
                <c:pt idx="252">
                  <c:v>0.49011857707509998</c:v>
                </c:pt>
                <c:pt idx="253">
                  <c:v>0.48818897637795</c:v>
                </c:pt>
                <c:pt idx="254">
                  <c:v>0.48627450980392001</c:v>
                </c:pt>
                <c:pt idx="255">
                  <c:v>0.484375</c:v>
                </c:pt>
                <c:pt idx="256">
                  <c:v>0.48638132295719999</c:v>
                </c:pt>
                <c:pt idx="257">
                  <c:v>0.48837209302326001</c:v>
                </c:pt>
                <c:pt idx="258">
                  <c:v>0.48648648648649001</c:v>
                </c:pt>
                <c:pt idx="259">
                  <c:v>0.48461538461538001</c:v>
                </c:pt>
                <c:pt idx="260">
                  <c:v>0.48659003831418002</c:v>
                </c:pt>
                <c:pt idx="261">
                  <c:v>0.48854961832061</c:v>
                </c:pt>
                <c:pt idx="262">
                  <c:v>0.48669201520913002</c:v>
                </c:pt>
                <c:pt idx="263">
                  <c:v>0.48863636363635998</c:v>
                </c:pt>
                <c:pt idx="264">
                  <c:v>0.49056603773585</c:v>
                </c:pt>
                <c:pt idx="265">
                  <c:v>0.49248120300752002</c:v>
                </c:pt>
                <c:pt idx="266">
                  <c:v>0.49063670411985</c:v>
                </c:pt>
                <c:pt idx="267">
                  <c:v>0.48880597014924998</c:v>
                </c:pt>
                <c:pt idx="268">
                  <c:v>0.48698884758364003</c:v>
                </c:pt>
                <c:pt idx="269">
                  <c:v>0.48518518518518999</c:v>
                </c:pt>
                <c:pt idx="270">
                  <c:v>0.48708487084870999</c:v>
                </c:pt>
                <c:pt idx="271">
                  <c:v>0.48897058823528999</c:v>
                </c:pt>
                <c:pt idx="272">
                  <c:v>0.49084249084248999</c:v>
                </c:pt>
                <c:pt idx="273">
                  <c:v>0.48905109489051002</c:v>
                </c:pt>
                <c:pt idx="274">
                  <c:v>0.49090909090909002</c:v>
                </c:pt>
                <c:pt idx="275">
                  <c:v>0.48913043478260998</c:v>
                </c:pt>
                <c:pt idx="276">
                  <c:v>0.49097472924188001</c:v>
                </c:pt>
                <c:pt idx="277">
                  <c:v>0.49280575539568</c:v>
                </c:pt>
                <c:pt idx="278">
                  <c:v>0.49462365591398</c:v>
                </c:pt>
                <c:pt idx="279">
                  <c:v>0.49285714285714</c:v>
                </c:pt>
                <c:pt idx="280">
                  <c:v>0.49466192170819001</c:v>
                </c:pt>
                <c:pt idx="281">
                  <c:v>0.49290780141843998</c:v>
                </c:pt>
                <c:pt idx="282">
                  <c:v>0.49469964664311</c:v>
                </c:pt>
                <c:pt idx="283">
                  <c:v>0.49647887323944001</c:v>
                </c:pt>
                <c:pt idx="284">
                  <c:v>0.49473684210525998</c:v>
                </c:pt>
                <c:pt idx="285">
                  <c:v>0.49650349650350001</c:v>
                </c:pt>
                <c:pt idx="286">
                  <c:v>0.49825783972124998</c:v>
                </c:pt>
                <c:pt idx="287">
                  <c:v>0.49652777777778001</c:v>
                </c:pt>
                <c:pt idx="288">
                  <c:v>0.49826989619376999</c:v>
                </c:pt>
                <c:pt idx="289">
                  <c:v>0.5</c:v>
                </c:pt>
                <c:pt idx="290">
                  <c:v>0.50171821305842002</c:v>
                </c:pt>
                <c:pt idx="291">
                  <c:v>0.5</c:v>
                </c:pt>
                <c:pt idx="292">
                  <c:v>0.49829351535835997</c:v>
                </c:pt>
                <c:pt idx="293">
                  <c:v>0.5</c:v>
                </c:pt>
                <c:pt idx="294">
                  <c:v>0.50169491525424004</c:v>
                </c:pt>
                <c:pt idx="295">
                  <c:v>0.5</c:v>
                </c:pt>
                <c:pt idx="296">
                  <c:v>0.49831649831649999</c:v>
                </c:pt>
                <c:pt idx="297">
                  <c:v>0.5</c:v>
                </c:pt>
                <c:pt idx="298">
                  <c:v>0.50167224080268003</c:v>
                </c:pt>
                <c:pt idx="299">
                  <c:v>0.50333333333332997</c:v>
                </c:pt>
                <c:pt idx="300">
                  <c:v>0.50166112956811004</c:v>
                </c:pt>
                <c:pt idx="301">
                  <c:v>0.5</c:v>
                </c:pt>
                <c:pt idx="302">
                  <c:v>0.50165016501649995</c:v>
                </c:pt>
                <c:pt idx="303">
                  <c:v>0.5</c:v>
                </c:pt>
                <c:pt idx="304">
                  <c:v>0.50163934426229995</c:v>
                </c:pt>
                <c:pt idx="305">
                  <c:v>0.50326797385621003</c:v>
                </c:pt>
                <c:pt idx="306">
                  <c:v>0.50488599348534002</c:v>
                </c:pt>
                <c:pt idx="307">
                  <c:v>0.50324675324674994</c:v>
                </c:pt>
                <c:pt idx="308">
                  <c:v>0.50161812297734998</c:v>
                </c:pt>
                <c:pt idx="309">
                  <c:v>0.5</c:v>
                </c:pt>
                <c:pt idx="310">
                  <c:v>0.49839228295819998</c:v>
                </c:pt>
                <c:pt idx="311">
                  <c:v>0.49679487179486997</c:v>
                </c:pt>
                <c:pt idx="312">
                  <c:v>0.49520766773163</c:v>
                </c:pt>
                <c:pt idx="313">
                  <c:v>0.49363057324840998</c:v>
                </c:pt>
                <c:pt idx="314">
                  <c:v>0.49206349206348998</c:v>
                </c:pt>
                <c:pt idx="315">
                  <c:v>0.49050632911392</c:v>
                </c:pt>
                <c:pt idx="316">
                  <c:v>0.49211356466876999</c:v>
                </c:pt>
                <c:pt idx="317">
                  <c:v>0.49371069182389998</c:v>
                </c:pt>
                <c:pt idx="318">
                  <c:v>0.49529780564262998</c:v>
                </c:pt>
                <c:pt idx="319">
                  <c:v>0.49375000000000002</c:v>
                </c:pt>
                <c:pt idx="320">
                  <c:v>0.49532710280373998</c:v>
                </c:pt>
                <c:pt idx="321">
                  <c:v>0.49378881987577999</c:v>
                </c:pt>
                <c:pt idx="322">
                  <c:v>0.4922600619195</c:v>
                </c:pt>
                <c:pt idx="323">
                  <c:v>0.49382716049383002</c:v>
                </c:pt>
                <c:pt idx="324">
                  <c:v>0.49230769230769</c:v>
                </c:pt>
                <c:pt idx="325">
                  <c:v>0.49079754601226999</c:v>
                </c:pt>
                <c:pt idx="326">
                  <c:v>0.48929663608563001</c:v>
                </c:pt>
                <c:pt idx="327">
                  <c:v>0.48780487804877998</c:v>
                </c:pt>
                <c:pt idx="328">
                  <c:v>0.48632218844984998</c:v>
                </c:pt>
                <c:pt idx="329">
                  <c:v>0.48787878787879002</c:v>
                </c:pt>
                <c:pt idx="330">
                  <c:v>0.48640483383686001</c:v>
                </c:pt>
                <c:pt idx="331">
                  <c:v>0.48493975903614001</c:v>
                </c:pt>
                <c:pt idx="332">
                  <c:v>0.48348348348348003</c:v>
                </c:pt>
                <c:pt idx="333">
                  <c:v>0.48203592814370999</c:v>
                </c:pt>
                <c:pt idx="334">
                  <c:v>0.48059701492536999</c:v>
                </c:pt>
                <c:pt idx="335">
                  <c:v>0.47916666666667002</c:v>
                </c:pt>
                <c:pt idx="336">
                  <c:v>0.47774480712166001</c:v>
                </c:pt>
                <c:pt idx="337">
                  <c:v>0.47928994082839999</c:v>
                </c:pt>
                <c:pt idx="338">
                  <c:v>0.47787610619469001</c:v>
                </c:pt>
                <c:pt idx="339">
                  <c:v>0.47647058823528998</c:v>
                </c:pt>
                <c:pt idx="340">
                  <c:v>0.47800586510263998</c:v>
                </c:pt>
                <c:pt idx="341">
                  <c:v>0.47660818713449998</c:v>
                </c:pt>
                <c:pt idx="342">
                  <c:v>0.47813411078717</c:v>
                </c:pt>
                <c:pt idx="343">
                  <c:v>0.47674418604650998</c:v>
                </c:pt>
                <c:pt idx="344">
                  <c:v>0.47826086956522001</c:v>
                </c:pt>
                <c:pt idx="345">
                  <c:v>0.47687861271676002</c:v>
                </c:pt>
                <c:pt idx="346">
                  <c:v>0.47838616714697002</c:v>
                </c:pt>
                <c:pt idx="347">
                  <c:v>0.47988505747125998</c:v>
                </c:pt>
                <c:pt idx="348">
                  <c:v>0.48137535816618998</c:v>
                </c:pt>
                <c:pt idx="349">
                  <c:v>0.48285714285713999</c:v>
                </c:pt>
                <c:pt idx="350">
                  <c:v>0.48148148148148001</c:v>
                </c:pt>
                <c:pt idx="351">
                  <c:v>0.48011363636364002</c:v>
                </c:pt>
                <c:pt idx="352">
                  <c:v>0.48158640226629001</c:v>
                </c:pt>
                <c:pt idx="353">
                  <c:v>0.48022598870055999</c:v>
                </c:pt>
                <c:pt idx="354">
                  <c:v>0.48169014084507</c:v>
                </c:pt>
                <c:pt idx="355">
                  <c:v>0.48314606741573002</c:v>
                </c:pt>
                <c:pt idx="356">
                  <c:v>0.48459383753501001</c:v>
                </c:pt>
                <c:pt idx="357">
                  <c:v>0.48603351955307</c:v>
                </c:pt>
                <c:pt idx="358">
                  <c:v>0.48746518105850001</c:v>
                </c:pt>
                <c:pt idx="359">
                  <c:v>0.48611111111110999</c:v>
                </c:pt>
                <c:pt idx="360">
                  <c:v>0.48476454293629001</c:v>
                </c:pt>
                <c:pt idx="361">
                  <c:v>0.48618784530386999</c:v>
                </c:pt>
                <c:pt idx="362">
                  <c:v>0.48484848484847998</c:v>
                </c:pt>
                <c:pt idx="363">
                  <c:v>0.48626373626373998</c:v>
                </c:pt>
                <c:pt idx="364">
                  <c:v>0.48493150684932002</c:v>
                </c:pt>
                <c:pt idx="365">
                  <c:v>0.48360655737704999</c:v>
                </c:pt>
                <c:pt idx="366">
                  <c:v>0.48228882833787001</c:v>
                </c:pt>
                <c:pt idx="367">
                  <c:v>0.48369565217390997</c:v>
                </c:pt>
                <c:pt idx="368">
                  <c:v>0.48509485094851001</c:v>
                </c:pt>
                <c:pt idx="369">
                  <c:v>0.48378378378378001</c:v>
                </c:pt>
                <c:pt idx="370">
                  <c:v>0.48517520215632998</c:v>
                </c:pt>
                <c:pt idx="371">
                  <c:v>0.48655913978495002</c:v>
                </c:pt>
                <c:pt idx="372">
                  <c:v>0.48525469168900998</c:v>
                </c:pt>
                <c:pt idx="373">
                  <c:v>0.48663101604277997</c:v>
                </c:pt>
                <c:pt idx="374">
                  <c:v>0.48533333333333001</c:v>
                </c:pt>
                <c:pt idx="375">
                  <c:v>0.48404255319148998</c:v>
                </c:pt>
                <c:pt idx="376">
                  <c:v>0.48541114058355</c:v>
                </c:pt>
                <c:pt idx="377">
                  <c:v>0.48677248677249002</c:v>
                </c:pt>
                <c:pt idx="378">
                  <c:v>0.48812664907651998</c:v>
                </c:pt>
                <c:pt idx="379">
                  <c:v>0.48684210526316002</c:v>
                </c:pt>
                <c:pt idx="380">
                  <c:v>0.48818897637795</c:v>
                </c:pt>
                <c:pt idx="381">
                  <c:v>0.48952879581151998</c:v>
                </c:pt>
                <c:pt idx="382">
                  <c:v>0.48825065274151003</c:v>
                </c:pt>
                <c:pt idx="383">
                  <c:v>0.48697916666667002</c:v>
                </c:pt>
                <c:pt idx="384">
                  <c:v>0.48571428571428998</c:v>
                </c:pt>
                <c:pt idx="385">
                  <c:v>0.48445595854922002</c:v>
                </c:pt>
                <c:pt idx="386">
                  <c:v>0.48578811369509001</c:v>
                </c:pt>
                <c:pt idx="387">
                  <c:v>0.48711340206185999</c:v>
                </c:pt>
                <c:pt idx="388">
                  <c:v>0.48586118251928001</c:v>
                </c:pt>
                <c:pt idx="389">
                  <c:v>0.48461538461538001</c:v>
                </c:pt>
                <c:pt idx="390">
                  <c:v>0.48593350383632</c:v>
                </c:pt>
                <c:pt idx="391">
                  <c:v>0.48469387755102</c:v>
                </c:pt>
                <c:pt idx="392">
                  <c:v>0.48346055979643998</c:v>
                </c:pt>
                <c:pt idx="393">
                  <c:v>0.48223350253807001</c:v>
                </c:pt>
                <c:pt idx="394">
                  <c:v>0.48354430379746999</c:v>
                </c:pt>
                <c:pt idx="395">
                  <c:v>0.48232323232322999</c:v>
                </c:pt>
                <c:pt idx="396">
                  <c:v>0.48362720403023002</c:v>
                </c:pt>
                <c:pt idx="397">
                  <c:v>0.48492462311557999</c:v>
                </c:pt>
                <c:pt idx="398">
                  <c:v>0.48370927318295998</c:v>
                </c:pt>
                <c:pt idx="399">
                  <c:v>0.48249999999999998</c:v>
                </c:pt>
                <c:pt idx="400">
                  <c:v>0.48379052369077002</c:v>
                </c:pt>
                <c:pt idx="401">
                  <c:v>0.48507462686566999</c:v>
                </c:pt>
                <c:pt idx="402">
                  <c:v>0.48635235732010001</c:v>
                </c:pt>
                <c:pt idx="403">
                  <c:v>0.48514851485149002</c:v>
                </c:pt>
                <c:pt idx="404">
                  <c:v>0.48641975308641999</c:v>
                </c:pt>
                <c:pt idx="405">
                  <c:v>0.48522167487684997</c:v>
                </c:pt>
                <c:pt idx="406">
                  <c:v>0.48402948402947998</c:v>
                </c:pt>
                <c:pt idx="407">
                  <c:v>0.48529411764705999</c:v>
                </c:pt>
                <c:pt idx="408">
                  <c:v>0.48410757946209998</c:v>
                </c:pt>
                <c:pt idx="409">
                  <c:v>0.48536585365854001</c:v>
                </c:pt>
                <c:pt idx="410">
                  <c:v>0.48418491484185</c:v>
                </c:pt>
                <c:pt idx="411">
                  <c:v>0.48300970873785998</c:v>
                </c:pt>
                <c:pt idx="412">
                  <c:v>0.48426150121064998</c:v>
                </c:pt>
                <c:pt idx="413">
                  <c:v>0.48550724637680998</c:v>
                </c:pt>
                <c:pt idx="414">
                  <c:v>0.48674698795180998</c:v>
                </c:pt>
                <c:pt idx="415">
                  <c:v>0.48557692307692002</c:v>
                </c:pt>
                <c:pt idx="416">
                  <c:v>0.48681055155875003</c:v>
                </c:pt>
                <c:pt idx="417">
                  <c:v>0.48803827751195999</c:v>
                </c:pt>
                <c:pt idx="418">
                  <c:v>0.48687350835322002</c:v>
                </c:pt>
                <c:pt idx="419">
                  <c:v>0.48571428571428998</c:v>
                </c:pt>
                <c:pt idx="420">
                  <c:v>0.48693586698336999</c:v>
                </c:pt>
                <c:pt idx="421">
                  <c:v>0.48578199052132998</c:v>
                </c:pt>
                <c:pt idx="422">
                  <c:v>0.48463356973994998</c:v>
                </c:pt>
                <c:pt idx="423">
                  <c:v>0.48349056603773999</c:v>
                </c:pt>
                <c:pt idx="424">
                  <c:v>0.48470588235293999</c:v>
                </c:pt>
                <c:pt idx="425">
                  <c:v>0.48356807511736999</c:v>
                </c:pt>
                <c:pt idx="426">
                  <c:v>0.48477751756440002</c:v>
                </c:pt>
                <c:pt idx="427">
                  <c:v>0.48598130841121001</c:v>
                </c:pt>
                <c:pt idx="428">
                  <c:v>0.48484848484847998</c:v>
                </c:pt>
                <c:pt idx="429">
                  <c:v>0.48604651162791002</c:v>
                </c:pt>
                <c:pt idx="430">
                  <c:v>0.48723897911832997</c:v>
                </c:pt>
                <c:pt idx="431">
                  <c:v>0.48611111111110999</c:v>
                </c:pt>
                <c:pt idx="432">
                  <c:v>0.48498845265589002</c:v>
                </c:pt>
                <c:pt idx="433">
                  <c:v>0.48387096774193999</c:v>
                </c:pt>
                <c:pt idx="434">
                  <c:v>0.48505747126436999</c:v>
                </c:pt>
                <c:pt idx="435">
                  <c:v>0.48623853211008999</c:v>
                </c:pt>
                <c:pt idx="436">
                  <c:v>0.48512585812357001</c:v>
                </c:pt>
                <c:pt idx="437">
                  <c:v>0.48401826484018001</c:v>
                </c:pt>
                <c:pt idx="438">
                  <c:v>0.48519362186788001</c:v>
                </c:pt>
                <c:pt idx="439">
                  <c:v>0.48636363636364</c:v>
                </c:pt>
                <c:pt idx="440">
                  <c:v>0.48752834467119999</c:v>
                </c:pt>
                <c:pt idx="441">
                  <c:v>0.48642533936651999</c:v>
                </c:pt>
                <c:pt idx="442">
                  <c:v>0.48758465011287</c:v>
                </c:pt>
                <c:pt idx="443">
                  <c:v>0.48873873873874002</c:v>
                </c:pt>
                <c:pt idx="444">
                  <c:v>0.48988764044944</c:v>
                </c:pt>
                <c:pt idx="445">
                  <c:v>0.48878923766816001</c:v>
                </c:pt>
                <c:pt idx="446">
                  <c:v>0.48993288590604001</c:v>
                </c:pt>
                <c:pt idx="447">
                  <c:v>0.48883928571428997</c:v>
                </c:pt>
                <c:pt idx="448">
                  <c:v>0.48775055679286999</c:v>
                </c:pt>
                <c:pt idx="449">
                  <c:v>0.48666666666667002</c:v>
                </c:pt>
                <c:pt idx="450">
                  <c:v>0.48780487804877998</c:v>
                </c:pt>
                <c:pt idx="451">
                  <c:v>0.48893805309735</c:v>
                </c:pt>
                <c:pt idx="452">
                  <c:v>0.49006622516555998</c:v>
                </c:pt>
                <c:pt idx="453">
                  <c:v>0.48898678414097002</c:v>
                </c:pt>
                <c:pt idx="454">
                  <c:v>0.49010989010988998</c:v>
                </c:pt>
                <c:pt idx="455">
                  <c:v>0.48903508771929999</c:v>
                </c:pt>
                <c:pt idx="456">
                  <c:v>0.48796498905907998</c:v>
                </c:pt>
                <c:pt idx="457">
                  <c:v>0.48689956331877998</c:v>
                </c:pt>
                <c:pt idx="458">
                  <c:v>0.48801742919390001</c:v>
                </c:pt>
                <c:pt idx="459">
                  <c:v>0.48913043478260998</c:v>
                </c:pt>
                <c:pt idx="460">
                  <c:v>0.48806941431669998</c:v>
                </c:pt>
                <c:pt idx="461">
                  <c:v>0.48701298701299001</c:v>
                </c:pt>
                <c:pt idx="462">
                  <c:v>0.48596112311015</c:v>
                </c:pt>
                <c:pt idx="463">
                  <c:v>0.48491379310345001</c:v>
                </c:pt>
                <c:pt idx="464">
                  <c:v>0.48387096774193999</c:v>
                </c:pt>
                <c:pt idx="465">
                  <c:v>0.48497854077253</c:v>
                </c:pt>
                <c:pt idx="466">
                  <c:v>0.48608137044967997</c:v>
                </c:pt>
                <c:pt idx="467">
                  <c:v>0.48717948717949</c:v>
                </c:pt>
                <c:pt idx="468">
                  <c:v>0.48827292110873999</c:v>
                </c:pt>
                <c:pt idx="469">
                  <c:v>0.48723404255319003</c:v>
                </c:pt>
                <c:pt idx="470">
                  <c:v>0.48619957537155001</c:v>
                </c:pt>
                <c:pt idx="471">
                  <c:v>0.48728813559321998</c:v>
                </c:pt>
                <c:pt idx="472">
                  <c:v>0.48625792811839003</c:v>
                </c:pt>
                <c:pt idx="473">
                  <c:v>0.48523206751054998</c:v>
                </c:pt>
                <c:pt idx="474">
                  <c:v>0.48631578947367998</c:v>
                </c:pt>
                <c:pt idx="475">
                  <c:v>0.48529411764705999</c:v>
                </c:pt>
                <c:pt idx="476">
                  <c:v>0.48427672955974999</c:v>
                </c:pt>
                <c:pt idx="477">
                  <c:v>0.48326359832636001</c:v>
                </c:pt>
                <c:pt idx="478">
                  <c:v>0.48434237995825002</c:v>
                </c:pt>
                <c:pt idx="479">
                  <c:v>0.48541666666666999</c:v>
                </c:pt>
                <c:pt idx="480">
                  <c:v>0.48440748440747999</c:v>
                </c:pt>
                <c:pt idx="481">
                  <c:v>0.48340248962656002</c:v>
                </c:pt>
                <c:pt idx="482">
                  <c:v>0.4824016563147</c:v>
                </c:pt>
                <c:pt idx="483">
                  <c:v>0.48347107438017001</c:v>
                </c:pt>
                <c:pt idx="484">
                  <c:v>0.48247422680412</c:v>
                </c:pt>
                <c:pt idx="485">
                  <c:v>0.48148148148148001</c:v>
                </c:pt>
                <c:pt idx="486">
                  <c:v>0.48049281314168002</c:v>
                </c:pt>
                <c:pt idx="487">
                  <c:v>0.47950819672131001</c:v>
                </c:pt>
                <c:pt idx="488">
                  <c:v>0.48057259713701</c:v>
                </c:pt>
                <c:pt idx="489">
                  <c:v>0.47959183673469002</c:v>
                </c:pt>
                <c:pt idx="490">
                  <c:v>0.48065173116089999</c:v>
                </c:pt>
                <c:pt idx="491">
                  <c:v>0.48170731707316999</c:v>
                </c:pt>
                <c:pt idx="492">
                  <c:v>0.48275862068966002</c:v>
                </c:pt>
                <c:pt idx="493">
                  <c:v>0.48178137651822001</c:v>
                </c:pt>
                <c:pt idx="494">
                  <c:v>0.48080808080808002</c:v>
                </c:pt>
                <c:pt idx="495">
                  <c:v>0.48185483870967999</c:v>
                </c:pt>
                <c:pt idx="496">
                  <c:v>0.48289738430584001</c:v>
                </c:pt>
                <c:pt idx="497">
                  <c:v>0.48192771084336999</c:v>
                </c:pt>
                <c:pt idx="498">
                  <c:v>0.48296593186372999</c:v>
                </c:pt>
                <c:pt idx="499">
                  <c:v>0.48199999999999998</c:v>
                </c:pt>
                <c:pt idx="500">
                  <c:v>0.48103792415169999</c:v>
                </c:pt>
                <c:pt idx="501">
                  <c:v>0.48007968127490003</c:v>
                </c:pt>
                <c:pt idx="502">
                  <c:v>0.47912524850895</c:v>
                </c:pt>
                <c:pt idx="503">
                  <c:v>0.48015873015873001</c:v>
                </c:pt>
                <c:pt idx="504">
                  <c:v>0.48118811881188001</c:v>
                </c:pt>
                <c:pt idx="505">
                  <c:v>0.48023715415020002</c:v>
                </c:pt>
                <c:pt idx="506">
                  <c:v>0.47928994082839999</c:v>
                </c:pt>
                <c:pt idx="507">
                  <c:v>0.48031496062992002</c:v>
                </c:pt>
                <c:pt idx="508">
                  <c:v>0.48133595284871999</c:v>
                </c:pt>
                <c:pt idx="509">
                  <c:v>0.48235294117646998</c:v>
                </c:pt>
                <c:pt idx="510">
                  <c:v>0.48336594911936998</c:v>
                </c:pt>
                <c:pt idx="511">
                  <c:v>0.482421875</c:v>
                </c:pt>
                <c:pt idx="512">
                  <c:v>0.48148148148148001</c:v>
                </c:pt>
                <c:pt idx="513">
                  <c:v>0.48249027237353997</c:v>
                </c:pt>
                <c:pt idx="514">
                  <c:v>0.48349514563106999</c:v>
                </c:pt>
                <c:pt idx="515">
                  <c:v>0.48449612403101</c:v>
                </c:pt>
                <c:pt idx="516">
                  <c:v>0.48549323017408003</c:v>
                </c:pt>
                <c:pt idx="517">
                  <c:v>0.48455598455597998</c:v>
                </c:pt>
                <c:pt idx="518">
                  <c:v>0.48554913294798002</c:v>
                </c:pt>
                <c:pt idx="519">
                  <c:v>0.48461538461538001</c:v>
                </c:pt>
                <c:pt idx="520">
                  <c:v>0.48368522072936998</c:v>
                </c:pt>
                <c:pt idx="521">
                  <c:v>0.48467432950192002</c:v>
                </c:pt>
                <c:pt idx="522">
                  <c:v>0.48565965583173998</c:v>
                </c:pt>
                <c:pt idx="523">
                  <c:v>0.48473282442748</c:v>
                </c:pt>
                <c:pt idx="524">
                  <c:v>0.48380952380952003</c:v>
                </c:pt>
                <c:pt idx="525">
                  <c:v>0.48288973384029998</c:v>
                </c:pt>
                <c:pt idx="526">
                  <c:v>0.48387096774193999</c:v>
                </c:pt>
                <c:pt idx="527">
                  <c:v>0.48484848484847998</c:v>
                </c:pt>
                <c:pt idx="528">
                  <c:v>0.48393194706994003</c:v>
                </c:pt>
                <c:pt idx="529">
                  <c:v>0.48490566037735999</c:v>
                </c:pt>
                <c:pt idx="530">
                  <c:v>0.48399246704331</c:v>
                </c:pt>
                <c:pt idx="531">
                  <c:v>0.48496240601503998</c:v>
                </c:pt>
                <c:pt idx="532">
                  <c:v>0.48405253283302002</c:v>
                </c:pt>
                <c:pt idx="533">
                  <c:v>0.48501872659175999</c:v>
                </c:pt>
                <c:pt idx="534">
                  <c:v>0.48598130841121001</c:v>
                </c:pt>
                <c:pt idx="535">
                  <c:v>0.48507462686566999</c:v>
                </c:pt>
                <c:pt idx="536">
                  <c:v>0.48603351955307</c:v>
                </c:pt>
                <c:pt idx="537">
                  <c:v>0.48698884758364003</c:v>
                </c:pt>
                <c:pt idx="538">
                  <c:v>0.48794063079777</c:v>
                </c:pt>
                <c:pt idx="539">
                  <c:v>0.48703703703703999</c:v>
                </c:pt>
                <c:pt idx="540">
                  <c:v>0.48613678373383001</c:v>
                </c:pt>
                <c:pt idx="541">
                  <c:v>0.48708487084870999</c:v>
                </c:pt>
                <c:pt idx="542">
                  <c:v>0.48618784530386999</c:v>
                </c:pt>
                <c:pt idx="543">
                  <c:v>0.48529411764705999</c:v>
                </c:pt>
                <c:pt idx="544">
                  <c:v>0.48623853211008999</c:v>
                </c:pt>
                <c:pt idx="545">
                  <c:v>0.48717948717949</c:v>
                </c:pt>
                <c:pt idx="546">
                  <c:v>0.48628884826324997</c:v>
                </c:pt>
                <c:pt idx="547">
                  <c:v>0.48540145985401001</c:v>
                </c:pt>
                <c:pt idx="548">
                  <c:v>0.48633879781421002</c:v>
                </c:pt>
                <c:pt idx="549">
                  <c:v>0.48545454545455002</c:v>
                </c:pt>
                <c:pt idx="550">
                  <c:v>0.48457350272232003</c:v>
                </c:pt>
                <c:pt idx="551">
                  <c:v>0.48369565217390997</c:v>
                </c:pt>
                <c:pt idx="552">
                  <c:v>0.48282097649186001</c:v>
                </c:pt>
                <c:pt idx="553">
                  <c:v>0.48375451263538</c:v>
                </c:pt>
                <c:pt idx="554">
                  <c:v>0.48288288288288</c:v>
                </c:pt>
                <c:pt idx="555">
                  <c:v>0.48201438848921002</c:v>
                </c:pt>
                <c:pt idx="556">
                  <c:v>0.48114901256732001</c:v>
                </c:pt>
                <c:pt idx="557">
                  <c:v>0.48207885304658998</c:v>
                </c:pt>
                <c:pt idx="558">
                  <c:v>0.48121645796064</c:v>
                </c:pt>
                <c:pt idx="559">
                  <c:v>0.48214285714285998</c:v>
                </c:pt>
                <c:pt idx="560">
                  <c:v>0.48128342245988998</c:v>
                </c:pt>
                <c:pt idx="561">
                  <c:v>0.48220640569395001</c:v>
                </c:pt>
                <c:pt idx="562">
                  <c:v>0.48134991119004999</c:v>
                </c:pt>
                <c:pt idx="563">
                  <c:v>0.48049645390071</c:v>
                </c:pt>
                <c:pt idx="564">
                  <c:v>0.47964601769912002</c:v>
                </c:pt>
                <c:pt idx="565">
                  <c:v>0.48056537102473001</c:v>
                </c:pt>
                <c:pt idx="566">
                  <c:v>0.47971781305115002</c:v>
                </c:pt>
                <c:pt idx="567">
                  <c:v>0.48063380281689999</c:v>
                </c:pt>
                <c:pt idx="568">
                  <c:v>0.48154657293497</c:v>
                </c:pt>
                <c:pt idx="569">
                  <c:v>0.48245614035088003</c:v>
                </c:pt>
                <c:pt idx="570">
                  <c:v>0.48336252189141998</c:v>
                </c:pt>
                <c:pt idx="571">
                  <c:v>0.48426573426573</c:v>
                </c:pt>
                <c:pt idx="572">
                  <c:v>0.48342059336824</c:v>
                </c:pt>
                <c:pt idx="573">
                  <c:v>0.48432055749128999</c:v>
                </c:pt>
                <c:pt idx="574">
                  <c:v>0.48347826086957002</c:v>
                </c:pt>
                <c:pt idx="575">
                  <c:v>0.48263888888889001</c:v>
                </c:pt>
                <c:pt idx="576">
                  <c:v>0.48353552859618998</c:v>
                </c:pt>
                <c:pt idx="577">
                  <c:v>0.48269896193771999</c:v>
                </c:pt>
                <c:pt idx="578">
                  <c:v>0.48186528497408998</c:v>
                </c:pt>
                <c:pt idx="579">
                  <c:v>0.48103448275861999</c:v>
                </c:pt>
                <c:pt idx="580">
                  <c:v>0.48192771084336999</c:v>
                </c:pt>
                <c:pt idx="581">
                  <c:v>0.48281786941581001</c:v>
                </c:pt>
                <c:pt idx="582">
                  <c:v>0.48370497427101</c:v>
                </c:pt>
                <c:pt idx="583">
                  <c:v>0.48458904109589002</c:v>
                </c:pt>
                <c:pt idx="584">
                  <c:v>0.48547008547009002</c:v>
                </c:pt>
                <c:pt idx="585">
                  <c:v>0.48464163822526002</c:v>
                </c:pt>
                <c:pt idx="586">
                  <c:v>0.48381601362861998</c:v>
                </c:pt>
                <c:pt idx="587">
                  <c:v>0.48469387755102</c:v>
                </c:pt>
                <c:pt idx="588">
                  <c:v>0.48556876061121002</c:v>
                </c:pt>
                <c:pt idx="589">
                  <c:v>0.48644067796610002</c:v>
                </c:pt>
                <c:pt idx="590">
                  <c:v>0.48561759729272003</c:v>
                </c:pt>
                <c:pt idx="591">
                  <c:v>0.48648648648649001</c:v>
                </c:pt>
                <c:pt idx="592">
                  <c:v>0.48566610455311998</c:v>
                </c:pt>
                <c:pt idx="593">
                  <c:v>0.48653198653198998</c:v>
                </c:pt>
                <c:pt idx="594">
                  <c:v>0.48739495798318999</c:v>
                </c:pt>
                <c:pt idx="595">
                  <c:v>0.48657718120804999</c:v>
                </c:pt>
                <c:pt idx="596">
                  <c:v>0.48743718592965002</c:v>
                </c:pt>
                <c:pt idx="597">
                  <c:v>0.48829431438127002</c:v>
                </c:pt>
                <c:pt idx="598">
                  <c:v>0.48747913188648001</c:v>
                </c:pt>
                <c:pt idx="599">
                  <c:v>0.48666666666667002</c:v>
                </c:pt>
                <c:pt idx="600">
                  <c:v>0.48585690515807001</c:v>
                </c:pt>
                <c:pt idx="601">
                  <c:v>0.48671096345515003</c:v>
                </c:pt>
                <c:pt idx="602">
                  <c:v>0.48756218905472998</c:v>
                </c:pt>
                <c:pt idx="603">
                  <c:v>0.48841059602649001</c:v>
                </c:pt>
                <c:pt idx="604">
                  <c:v>0.48760330578512001</c:v>
                </c:pt>
                <c:pt idx="605">
                  <c:v>0.48679867986799003</c:v>
                </c:pt>
                <c:pt idx="606">
                  <c:v>0.48764415156507002</c:v>
                </c:pt>
                <c:pt idx="607">
                  <c:v>0.48848684210526</c:v>
                </c:pt>
                <c:pt idx="608">
                  <c:v>0.48932676518883</c:v>
                </c:pt>
                <c:pt idx="609">
                  <c:v>0.49016393442623002</c:v>
                </c:pt>
                <c:pt idx="610">
                  <c:v>0.48936170212766</c:v>
                </c:pt>
                <c:pt idx="611">
                  <c:v>0.48856209150327001</c:v>
                </c:pt>
                <c:pt idx="612">
                  <c:v>0.48776508972268001</c:v>
                </c:pt>
                <c:pt idx="613">
                  <c:v>0.48859934853420001</c:v>
                </c:pt>
                <c:pt idx="614">
                  <c:v>0.48780487804877998</c:v>
                </c:pt>
                <c:pt idx="615">
                  <c:v>0.48701298701299001</c:v>
                </c:pt>
                <c:pt idx="616">
                  <c:v>0.48622366288493002</c:v>
                </c:pt>
                <c:pt idx="617">
                  <c:v>0.48543689320388</c:v>
                </c:pt>
                <c:pt idx="618">
                  <c:v>0.48465266558966003</c:v>
                </c:pt>
                <c:pt idx="619">
                  <c:v>0.48548387096773998</c:v>
                </c:pt>
                <c:pt idx="620">
                  <c:v>0.48470209339775</c:v>
                </c:pt>
                <c:pt idx="621">
                  <c:v>0.48392282958199001</c:v>
                </c:pt>
                <c:pt idx="622">
                  <c:v>0.48314606741573002</c:v>
                </c:pt>
                <c:pt idx="623">
                  <c:v>0.48237179487178999</c:v>
                </c:pt>
                <c:pt idx="624">
                  <c:v>0.48159999999999997</c:v>
                </c:pt>
                <c:pt idx="625">
                  <c:v>0.48083067092651999</c:v>
                </c:pt>
                <c:pt idx="626">
                  <c:v>0.48165869218501001</c:v>
                </c:pt>
                <c:pt idx="627">
                  <c:v>0.48089171974521999</c:v>
                </c:pt>
                <c:pt idx="628">
                  <c:v>0.48012718600954002</c:v>
                </c:pt>
                <c:pt idx="629">
                  <c:v>0.48095238095238002</c:v>
                </c:pt>
                <c:pt idx="630">
                  <c:v>0.48177496038035</c:v>
                </c:pt>
                <c:pt idx="631">
                  <c:v>0.48101265822785</c:v>
                </c:pt>
                <c:pt idx="632">
                  <c:v>0.48183254344392001</c:v>
                </c:pt>
                <c:pt idx="633">
                  <c:v>0.48107255520504999</c:v>
                </c:pt>
                <c:pt idx="634">
                  <c:v>0.48031496062992002</c:v>
                </c:pt>
                <c:pt idx="635">
                  <c:v>0.47955974842767002</c:v>
                </c:pt>
                <c:pt idx="636">
                  <c:v>0.48037676609105001</c:v>
                </c:pt>
                <c:pt idx="637">
                  <c:v>0.47962382445141</c:v>
                </c:pt>
                <c:pt idx="638">
                  <c:v>0.47887323943662002</c:v>
                </c:pt>
                <c:pt idx="639">
                  <c:v>0.47812500000000002</c:v>
                </c:pt>
                <c:pt idx="640">
                  <c:v>0.47737909516381</c:v>
                </c:pt>
                <c:pt idx="641">
                  <c:v>0.47819314641744998</c:v>
                </c:pt>
                <c:pt idx="642">
                  <c:v>0.47900466562985999</c:v>
                </c:pt>
                <c:pt idx="643">
                  <c:v>0.47981366459627001</c:v>
                </c:pt>
                <c:pt idx="644">
                  <c:v>0.47906976744185997</c:v>
                </c:pt>
                <c:pt idx="645">
                  <c:v>0.47832817337460998</c:v>
                </c:pt>
                <c:pt idx="646">
                  <c:v>0.47758887171560999</c:v>
                </c:pt>
                <c:pt idx="647">
                  <c:v>0.47685185185184997</c:v>
                </c:pt>
                <c:pt idx="648">
                  <c:v>0.47611710323575002</c:v>
                </c:pt>
                <c:pt idx="649">
                  <c:v>0.47538461538462001</c:v>
                </c:pt>
                <c:pt idx="650">
                  <c:v>0.47619047619047999</c:v>
                </c:pt>
                <c:pt idx="651">
                  <c:v>0.47546012269938998</c:v>
                </c:pt>
                <c:pt idx="652">
                  <c:v>0.47626339969372</c:v>
                </c:pt>
                <c:pt idx="653">
                  <c:v>0.47553516819572</c:v>
                </c:pt>
                <c:pt idx="654">
                  <c:v>0.47480916030533998</c:v>
                </c:pt>
                <c:pt idx="655">
                  <c:v>0.47560975609756001</c:v>
                </c:pt>
                <c:pt idx="656">
                  <c:v>0.47488584474885998</c:v>
                </c:pt>
                <c:pt idx="657">
                  <c:v>0.47568389057750998</c:v>
                </c:pt>
                <c:pt idx="658">
                  <c:v>0.47647951441578001</c:v>
                </c:pt>
                <c:pt idx="659">
                  <c:v>0.47575757575757999</c:v>
                </c:pt>
                <c:pt idx="660">
                  <c:v>0.47655068078669</c:v>
                </c:pt>
                <c:pt idx="661">
                  <c:v>0.47583081570996999</c:v>
                </c:pt>
                <c:pt idx="662">
                  <c:v>0.47662141779789002</c:v>
                </c:pt>
                <c:pt idx="663">
                  <c:v>0.47590361445783003</c:v>
                </c:pt>
                <c:pt idx="664">
                  <c:v>0.47669172932331</c:v>
                </c:pt>
                <c:pt idx="665">
                  <c:v>0.47747747747747998</c:v>
                </c:pt>
                <c:pt idx="666">
                  <c:v>0.47826086956522001</c:v>
                </c:pt>
                <c:pt idx="667">
                  <c:v>0.47754491017964001</c:v>
                </c:pt>
                <c:pt idx="668">
                  <c:v>0.47683109118087003</c:v>
                </c:pt>
                <c:pt idx="669">
                  <c:v>0.47761194029851001</c:v>
                </c:pt>
                <c:pt idx="670">
                  <c:v>0.47839046199702001</c:v>
                </c:pt>
                <c:pt idx="671">
                  <c:v>0.47916666666667002</c:v>
                </c:pt>
                <c:pt idx="672">
                  <c:v>0.47845468053492002</c:v>
                </c:pt>
                <c:pt idx="673">
                  <c:v>0.47774480712166001</c:v>
                </c:pt>
                <c:pt idx="674">
                  <c:v>0.47703703703703998</c:v>
                </c:pt>
                <c:pt idx="675">
                  <c:v>0.47781065088757002</c:v>
                </c:pt>
                <c:pt idx="676">
                  <c:v>0.47858197932052998</c:v>
                </c:pt>
                <c:pt idx="677">
                  <c:v>0.47935103244838001</c:v>
                </c:pt>
                <c:pt idx="678">
                  <c:v>0.48011782032401001</c:v>
                </c:pt>
                <c:pt idx="679">
                  <c:v>0.48088235294117998</c:v>
                </c:pt>
                <c:pt idx="680">
                  <c:v>0.48017621145374001</c:v>
                </c:pt>
                <c:pt idx="681">
                  <c:v>0.47947214076245998</c:v>
                </c:pt>
                <c:pt idx="682">
                  <c:v>0.48023426061493002</c:v>
                </c:pt>
                <c:pt idx="683">
                  <c:v>0.47953216374268998</c:v>
                </c:pt>
                <c:pt idx="684">
                  <c:v>0.48029197080292002</c:v>
                </c:pt>
                <c:pt idx="685">
                  <c:v>0.48104956268221999</c:v>
                </c:pt>
                <c:pt idx="686">
                  <c:v>0.48034934497817</c:v>
                </c:pt>
                <c:pt idx="687">
                  <c:v>0.47965116279070003</c:v>
                </c:pt>
                <c:pt idx="688">
                  <c:v>0.48040638606676</c:v>
                </c:pt>
                <c:pt idx="689">
                  <c:v>0.48115942028985997</c:v>
                </c:pt>
                <c:pt idx="690">
                  <c:v>0.48191027496382</c:v>
                </c:pt>
                <c:pt idx="691">
                  <c:v>0.48121387283236999</c:v>
                </c:pt>
                <c:pt idx="692">
                  <c:v>0.48051948051948001</c:v>
                </c:pt>
                <c:pt idx="693">
                  <c:v>0.48126801152738002</c:v>
                </c:pt>
                <c:pt idx="694">
                  <c:v>0.48201438848921002</c:v>
                </c:pt>
                <c:pt idx="695">
                  <c:v>0.48275862068966002</c:v>
                </c:pt>
                <c:pt idx="696">
                  <c:v>0.48206599713055998</c:v>
                </c:pt>
                <c:pt idx="697">
                  <c:v>0.48137535816618998</c:v>
                </c:pt>
                <c:pt idx="698">
                  <c:v>0.48068669527897001</c:v>
                </c:pt>
                <c:pt idx="699">
                  <c:v>0.48</c:v>
                </c:pt>
                <c:pt idx="700">
                  <c:v>0.4793152639087</c:v>
                </c:pt>
                <c:pt idx="701">
                  <c:v>0.47863247863247999</c:v>
                </c:pt>
                <c:pt idx="702">
                  <c:v>0.47937411095305998</c:v>
                </c:pt>
                <c:pt idx="703">
                  <c:v>0.47869318181817999</c:v>
                </c:pt>
                <c:pt idx="704">
                  <c:v>0.47943262411347998</c:v>
                </c:pt>
                <c:pt idx="705">
                  <c:v>0.48016997167138997</c:v>
                </c:pt>
                <c:pt idx="706">
                  <c:v>0.47949080622348</c:v>
                </c:pt>
                <c:pt idx="707">
                  <c:v>0.48022598870055999</c:v>
                </c:pt>
                <c:pt idx="708">
                  <c:v>0.47954866008462999</c:v>
                </c:pt>
                <c:pt idx="709">
                  <c:v>0.48028169014084998</c:v>
                </c:pt>
                <c:pt idx="710">
                  <c:v>0.48101265822785</c:v>
                </c:pt>
                <c:pt idx="711">
                  <c:v>0.48174157303371001</c:v>
                </c:pt>
                <c:pt idx="712">
                  <c:v>0.48246844319776</c:v>
                </c:pt>
                <c:pt idx="713">
                  <c:v>0.48319327731091999</c:v>
                </c:pt>
                <c:pt idx="714">
                  <c:v>0.48251748251748</c:v>
                </c:pt>
                <c:pt idx="715">
                  <c:v>0.48324022346369</c:v>
                </c:pt>
                <c:pt idx="716">
                  <c:v>0.48396094839609</c:v>
                </c:pt>
                <c:pt idx="717">
                  <c:v>0.48467966573816001</c:v>
                </c:pt>
                <c:pt idx="718">
                  <c:v>0.48539638386647999</c:v>
                </c:pt>
                <c:pt idx="719">
                  <c:v>0.48611111111110999</c:v>
                </c:pt>
                <c:pt idx="720">
                  <c:v>0.48543689320388</c:v>
                </c:pt>
                <c:pt idx="721">
                  <c:v>0.48614958448752998</c:v>
                </c:pt>
                <c:pt idx="722">
                  <c:v>0.48547717842324001</c:v>
                </c:pt>
                <c:pt idx="723">
                  <c:v>0.48480662983424999</c:v>
                </c:pt>
                <c:pt idx="724">
                  <c:v>0.48551724137931002</c:v>
                </c:pt>
                <c:pt idx="725">
                  <c:v>0.48484848484847998</c:v>
                </c:pt>
                <c:pt idx="726">
                  <c:v>0.48555708390646002</c:v>
                </c:pt>
                <c:pt idx="727">
                  <c:v>0.48489010989011</c:v>
                </c:pt>
                <c:pt idx="728">
                  <c:v>0.48422496570645002</c:v>
                </c:pt>
                <c:pt idx="729">
                  <c:v>0.48356164383562</c:v>
                </c:pt>
                <c:pt idx="730">
                  <c:v>0.48290013679890997</c:v>
                </c:pt>
                <c:pt idx="731">
                  <c:v>0.48224043715846998</c:v>
                </c:pt>
                <c:pt idx="732">
                  <c:v>0.48158253751704999</c:v>
                </c:pt>
                <c:pt idx="733">
                  <c:v>0.48228882833787001</c:v>
                </c:pt>
                <c:pt idx="734">
                  <c:v>0.48163265306122</c:v>
                </c:pt>
                <c:pt idx="735">
                  <c:v>0.48233695652174002</c:v>
                </c:pt>
                <c:pt idx="736">
                  <c:v>0.48168249660786999</c:v>
                </c:pt>
                <c:pt idx="737">
                  <c:v>0.48102981029809999</c:v>
                </c:pt>
                <c:pt idx="738">
                  <c:v>0.48037889039241999</c:v>
                </c:pt>
                <c:pt idx="739">
                  <c:v>0.48108108108108</c:v>
                </c:pt>
                <c:pt idx="740">
                  <c:v>0.48043184885290002</c:v>
                </c:pt>
                <c:pt idx="741">
                  <c:v>0.47978436657682</c:v>
                </c:pt>
                <c:pt idx="742">
                  <c:v>0.48048452220727</c:v>
                </c:pt>
                <c:pt idx="743">
                  <c:v>0.48118279569891997</c:v>
                </c:pt>
                <c:pt idx="744">
                  <c:v>0.48187919463086998</c:v>
                </c:pt>
                <c:pt idx="745">
                  <c:v>0.48257372654155001</c:v>
                </c:pt>
                <c:pt idx="746">
                  <c:v>0.48326639892904999</c:v>
                </c:pt>
                <c:pt idx="747">
                  <c:v>0.48262032085561002</c:v>
                </c:pt>
                <c:pt idx="748">
                  <c:v>0.48331108144191998</c:v>
                </c:pt>
                <c:pt idx="749">
                  <c:v>0.48399999999999999</c:v>
                </c:pt>
                <c:pt idx="750">
                  <c:v>0.48468708388815002</c:v>
                </c:pt>
                <c:pt idx="751">
                  <c:v>0.48537234042553001</c:v>
                </c:pt>
                <c:pt idx="752">
                  <c:v>0.48472775564408999</c:v>
                </c:pt>
                <c:pt idx="753">
                  <c:v>0.48408488063659999</c:v>
                </c:pt>
                <c:pt idx="754">
                  <c:v>0.48476821192052999</c:v>
                </c:pt>
                <c:pt idx="755">
                  <c:v>0.48412698412698002</c:v>
                </c:pt>
                <c:pt idx="756">
                  <c:v>0.48480845442536002</c:v>
                </c:pt>
                <c:pt idx="757">
                  <c:v>0.48548812664907998</c:v>
                </c:pt>
                <c:pt idx="758">
                  <c:v>0.48484848484847998</c:v>
                </c:pt>
                <c:pt idx="759">
                  <c:v>0.48421052631578998</c:v>
                </c:pt>
                <c:pt idx="760">
                  <c:v>0.48488830486202</c:v>
                </c:pt>
                <c:pt idx="761">
                  <c:v>0.48556430446193999</c:v>
                </c:pt>
                <c:pt idx="762">
                  <c:v>0.48492791612058</c:v>
                </c:pt>
                <c:pt idx="763">
                  <c:v>0.48429319371728002</c:v>
                </c:pt>
                <c:pt idx="764">
                  <c:v>0.48496732026144002</c:v>
                </c:pt>
                <c:pt idx="765">
                  <c:v>0.48433420365535002</c:v>
                </c:pt>
                <c:pt idx="766">
                  <c:v>0.48370273794002999</c:v>
                </c:pt>
                <c:pt idx="767">
                  <c:v>0.484375</c:v>
                </c:pt>
                <c:pt idx="768">
                  <c:v>0.48504551365409998</c:v>
                </c:pt>
                <c:pt idx="769">
                  <c:v>0.48441558441558003</c:v>
                </c:pt>
                <c:pt idx="770">
                  <c:v>0.48378728923476</c:v>
                </c:pt>
                <c:pt idx="771">
                  <c:v>0.48445595854922002</c:v>
                </c:pt>
                <c:pt idx="772">
                  <c:v>0.48512289780078</c:v>
                </c:pt>
                <c:pt idx="773">
                  <c:v>0.48449612403101</c:v>
                </c:pt>
                <c:pt idx="774">
                  <c:v>0.48387096774193999</c:v>
                </c:pt>
                <c:pt idx="775">
                  <c:v>0.48453608247423002</c:v>
                </c:pt>
                <c:pt idx="776">
                  <c:v>0.48391248391247998</c:v>
                </c:pt>
                <c:pt idx="777">
                  <c:v>0.48457583547557997</c:v>
                </c:pt>
                <c:pt idx="778">
                  <c:v>0.48523748395379002</c:v>
                </c:pt>
                <c:pt idx="779">
                  <c:v>0.48461538461538001</c:v>
                </c:pt>
                <c:pt idx="780">
                  <c:v>0.48399487836108002</c:v>
                </c:pt>
                <c:pt idx="781">
                  <c:v>0.48465473145780003</c:v>
                </c:pt>
                <c:pt idx="782">
                  <c:v>0.48403575989782999</c:v>
                </c:pt>
                <c:pt idx="783">
                  <c:v>0.48341836734693999</c:v>
                </c:pt>
                <c:pt idx="784">
                  <c:v>0.48280254777069997</c:v>
                </c:pt>
                <c:pt idx="785">
                  <c:v>0.48218829516539002</c:v>
                </c:pt>
                <c:pt idx="786">
                  <c:v>0.48157560355780998</c:v>
                </c:pt>
                <c:pt idx="787">
                  <c:v>0.48096446700508</c:v>
                </c:pt>
                <c:pt idx="788">
                  <c:v>0.48162230671736</c:v>
                </c:pt>
                <c:pt idx="789">
                  <c:v>0.48101265822785</c:v>
                </c:pt>
                <c:pt idx="790">
                  <c:v>0.48166877370416999</c:v>
                </c:pt>
                <c:pt idx="791">
                  <c:v>0.48232323232322999</c:v>
                </c:pt>
                <c:pt idx="792">
                  <c:v>0.48171500630517</c:v>
                </c:pt>
                <c:pt idx="793">
                  <c:v>0.48236775818639999</c:v>
                </c:pt>
                <c:pt idx="794">
                  <c:v>0.48176100628931001</c:v>
                </c:pt>
                <c:pt idx="795">
                  <c:v>0.48241206030151002</c:v>
                </c:pt>
                <c:pt idx="796">
                  <c:v>0.48180677540778</c:v>
                </c:pt>
                <c:pt idx="797">
                  <c:v>0.48245614035088003</c:v>
                </c:pt>
                <c:pt idx="798">
                  <c:v>0.48310387984981001</c:v>
                </c:pt>
                <c:pt idx="799">
                  <c:v>0.48375000000000001</c:v>
                </c:pt>
                <c:pt idx="800">
                  <c:v>0.48439450686641999</c:v>
                </c:pt>
                <c:pt idx="801">
                  <c:v>0.48379052369077002</c:v>
                </c:pt>
                <c:pt idx="802">
                  <c:v>0.48318804483187999</c:v>
                </c:pt>
                <c:pt idx="803">
                  <c:v>0.48258706467661999</c:v>
                </c:pt>
                <c:pt idx="804">
                  <c:v>0.48198757763974998</c:v>
                </c:pt>
                <c:pt idx="805">
                  <c:v>0.48263027295284999</c:v>
                </c:pt>
                <c:pt idx="806">
                  <c:v>0.48203221809169999</c:v>
                </c:pt>
                <c:pt idx="807">
                  <c:v>0.48267326732672999</c:v>
                </c:pt>
                <c:pt idx="808">
                  <c:v>0.48331273176761003</c:v>
                </c:pt>
                <c:pt idx="809">
                  <c:v>0.48271604938272</c:v>
                </c:pt>
                <c:pt idx="810">
                  <c:v>0.48335388409371</c:v>
                </c:pt>
                <c:pt idx="811">
                  <c:v>0.48275862068966002</c:v>
                </c:pt>
                <c:pt idx="812">
                  <c:v>0.48339483394833999</c:v>
                </c:pt>
                <c:pt idx="813">
                  <c:v>0.48402948402947998</c:v>
                </c:pt>
                <c:pt idx="814">
                  <c:v>0.48343558282208998</c:v>
                </c:pt>
                <c:pt idx="815">
                  <c:v>0.48284313725490002</c:v>
                </c:pt>
                <c:pt idx="816">
                  <c:v>0.48347613219093999</c:v>
                </c:pt>
                <c:pt idx="817">
                  <c:v>0.48288508557456999</c:v>
                </c:pt>
                <c:pt idx="818">
                  <c:v>0.48351648351648002</c:v>
                </c:pt>
                <c:pt idx="819">
                  <c:v>0.48414634146341001</c:v>
                </c:pt>
                <c:pt idx="820">
                  <c:v>0.48477466504263</c:v>
                </c:pt>
                <c:pt idx="821">
                  <c:v>0.48540145985401001</c:v>
                </c:pt>
                <c:pt idx="822">
                  <c:v>0.48602673147023001</c:v>
                </c:pt>
                <c:pt idx="823">
                  <c:v>0.48665048543688999</c:v>
                </c:pt>
                <c:pt idx="824">
                  <c:v>0.48727272727273002</c:v>
                </c:pt>
                <c:pt idx="825">
                  <c:v>0.48668280871670999</c:v>
                </c:pt>
                <c:pt idx="826">
                  <c:v>0.48609431680774001</c:v>
                </c:pt>
                <c:pt idx="827">
                  <c:v>0.48671497584541001</c:v>
                </c:pt>
                <c:pt idx="828">
                  <c:v>0.48733413751507998</c:v>
                </c:pt>
                <c:pt idx="829">
                  <c:v>0.48674698795180998</c:v>
                </c:pt>
                <c:pt idx="830">
                  <c:v>0.48616125150421002</c:v>
                </c:pt>
                <c:pt idx="831">
                  <c:v>0.48557692307692002</c:v>
                </c:pt>
                <c:pt idx="832">
                  <c:v>0.48619447779112002</c:v>
                </c:pt>
                <c:pt idx="833">
                  <c:v>0.48561151079136999</c:v>
                </c:pt>
                <c:pt idx="834">
                  <c:v>0.48502994011975997</c:v>
                </c:pt>
                <c:pt idx="835">
                  <c:v>0.48564593301435</c:v>
                </c:pt>
                <c:pt idx="836">
                  <c:v>0.48506571087215999</c:v>
                </c:pt>
                <c:pt idx="837">
                  <c:v>0.48448687350835001</c:v>
                </c:pt>
                <c:pt idx="838">
                  <c:v>0.48510131108462001</c:v>
                </c:pt>
                <c:pt idx="839">
                  <c:v>0.48452380952381002</c:v>
                </c:pt>
                <c:pt idx="840">
                  <c:v>0.48513674197383999</c:v>
                </c:pt>
                <c:pt idx="841">
                  <c:v>0.48574821852731997</c:v>
                </c:pt>
                <c:pt idx="842">
                  <c:v>0.48517200474495997</c:v>
                </c:pt>
                <c:pt idx="843">
                  <c:v>0.48459715639810003</c:v>
                </c:pt>
                <c:pt idx="844">
                  <c:v>0.48402366863905</c:v>
                </c:pt>
                <c:pt idx="845">
                  <c:v>0.48345153664302998</c:v>
                </c:pt>
                <c:pt idx="846">
                  <c:v>0.48406139315230001</c:v>
                </c:pt>
                <c:pt idx="847">
                  <c:v>0.48466981132074999</c:v>
                </c:pt>
                <c:pt idx="848">
                  <c:v>0.48409893992933001</c:v>
                </c:pt>
                <c:pt idx="849">
                  <c:v>0.48470588235293999</c:v>
                </c:pt>
                <c:pt idx="850">
                  <c:v>0.48413631022327003</c:v>
                </c:pt>
                <c:pt idx="851">
                  <c:v>0.48356807511736999</c:v>
                </c:pt>
                <c:pt idx="852">
                  <c:v>0.48417350527550002</c:v>
                </c:pt>
                <c:pt idx="853">
                  <c:v>0.48477751756440002</c:v>
                </c:pt>
                <c:pt idx="854">
                  <c:v>0.48421052631578998</c:v>
                </c:pt>
                <c:pt idx="855">
                  <c:v>0.48364485981307997</c:v>
                </c:pt>
                <c:pt idx="856">
                  <c:v>0.48424737456243</c:v>
                </c:pt>
                <c:pt idx="857">
                  <c:v>0.48368298368298002</c:v>
                </c:pt>
                <c:pt idx="858">
                  <c:v>0.48428405122235002</c:v>
                </c:pt>
                <c:pt idx="859">
                  <c:v>0.48488372093023002</c:v>
                </c:pt>
                <c:pt idx="860">
                  <c:v>0.48548199767712003</c:v>
                </c:pt>
                <c:pt idx="861">
                  <c:v>0.48491879350347999</c:v>
                </c:pt>
                <c:pt idx="862">
                  <c:v>0.48435689455387998</c:v>
                </c:pt>
                <c:pt idx="863">
                  <c:v>0.4837962962963</c:v>
                </c:pt>
                <c:pt idx="864">
                  <c:v>0.48323699421965</c:v>
                </c:pt>
                <c:pt idx="865">
                  <c:v>0.48383371824479998</c:v>
                </c:pt>
                <c:pt idx="866">
                  <c:v>0.48327566320645998</c:v>
                </c:pt>
                <c:pt idx="867">
                  <c:v>0.48271889400922002</c:v>
                </c:pt>
                <c:pt idx="868">
                  <c:v>0.48216340621404002</c:v>
                </c:pt>
                <c:pt idx="869">
                  <c:v>0.48160919540230002</c:v>
                </c:pt>
                <c:pt idx="870">
                  <c:v>0.48105625717565997</c:v>
                </c:pt>
                <c:pt idx="871">
                  <c:v>0.48165137614678999</c:v>
                </c:pt>
                <c:pt idx="872">
                  <c:v>0.48109965635738999</c:v>
                </c:pt>
                <c:pt idx="873">
                  <c:v>0.48054919908466998</c:v>
                </c:pt>
                <c:pt idx="874">
                  <c:v>0.48</c:v>
                </c:pt>
                <c:pt idx="875">
                  <c:v>0.48059360730593997</c:v>
                </c:pt>
                <c:pt idx="876">
                  <c:v>0.48004561003420998</c:v>
                </c:pt>
                <c:pt idx="877">
                  <c:v>0.47949886104784001</c:v>
                </c:pt>
                <c:pt idx="878">
                  <c:v>0.48009101251421998</c:v>
                </c:pt>
                <c:pt idx="879">
                  <c:v>0.48068181818181999</c:v>
                </c:pt>
                <c:pt idx="880">
                  <c:v>0.48013620885357999</c:v>
                </c:pt>
                <c:pt idx="881">
                  <c:v>0.47959183673469002</c:v>
                </c:pt>
                <c:pt idx="882">
                  <c:v>0.47904869762174002</c:v>
                </c:pt>
                <c:pt idx="883">
                  <c:v>0.47963800904977</c:v>
                </c:pt>
                <c:pt idx="884">
                  <c:v>0.47909604519774002</c:v>
                </c:pt>
                <c:pt idx="885">
                  <c:v>0.47855530474041003</c:v>
                </c:pt>
                <c:pt idx="886">
                  <c:v>0.47914317925591998</c:v>
                </c:pt>
                <c:pt idx="887">
                  <c:v>0.47972972972972999</c:v>
                </c:pt>
                <c:pt idx="888">
                  <c:v>0.48031496062992002</c:v>
                </c:pt>
                <c:pt idx="889">
                  <c:v>0.47977528089888</c:v>
                </c:pt>
                <c:pt idx="890">
                  <c:v>0.48035914702581001</c:v>
                </c:pt>
                <c:pt idx="891">
                  <c:v>0.48094170403587</c:v>
                </c:pt>
                <c:pt idx="892">
                  <c:v>0.48152295632698999</c:v>
                </c:pt>
                <c:pt idx="893">
                  <c:v>0.48210290827739999</c:v>
                </c:pt>
                <c:pt idx="894">
                  <c:v>0.48156424581006002</c:v>
                </c:pt>
                <c:pt idx="895">
                  <c:v>0.48214285714285998</c:v>
                </c:pt>
                <c:pt idx="896">
                  <c:v>0.48272017837234998</c:v>
                </c:pt>
                <c:pt idx="897">
                  <c:v>0.48218262806236001</c:v>
                </c:pt>
                <c:pt idx="898">
                  <c:v>0.48275862068966002</c:v>
                </c:pt>
                <c:pt idx="899">
                  <c:v>0.48222222222222</c:v>
                </c:pt>
                <c:pt idx="900">
                  <c:v>0.48168701442841</c:v>
                </c:pt>
                <c:pt idx="901">
                  <c:v>0.48226164079822997</c:v>
                </c:pt>
                <c:pt idx="902">
                  <c:v>0.48172757475083</c:v>
                </c:pt>
                <c:pt idx="903">
                  <c:v>0.48119469026549</c:v>
                </c:pt>
                <c:pt idx="904">
                  <c:v>0.48176795580109999</c:v>
                </c:pt>
                <c:pt idx="905">
                  <c:v>0.48233995584988998</c:v>
                </c:pt>
                <c:pt idx="906">
                  <c:v>0.48291069459757002</c:v>
                </c:pt>
                <c:pt idx="907">
                  <c:v>0.48348017621145001</c:v>
                </c:pt>
                <c:pt idx="908">
                  <c:v>0.48404840484048001</c:v>
                </c:pt>
                <c:pt idx="909">
                  <c:v>0.48461538461538001</c:v>
                </c:pt>
                <c:pt idx="910">
                  <c:v>0.48518111964874</c:v>
                </c:pt>
                <c:pt idx="911">
                  <c:v>0.48574561403508998</c:v>
                </c:pt>
                <c:pt idx="912">
                  <c:v>0.48630887185103999</c:v>
                </c:pt>
                <c:pt idx="913">
                  <c:v>0.48577680525164002</c:v>
                </c:pt>
                <c:pt idx="914">
                  <c:v>0.48524590163934</c:v>
                </c:pt>
                <c:pt idx="915">
                  <c:v>0.48471615720523997</c:v>
                </c:pt>
                <c:pt idx="916">
                  <c:v>0.48418756815703001</c:v>
                </c:pt>
                <c:pt idx="917">
                  <c:v>0.48474945533768998</c:v>
                </c:pt>
                <c:pt idx="918">
                  <c:v>0.48531011969532001</c:v>
                </c:pt>
                <c:pt idx="919">
                  <c:v>0.48478260869564999</c:v>
                </c:pt>
                <c:pt idx="920">
                  <c:v>0.48425624321389998</c:v>
                </c:pt>
                <c:pt idx="921">
                  <c:v>0.48373101952278003</c:v>
                </c:pt>
                <c:pt idx="922">
                  <c:v>0.48320693391115999</c:v>
                </c:pt>
                <c:pt idx="923">
                  <c:v>0.48376623376623001</c:v>
                </c:pt>
                <c:pt idx="924">
                  <c:v>0.48432432432431999</c:v>
                </c:pt>
                <c:pt idx="925">
                  <c:v>0.48380129589632997</c:v>
                </c:pt>
                <c:pt idx="926">
                  <c:v>0.48327939590076002</c:v>
                </c:pt>
                <c:pt idx="927">
                  <c:v>0.48383620689654999</c:v>
                </c:pt>
                <c:pt idx="928">
                  <c:v>0.48331539289559</c:v>
                </c:pt>
                <c:pt idx="929">
                  <c:v>0.48279569892473001</c:v>
                </c:pt>
                <c:pt idx="930">
                  <c:v>0.48227712137487</c:v>
                </c:pt>
                <c:pt idx="931">
                  <c:v>0.48175965665235998</c:v>
                </c:pt>
                <c:pt idx="932">
                  <c:v>0.48124330117899</c:v>
                </c:pt>
                <c:pt idx="933">
                  <c:v>0.48072805139185998</c:v>
                </c:pt>
                <c:pt idx="934">
                  <c:v>0.48128342245988998</c:v>
                </c:pt>
                <c:pt idx="935">
                  <c:v>0.48076923076923</c:v>
                </c:pt>
                <c:pt idx="936">
                  <c:v>0.48132337246530998</c:v>
                </c:pt>
                <c:pt idx="937">
                  <c:v>0.48081023454158001</c:v>
                </c:pt>
                <c:pt idx="938">
                  <c:v>0.48136315228967003</c:v>
                </c:pt>
                <c:pt idx="939">
                  <c:v>0.48085106382978998</c:v>
                </c:pt>
                <c:pt idx="940">
                  <c:v>0.48034006376195998</c:v>
                </c:pt>
                <c:pt idx="941">
                  <c:v>0.48089171974521999</c:v>
                </c:pt>
                <c:pt idx="942">
                  <c:v>0.48144220572641</c:v>
                </c:pt>
                <c:pt idx="943">
                  <c:v>0.48199152542373003</c:v>
                </c:pt>
                <c:pt idx="944">
                  <c:v>0.48148148148148001</c:v>
                </c:pt>
                <c:pt idx="945">
                  <c:v>0.48097251585624001</c:v>
                </c:pt>
                <c:pt idx="946">
                  <c:v>0.48152059134108</c:v>
                </c:pt>
                <c:pt idx="947">
                  <c:v>0.48206751054851998</c:v>
                </c:pt>
                <c:pt idx="948">
                  <c:v>0.48261327713383001</c:v>
                </c:pt>
                <c:pt idx="949">
                  <c:v>0.48210526315788998</c:v>
                </c:pt>
                <c:pt idx="950">
                  <c:v>0.48264984227128999</c:v>
                </c:pt>
                <c:pt idx="951">
                  <c:v>0.48214285714285998</c:v>
                </c:pt>
                <c:pt idx="952">
                  <c:v>0.48268625393494002</c:v>
                </c:pt>
                <c:pt idx="953">
                  <c:v>0.48218029350105002</c:v>
                </c:pt>
                <c:pt idx="954">
                  <c:v>0.48167539267016002</c:v>
                </c:pt>
                <c:pt idx="955">
                  <c:v>0.48221757322176001</c:v>
                </c:pt>
                <c:pt idx="956">
                  <c:v>0.48171368861024</c:v>
                </c:pt>
                <c:pt idx="957">
                  <c:v>0.48121085594989998</c:v>
                </c:pt>
                <c:pt idx="958">
                  <c:v>0.48070907194995</c:v>
                </c:pt>
                <c:pt idx="959">
                  <c:v>0.48125000000000001</c:v>
                </c:pt>
                <c:pt idx="960">
                  <c:v>0.48074921956296002</c:v>
                </c:pt>
                <c:pt idx="961">
                  <c:v>0.48128898128898001</c:v>
                </c:pt>
                <c:pt idx="962">
                  <c:v>0.48078920041536999</c:v>
                </c:pt>
                <c:pt idx="963">
                  <c:v>0.48132780082988003</c:v>
                </c:pt>
                <c:pt idx="964">
                  <c:v>0.48082901554404001</c:v>
                </c:pt>
                <c:pt idx="965">
                  <c:v>0.48033126293995998</c:v>
                </c:pt>
                <c:pt idx="966">
                  <c:v>0.47983453981385998</c:v>
                </c:pt>
                <c:pt idx="967">
                  <c:v>0.48037190082644998</c:v>
                </c:pt>
                <c:pt idx="968">
                  <c:v>0.48090815273477999</c:v>
                </c:pt>
                <c:pt idx="969">
                  <c:v>0.48041237113402002</c:v>
                </c:pt>
                <c:pt idx="970">
                  <c:v>0.47991761071061001</c:v>
                </c:pt>
                <c:pt idx="971">
                  <c:v>0.48045267489712001</c:v>
                </c:pt>
                <c:pt idx="972">
                  <c:v>0.48098663926002</c:v>
                </c:pt>
                <c:pt idx="973">
                  <c:v>0.48151950718685999</c:v>
                </c:pt>
                <c:pt idx="974">
                  <c:v>0.48205128205128001</c:v>
                </c:pt>
                <c:pt idx="975">
                  <c:v>0.48258196721310997</c:v>
                </c:pt>
                <c:pt idx="976">
                  <c:v>0.48311156601841998</c:v>
                </c:pt>
                <c:pt idx="977">
                  <c:v>0.48261758691207002</c:v>
                </c:pt>
                <c:pt idx="978">
                  <c:v>0.48212461695608</c:v>
                </c:pt>
                <c:pt idx="979">
                  <c:v>0.48265306122448998</c:v>
                </c:pt>
                <c:pt idx="980">
                  <c:v>0.48216106014270999</c:v>
                </c:pt>
                <c:pt idx="981">
                  <c:v>0.48268839103869998</c:v>
                </c:pt>
                <c:pt idx="982">
                  <c:v>0.48219735503561001</c:v>
                </c:pt>
                <c:pt idx="983">
                  <c:v>0.48170731707316999</c:v>
                </c:pt>
                <c:pt idx="984">
                  <c:v>0.48223350253807001</c:v>
                </c:pt>
                <c:pt idx="985">
                  <c:v>0.48275862068966002</c:v>
                </c:pt>
                <c:pt idx="986">
                  <c:v>0.48328267477204001</c:v>
                </c:pt>
                <c:pt idx="987">
                  <c:v>0.48380566801619002</c:v>
                </c:pt>
                <c:pt idx="988">
                  <c:v>0.48331648129423999</c:v>
                </c:pt>
                <c:pt idx="989">
                  <c:v>0.48282828282828</c:v>
                </c:pt>
                <c:pt idx="990">
                  <c:v>0.48335015136226001</c:v>
                </c:pt>
                <c:pt idx="991">
                  <c:v>0.48387096774193999</c:v>
                </c:pt>
                <c:pt idx="992">
                  <c:v>0.48439073514601999</c:v>
                </c:pt>
                <c:pt idx="993">
                  <c:v>0.48490945674044</c:v>
                </c:pt>
                <c:pt idx="994">
                  <c:v>0.48442211055276002</c:v>
                </c:pt>
                <c:pt idx="995">
                  <c:v>0.48393574297189001</c:v>
                </c:pt>
                <c:pt idx="996">
                  <c:v>0.48445336008023998</c:v>
                </c:pt>
                <c:pt idx="997">
                  <c:v>0.48396793587173997</c:v>
                </c:pt>
                <c:pt idx="998">
                  <c:v>0.48448448448448</c:v>
                </c:pt>
                <c:pt idx="999">
                  <c:v>0.48399999999999999</c:v>
                </c:pt>
              </c:numCache>
            </c:numRef>
          </c:yVal>
          <c:smooth val="1"/>
          <c:extLst>
            <c:ext xmlns:c16="http://schemas.microsoft.com/office/drawing/2014/chart" uri="{C3380CC4-5D6E-409C-BE32-E72D297353CC}">
              <c16:uniqueId val="{00000000-B575-194D-B243-DD82BE427161}"/>
            </c:ext>
          </c:extLst>
        </c:ser>
        <c:ser>
          <c:idx val="1"/>
          <c:order val="1"/>
          <c:tx>
            <c:v>Modelo 18/37</c:v>
          </c:tx>
          <c:spPr>
            <a:ln w="19050">
              <a:solidFill>
                <a:srgbClr val="2066A8"/>
              </a:solidFill>
              <a:prstDash val="dash"/>
            </a:ln>
          </c:spPr>
          <c:marker>
            <c:symbol val="none"/>
          </c:marker>
          <c:xVal>
            <c:numRef>
              <c:f>'Chart Data'!$C$2:$C$3</c:f>
              <c:numCache>
                <c:formatCode>General</c:formatCode>
                <c:ptCount val="2"/>
                <c:pt idx="0">
                  <c:v>1</c:v>
                </c:pt>
                <c:pt idx="1">
                  <c:v>1000</c:v>
                </c:pt>
              </c:numCache>
            </c:numRef>
          </c:xVal>
          <c:yVal>
            <c:numRef>
              <c:f>'Chart Data'!$D$2:$D$3</c:f>
              <c:numCache>
                <c:formatCode>0%</c:formatCode>
                <c:ptCount val="2"/>
                <c:pt idx="0">
                  <c:v>0.48648648648649001</c:v>
                </c:pt>
                <c:pt idx="1">
                  <c:v>0.48648648648649001</c:v>
                </c:pt>
              </c:numCache>
            </c:numRef>
          </c:yVal>
          <c:smooth val="1"/>
          <c:extLst>
            <c:ext xmlns:c16="http://schemas.microsoft.com/office/drawing/2014/chart" uri="{C3380CC4-5D6E-409C-BE32-E72D297353CC}">
              <c16:uniqueId val="{00000001-B575-194D-B243-DD82BE427161}"/>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4763">
              <a:solidFill>
                <a:srgbClr val="E1E7E7"/>
              </a:solidFill>
            </a:ln>
          </c:spPr>
        </c:majorGridlines>
        <c:numFmt formatCode="0%" sourceLinked="1"/>
        <c:majorTickMark val="none"/>
        <c:minorTickMark val="none"/>
        <c:tickLblPos val="nextTo"/>
        <c:spPr>
          <a:ln w="9525">
            <a:solidFill>
              <a:srgbClr val="536369"/>
            </a:solidFill>
          </a:ln>
        </c:spPr>
        <c:txPr>
          <a:bodyPr anchorCtr="1"/>
          <a:lstStyle/>
          <a:p>
            <a:pPr>
              <a:defRPr sz="1300">
                <a:solidFill>
                  <a:srgbClr val="111111"/>
                </a:solidFill>
                <a:latin typeface="Arial"/>
                <a:ea typeface="Arial"/>
                <a:cs typeface="Arial"/>
              </a:defRPr>
            </a:pPr>
            <a:endParaRPr lang="en-US"/>
          </a:p>
        </c:txPr>
        <c:crossAx val="48650112"/>
        <c:crosses val="autoZero"/>
        <c:crossBetween val="midCat"/>
        <c:majorUnit val="0.25"/>
      </c:valAx>
      <c:valAx>
        <c:axId val="48650112"/>
        <c:scaling>
          <c:orientation val="minMax"/>
          <c:max val="1000"/>
          <c:min val="0"/>
        </c:scaling>
        <c:delete val="0"/>
        <c:axPos val="b"/>
        <c:title>
          <c:tx>
            <c:rich>
              <a:bodyPr/>
              <a:lstStyle/>
              <a:p>
                <a:r>
                  <a:rPr lang="en-US" sz="1400">
                    <a:latin typeface="Arial"/>
                    <a:ea typeface="Arial"/>
                    <a:cs typeface="Arial"/>
                  </a:rPr>
                  <a:t>Tiradas acumuladas</a:t>
                </a:r>
              </a:p>
            </c:rich>
          </c:tx>
          <c:overlay val="0"/>
        </c:title>
        <c:numFmt formatCode="General" sourceLinked="1"/>
        <c:majorTickMark val="none"/>
        <c:minorTickMark val="none"/>
        <c:tickLblPos val="nextTo"/>
        <c:spPr>
          <a:ln w="9525">
            <a:solidFill>
              <a:srgbClr val="536369"/>
            </a:solidFill>
          </a:ln>
        </c:spPr>
        <c:txPr>
          <a:bodyPr anchorCtr="1"/>
          <a:lstStyle/>
          <a:p>
            <a:pPr>
              <a:defRPr sz="1300">
                <a:solidFill>
                  <a:srgbClr val="111111"/>
                </a:solidFill>
                <a:latin typeface="Arial"/>
                <a:ea typeface="Arial"/>
                <a:cs typeface="Arial"/>
              </a:defRPr>
            </a:pPr>
            <a:endParaRPr lang="en-US"/>
          </a:p>
        </c:txPr>
        <c:crossAx val="48672768"/>
        <c:crosses val="autoZero"/>
        <c:crossBetween val="midCat"/>
        <c:majorUnit val="200"/>
      </c:valAx>
      <c:spPr>
        <a:solidFill>
          <a:srgbClr val="FFFFFF"/>
        </a:solidFill>
        <a:ln w="0">
          <a:noFill/>
        </a:ln>
      </c:spPr>
    </c:plotArea>
    <c:legend>
      <c:legendPos val="t"/>
      <c:overlay val="0"/>
      <c:txPr>
        <a:bodyPr anchorCtr="1"/>
        <a:lstStyle/>
        <a:p>
          <a:pPr>
            <a:defRPr sz="1400">
              <a:latin typeface="Arial"/>
              <a:ea typeface="Arial"/>
              <a:cs typeface="Arial"/>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Probabilidad hipotética</c:v>
          </c:tx>
          <c:spPr>
            <a:solidFill>
              <a:srgbClr val="044247"/>
            </a:solidFill>
          </c:spPr>
          <c:invertIfNegative val="0"/>
          <c:dLbls>
            <c:numFmt formatCode="0%" sourceLinked="0"/>
            <c:spPr>
              <a:noFill/>
              <a:ln>
                <a:noFill/>
              </a:ln>
              <a:effectLst/>
            </c:spPr>
            <c:txPr>
              <a:bodyPr anchorCtr="1"/>
              <a:lstStyle/>
              <a:p>
                <a:pPr>
                  <a:defRPr sz="1700" b="1">
                    <a:solidFill>
                      <a:srgbClr val="044247"/>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 a 12</c:v>
                </c:pt>
                <c:pt idx="1">
                  <c:v>13 a 24</c:v>
                </c:pt>
                <c:pt idx="2">
                  <c:v>25 a 36</c:v>
                </c:pt>
                <c:pt idx="3">
                  <c:v>Cero</c:v>
                </c:pt>
              </c:strCache>
            </c:strRef>
          </c:cat>
          <c:val>
            <c:numRef>
              <c:f>'Chart Data'!$B$2:$B$5</c:f>
              <c:numCache>
                <c:formatCode>0%</c:formatCode>
                <c:ptCount val="4"/>
                <c:pt idx="0">
                  <c:v>0.3</c:v>
                </c:pt>
                <c:pt idx="1">
                  <c:v>0.45</c:v>
                </c:pt>
                <c:pt idx="2">
                  <c:v>0.22</c:v>
                </c:pt>
                <c:pt idx="3">
                  <c:v>0.03</c:v>
                </c:pt>
              </c:numCache>
            </c:numRef>
          </c:val>
          <c:extLst>
            <c:ext xmlns:c16="http://schemas.microsoft.com/office/drawing/2014/chart" uri="{C3380CC4-5D6E-409C-BE32-E72D297353CC}">
              <c16:uniqueId val="{00000000-DE89-864B-BDCC-48B895EC3694}"/>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36369"/>
            </a:solidFill>
          </a:ln>
        </c:spPr>
        <c:txPr>
          <a:bodyPr anchorCtr="1"/>
          <a:lstStyle/>
          <a:p>
            <a:pPr>
              <a:defRPr sz="1600">
                <a:solidFill>
                  <a:srgbClr val="11111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5"/>
          <c:min val="0"/>
        </c:scaling>
        <c:delete val="0"/>
        <c:axPos val="l"/>
        <c:majorGridlines>
          <c:spPr>
            <a:ln w="4763">
              <a:solidFill>
                <a:srgbClr val="E1E7E7"/>
              </a:solidFill>
            </a:ln>
          </c:spPr>
        </c:majorGridlines>
        <c:numFmt formatCode="0%" sourceLinked="1"/>
        <c:majorTickMark val="none"/>
        <c:minorTickMark val="none"/>
        <c:tickLblPos val="nextTo"/>
        <c:spPr>
          <a:ln w="9525">
            <a:solidFill>
              <a:srgbClr val="536369"/>
            </a:solidFill>
          </a:ln>
        </c:spPr>
        <c:txPr>
          <a:bodyPr anchorCtr="1"/>
          <a:lstStyle/>
          <a:p>
            <a:pPr>
              <a:defRPr sz="1500">
                <a:solidFill>
                  <a:srgbClr val="111111"/>
                </a:solidFill>
                <a:latin typeface="Arial"/>
                <a:ea typeface="Arial"/>
                <a:cs typeface="Arial"/>
              </a:defRPr>
            </a:pPr>
            <a:endParaRPr lang="en-US"/>
          </a:p>
        </c:txPr>
        <c:crossAx val="48650112"/>
        <c:crosses val="autoZero"/>
        <c:crossBetween val="between"/>
        <c:majorUnit val="0.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Presenten el ejemplo como una forma de aprender estadística descriptiva. Se parte de un CSV ya simulado y de los cálculos que realiza el programa. No hace falta conocer R para seguir esta explicación.</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Hay 36 números del 1 al 36 y un cero. La suma es 37. El círculo muestra el reparto por color, no el orden físico de las casillas de una ruleta. Justa significa que todos los números tienen la misma probabilidad. Independientes significa que el resultado anterior no modifica el siguiente.</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suceso reúne uno o varios resultados. Salir el 17 también puede considerarse un suceso de un único resultado. Salir rojo reúne dieciocho. Pidan otro ejemplo: salir un número par o de la primera docena.</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Lean P(17) como «probabilidad de que salga el 17». Hay una sola casilla con ese número. La regla de casos favorables entre posibles necesita que los resultados sean equiprobables. Es una propiedad del modelo, no un recuento del CSV.</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 la misma probabilidad escrita como fracción, decimal y porcentaje. La escala porcentual expresa una proporción sobre cien. No multipliquen de nuevo un dato que ya esté en porcentaje. Pueden verificarlo con una calculadora: 1/37 y después multiplicar por 100.</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denominador sigue siendo 37. Rojo no tiene probabilidad del 50 % porque existe el cero verde. Los valores exactos suman 1, es decir, 100 %. Los porcentajes escritos están redondeados.</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Matemáticamente cero es un número par. En este ejercicio se agrupa por separado siguiendo la agrupación de la ruleta, y el código aplica esa condición antes de calcular el resto de dividir entre dos. La columna paridad tendrá Par, Impar o Cero.</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Cada docena reúne doce resultados. 12/37 es aproximadamente 0,324324, es decir, 32,43 %. Las tres docenas cubren 36 resultados y el cero completa el total de 37. Redondear cada grupo puede hacer que la suma visible difiera ligeramente del 100 %.</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columna tirada indica el orden del historial. numero contiene el resultado. Los cinco registros mostrados son los primeros del CSV, no un ejemplo inventado. A partir de numero, las reglas de la ruleta determinan las categorías. No se sortean colores por separado.</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17 es el número más frecuente en este CSV: aparece 43 veces. La frecuencia absoluta es un recuento entero. Todavía no se ha dividido entre el tamaño de la muestra. Un máximo histórico no modifica la probabilidad del siguiente resultado.</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frecuencia relativa utiliza lo que ocurrió en los datos. En el script se llama proporcion_observada. El porcentaje observado es esa misma proporción multiplicada por cien. Compárenla con la probabilidad del modelo: 1/37, aproximadamente 2,70 %. Son cantidades distintas y el historial no obliga a que coincidan exactamente.</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denominador es el total de tiradas, no 37. La suma de los tres recuentos es 1.000 y la de los porcentajes es 100 %. Los 37 resultados posibles sirven para calcular las probabilidades del modelo. Las 1.000 observaciones sirven para calcular los porcentajes de este historial.</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Son dos agrupaciones del mismo historial. No sumen todas las filas de la tabla entre sí. Par, Impar y Cero suman 1.000. Las tres docenas suman 968 y, al añadir los 32 ceros, se recupera el total. Como ejemplo, 331/1000×100 = 33,1 %.</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Frecuencia</a:t>
            </a:r>
            <a:r>
              <a:rPr dirty="0"/>
              <a:t> </a:t>
            </a:r>
            <a:r>
              <a:rPr dirty="0" err="1"/>
              <a:t>esperada</a:t>
            </a:r>
            <a:r>
              <a:rPr dirty="0"/>
              <a:t> = </a:t>
            </a:r>
            <a:r>
              <a:rPr dirty="0" err="1"/>
              <a:t>número</a:t>
            </a:r>
            <a:r>
              <a:rPr dirty="0"/>
              <a:t> de </a:t>
            </a:r>
            <a:r>
              <a:rPr dirty="0" err="1"/>
              <a:t>tiradas</a:t>
            </a:r>
            <a:r>
              <a:rPr dirty="0"/>
              <a:t> × </a:t>
            </a:r>
            <a:r>
              <a:rPr dirty="0" err="1"/>
              <a:t>probabilidad</a:t>
            </a:r>
            <a:r>
              <a:rPr dirty="0"/>
              <a:t> del </a:t>
            </a:r>
            <a:r>
              <a:rPr dirty="0" err="1"/>
              <a:t>modelo</a:t>
            </a:r>
            <a:r>
              <a:rPr dirty="0"/>
              <a:t>. 1.000/37 = 27,027... </a:t>
            </a:r>
            <a:r>
              <a:rPr dirty="0" err="1"/>
              <a:t>apariciones</a:t>
            </a:r>
            <a:r>
              <a:rPr dirty="0"/>
              <a:t> de </a:t>
            </a:r>
            <a:r>
              <a:rPr dirty="0" err="1"/>
              <a:t>cada</a:t>
            </a:r>
            <a:r>
              <a:rPr dirty="0"/>
              <a:t> </a:t>
            </a:r>
            <a:r>
              <a:rPr dirty="0" err="1"/>
              <a:t>número</a:t>
            </a:r>
            <a:r>
              <a:rPr dirty="0"/>
              <a:t> </a:t>
            </a:r>
            <a:r>
              <a:rPr dirty="0" err="1"/>
              <a:t>en</a:t>
            </a:r>
            <a:r>
              <a:rPr dirty="0"/>
              <a:t> </a:t>
            </a:r>
            <a:r>
              <a:rPr dirty="0" err="1"/>
              <a:t>promedio</a:t>
            </a:r>
            <a:r>
              <a:rPr dirty="0"/>
              <a:t>. No se </a:t>
            </a:r>
            <a:r>
              <a:rPr dirty="0" err="1"/>
              <a:t>espera</a:t>
            </a:r>
            <a:r>
              <a:rPr dirty="0"/>
              <a:t> un </a:t>
            </a:r>
            <a:r>
              <a:rPr dirty="0" err="1"/>
              <a:t>recuento</a:t>
            </a:r>
            <a:r>
              <a:rPr dirty="0"/>
              <a:t> </a:t>
            </a:r>
            <a:r>
              <a:rPr dirty="0" err="1"/>
              <a:t>exacto</a:t>
            </a:r>
            <a:r>
              <a:rPr dirty="0"/>
              <a:t> de 27 </a:t>
            </a:r>
            <a:r>
              <a:rPr dirty="0" err="1"/>
              <a:t>ni</a:t>
            </a:r>
            <a:r>
              <a:rPr dirty="0"/>
              <a:t> que </a:t>
            </a:r>
            <a:r>
              <a:rPr dirty="0" err="1"/>
              <a:t>todos</a:t>
            </a:r>
            <a:r>
              <a:rPr dirty="0"/>
              <a:t> </a:t>
            </a:r>
            <a:r>
              <a:rPr dirty="0" err="1"/>
              <a:t>los</a:t>
            </a:r>
            <a:r>
              <a:rPr dirty="0"/>
              <a:t> </a:t>
            </a:r>
            <a:r>
              <a:rPr dirty="0" err="1"/>
              <a:t>números</a:t>
            </a:r>
            <a:r>
              <a:rPr dirty="0"/>
              <a:t> </a:t>
            </a:r>
            <a:r>
              <a:rPr dirty="0" err="1"/>
              <a:t>empaten</a:t>
            </a:r>
            <a:r>
              <a:rPr dirty="0"/>
              <a:t>. </a:t>
            </a:r>
            <a:r>
              <a:rPr dirty="0" err="1"/>
              <a:t>Cada</a:t>
            </a:r>
            <a:r>
              <a:rPr dirty="0"/>
              <a:t> pareja de </a:t>
            </a:r>
            <a:r>
              <a:rPr dirty="0" err="1"/>
              <a:t>columnas</a:t>
            </a:r>
            <a:r>
              <a:rPr dirty="0"/>
              <a:t> </a:t>
            </a:r>
            <a:r>
              <a:rPr dirty="0" err="1"/>
              <a:t>compara</a:t>
            </a:r>
            <a:r>
              <a:rPr dirty="0"/>
              <a:t> las </a:t>
            </a:r>
            <a:r>
              <a:rPr dirty="0" err="1"/>
              <a:t>apariciones</a:t>
            </a:r>
            <a:r>
              <a:rPr dirty="0"/>
              <a:t> </a:t>
            </a:r>
            <a:r>
              <a:rPr dirty="0" err="1"/>
              <a:t>observadas</a:t>
            </a:r>
            <a:r>
              <a:rPr dirty="0"/>
              <a:t> con ese </a:t>
            </a:r>
            <a:r>
              <a:rPr dirty="0" err="1"/>
              <a:t>promedio</a:t>
            </a:r>
            <a:r>
              <a:rPr dirty="0"/>
              <a:t> </a:t>
            </a:r>
            <a:r>
              <a:rPr dirty="0" err="1"/>
              <a:t>teórico</a:t>
            </a:r>
            <a:r>
              <a:rPr dirty="0"/>
              <a:t>. </a:t>
            </a:r>
            <a:r>
              <a:rPr dirty="0" err="1"/>
              <a:t>Señalen</a:t>
            </a:r>
            <a:r>
              <a:rPr dirty="0"/>
              <a:t> </a:t>
            </a:r>
            <a:r>
              <a:rPr dirty="0" err="1"/>
              <a:t>el</a:t>
            </a:r>
            <a:r>
              <a:rPr dirty="0"/>
              <a:t> 17, que </a:t>
            </a:r>
            <a:r>
              <a:rPr dirty="0" err="1"/>
              <a:t>tiene</a:t>
            </a:r>
            <a:r>
              <a:rPr dirty="0"/>
              <a:t> 43 </a:t>
            </a:r>
            <a:r>
              <a:rPr dirty="0" err="1"/>
              <a:t>apariciones</a:t>
            </a:r>
            <a:r>
              <a:rPr dirty="0"/>
              <a:t>.</a:t>
            </a:r>
          </a:p>
          <a:p>
            <a:endParaRPr dirty="0"/>
          </a:p>
          <a:p>
            <a:r>
              <a:rPr dirty="0"/>
              <a:t>Fuente: </a:t>
            </a:r>
            <a:r>
              <a:rPr dirty="0" err="1"/>
              <a:t>datos</a:t>
            </a:r>
            <a:r>
              <a:rPr dirty="0"/>
              <a:t>/ruleta_1000.csv del </a:t>
            </a:r>
            <a:r>
              <a:rPr dirty="0" err="1"/>
              <a:t>proyecto</a:t>
            </a:r>
            <a:r>
              <a:rPr dirty="0"/>
              <a:t> de </a:t>
            </a:r>
            <a:r>
              <a:rPr dirty="0" err="1"/>
              <a:t>clase</a:t>
            </a:r>
            <a:r>
              <a:rPr dirty="0"/>
              <a:t>. 1.000 </a:t>
            </a:r>
            <a:r>
              <a:rPr dirty="0" err="1"/>
              <a:t>tiradas</a:t>
            </a:r>
            <a:r>
              <a:rPr dirty="0"/>
              <a:t> </a:t>
            </a:r>
            <a:r>
              <a:rPr dirty="0" err="1"/>
              <a:t>simuladas</a:t>
            </a:r>
            <a:r>
              <a:rPr dirty="0"/>
              <a:t>. </a:t>
            </a:r>
            <a:r>
              <a:rPr dirty="0" err="1"/>
              <a:t>Cálculos</a:t>
            </a:r>
            <a:r>
              <a:rPr dirty="0"/>
              <a:t> </a:t>
            </a:r>
            <a:r>
              <a:rPr dirty="0" err="1"/>
              <a:t>sobre</a:t>
            </a:r>
            <a:r>
              <a:rPr dirty="0"/>
              <a:t> ese CSV, sin </a:t>
            </a:r>
            <a:r>
              <a:rPr dirty="0" err="1"/>
              <a:t>datos</a:t>
            </a:r>
            <a:r>
              <a:rPr dirty="0"/>
              <a:t> de </a:t>
            </a:r>
            <a:r>
              <a:rPr dirty="0" err="1"/>
              <a:t>una</a:t>
            </a:r>
            <a:r>
              <a:rPr dirty="0"/>
              <a:t> </a:t>
            </a:r>
            <a:r>
              <a:rPr dirty="0" err="1"/>
              <a:t>ruleta</a:t>
            </a:r>
            <a:r>
              <a:rPr dirty="0"/>
              <a:t> real.</a:t>
            </a:r>
          </a:p>
          <a:p>
            <a:endParaRPr dirty="0"/>
          </a:p>
          <a:p>
            <a:r>
              <a:rPr dirty="0" err="1"/>
              <a:t>Modelo</a:t>
            </a:r>
            <a:r>
              <a:rPr dirty="0"/>
              <a:t>: </a:t>
            </a:r>
            <a:r>
              <a:rPr dirty="0" err="1"/>
              <a:t>ruleta</a:t>
            </a:r>
            <a:r>
              <a:rPr dirty="0"/>
              <a:t> </a:t>
            </a:r>
            <a:r>
              <a:rPr dirty="0" err="1"/>
              <a:t>europea</a:t>
            </a:r>
            <a:r>
              <a:rPr dirty="0"/>
              <a:t> con 37 </a:t>
            </a:r>
            <a:r>
              <a:rPr dirty="0" err="1"/>
              <a:t>resultados</a:t>
            </a:r>
            <a:r>
              <a:rPr dirty="0"/>
              <a:t> </a:t>
            </a:r>
            <a:r>
              <a:rPr dirty="0" err="1"/>
              <a:t>equiprobables</a:t>
            </a:r>
            <a:r>
              <a:rPr dirty="0"/>
              <a:t> (0–36) y </a:t>
            </a:r>
            <a:r>
              <a:rPr dirty="0" err="1"/>
              <a:t>tiradas</a:t>
            </a:r>
            <a:r>
              <a:rPr dirty="0"/>
              <a:t> </a:t>
            </a:r>
            <a:r>
              <a:rPr dirty="0" err="1"/>
              <a:t>independientes</a:t>
            </a:r>
            <a:r>
              <a:rPr dirty="0"/>
              <a:t>. Las </a:t>
            </a:r>
            <a:r>
              <a:rPr dirty="0" err="1"/>
              <a:t>probabilidades</a:t>
            </a:r>
            <a:r>
              <a:rPr dirty="0"/>
              <a:t> se </a:t>
            </a:r>
            <a:r>
              <a:rPr dirty="0" err="1"/>
              <a:t>deducen</a:t>
            </a:r>
            <a:r>
              <a:rPr dirty="0"/>
              <a:t> de ese </a:t>
            </a:r>
            <a:r>
              <a:rPr dirty="0" err="1"/>
              <a:t>supuesto</a:t>
            </a:r>
            <a:r>
              <a:rPr dirty="0"/>
              <a:t>. El </a:t>
            </a:r>
            <a:r>
              <a:rPr dirty="0" err="1"/>
              <a:t>ejercicio</a:t>
            </a:r>
            <a:r>
              <a:rPr dirty="0"/>
              <a:t> no </a:t>
            </a:r>
            <a:r>
              <a:rPr dirty="0" err="1"/>
              <a:t>contrasta</a:t>
            </a:r>
            <a:r>
              <a:rPr dirty="0"/>
              <a:t> la </a:t>
            </a:r>
            <a:r>
              <a:rPr dirty="0" err="1"/>
              <a:t>justicia</a:t>
            </a:r>
            <a:r>
              <a:rPr dirty="0"/>
              <a:t> de </a:t>
            </a:r>
            <a:r>
              <a:rPr dirty="0" err="1"/>
              <a:t>una</a:t>
            </a:r>
            <a:r>
              <a:rPr dirty="0"/>
              <a:t> </a:t>
            </a:r>
            <a:r>
              <a:rPr dirty="0" err="1"/>
              <a:t>ruleta</a:t>
            </a:r>
            <a:r>
              <a:rPr dirty="0"/>
              <a:t>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dos series responden a preguntas diferentes: qué ocurrió en las tiradas simuladas y qué probabilidad fija el modelo. Lean el eje vertical como porcentaje. Observar un 48,4 % de rojo no cambia el 18/37 del modelo. Los valores completos se conservan en el gráfico, aunque se muestren redondeados.</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código llama diferencia_pp a esta resta. Se restan porcentajes, no proporciones: 48,4 menos 48,648648... da aproximadamente −0,248648 puntos porcentuales. No lo llamen una caída relativa del 0,25 %. Aquí solo se mide la separación entre dos porcentajes.</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Últimas X significa tomar el final del historial ya ordenado. Cada fila de la tabla utiliza su propio denominador. Las ventanas se solapan: las últimas 20 forman parte de las últimas 100, y así sucesivamente. No son muestras independientes ni pruebas de una tendencia futura.</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Acumulado significa desde la primera tirada hasta la actual, a diferencia de una ventana de longitud fija. Después de dos tiradas: 1 rojo/2 = 50 %. Después de cinco: 1/5 = 20 %. Después de diez: 5/10 = 50 %. Al final: 484/1000 = 48,4 %. Con muchas tiradas las proporciones suelen fluctuar menos, pero la curva no se acerca a la referencia de forma continua ni garantiza un resultado futuro.</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Pidan que expliquen por qué una racha no crea una deuda de resultados. Independencia significa que condicionar por el historial no cambia la probabilidad del siguiente resultado. Esta conclusión depende del modelo supuesto. El CSV simulado describe un historial y no demuestra que una ruleta real sea justa.</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Relacionen los conceptos con las ocho columnas que devuelve resumir() en el script. El total de tiradas cambia al analizar una ventana. Probabilidad del modelo y frecuencia esperada se calculan a partir del supuesto de ruleta justa. Resultado es la etiqueta del número o grupo. No hace falta enseñar sintaxis nueva en esta diapositiva.</a:t>
            </a:r>
          </a:p>
          <a:p>
            <a:endParaRPr/>
          </a:p>
          <a:p>
            <a:r>
              <a:t>Fuente: datos/ruleta_1000.csv del proyecto de clase. 1.000 tiradas simuladas. Cálculos sobre ese CSV, sin datos de una ruleta real.</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Respuestas: 1) 1/37 ≈ 2,70 %. 2) 11/20 × 100 = 55 %. 3) 18/37 ≈ 48,65 % bajo el modelo justo e independiente. Comprueben que distinguen los denominadores: 37 resultados posibles frente a 20 observaciones. Pidan que justifiquen la tercera respuesta sin recurrir a que «ya toca» un color.</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0ACB-22B3-D10F-A1B1-1C013B006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4391C-EA1A-9BF0-6A63-286E3B1B4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3FBA6-4CD9-478F-6D97-4C869A4F0B44}"/>
              </a:ext>
            </a:extLst>
          </p:cNvPr>
          <p:cNvSpPr>
            <a:spLocks noGrp="1"/>
          </p:cNvSpPr>
          <p:nvPr>
            <p:ph type="body" idx="1"/>
          </p:nvPr>
        </p:nvSpPr>
        <p:spPr/>
        <p:txBody>
          <a:bodyPr/>
          <a:lstStyle/>
          <a:p>
            <a:r>
              <a:t>Respuestas: 1) 1/37 ≈ 2,70 %. 2) 11/20 × 100 = 55 %. 3) 18/37 ≈ 48,65 % bajo el modelo justo e independiente. Comprueben que distinguen los denominadores: 37 resultados posibles frente a 20 observaciones. Pidan que justifiquen la tercera respuesta sin recurrir a que «ya toca» un color.</a:t>
            </a:r>
          </a:p>
          <a:p>
            <a:endParaRPr/>
          </a:p>
          <a:p>
            <a:r>
              <a:t>Modelo: ruleta europea con 37 resultados equiprobables (0–36) y tiradas independientes. Las probabilidades se deducen de ese supuesto. El ejercicio no contrasta la justicia de una ruleta real.</a:t>
            </a:r>
          </a:p>
        </p:txBody>
      </p:sp>
      <p:sp>
        <p:nvSpPr>
          <p:cNvPr id="4" name="Slide Number Placeholder 3">
            <a:extLst>
              <a:ext uri="{FF2B5EF4-FFF2-40B4-BE49-F238E27FC236}">
                <a16:creationId xmlns:a16="http://schemas.microsoft.com/office/drawing/2014/main" id="{50139B37-76D2-ABC9-2142-53A0AC1B3F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95018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idea </a:t>
            </a:r>
            <a:r>
              <a:rPr dirty="0" err="1"/>
              <a:t>tiene</a:t>
            </a:r>
            <a:r>
              <a:rPr dirty="0"/>
              <a:t> </a:t>
            </a:r>
            <a:r>
              <a:rPr dirty="0" err="1"/>
              <a:t>sentido</a:t>
            </a:r>
            <a:r>
              <a:rPr dirty="0"/>
              <a:t> </a:t>
            </a:r>
            <a:r>
              <a:rPr dirty="0" err="1"/>
              <a:t>como</a:t>
            </a:r>
            <a:r>
              <a:rPr dirty="0"/>
              <a:t> </a:t>
            </a:r>
            <a:r>
              <a:rPr dirty="0" err="1"/>
              <a:t>hipótesis</a:t>
            </a:r>
            <a:r>
              <a:rPr dirty="0"/>
              <a:t> </a:t>
            </a:r>
            <a:r>
              <a:rPr dirty="0" err="1"/>
              <a:t>física</a:t>
            </a:r>
            <a:r>
              <a:rPr dirty="0"/>
              <a:t>. El </a:t>
            </a:r>
            <a:r>
              <a:rPr dirty="0" err="1"/>
              <a:t>artículo</a:t>
            </a:r>
            <a:r>
              <a:rPr dirty="0"/>
              <a:t> de Small y </a:t>
            </a:r>
            <a:r>
              <a:rPr dirty="0" err="1"/>
              <a:t>Tse</a:t>
            </a:r>
            <a:r>
              <a:rPr dirty="0"/>
              <a:t> </a:t>
            </a:r>
            <a:r>
              <a:rPr dirty="0" err="1"/>
              <a:t>estudia</a:t>
            </a:r>
            <a:r>
              <a:rPr dirty="0"/>
              <a:t> </a:t>
            </a:r>
            <a:r>
              <a:rPr dirty="0" err="1"/>
              <a:t>predicción</a:t>
            </a:r>
            <a:r>
              <a:rPr dirty="0"/>
              <a:t> </a:t>
            </a:r>
            <a:r>
              <a:rPr dirty="0" err="1"/>
              <a:t>mediante</a:t>
            </a:r>
            <a:r>
              <a:rPr dirty="0"/>
              <a:t> </a:t>
            </a:r>
            <a:r>
              <a:rPr dirty="0" err="1"/>
              <a:t>mediciones</a:t>
            </a:r>
            <a:r>
              <a:rPr dirty="0"/>
              <a:t> del </a:t>
            </a:r>
            <a:r>
              <a:rPr dirty="0" err="1"/>
              <a:t>movimiento</a:t>
            </a:r>
            <a:r>
              <a:rPr dirty="0"/>
              <a:t>. No </a:t>
            </a:r>
            <a:r>
              <a:rPr dirty="0" err="1"/>
              <a:t>demuestra</a:t>
            </a:r>
            <a:r>
              <a:rPr dirty="0"/>
              <a:t> </a:t>
            </a:r>
            <a:r>
              <a:rPr dirty="0" err="1"/>
              <a:t>una</a:t>
            </a:r>
            <a:r>
              <a:rPr dirty="0"/>
              <a:t> </a:t>
            </a:r>
            <a:r>
              <a:rPr dirty="0" err="1"/>
              <a:t>precisión</a:t>
            </a:r>
            <a:r>
              <a:rPr dirty="0"/>
              <a:t> universal.</a:t>
            </a:r>
          </a:p>
          <a:p>
            <a:endParaRPr dirty="0"/>
          </a:p>
          <a:p>
            <a:r>
              <a:rPr dirty="0"/>
              <a:t>En un </a:t>
            </a:r>
            <a:r>
              <a:rPr dirty="0" err="1"/>
              <a:t>modelo</a:t>
            </a:r>
            <a:r>
              <a:rPr dirty="0"/>
              <a:t> </a:t>
            </a:r>
            <a:r>
              <a:rPr dirty="0" err="1"/>
              <a:t>determinista</a:t>
            </a:r>
            <a:r>
              <a:rPr dirty="0"/>
              <a:t> ideal, un </a:t>
            </a:r>
            <a:r>
              <a:rPr dirty="0" err="1"/>
              <a:t>estado</a:t>
            </a:r>
            <a:r>
              <a:rPr dirty="0"/>
              <a:t> </a:t>
            </a:r>
            <a:r>
              <a:rPr dirty="0" err="1"/>
              <a:t>inicial</a:t>
            </a:r>
            <a:r>
              <a:rPr dirty="0"/>
              <a:t> </a:t>
            </a:r>
            <a:r>
              <a:rPr dirty="0" err="1"/>
              <a:t>completo</a:t>
            </a:r>
            <a:r>
              <a:rPr dirty="0"/>
              <a:t> y </a:t>
            </a:r>
            <a:r>
              <a:rPr dirty="0" err="1"/>
              <a:t>los</a:t>
            </a:r>
            <a:r>
              <a:rPr dirty="0"/>
              <a:t> </a:t>
            </a:r>
            <a:r>
              <a:rPr dirty="0" err="1"/>
              <a:t>mismos</a:t>
            </a:r>
            <a:r>
              <a:rPr dirty="0"/>
              <a:t> </a:t>
            </a:r>
            <a:r>
              <a:rPr dirty="0" err="1"/>
              <a:t>parámetros</a:t>
            </a:r>
            <a:r>
              <a:rPr dirty="0"/>
              <a:t> </a:t>
            </a:r>
            <a:r>
              <a:rPr dirty="0" err="1"/>
              <a:t>fijan</a:t>
            </a:r>
            <a:r>
              <a:rPr dirty="0"/>
              <a:t> </a:t>
            </a:r>
            <a:r>
              <a:rPr dirty="0" err="1"/>
              <a:t>una</a:t>
            </a:r>
            <a:r>
              <a:rPr dirty="0"/>
              <a:t> </a:t>
            </a:r>
            <a:r>
              <a:rPr dirty="0" err="1"/>
              <a:t>trayectoria</a:t>
            </a:r>
            <a:r>
              <a:rPr dirty="0"/>
              <a:t>. </a:t>
            </a:r>
            <a:r>
              <a:rPr dirty="0" err="1"/>
              <a:t>Igualar</a:t>
            </a:r>
            <a:r>
              <a:rPr dirty="0"/>
              <a:t> </a:t>
            </a:r>
            <a:r>
              <a:rPr dirty="0" err="1"/>
              <a:t>el</a:t>
            </a:r>
            <a:r>
              <a:rPr dirty="0"/>
              <a:t> punto y la </a:t>
            </a:r>
            <a:r>
              <a:rPr dirty="0" err="1"/>
              <a:t>fuerza</a:t>
            </a:r>
            <a:r>
              <a:rPr dirty="0"/>
              <a:t> de </a:t>
            </a:r>
            <a:r>
              <a:rPr dirty="0" err="1"/>
              <a:t>salida</a:t>
            </a:r>
            <a:r>
              <a:rPr dirty="0"/>
              <a:t> </a:t>
            </a:r>
            <a:r>
              <a:rPr dirty="0" err="1"/>
              <a:t>deja</a:t>
            </a:r>
            <a:r>
              <a:rPr dirty="0"/>
              <a:t> </a:t>
            </a:r>
            <a:r>
              <a:rPr dirty="0" err="1"/>
              <a:t>otras</a:t>
            </a:r>
            <a:r>
              <a:rPr dirty="0"/>
              <a:t> variables sin </a:t>
            </a:r>
            <a:r>
              <a:rPr dirty="0" err="1"/>
              <a:t>fijar</a:t>
            </a:r>
            <a:r>
              <a:rPr dirty="0"/>
              <a:t>, </a:t>
            </a:r>
            <a:r>
              <a:rPr dirty="0" err="1"/>
              <a:t>como</a:t>
            </a:r>
            <a:r>
              <a:rPr dirty="0"/>
              <a:t> la </a:t>
            </a:r>
            <a:r>
              <a:rPr dirty="0" err="1"/>
              <a:t>fase</a:t>
            </a:r>
            <a:r>
              <a:rPr dirty="0"/>
              <a:t> y </a:t>
            </a:r>
            <a:r>
              <a:rPr dirty="0" err="1"/>
              <a:t>velocidad</a:t>
            </a:r>
            <a:r>
              <a:rPr dirty="0"/>
              <a:t> del rotor. Dos </a:t>
            </a:r>
            <a:r>
              <a:rPr dirty="0" err="1"/>
              <a:t>trayectorias</a:t>
            </a:r>
            <a:r>
              <a:rPr dirty="0"/>
              <a:t> </a:t>
            </a:r>
            <a:r>
              <a:rPr dirty="0" err="1"/>
              <a:t>diferentes</a:t>
            </a:r>
            <a:r>
              <a:rPr dirty="0"/>
              <a:t> </a:t>
            </a:r>
            <a:r>
              <a:rPr dirty="0" err="1"/>
              <a:t>también</a:t>
            </a:r>
            <a:r>
              <a:rPr dirty="0"/>
              <a:t> </a:t>
            </a:r>
            <a:r>
              <a:rPr dirty="0" err="1"/>
              <a:t>pueden</a:t>
            </a:r>
            <a:r>
              <a:rPr dirty="0"/>
              <a:t> </a:t>
            </a:r>
            <a:r>
              <a:rPr dirty="0" err="1"/>
              <a:t>terminar</a:t>
            </a:r>
            <a:r>
              <a:rPr dirty="0"/>
              <a:t> </a:t>
            </a:r>
            <a:r>
              <a:rPr dirty="0" err="1"/>
              <a:t>en</a:t>
            </a:r>
            <a:r>
              <a:rPr dirty="0"/>
              <a:t> la </a:t>
            </a:r>
            <a:r>
              <a:rPr dirty="0" err="1"/>
              <a:t>misma</a:t>
            </a:r>
            <a:r>
              <a:rPr dirty="0"/>
              <a:t> </a:t>
            </a:r>
            <a:r>
              <a:rPr dirty="0" err="1"/>
              <a:t>casilla</a:t>
            </a:r>
            <a:r>
              <a:rPr dirty="0"/>
              <a:t>. </a:t>
            </a:r>
            <a:r>
              <a:rPr dirty="0" err="1"/>
              <a:t>Determinismo</a:t>
            </a:r>
            <a:r>
              <a:rPr dirty="0"/>
              <a:t> y </a:t>
            </a:r>
            <a:r>
              <a:rPr dirty="0" err="1"/>
              <a:t>repetición</a:t>
            </a:r>
            <a:r>
              <a:rPr dirty="0"/>
              <a:t> </a:t>
            </a:r>
            <a:r>
              <a:rPr dirty="0" err="1"/>
              <a:t>periódica</a:t>
            </a:r>
            <a:r>
              <a:rPr dirty="0"/>
              <a:t> son </a:t>
            </a:r>
            <a:r>
              <a:rPr dirty="0" err="1"/>
              <a:t>conceptos</a:t>
            </a:r>
            <a:r>
              <a:rPr dirty="0"/>
              <a:t> </a:t>
            </a:r>
            <a:r>
              <a:rPr dirty="0" err="1"/>
              <a:t>distintos</a:t>
            </a:r>
            <a:r>
              <a:rPr dirty="0"/>
              <a:t>.</a:t>
            </a:r>
          </a:p>
          <a:p>
            <a:endParaRPr dirty="0"/>
          </a:p>
          <a:p>
            <a:r>
              <a:rPr dirty="0"/>
              <a:t>Una </a:t>
            </a:r>
            <a:r>
              <a:rPr dirty="0" err="1"/>
              <a:t>distribución</a:t>
            </a:r>
            <a:r>
              <a:rPr dirty="0"/>
              <a:t> </a:t>
            </a:r>
            <a:r>
              <a:rPr dirty="0" err="1"/>
              <a:t>uniforme</a:t>
            </a:r>
            <a:r>
              <a:rPr dirty="0"/>
              <a:t> de </a:t>
            </a:r>
            <a:r>
              <a:rPr dirty="0" err="1"/>
              <a:t>resultados</a:t>
            </a:r>
            <a:r>
              <a:rPr dirty="0"/>
              <a:t> al </a:t>
            </a:r>
            <a:r>
              <a:rPr dirty="0" err="1"/>
              <a:t>observar</a:t>
            </a:r>
            <a:r>
              <a:rPr dirty="0"/>
              <a:t> solo </a:t>
            </a:r>
            <a:r>
              <a:rPr dirty="0" err="1"/>
              <a:t>el</a:t>
            </a:r>
            <a:r>
              <a:rPr dirty="0"/>
              <a:t> </a:t>
            </a:r>
            <a:r>
              <a:rPr dirty="0" err="1"/>
              <a:t>historial</a:t>
            </a:r>
            <a:r>
              <a:rPr dirty="0"/>
              <a:t> </a:t>
            </a:r>
            <a:r>
              <a:rPr dirty="0" err="1"/>
              <a:t>puede</a:t>
            </a:r>
            <a:r>
              <a:rPr dirty="0"/>
              <a:t> </a:t>
            </a:r>
            <a:r>
              <a:rPr dirty="0" err="1"/>
              <a:t>coexistir</a:t>
            </a:r>
            <a:r>
              <a:rPr dirty="0"/>
              <a:t> con </a:t>
            </a:r>
            <a:r>
              <a:rPr dirty="0" err="1"/>
              <a:t>información</a:t>
            </a:r>
            <a:r>
              <a:rPr dirty="0"/>
              <a:t> </a:t>
            </a:r>
            <a:r>
              <a:rPr dirty="0" err="1"/>
              <a:t>útil</a:t>
            </a:r>
            <a:r>
              <a:rPr dirty="0"/>
              <a:t> al </a:t>
            </a:r>
            <a:r>
              <a:rPr dirty="0" err="1"/>
              <a:t>medir</a:t>
            </a:r>
            <a:r>
              <a:rPr dirty="0"/>
              <a:t> </a:t>
            </a:r>
            <a:r>
              <a:rPr dirty="0" err="1"/>
              <a:t>el</a:t>
            </a:r>
            <a:r>
              <a:rPr dirty="0"/>
              <a:t> </a:t>
            </a:r>
            <a:r>
              <a:rPr dirty="0" err="1"/>
              <a:t>giro</a:t>
            </a:r>
            <a:r>
              <a:rPr dirty="0"/>
              <a:t> actual. Son </a:t>
            </a:r>
            <a:r>
              <a:rPr dirty="0" err="1"/>
              <a:t>condiciones</a:t>
            </a:r>
            <a:r>
              <a:rPr dirty="0"/>
              <a:t> de </a:t>
            </a:r>
            <a:r>
              <a:rPr dirty="0" err="1"/>
              <a:t>información</a:t>
            </a:r>
            <a:r>
              <a:rPr dirty="0"/>
              <a:t> </a:t>
            </a:r>
            <a:r>
              <a:rPr dirty="0" err="1"/>
              <a:t>diferentes</a:t>
            </a:r>
            <a:r>
              <a:rPr dirty="0"/>
              <a:t>.</a:t>
            </a:r>
          </a:p>
          <a:p>
            <a:endParaRPr dirty="0"/>
          </a:p>
          <a:p>
            <a:r>
              <a:rPr dirty="0"/>
              <a:t>Fuentes y </a:t>
            </a:r>
            <a:r>
              <a:rPr dirty="0" err="1"/>
              <a:t>apoyo</a:t>
            </a:r>
            <a:r>
              <a:rPr dirty="0"/>
              <a:t> para </a:t>
            </a:r>
            <a:r>
              <a:rPr dirty="0" err="1"/>
              <a:t>el</a:t>
            </a:r>
            <a:r>
              <a:rPr dirty="0"/>
              <a:t> </a:t>
            </a:r>
            <a:r>
              <a:rPr dirty="0" err="1"/>
              <a:t>profesor</a:t>
            </a:r>
            <a:r>
              <a:rPr dirty="0"/>
              <a:t>:</a:t>
            </a:r>
          </a:p>
          <a:p>
            <a:r>
              <a:rPr dirty="0"/>
              <a:t>https://</a:t>
            </a:r>
            <a:r>
              <a:rPr dirty="0" err="1"/>
              <a:t>ira.lib.polyu.edu.hk</a:t>
            </a:r>
            <a:r>
              <a:rPr dirty="0"/>
              <a:t>/bitstream/10397/6241/1/</a:t>
            </a:r>
            <a:r>
              <a:rPr dirty="0" err="1"/>
              <a:t>Small_Predicting_Outcome_Roulette.pdf</a:t>
            </a:r>
            <a:endParaRPr dirty="0"/>
          </a:p>
          <a:p>
            <a:r>
              <a:rPr dirty="0"/>
              <a:t>https://</a:t>
            </a:r>
            <a:r>
              <a:rPr dirty="0" err="1"/>
              <a:t>doi.org</a:t>
            </a:r>
            <a:r>
              <a:rPr dirty="0"/>
              <a:t>/10.1007/978-3-642-03960-7_3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92F4-BCD6-D27E-E42E-C4612E717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5CFF4-4973-DE6F-9476-2D5AFAFA2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20FCC-DBAE-6CF7-1D45-4AF4C1B58FAB}"/>
              </a:ext>
            </a:extLst>
          </p:cNvPr>
          <p:cNvSpPr>
            <a:spLocks noGrp="1"/>
          </p:cNvSpPr>
          <p:nvPr>
            <p:ph type="body" idx="1"/>
          </p:nvPr>
        </p:nvSpPr>
        <p:spPr/>
        <p:txBody>
          <a:bodyPr/>
          <a:lstStyle/>
          <a:p>
            <a:r>
              <a:rPr dirty="0"/>
              <a:t>La idea </a:t>
            </a:r>
            <a:r>
              <a:rPr dirty="0" err="1"/>
              <a:t>tiene</a:t>
            </a:r>
            <a:r>
              <a:rPr dirty="0"/>
              <a:t> </a:t>
            </a:r>
            <a:r>
              <a:rPr dirty="0" err="1"/>
              <a:t>sentido</a:t>
            </a:r>
            <a:r>
              <a:rPr dirty="0"/>
              <a:t> </a:t>
            </a:r>
            <a:r>
              <a:rPr dirty="0" err="1"/>
              <a:t>como</a:t>
            </a:r>
            <a:r>
              <a:rPr dirty="0"/>
              <a:t> </a:t>
            </a:r>
            <a:r>
              <a:rPr dirty="0" err="1"/>
              <a:t>hipótesis</a:t>
            </a:r>
            <a:r>
              <a:rPr dirty="0"/>
              <a:t> </a:t>
            </a:r>
            <a:r>
              <a:rPr dirty="0" err="1"/>
              <a:t>física</a:t>
            </a:r>
            <a:r>
              <a:rPr dirty="0"/>
              <a:t>. El </a:t>
            </a:r>
            <a:r>
              <a:rPr dirty="0" err="1"/>
              <a:t>artículo</a:t>
            </a:r>
            <a:r>
              <a:rPr dirty="0"/>
              <a:t> de Small y </a:t>
            </a:r>
            <a:r>
              <a:rPr dirty="0" err="1"/>
              <a:t>Tse</a:t>
            </a:r>
            <a:r>
              <a:rPr dirty="0"/>
              <a:t> </a:t>
            </a:r>
            <a:r>
              <a:rPr dirty="0" err="1"/>
              <a:t>estudia</a:t>
            </a:r>
            <a:r>
              <a:rPr dirty="0"/>
              <a:t> </a:t>
            </a:r>
            <a:r>
              <a:rPr dirty="0" err="1"/>
              <a:t>predicción</a:t>
            </a:r>
            <a:r>
              <a:rPr dirty="0"/>
              <a:t> </a:t>
            </a:r>
            <a:r>
              <a:rPr dirty="0" err="1"/>
              <a:t>mediante</a:t>
            </a:r>
            <a:r>
              <a:rPr dirty="0"/>
              <a:t> </a:t>
            </a:r>
            <a:r>
              <a:rPr dirty="0" err="1"/>
              <a:t>mediciones</a:t>
            </a:r>
            <a:r>
              <a:rPr dirty="0"/>
              <a:t> del </a:t>
            </a:r>
            <a:r>
              <a:rPr dirty="0" err="1"/>
              <a:t>movimiento</a:t>
            </a:r>
            <a:r>
              <a:rPr dirty="0"/>
              <a:t>. No </a:t>
            </a:r>
            <a:r>
              <a:rPr dirty="0" err="1"/>
              <a:t>demuestra</a:t>
            </a:r>
            <a:r>
              <a:rPr dirty="0"/>
              <a:t> </a:t>
            </a:r>
            <a:r>
              <a:rPr dirty="0" err="1"/>
              <a:t>una</a:t>
            </a:r>
            <a:r>
              <a:rPr dirty="0"/>
              <a:t> </a:t>
            </a:r>
            <a:r>
              <a:rPr dirty="0" err="1"/>
              <a:t>precisión</a:t>
            </a:r>
            <a:r>
              <a:rPr dirty="0"/>
              <a:t> universal.</a:t>
            </a:r>
          </a:p>
          <a:p>
            <a:endParaRPr dirty="0"/>
          </a:p>
          <a:p>
            <a:r>
              <a:rPr dirty="0"/>
              <a:t>En un </a:t>
            </a:r>
            <a:r>
              <a:rPr dirty="0" err="1"/>
              <a:t>modelo</a:t>
            </a:r>
            <a:r>
              <a:rPr dirty="0"/>
              <a:t> </a:t>
            </a:r>
            <a:r>
              <a:rPr dirty="0" err="1"/>
              <a:t>determinista</a:t>
            </a:r>
            <a:r>
              <a:rPr dirty="0"/>
              <a:t> ideal, un </a:t>
            </a:r>
            <a:r>
              <a:rPr dirty="0" err="1"/>
              <a:t>estado</a:t>
            </a:r>
            <a:r>
              <a:rPr dirty="0"/>
              <a:t> </a:t>
            </a:r>
            <a:r>
              <a:rPr dirty="0" err="1"/>
              <a:t>inicial</a:t>
            </a:r>
            <a:r>
              <a:rPr dirty="0"/>
              <a:t> </a:t>
            </a:r>
            <a:r>
              <a:rPr dirty="0" err="1"/>
              <a:t>completo</a:t>
            </a:r>
            <a:r>
              <a:rPr dirty="0"/>
              <a:t> y </a:t>
            </a:r>
            <a:r>
              <a:rPr dirty="0" err="1"/>
              <a:t>los</a:t>
            </a:r>
            <a:r>
              <a:rPr dirty="0"/>
              <a:t> </a:t>
            </a:r>
            <a:r>
              <a:rPr dirty="0" err="1"/>
              <a:t>mismos</a:t>
            </a:r>
            <a:r>
              <a:rPr dirty="0"/>
              <a:t> </a:t>
            </a:r>
            <a:r>
              <a:rPr dirty="0" err="1"/>
              <a:t>parámetros</a:t>
            </a:r>
            <a:r>
              <a:rPr dirty="0"/>
              <a:t> </a:t>
            </a:r>
            <a:r>
              <a:rPr dirty="0" err="1"/>
              <a:t>fijan</a:t>
            </a:r>
            <a:r>
              <a:rPr dirty="0"/>
              <a:t> </a:t>
            </a:r>
            <a:r>
              <a:rPr dirty="0" err="1"/>
              <a:t>una</a:t>
            </a:r>
            <a:r>
              <a:rPr dirty="0"/>
              <a:t> </a:t>
            </a:r>
            <a:r>
              <a:rPr dirty="0" err="1"/>
              <a:t>trayectoria</a:t>
            </a:r>
            <a:r>
              <a:rPr dirty="0"/>
              <a:t>. </a:t>
            </a:r>
            <a:r>
              <a:rPr dirty="0" err="1"/>
              <a:t>Igualar</a:t>
            </a:r>
            <a:r>
              <a:rPr dirty="0"/>
              <a:t> </a:t>
            </a:r>
            <a:r>
              <a:rPr dirty="0" err="1"/>
              <a:t>el</a:t>
            </a:r>
            <a:r>
              <a:rPr dirty="0"/>
              <a:t> punto y la </a:t>
            </a:r>
            <a:r>
              <a:rPr dirty="0" err="1"/>
              <a:t>fuerza</a:t>
            </a:r>
            <a:r>
              <a:rPr dirty="0"/>
              <a:t> de </a:t>
            </a:r>
            <a:r>
              <a:rPr dirty="0" err="1"/>
              <a:t>salida</a:t>
            </a:r>
            <a:r>
              <a:rPr dirty="0"/>
              <a:t> </a:t>
            </a:r>
            <a:r>
              <a:rPr dirty="0" err="1"/>
              <a:t>deja</a:t>
            </a:r>
            <a:r>
              <a:rPr dirty="0"/>
              <a:t> </a:t>
            </a:r>
            <a:r>
              <a:rPr dirty="0" err="1"/>
              <a:t>otras</a:t>
            </a:r>
            <a:r>
              <a:rPr dirty="0"/>
              <a:t> variables sin </a:t>
            </a:r>
            <a:r>
              <a:rPr dirty="0" err="1"/>
              <a:t>fijar</a:t>
            </a:r>
            <a:r>
              <a:rPr dirty="0"/>
              <a:t>, </a:t>
            </a:r>
            <a:r>
              <a:rPr dirty="0" err="1"/>
              <a:t>como</a:t>
            </a:r>
            <a:r>
              <a:rPr dirty="0"/>
              <a:t> la </a:t>
            </a:r>
            <a:r>
              <a:rPr dirty="0" err="1"/>
              <a:t>fase</a:t>
            </a:r>
            <a:r>
              <a:rPr dirty="0"/>
              <a:t> y </a:t>
            </a:r>
            <a:r>
              <a:rPr dirty="0" err="1"/>
              <a:t>velocidad</a:t>
            </a:r>
            <a:r>
              <a:rPr dirty="0"/>
              <a:t> del rotor. Dos </a:t>
            </a:r>
            <a:r>
              <a:rPr dirty="0" err="1"/>
              <a:t>trayectorias</a:t>
            </a:r>
            <a:r>
              <a:rPr dirty="0"/>
              <a:t> </a:t>
            </a:r>
            <a:r>
              <a:rPr dirty="0" err="1"/>
              <a:t>diferentes</a:t>
            </a:r>
            <a:r>
              <a:rPr dirty="0"/>
              <a:t> </a:t>
            </a:r>
            <a:r>
              <a:rPr dirty="0" err="1"/>
              <a:t>también</a:t>
            </a:r>
            <a:r>
              <a:rPr dirty="0"/>
              <a:t> </a:t>
            </a:r>
            <a:r>
              <a:rPr dirty="0" err="1"/>
              <a:t>pueden</a:t>
            </a:r>
            <a:r>
              <a:rPr dirty="0"/>
              <a:t> </a:t>
            </a:r>
            <a:r>
              <a:rPr dirty="0" err="1"/>
              <a:t>terminar</a:t>
            </a:r>
            <a:r>
              <a:rPr dirty="0"/>
              <a:t> </a:t>
            </a:r>
            <a:r>
              <a:rPr dirty="0" err="1"/>
              <a:t>en</a:t>
            </a:r>
            <a:r>
              <a:rPr dirty="0"/>
              <a:t> la </a:t>
            </a:r>
            <a:r>
              <a:rPr dirty="0" err="1"/>
              <a:t>misma</a:t>
            </a:r>
            <a:r>
              <a:rPr dirty="0"/>
              <a:t> </a:t>
            </a:r>
            <a:r>
              <a:rPr dirty="0" err="1"/>
              <a:t>casilla</a:t>
            </a:r>
            <a:r>
              <a:rPr dirty="0"/>
              <a:t>. </a:t>
            </a:r>
            <a:r>
              <a:rPr dirty="0" err="1"/>
              <a:t>Determinismo</a:t>
            </a:r>
            <a:r>
              <a:rPr dirty="0"/>
              <a:t> y </a:t>
            </a:r>
            <a:r>
              <a:rPr dirty="0" err="1"/>
              <a:t>repetición</a:t>
            </a:r>
            <a:r>
              <a:rPr dirty="0"/>
              <a:t> </a:t>
            </a:r>
            <a:r>
              <a:rPr dirty="0" err="1"/>
              <a:t>periódica</a:t>
            </a:r>
            <a:r>
              <a:rPr dirty="0"/>
              <a:t> son </a:t>
            </a:r>
            <a:r>
              <a:rPr dirty="0" err="1"/>
              <a:t>conceptos</a:t>
            </a:r>
            <a:r>
              <a:rPr dirty="0"/>
              <a:t> </a:t>
            </a:r>
            <a:r>
              <a:rPr dirty="0" err="1"/>
              <a:t>distintos</a:t>
            </a:r>
            <a:r>
              <a:rPr dirty="0"/>
              <a:t>.</a:t>
            </a:r>
          </a:p>
          <a:p>
            <a:endParaRPr dirty="0"/>
          </a:p>
          <a:p>
            <a:r>
              <a:rPr dirty="0"/>
              <a:t>Una </a:t>
            </a:r>
            <a:r>
              <a:rPr dirty="0" err="1"/>
              <a:t>distribución</a:t>
            </a:r>
            <a:r>
              <a:rPr dirty="0"/>
              <a:t> </a:t>
            </a:r>
            <a:r>
              <a:rPr dirty="0" err="1"/>
              <a:t>uniforme</a:t>
            </a:r>
            <a:r>
              <a:rPr dirty="0"/>
              <a:t> de </a:t>
            </a:r>
            <a:r>
              <a:rPr dirty="0" err="1"/>
              <a:t>resultados</a:t>
            </a:r>
            <a:r>
              <a:rPr dirty="0"/>
              <a:t> al </a:t>
            </a:r>
            <a:r>
              <a:rPr dirty="0" err="1"/>
              <a:t>observar</a:t>
            </a:r>
            <a:r>
              <a:rPr dirty="0"/>
              <a:t> solo </a:t>
            </a:r>
            <a:r>
              <a:rPr dirty="0" err="1"/>
              <a:t>el</a:t>
            </a:r>
            <a:r>
              <a:rPr dirty="0"/>
              <a:t> </a:t>
            </a:r>
            <a:r>
              <a:rPr dirty="0" err="1"/>
              <a:t>historial</a:t>
            </a:r>
            <a:r>
              <a:rPr dirty="0"/>
              <a:t> </a:t>
            </a:r>
            <a:r>
              <a:rPr dirty="0" err="1"/>
              <a:t>puede</a:t>
            </a:r>
            <a:r>
              <a:rPr dirty="0"/>
              <a:t> </a:t>
            </a:r>
            <a:r>
              <a:rPr dirty="0" err="1"/>
              <a:t>coexistir</a:t>
            </a:r>
            <a:r>
              <a:rPr dirty="0"/>
              <a:t> con </a:t>
            </a:r>
            <a:r>
              <a:rPr dirty="0" err="1"/>
              <a:t>información</a:t>
            </a:r>
            <a:r>
              <a:rPr dirty="0"/>
              <a:t> </a:t>
            </a:r>
            <a:r>
              <a:rPr dirty="0" err="1"/>
              <a:t>útil</a:t>
            </a:r>
            <a:r>
              <a:rPr dirty="0"/>
              <a:t> al </a:t>
            </a:r>
            <a:r>
              <a:rPr dirty="0" err="1"/>
              <a:t>medir</a:t>
            </a:r>
            <a:r>
              <a:rPr dirty="0"/>
              <a:t> </a:t>
            </a:r>
            <a:r>
              <a:rPr dirty="0" err="1"/>
              <a:t>el</a:t>
            </a:r>
            <a:r>
              <a:rPr dirty="0"/>
              <a:t> </a:t>
            </a:r>
            <a:r>
              <a:rPr dirty="0" err="1"/>
              <a:t>giro</a:t>
            </a:r>
            <a:r>
              <a:rPr dirty="0"/>
              <a:t> actual. Son </a:t>
            </a:r>
            <a:r>
              <a:rPr dirty="0" err="1"/>
              <a:t>condiciones</a:t>
            </a:r>
            <a:r>
              <a:rPr dirty="0"/>
              <a:t> de </a:t>
            </a:r>
            <a:r>
              <a:rPr dirty="0" err="1"/>
              <a:t>información</a:t>
            </a:r>
            <a:r>
              <a:rPr dirty="0"/>
              <a:t> </a:t>
            </a:r>
            <a:r>
              <a:rPr dirty="0" err="1"/>
              <a:t>diferentes</a:t>
            </a:r>
            <a:r>
              <a:rPr dirty="0"/>
              <a:t>.</a:t>
            </a:r>
          </a:p>
          <a:p>
            <a:endParaRPr dirty="0"/>
          </a:p>
          <a:p>
            <a:r>
              <a:rPr dirty="0"/>
              <a:t>Fuentes y </a:t>
            </a:r>
            <a:r>
              <a:rPr dirty="0" err="1"/>
              <a:t>apoyo</a:t>
            </a:r>
            <a:r>
              <a:rPr dirty="0"/>
              <a:t> para </a:t>
            </a:r>
            <a:r>
              <a:rPr dirty="0" err="1"/>
              <a:t>el</a:t>
            </a:r>
            <a:r>
              <a:rPr dirty="0"/>
              <a:t> </a:t>
            </a:r>
            <a:r>
              <a:rPr dirty="0" err="1"/>
              <a:t>profesor</a:t>
            </a:r>
            <a:r>
              <a:rPr dirty="0"/>
              <a:t>:</a:t>
            </a:r>
          </a:p>
          <a:p>
            <a:r>
              <a:rPr dirty="0"/>
              <a:t>https://</a:t>
            </a:r>
            <a:r>
              <a:rPr dirty="0" err="1"/>
              <a:t>ira.lib.polyu.edu.hk</a:t>
            </a:r>
            <a:r>
              <a:rPr dirty="0"/>
              <a:t>/bitstream/10397/6241/1/</a:t>
            </a:r>
            <a:r>
              <a:rPr dirty="0" err="1"/>
              <a:t>Small_Predicting_Outcome_Roulette.pdf</a:t>
            </a:r>
            <a:endParaRPr dirty="0"/>
          </a:p>
          <a:p>
            <a:r>
              <a:rPr dirty="0"/>
              <a:t>https://</a:t>
            </a:r>
            <a:r>
              <a:rPr dirty="0" err="1"/>
              <a:t>doi.org</a:t>
            </a:r>
            <a:r>
              <a:rPr dirty="0"/>
              <a:t>/10.1007/978-3-642-03960-7_3</a:t>
            </a:r>
          </a:p>
        </p:txBody>
      </p:sp>
      <p:sp>
        <p:nvSpPr>
          <p:cNvPr id="4" name="Slide Number Placeholder 3">
            <a:extLst>
              <a:ext uri="{FF2B5EF4-FFF2-40B4-BE49-F238E27FC236}">
                <a16:creationId xmlns:a16="http://schemas.microsoft.com/office/drawing/2014/main" id="{8D9B11C8-E920-B748-EC3B-E0D0136B6D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5968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Propuesta metodológica para este proyecto. Antes de grabar ensayos se eligen el objetivo, el tamaño k del sector y el momento hasta el que el sistema puede observar. Por ejemplo, se puede fijar un intervalo de observación desde un evento visible. Esa regla debe ser reproducible y anterior al resultado. En una aplicación real también habría un límite operativo anterior al cierre de las apuestas.</a:t>
            </a:r>
          </a:p>
          <a:p>
            <a:endParaRPr/>
          </a:p>
          <a:p>
            <a:r>
              <a:t>La salida se registra con hora, identificador del giro y versión del modelo. Elegir el sector después de ver dónde cayó la bola invalidaría la evaluación. Un sector mayor facilita el acierto y exige su propia referencia. No se comparan tasas de objetivos distintos como si fueran equivalentes.</a:t>
            </a:r>
          </a:p>
          <a:p>
            <a:endParaRPr/>
          </a:p>
          <a:p>
            <a:r>
              <a:t>Fuentes y apoyo para el profesor:</a:t>
            </a:r>
          </a:p>
          <a:p>
            <a:r>
              <a:t>https://scikit-learn.org/stable/common_pitfalls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CSV de clase contiene mil resultados simulados. Habría que adquirir trayectorias reales y registrar el resultado final para estudiar la hipótesis física. Radio significa la distancia de la bola al centro: su posición radial también cambia durante la caída. El modelo debe medirla o explicar cómo la estima. El diámetro por sí solo no describe toda la geometría ni la dinámica. También pueden importar el material y tamaño de la bola, su giro propio, la fricción, los deflectores y el estado de la rueda. Se registran rueda, bola y sesión para conocer las condiciones del ensayo.</a:t>
            </a:r>
          </a:p>
          <a:p>
            <a:endParaRPr/>
          </a:p>
          <a:p>
            <a:r>
              <a:t>Esta es una lista de variables candidatas basada en la mecánica. La utilidad y precisión necesarias de cada medida deben comprobarse experimentalmente.</a:t>
            </a:r>
          </a:p>
          <a:p>
            <a:endParaRPr/>
          </a:p>
          <a:p>
            <a:r>
              <a:t>Fuentes y apoyo para el profesor:</a:t>
            </a:r>
          </a:p>
          <a:p>
            <a:r>
              <a:t>https://doi.org/10.1007/978-3-642-03960-7_3</a:t>
            </a:r>
          </a:p>
          <a:p>
            <a:r>
              <a:t>https://ira.lib.polyu.edu.hk/bitstream/10397/6241/1/Small_Predicting_Outcome_Roulette.pdf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Datos </a:t>
            </a:r>
            <a:r>
              <a:rPr dirty="0" err="1"/>
              <a:t>ficticios</a:t>
            </a:r>
            <a:r>
              <a:rPr dirty="0"/>
              <a:t> para </a:t>
            </a:r>
            <a:r>
              <a:rPr dirty="0" err="1"/>
              <a:t>explicar</a:t>
            </a:r>
            <a:r>
              <a:rPr dirty="0"/>
              <a:t> la </a:t>
            </a:r>
            <a:r>
              <a:rPr dirty="0" err="1"/>
              <a:t>estructura</a:t>
            </a:r>
            <a:r>
              <a:rPr dirty="0"/>
              <a:t>, no </a:t>
            </a:r>
            <a:r>
              <a:rPr dirty="0" err="1"/>
              <a:t>observaciones</a:t>
            </a:r>
            <a:r>
              <a:rPr dirty="0"/>
              <a:t> </a:t>
            </a:r>
            <a:r>
              <a:rPr dirty="0" err="1"/>
              <a:t>reales</a:t>
            </a:r>
            <a:r>
              <a:rPr dirty="0"/>
              <a:t> </a:t>
            </a:r>
            <a:r>
              <a:rPr dirty="0" err="1"/>
              <a:t>ni</a:t>
            </a:r>
            <a:r>
              <a:rPr dirty="0"/>
              <a:t> </a:t>
            </a:r>
            <a:r>
              <a:rPr dirty="0" err="1"/>
              <a:t>una</a:t>
            </a:r>
            <a:r>
              <a:rPr dirty="0"/>
              <a:t> </a:t>
            </a:r>
            <a:r>
              <a:rPr dirty="0" err="1"/>
              <a:t>simulación</a:t>
            </a:r>
            <a:r>
              <a:rPr dirty="0"/>
              <a:t> </a:t>
            </a:r>
            <a:r>
              <a:rPr dirty="0" err="1"/>
              <a:t>física</a:t>
            </a:r>
            <a:r>
              <a:rPr dirty="0"/>
              <a:t> </a:t>
            </a:r>
            <a:r>
              <a:rPr dirty="0" err="1"/>
              <a:t>validada</a:t>
            </a:r>
            <a:r>
              <a:rPr dirty="0"/>
              <a:t>. t=0 </a:t>
            </a:r>
            <a:r>
              <a:rPr dirty="0" err="1"/>
              <a:t>marca</a:t>
            </a:r>
            <a:r>
              <a:rPr dirty="0"/>
              <a:t> </a:t>
            </a:r>
            <a:r>
              <a:rPr dirty="0" err="1"/>
              <a:t>el</a:t>
            </a:r>
            <a:r>
              <a:rPr dirty="0"/>
              <a:t> </a:t>
            </a:r>
            <a:r>
              <a:rPr dirty="0" err="1"/>
              <a:t>inicio</a:t>
            </a:r>
            <a:r>
              <a:rPr dirty="0"/>
              <a:t> de la </a:t>
            </a:r>
            <a:r>
              <a:rPr dirty="0" err="1"/>
              <a:t>observación</a:t>
            </a:r>
            <a:r>
              <a:rPr dirty="0"/>
              <a:t> </a:t>
            </a:r>
            <a:r>
              <a:rPr dirty="0" err="1"/>
              <a:t>elegida</a:t>
            </a:r>
            <a:r>
              <a:rPr dirty="0"/>
              <a:t>. Los </a:t>
            </a:r>
            <a:r>
              <a:rPr dirty="0" err="1"/>
              <a:t>ángulos</a:t>
            </a:r>
            <a:r>
              <a:rPr dirty="0"/>
              <a:t> de bola y rotor </a:t>
            </a:r>
            <a:r>
              <a:rPr dirty="0" err="1"/>
              <a:t>usan</a:t>
            </a:r>
            <a:r>
              <a:rPr dirty="0"/>
              <a:t> </a:t>
            </a:r>
            <a:r>
              <a:rPr dirty="0" err="1"/>
              <a:t>el</a:t>
            </a:r>
            <a:r>
              <a:rPr dirty="0"/>
              <a:t> </a:t>
            </a:r>
            <a:r>
              <a:rPr dirty="0" err="1"/>
              <a:t>mismo</a:t>
            </a:r>
            <a:r>
              <a:rPr dirty="0"/>
              <a:t> </a:t>
            </a:r>
            <a:r>
              <a:rPr dirty="0" err="1"/>
              <a:t>origen</a:t>
            </a:r>
            <a:r>
              <a:rPr dirty="0"/>
              <a:t> </a:t>
            </a:r>
            <a:r>
              <a:rPr dirty="0" err="1"/>
              <a:t>fijo</a:t>
            </a:r>
            <a:r>
              <a:rPr dirty="0"/>
              <a:t> y </a:t>
            </a:r>
            <a:r>
              <a:rPr dirty="0" err="1"/>
              <a:t>sentido</a:t>
            </a:r>
            <a:r>
              <a:rPr dirty="0"/>
              <a:t> </a:t>
            </a:r>
            <a:r>
              <a:rPr dirty="0" err="1"/>
              <a:t>positivo</a:t>
            </a:r>
            <a:r>
              <a:rPr dirty="0"/>
              <a:t>. El </a:t>
            </a:r>
            <a:r>
              <a:rPr dirty="0" err="1"/>
              <a:t>ángulo</a:t>
            </a:r>
            <a:r>
              <a:rPr dirty="0"/>
              <a:t> del rotor </a:t>
            </a:r>
            <a:r>
              <a:rPr dirty="0" err="1"/>
              <a:t>puede</a:t>
            </a:r>
            <a:r>
              <a:rPr dirty="0"/>
              <a:t> </a:t>
            </a:r>
            <a:r>
              <a:rPr dirty="0" err="1"/>
              <a:t>corresponder</a:t>
            </a:r>
            <a:r>
              <a:rPr dirty="0"/>
              <a:t> al </a:t>
            </a:r>
            <a:r>
              <a:rPr dirty="0" err="1"/>
              <a:t>centro</a:t>
            </a:r>
            <a:r>
              <a:rPr dirty="0"/>
              <a:t> de la </a:t>
            </a:r>
            <a:r>
              <a:rPr dirty="0" err="1"/>
              <a:t>casilla</a:t>
            </a:r>
            <a:r>
              <a:rPr dirty="0"/>
              <a:t> cero.</a:t>
            </a:r>
          </a:p>
          <a:p>
            <a:endParaRPr dirty="0"/>
          </a:p>
          <a:p>
            <a:r>
              <a:rPr dirty="0"/>
              <a:t>El </a:t>
            </a:r>
            <a:r>
              <a:rPr dirty="0" err="1"/>
              <a:t>salto</a:t>
            </a:r>
            <a:r>
              <a:rPr dirty="0"/>
              <a:t> 358 a 1 se </a:t>
            </a:r>
            <a:r>
              <a:rPr dirty="0" err="1"/>
              <a:t>interpreta</a:t>
            </a:r>
            <a:r>
              <a:rPr dirty="0"/>
              <a:t> con </a:t>
            </a:r>
            <a:r>
              <a:rPr dirty="0" err="1"/>
              <a:t>el</a:t>
            </a:r>
            <a:r>
              <a:rPr dirty="0"/>
              <a:t> </a:t>
            </a:r>
            <a:r>
              <a:rPr dirty="0" err="1"/>
              <a:t>sentido</a:t>
            </a:r>
            <a:r>
              <a:rPr dirty="0"/>
              <a:t> y la </a:t>
            </a:r>
            <a:r>
              <a:rPr dirty="0" err="1"/>
              <a:t>continuidad</a:t>
            </a:r>
            <a:r>
              <a:rPr dirty="0"/>
              <a:t> del </a:t>
            </a:r>
            <a:r>
              <a:rPr dirty="0" err="1"/>
              <a:t>movimiento</a:t>
            </a:r>
            <a:r>
              <a:rPr dirty="0"/>
              <a:t>. No se sabe </a:t>
            </a:r>
            <a:r>
              <a:rPr dirty="0" err="1"/>
              <a:t>cuántas</a:t>
            </a:r>
            <a:r>
              <a:rPr dirty="0"/>
              <a:t> </a:t>
            </a:r>
            <a:r>
              <a:rPr dirty="0" err="1"/>
              <a:t>vueltas</a:t>
            </a:r>
            <a:r>
              <a:rPr dirty="0"/>
              <a:t> </a:t>
            </a:r>
            <a:r>
              <a:rPr dirty="0" err="1"/>
              <a:t>hubo</a:t>
            </a:r>
            <a:r>
              <a:rPr dirty="0"/>
              <a:t> solo </a:t>
            </a:r>
            <a:r>
              <a:rPr dirty="0" err="1"/>
              <a:t>por</a:t>
            </a:r>
            <a:r>
              <a:rPr dirty="0"/>
              <a:t> dos </a:t>
            </a:r>
            <a:r>
              <a:rPr dirty="0" err="1"/>
              <a:t>ángulos</a:t>
            </a:r>
            <a:r>
              <a:rPr dirty="0"/>
              <a:t> </a:t>
            </a:r>
            <a:r>
              <a:rPr dirty="0" err="1"/>
              <a:t>si</a:t>
            </a:r>
            <a:r>
              <a:rPr dirty="0"/>
              <a:t> </a:t>
            </a:r>
            <a:r>
              <a:rPr dirty="0" err="1"/>
              <a:t>el</a:t>
            </a:r>
            <a:r>
              <a:rPr dirty="0"/>
              <a:t> </a:t>
            </a:r>
            <a:r>
              <a:rPr dirty="0" err="1"/>
              <a:t>muestreo</a:t>
            </a:r>
            <a:r>
              <a:rPr dirty="0"/>
              <a:t> es </a:t>
            </a:r>
            <a:r>
              <a:rPr dirty="0" err="1"/>
              <a:t>insuficiente</a:t>
            </a:r>
            <a:r>
              <a:rPr dirty="0"/>
              <a:t>. Tres </a:t>
            </a:r>
            <a:r>
              <a:rPr dirty="0" err="1"/>
              <a:t>filas</a:t>
            </a:r>
            <a:r>
              <a:rPr dirty="0"/>
              <a:t> </a:t>
            </a:r>
            <a:r>
              <a:rPr dirty="0" err="1"/>
              <a:t>enseñan</a:t>
            </a:r>
            <a:r>
              <a:rPr dirty="0"/>
              <a:t> </a:t>
            </a:r>
            <a:r>
              <a:rPr dirty="0" err="1"/>
              <a:t>el</a:t>
            </a:r>
            <a:r>
              <a:rPr dirty="0"/>
              <a:t> </a:t>
            </a:r>
            <a:r>
              <a:rPr dirty="0" err="1"/>
              <a:t>formato</a:t>
            </a:r>
            <a:r>
              <a:rPr dirty="0"/>
              <a:t>, </a:t>
            </a:r>
            <a:r>
              <a:rPr dirty="0" err="1"/>
              <a:t>pero</a:t>
            </a:r>
            <a:r>
              <a:rPr dirty="0"/>
              <a:t> no </a:t>
            </a:r>
            <a:r>
              <a:rPr dirty="0" err="1"/>
              <a:t>garantizan</a:t>
            </a:r>
            <a:r>
              <a:rPr dirty="0"/>
              <a:t> </a:t>
            </a:r>
            <a:r>
              <a:rPr dirty="0" err="1"/>
              <a:t>una</a:t>
            </a:r>
            <a:r>
              <a:rPr dirty="0"/>
              <a:t> </a:t>
            </a:r>
            <a:r>
              <a:rPr dirty="0" err="1"/>
              <a:t>buena</a:t>
            </a:r>
            <a:r>
              <a:rPr dirty="0"/>
              <a:t> </a:t>
            </a:r>
            <a:r>
              <a:rPr dirty="0" err="1"/>
              <a:t>estimación</a:t>
            </a:r>
            <a:r>
              <a:rPr dirty="0"/>
              <a:t> del </a:t>
            </a:r>
            <a:r>
              <a:rPr dirty="0" err="1"/>
              <a:t>frenado</a:t>
            </a:r>
            <a:r>
              <a:rPr dirty="0"/>
              <a:t>.</a:t>
            </a:r>
          </a:p>
          <a:p>
            <a:endParaRPr dirty="0"/>
          </a:p>
          <a:p>
            <a:r>
              <a:rPr dirty="0" err="1"/>
              <a:t>Otro</a:t>
            </a:r>
            <a:r>
              <a:rPr dirty="0"/>
              <a:t> </a:t>
            </a:r>
            <a:r>
              <a:rPr dirty="0" err="1"/>
              <a:t>registro</a:t>
            </a:r>
            <a:r>
              <a:rPr dirty="0"/>
              <a:t> </a:t>
            </a:r>
            <a:r>
              <a:rPr dirty="0" err="1"/>
              <a:t>por</a:t>
            </a:r>
            <a:r>
              <a:rPr dirty="0"/>
              <a:t> </a:t>
            </a:r>
            <a:r>
              <a:rPr dirty="0" err="1"/>
              <a:t>giro</a:t>
            </a:r>
            <a:r>
              <a:rPr dirty="0"/>
              <a:t> </a:t>
            </a:r>
            <a:r>
              <a:rPr dirty="0" err="1"/>
              <a:t>guarda</a:t>
            </a:r>
            <a:r>
              <a:rPr dirty="0"/>
              <a:t> </a:t>
            </a:r>
            <a:r>
              <a:rPr dirty="0" err="1"/>
              <a:t>rueda</a:t>
            </a:r>
            <a:r>
              <a:rPr dirty="0"/>
              <a:t>, </a:t>
            </a:r>
            <a:r>
              <a:rPr dirty="0" err="1"/>
              <a:t>sesión</a:t>
            </a:r>
            <a:r>
              <a:rPr dirty="0"/>
              <a:t>, </a:t>
            </a:r>
            <a:r>
              <a:rPr dirty="0" err="1"/>
              <a:t>resultado</a:t>
            </a:r>
            <a:r>
              <a:rPr dirty="0"/>
              <a:t> final y </a:t>
            </a:r>
            <a:r>
              <a:rPr dirty="0" err="1"/>
              <a:t>calidad</a:t>
            </a:r>
            <a:r>
              <a:rPr dirty="0"/>
              <a:t> de la </a:t>
            </a:r>
            <a:r>
              <a:rPr dirty="0" err="1"/>
              <a:t>medición</a:t>
            </a:r>
            <a:r>
              <a:rPr dirty="0"/>
              <a:t>. El </a:t>
            </a:r>
            <a:r>
              <a:rPr dirty="0" err="1"/>
              <a:t>número</a:t>
            </a:r>
            <a:r>
              <a:rPr dirty="0"/>
              <a:t> final </a:t>
            </a:r>
            <a:r>
              <a:rPr dirty="0" err="1"/>
              <a:t>sirve</a:t>
            </a:r>
            <a:r>
              <a:rPr dirty="0"/>
              <a:t> para </a:t>
            </a:r>
            <a:r>
              <a:rPr dirty="0" err="1"/>
              <a:t>comprobar</a:t>
            </a:r>
            <a:r>
              <a:rPr dirty="0"/>
              <a:t> la </a:t>
            </a:r>
            <a:r>
              <a:rPr dirty="0" err="1"/>
              <a:t>predicción</a:t>
            </a:r>
            <a:r>
              <a:rPr dirty="0"/>
              <a:t>. No </a:t>
            </a:r>
            <a:r>
              <a:rPr dirty="0" err="1"/>
              <a:t>entra</a:t>
            </a:r>
            <a:r>
              <a:rPr dirty="0"/>
              <a:t> </a:t>
            </a:r>
            <a:r>
              <a:rPr dirty="0" err="1"/>
              <a:t>como</a:t>
            </a:r>
            <a:r>
              <a:rPr dirty="0"/>
              <a:t> </a:t>
            </a:r>
            <a:r>
              <a:rPr dirty="0" err="1"/>
              <a:t>dato</a:t>
            </a:r>
            <a:r>
              <a:rPr dirty="0"/>
              <a:t> de entrada. Las </a:t>
            </a:r>
            <a:r>
              <a:rPr dirty="0" err="1"/>
              <a:t>trayectorias</a:t>
            </a:r>
            <a:r>
              <a:rPr dirty="0"/>
              <a:t> </a:t>
            </a:r>
            <a:r>
              <a:rPr dirty="0" err="1"/>
              <a:t>completas</a:t>
            </a:r>
            <a:r>
              <a:rPr dirty="0"/>
              <a:t> posteriores al corte solo </a:t>
            </a:r>
            <a:r>
              <a:rPr dirty="0" err="1"/>
              <a:t>pueden</a:t>
            </a:r>
            <a:r>
              <a:rPr dirty="0"/>
              <a:t> </a:t>
            </a:r>
            <a:r>
              <a:rPr dirty="0" err="1"/>
              <a:t>utilizarse</a:t>
            </a:r>
            <a:r>
              <a:rPr dirty="0"/>
              <a:t> </a:t>
            </a:r>
            <a:r>
              <a:rPr dirty="0" err="1"/>
              <a:t>como</a:t>
            </a:r>
            <a:r>
              <a:rPr dirty="0"/>
              <a:t> </a:t>
            </a:r>
            <a:r>
              <a:rPr dirty="0" err="1"/>
              <a:t>resultado</a:t>
            </a:r>
            <a:r>
              <a:rPr dirty="0"/>
              <a:t> o para </a:t>
            </a:r>
            <a:r>
              <a:rPr dirty="0" err="1"/>
              <a:t>el</a:t>
            </a:r>
            <a:r>
              <a:rPr dirty="0"/>
              <a:t> </a:t>
            </a:r>
            <a:r>
              <a:rPr dirty="0" err="1"/>
              <a:t>desarrollo</a:t>
            </a:r>
            <a:r>
              <a:rPr dirty="0"/>
              <a:t> con </a:t>
            </a:r>
            <a:r>
              <a:rPr dirty="0" err="1"/>
              <a:t>datos</a:t>
            </a:r>
            <a:r>
              <a:rPr dirty="0"/>
              <a:t> de </a:t>
            </a:r>
            <a:r>
              <a:rPr dirty="0" err="1"/>
              <a:t>entrenamiento</a:t>
            </a:r>
            <a:r>
              <a:rPr dirty="0"/>
              <a:t>, </a:t>
            </a:r>
            <a:r>
              <a:rPr dirty="0" err="1"/>
              <a:t>nunca</a:t>
            </a:r>
            <a:r>
              <a:rPr dirty="0"/>
              <a:t> </a:t>
            </a:r>
            <a:r>
              <a:rPr dirty="0" err="1"/>
              <a:t>como</a:t>
            </a:r>
            <a:r>
              <a:rPr dirty="0"/>
              <a:t> </a:t>
            </a:r>
            <a:r>
              <a:rPr dirty="0" err="1"/>
              <a:t>información</a:t>
            </a:r>
            <a:r>
              <a:rPr dirty="0"/>
              <a:t> de entrada </a:t>
            </a:r>
            <a:r>
              <a:rPr dirty="0" err="1"/>
              <a:t>en</a:t>
            </a:r>
            <a:r>
              <a:rPr dirty="0"/>
              <a:t> </a:t>
            </a:r>
            <a:r>
              <a:rPr dirty="0" err="1"/>
              <a:t>una</a:t>
            </a:r>
            <a:r>
              <a:rPr dirty="0"/>
              <a:t> </a:t>
            </a:r>
            <a:r>
              <a:rPr dirty="0" err="1"/>
              <a:t>predicción</a:t>
            </a:r>
            <a:r>
              <a:rPr dirty="0"/>
              <a:t> anterior.</a:t>
            </a:r>
          </a:p>
          <a:p>
            <a:endParaRPr dirty="0"/>
          </a:p>
          <a:p>
            <a:r>
              <a:rPr dirty="0"/>
              <a:t>Fuentes y </a:t>
            </a:r>
            <a:r>
              <a:rPr dirty="0" err="1"/>
              <a:t>apoyo</a:t>
            </a:r>
            <a:r>
              <a:rPr dirty="0"/>
              <a:t> para </a:t>
            </a:r>
            <a:r>
              <a:rPr dirty="0" err="1"/>
              <a:t>el</a:t>
            </a:r>
            <a:r>
              <a:rPr dirty="0"/>
              <a:t> </a:t>
            </a:r>
            <a:r>
              <a:rPr dirty="0" err="1"/>
              <a:t>profesor</a:t>
            </a:r>
            <a:r>
              <a:rPr dirty="0"/>
              <a:t>:</a:t>
            </a:r>
          </a:p>
          <a:p>
            <a:r>
              <a:rPr dirty="0"/>
              <a:t>https://scikit-</a:t>
            </a:r>
            <a:r>
              <a:rPr dirty="0" err="1"/>
              <a:t>learn.org</a:t>
            </a:r>
            <a:r>
              <a:rPr dirty="0"/>
              <a:t>/stable/</a:t>
            </a:r>
            <a:r>
              <a:rPr dirty="0" err="1"/>
              <a:t>common_pitfalls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cámara debe permitir localizar bola y referencia del rotor con suficiente resolución espacial y temporal. La calibración convierte posiciones de imagen en posiciones coherentes sobre la rueda y corrige distorsión. Una vista inclinada requiere tratar la perspectiva. La bola y el rotor pueden moverse en planos diferentes.</a:t>
            </a:r>
          </a:p>
          <a:p>
            <a:endParaRPr/>
          </a:p>
          <a:p>
            <a:r>
              <a:t>Se comprueba el reloj y la frecuencia de captura real. Las sombras, reflejos y ocultaciones pueden producir detecciones falsas. Las lecturas manuales o automáticas se contrastan con ejemplos revisados y se estima su error. No se fija aquí una cantidad universal de imágenes por segundo: depende de velocidad, exposición, resolución y precisión requerida. Tener más decimales en el archivo no demuestra mayor precisión.</a:t>
            </a:r>
          </a:p>
          <a:p>
            <a:endParaRPr/>
          </a:p>
          <a:p>
            <a:r>
              <a:t>Fuentes y apoyo para el profesor:</a:t>
            </a:r>
          </a:p>
          <a:p>
            <a:r>
              <a:t>https://docs.opencv.org/4.13.0/dc/dbb/tutorial_py_calibration.html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Cálculo didáctico propio, no una medición real. La velocidad se supone constante solo durante el intervalo del ejemplo. 360/37 es el paso angular nominal entre casillas igualmente espaciadas. Los doce grados calculados son el desplazamiento del rotor por el desfase temporal. No representan el error total de predicción ni incluyen el movimiento de la bola o sus choques.</a:t>
            </a:r>
          </a:p>
          <a:p>
            <a:endParaRPr/>
          </a:p>
          <a:p>
            <a:r>
              <a:t>Fuentes y apoyo para el profesor:</a:t>
            </a:r>
          </a:p>
          <a:p>
            <a:r>
              <a:t>https://openstax.org/books/university-physics-volume-1/pages/10-2-rotation-with-constant-angular-acceleration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Velocidad angular media = cambio de ángulo / tiempo transcurrido. En el ejemplo, el paso por cero exige continuar el ángulo: 358, 361 y 363,8 grados. Los intervalos de 0,02 s dan 150 y 140 grados por segundo para la bola. Para el rotor, con el sentido positivo elegido, dan −50 y −49 grados por segundo. Son datos inventados y no permiten validar un modelo.</a:t>
            </a:r>
          </a:p>
          <a:p>
            <a:endParaRPr/>
          </a:p>
          <a:p>
            <a:r>
              <a:t>El cambio de velocidad dividido entre el tiempo estima la aceleración angular. El frenado se manifiesta como disminución del valor absoluto de la velocidad. Estimar derivadas amplifica los errores de medida, por lo que se usan varias observaciones y se comprueba el ajuste. El paso por cero no permite adivinar vueltas completas perdidas. Un supuesto local de aceleración constante necesita verificación.</a:t>
            </a:r>
          </a:p>
          <a:p>
            <a:endParaRPr/>
          </a:p>
          <a:p>
            <a:r>
              <a:t>Fuentes y apoyo para el profesor:</a:t>
            </a:r>
          </a:p>
          <a:p>
            <a:r>
              <a:t>https://openstax.org/books/university-physics-volume-1/pages/10-2-rotation-with-constant-angular-acceleration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a:t>
            </a:r>
            <a:r>
              <a:rPr dirty="0" err="1"/>
              <a:t>primera</a:t>
            </a:r>
            <a:r>
              <a:rPr dirty="0"/>
              <a:t> </a:t>
            </a:r>
            <a:r>
              <a:rPr dirty="0" err="1"/>
              <a:t>fase</a:t>
            </a:r>
            <a:r>
              <a:rPr dirty="0"/>
              <a:t> </a:t>
            </a:r>
            <a:r>
              <a:rPr dirty="0" err="1"/>
              <a:t>requiere</a:t>
            </a:r>
            <a:r>
              <a:rPr dirty="0"/>
              <a:t> </a:t>
            </a:r>
            <a:r>
              <a:rPr dirty="0" err="1"/>
              <a:t>una</a:t>
            </a:r>
            <a:r>
              <a:rPr dirty="0"/>
              <a:t> </a:t>
            </a:r>
            <a:r>
              <a:rPr dirty="0" err="1"/>
              <a:t>regla</a:t>
            </a:r>
            <a:r>
              <a:rPr dirty="0"/>
              <a:t> </a:t>
            </a:r>
            <a:r>
              <a:rPr dirty="0" err="1"/>
              <a:t>física</a:t>
            </a:r>
            <a:r>
              <a:rPr dirty="0"/>
              <a:t> o un </a:t>
            </a:r>
            <a:r>
              <a:rPr dirty="0" err="1"/>
              <a:t>modelo</a:t>
            </a:r>
            <a:r>
              <a:rPr dirty="0"/>
              <a:t> </a:t>
            </a:r>
            <a:r>
              <a:rPr dirty="0" err="1"/>
              <a:t>ajustado</a:t>
            </a:r>
            <a:r>
              <a:rPr dirty="0"/>
              <a:t> que </a:t>
            </a:r>
            <a:r>
              <a:rPr dirty="0" err="1"/>
              <a:t>estime</a:t>
            </a:r>
            <a:r>
              <a:rPr dirty="0"/>
              <a:t> </a:t>
            </a:r>
            <a:r>
              <a:rPr dirty="0" err="1"/>
              <a:t>cuándo</a:t>
            </a:r>
            <a:r>
              <a:rPr dirty="0"/>
              <a:t> la bola </a:t>
            </a:r>
            <a:r>
              <a:rPr dirty="0" err="1"/>
              <a:t>abandona</a:t>
            </a:r>
            <a:r>
              <a:rPr dirty="0"/>
              <a:t> </a:t>
            </a:r>
            <a:r>
              <a:rPr dirty="0" err="1"/>
              <a:t>el</a:t>
            </a:r>
            <a:r>
              <a:rPr dirty="0"/>
              <a:t> </a:t>
            </a:r>
            <a:r>
              <a:rPr dirty="0" err="1"/>
              <a:t>borde</a:t>
            </a:r>
            <a:r>
              <a:rPr dirty="0"/>
              <a:t> y </a:t>
            </a:r>
            <a:r>
              <a:rPr dirty="0" err="1"/>
              <a:t>dónde</a:t>
            </a:r>
            <a:r>
              <a:rPr dirty="0"/>
              <a:t> </a:t>
            </a:r>
            <a:r>
              <a:rPr dirty="0" err="1"/>
              <a:t>llega</a:t>
            </a:r>
            <a:r>
              <a:rPr dirty="0"/>
              <a:t> a </a:t>
            </a:r>
            <a:r>
              <a:rPr dirty="0" err="1"/>
              <a:t>los</a:t>
            </a:r>
            <a:r>
              <a:rPr dirty="0"/>
              <a:t> </a:t>
            </a:r>
            <a:r>
              <a:rPr dirty="0" err="1"/>
              <a:t>deflectores</a:t>
            </a:r>
            <a:r>
              <a:rPr dirty="0"/>
              <a:t>. El </a:t>
            </a:r>
            <a:r>
              <a:rPr dirty="0" err="1"/>
              <a:t>ángulo</a:t>
            </a:r>
            <a:r>
              <a:rPr dirty="0"/>
              <a:t> y la </a:t>
            </a:r>
            <a:r>
              <a:rPr dirty="0" err="1"/>
              <a:t>velocidad</a:t>
            </a:r>
            <a:r>
              <a:rPr dirty="0"/>
              <a:t> solos no dan </a:t>
            </a:r>
            <a:r>
              <a:rPr dirty="0" err="1"/>
              <a:t>automáticamente</a:t>
            </a:r>
            <a:r>
              <a:rPr dirty="0"/>
              <a:t> ese </a:t>
            </a:r>
            <a:r>
              <a:rPr dirty="0" err="1"/>
              <a:t>instante</a:t>
            </a:r>
            <a:r>
              <a:rPr dirty="0"/>
              <a:t>: </a:t>
            </a:r>
            <a:r>
              <a:rPr dirty="0" err="1"/>
              <a:t>hacen</a:t>
            </a:r>
            <a:r>
              <a:rPr dirty="0"/>
              <a:t> </a:t>
            </a:r>
            <a:r>
              <a:rPr dirty="0" err="1"/>
              <a:t>falta</a:t>
            </a:r>
            <a:r>
              <a:rPr dirty="0"/>
              <a:t> </a:t>
            </a:r>
            <a:r>
              <a:rPr dirty="0" err="1"/>
              <a:t>geometría</a:t>
            </a:r>
            <a:r>
              <a:rPr dirty="0"/>
              <a:t> y </a:t>
            </a:r>
            <a:r>
              <a:rPr dirty="0" err="1"/>
              <a:t>parámetros</a:t>
            </a:r>
            <a:r>
              <a:rPr dirty="0"/>
              <a:t> </a:t>
            </a:r>
            <a:r>
              <a:rPr dirty="0" err="1"/>
              <a:t>dinámicos</a:t>
            </a:r>
            <a:r>
              <a:rPr dirty="0"/>
              <a:t> </a:t>
            </a:r>
            <a:r>
              <a:rPr dirty="0" err="1"/>
              <a:t>adecuados</a:t>
            </a:r>
            <a:r>
              <a:rPr dirty="0"/>
              <a:t>.</a:t>
            </a:r>
          </a:p>
          <a:p>
            <a:endParaRPr dirty="0"/>
          </a:p>
          <a:p>
            <a:r>
              <a:rPr dirty="0"/>
              <a:t>En un </a:t>
            </a:r>
            <a:r>
              <a:rPr dirty="0" err="1"/>
              <a:t>tramo</a:t>
            </a:r>
            <a:r>
              <a:rPr dirty="0"/>
              <a:t> </a:t>
            </a:r>
            <a:r>
              <a:rPr dirty="0" err="1"/>
              <a:t>donde</a:t>
            </a:r>
            <a:r>
              <a:rPr dirty="0"/>
              <a:t> se </a:t>
            </a:r>
            <a:r>
              <a:rPr dirty="0" err="1"/>
              <a:t>pueda</a:t>
            </a:r>
            <a:r>
              <a:rPr dirty="0"/>
              <a:t> </a:t>
            </a:r>
            <a:r>
              <a:rPr dirty="0" err="1"/>
              <a:t>aproximar</a:t>
            </a:r>
            <a:r>
              <a:rPr dirty="0"/>
              <a:t> </a:t>
            </a:r>
            <a:r>
              <a:rPr dirty="0" err="1"/>
              <a:t>una</a:t>
            </a:r>
            <a:r>
              <a:rPr dirty="0"/>
              <a:t> </a:t>
            </a:r>
            <a:r>
              <a:rPr dirty="0" err="1"/>
              <a:t>aceleración</a:t>
            </a:r>
            <a:r>
              <a:rPr dirty="0"/>
              <a:t> angular </a:t>
            </a:r>
            <a:r>
              <a:rPr dirty="0" err="1"/>
              <a:t>constante</a:t>
            </a:r>
            <a:r>
              <a:rPr dirty="0"/>
              <a:t>, </a:t>
            </a:r>
            <a:r>
              <a:rPr dirty="0" err="1"/>
              <a:t>θ</a:t>
            </a:r>
            <a:r>
              <a:rPr dirty="0"/>
              <a:t>(t)=</a:t>
            </a:r>
            <a:r>
              <a:rPr dirty="0" err="1"/>
              <a:t>θ</a:t>
            </a:r>
            <a:r>
              <a:rPr dirty="0"/>
              <a:t>₀+ω₀t+½αt² </a:t>
            </a:r>
            <a:r>
              <a:rPr dirty="0" err="1"/>
              <a:t>estima</a:t>
            </a:r>
            <a:r>
              <a:rPr dirty="0"/>
              <a:t> </a:t>
            </a:r>
            <a:r>
              <a:rPr dirty="0" err="1"/>
              <a:t>el</a:t>
            </a:r>
            <a:r>
              <a:rPr dirty="0"/>
              <a:t> </a:t>
            </a:r>
            <a:r>
              <a:rPr dirty="0" err="1"/>
              <a:t>ángulo</a:t>
            </a:r>
            <a:r>
              <a:rPr dirty="0"/>
              <a:t>. </a:t>
            </a:r>
            <a:r>
              <a:rPr dirty="0" err="1"/>
              <a:t>θ</a:t>
            </a:r>
            <a:r>
              <a:rPr dirty="0"/>
              <a:t> es la </a:t>
            </a:r>
            <a:r>
              <a:rPr dirty="0" err="1"/>
              <a:t>posición</a:t>
            </a:r>
            <a:r>
              <a:rPr dirty="0"/>
              <a:t> angular, </a:t>
            </a:r>
            <a:r>
              <a:rPr dirty="0" err="1"/>
              <a:t>ω</a:t>
            </a:r>
            <a:r>
              <a:rPr dirty="0"/>
              <a:t> la </a:t>
            </a:r>
            <a:r>
              <a:rPr dirty="0" err="1"/>
              <a:t>velocidad</a:t>
            </a:r>
            <a:r>
              <a:rPr dirty="0"/>
              <a:t> y α </a:t>
            </a:r>
            <a:r>
              <a:rPr dirty="0" err="1"/>
              <a:t>su</a:t>
            </a:r>
            <a:r>
              <a:rPr dirty="0"/>
              <a:t> </a:t>
            </a:r>
            <a:r>
              <a:rPr dirty="0" err="1"/>
              <a:t>cambio</a:t>
            </a:r>
            <a:r>
              <a:rPr dirty="0"/>
              <a:t> </a:t>
            </a:r>
            <a:r>
              <a:rPr dirty="0" err="1"/>
              <a:t>por</a:t>
            </a:r>
            <a:r>
              <a:rPr dirty="0"/>
              <a:t> </a:t>
            </a:r>
            <a:r>
              <a:rPr dirty="0" err="1"/>
              <a:t>segundo</a:t>
            </a:r>
            <a:r>
              <a:rPr dirty="0"/>
              <a:t>. La </a:t>
            </a:r>
            <a:r>
              <a:rPr dirty="0" err="1"/>
              <a:t>ecuación</a:t>
            </a:r>
            <a:r>
              <a:rPr dirty="0"/>
              <a:t> </a:t>
            </a:r>
            <a:r>
              <a:rPr dirty="0" err="1"/>
              <a:t>tiene</a:t>
            </a:r>
            <a:r>
              <a:rPr dirty="0"/>
              <a:t> </a:t>
            </a:r>
            <a:r>
              <a:rPr dirty="0" err="1"/>
              <a:t>alcance</a:t>
            </a:r>
            <a:r>
              <a:rPr dirty="0"/>
              <a:t> local y no describe </a:t>
            </a:r>
            <a:r>
              <a:rPr dirty="0" err="1"/>
              <a:t>por</a:t>
            </a:r>
            <a:r>
              <a:rPr dirty="0"/>
              <a:t> </a:t>
            </a:r>
            <a:r>
              <a:rPr dirty="0" err="1"/>
              <a:t>sí</a:t>
            </a:r>
            <a:r>
              <a:rPr dirty="0"/>
              <a:t> sola la </a:t>
            </a:r>
            <a:r>
              <a:rPr dirty="0" err="1"/>
              <a:t>caída</a:t>
            </a:r>
            <a:r>
              <a:rPr dirty="0"/>
              <a:t> </a:t>
            </a:r>
            <a:r>
              <a:rPr dirty="0" err="1"/>
              <a:t>ni</a:t>
            </a:r>
            <a:r>
              <a:rPr dirty="0"/>
              <a:t> </a:t>
            </a:r>
            <a:r>
              <a:rPr dirty="0" err="1"/>
              <a:t>los</a:t>
            </a:r>
            <a:r>
              <a:rPr dirty="0"/>
              <a:t> </a:t>
            </a:r>
            <a:r>
              <a:rPr dirty="0" err="1"/>
              <a:t>impactos</a:t>
            </a:r>
            <a:r>
              <a:rPr dirty="0"/>
              <a:t>.</a:t>
            </a:r>
          </a:p>
          <a:p>
            <a:endParaRPr dirty="0"/>
          </a:p>
          <a:p>
            <a:r>
              <a:rPr dirty="0"/>
              <a:t>La </a:t>
            </a:r>
            <a:r>
              <a:rPr dirty="0" err="1"/>
              <a:t>segunda</a:t>
            </a:r>
            <a:r>
              <a:rPr dirty="0"/>
              <a:t> </a:t>
            </a:r>
            <a:r>
              <a:rPr dirty="0" err="1"/>
              <a:t>fase</a:t>
            </a:r>
            <a:r>
              <a:rPr dirty="0"/>
              <a:t> </a:t>
            </a:r>
            <a:r>
              <a:rPr dirty="0" err="1"/>
              <a:t>necesita</a:t>
            </a:r>
            <a:r>
              <a:rPr dirty="0"/>
              <a:t> </a:t>
            </a:r>
            <a:r>
              <a:rPr dirty="0" err="1"/>
              <a:t>información</a:t>
            </a:r>
            <a:r>
              <a:rPr dirty="0"/>
              <a:t> </a:t>
            </a:r>
            <a:r>
              <a:rPr dirty="0" err="1"/>
              <a:t>sobre</a:t>
            </a:r>
            <a:r>
              <a:rPr dirty="0"/>
              <a:t> </a:t>
            </a:r>
            <a:r>
              <a:rPr dirty="0" err="1"/>
              <a:t>rebotes</a:t>
            </a:r>
            <a:r>
              <a:rPr dirty="0"/>
              <a:t>, </a:t>
            </a:r>
            <a:r>
              <a:rPr dirty="0" err="1"/>
              <a:t>pérdidas</a:t>
            </a:r>
            <a:r>
              <a:rPr dirty="0"/>
              <a:t> de </a:t>
            </a:r>
            <a:r>
              <a:rPr dirty="0" err="1"/>
              <a:t>energía</a:t>
            </a:r>
            <a:r>
              <a:rPr dirty="0"/>
              <a:t> y </a:t>
            </a:r>
            <a:r>
              <a:rPr dirty="0" err="1"/>
              <a:t>dispersión</a:t>
            </a:r>
            <a:r>
              <a:rPr dirty="0"/>
              <a:t>. Se </a:t>
            </a:r>
            <a:r>
              <a:rPr dirty="0" err="1"/>
              <a:t>pueden</a:t>
            </a:r>
            <a:r>
              <a:rPr dirty="0"/>
              <a:t> </a:t>
            </a:r>
            <a:r>
              <a:rPr dirty="0" err="1"/>
              <a:t>ajustar</a:t>
            </a:r>
            <a:r>
              <a:rPr dirty="0"/>
              <a:t> </a:t>
            </a:r>
            <a:r>
              <a:rPr dirty="0" err="1"/>
              <a:t>distribuciones</a:t>
            </a:r>
            <a:r>
              <a:rPr dirty="0"/>
              <a:t> de </a:t>
            </a:r>
            <a:r>
              <a:rPr dirty="0" err="1"/>
              <a:t>desplazamiento</a:t>
            </a:r>
            <a:r>
              <a:rPr dirty="0"/>
              <a:t> con </a:t>
            </a:r>
            <a:r>
              <a:rPr dirty="0" err="1"/>
              <a:t>ensayos</a:t>
            </a:r>
            <a:r>
              <a:rPr dirty="0"/>
              <a:t> de </a:t>
            </a:r>
            <a:r>
              <a:rPr dirty="0" err="1"/>
              <a:t>entrenamiento</a:t>
            </a:r>
            <a:r>
              <a:rPr dirty="0"/>
              <a:t> y </a:t>
            </a:r>
            <a:r>
              <a:rPr dirty="0" err="1"/>
              <a:t>comprobarlas</a:t>
            </a:r>
            <a:r>
              <a:rPr dirty="0"/>
              <a:t> </a:t>
            </a:r>
            <a:r>
              <a:rPr dirty="0" err="1"/>
              <a:t>en</a:t>
            </a:r>
            <a:r>
              <a:rPr dirty="0"/>
              <a:t> </a:t>
            </a:r>
            <a:r>
              <a:rPr dirty="0" err="1"/>
              <a:t>nuevos</a:t>
            </a:r>
            <a:r>
              <a:rPr dirty="0"/>
              <a:t> </a:t>
            </a:r>
            <a:r>
              <a:rPr dirty="0" err="1"/>
              <a:t>giros</a:t>
            </a:r>
            <a:r>
              <a:rPr dirty="0"/>
              <a:t>. Se </a:t>
            </a:r>
            <a:r>
              <a:rPr dirty="0" err="1"/>
              <a:t>estima</a:t>
            </a:r>
            <a:r>
              <a:rPr dirty="0"/>
              <a:t> la </a:t>
            </a:r>
            <a:r>
              <a:rPr dirty="0" err="1"/>
              <a:t>fase</a:t>
            </a:r>
            <a:r>
              <a:rPr dirty="0"/>
              <a:t> </a:t>
            </a:r>
            <a:r>
              <a:rPr dirty="0" err="1"/>
              <a:t>relativa</a:t>
            </a:r>
            <a:r>
              <a:rPr dirty="0"/>
              <a:t> entre bola y rotor y se </a:t>
            </a:r>
            <a:r>
              <a:rPr dirty="0" err="1"/>
              <a:t>usa</a:t>
            </a:r>
            <a:r>
              <a:rPr dirty="0"/>
              <a:t> </a:t>
            </a:r>
            <a:r>
              <a:rPr dirty="0" err="1"/>
              <a:t>el</a:t>
            </a:r>
            <a:r>
              <a:rPr dirty="0"/>
              <a:t> </a:t>
            </a:r>
            <a:r>
              <a:rPr dirty="0" err="1"/>
              <a:t>orden</a:t>
            </a:r>
            <a:r>
              <a:rPr dirty="0"/>
              <a:t> real de las </a:t>
            </a:r>
            <a:r>
              <a:rPr dirty="0" err="1"/>
              <a:t>casillas</a:t>
            </a:r>
            <a:r>
              <a:rPr dirty="0"/>
              <a:t> para </a:t>
            </a:r>
            <a:r>
              <a:rPr dirty="0" err="1"/>
              <a:t>obtener</a:t>
            </a:r>
            <a:r>
              <a:rPr dirty="0"/>
              <a:t> </a:t>
            </a:r>
            <a:r>
              <a:rPr dirty="0" err="1"/>
              <a:t>números</a:t>
            </a:r>
            <a:r>
              <a:rPr dirty="0"/>
              <a:t>. Esta </a:t>
            </a:r>
            <a:r>
              <a:rPr dirty="0" err="1"/>
              <a:t>separación</a:t>
            </a:r>
            <a:r>
              <a:rPr dirty="0"/>
              <a:t> es </a:t>
            </a:r>
            <a:r>
              <a:rPr dirty="0" err="1"/>
              <a:t>una</a:t>
            </a:r>
            <a:r>
              <a:rPr dirty="0"/>
              <a:t> </a:t>
            </a:r>
            <a:r>
              <a:rPr dirty="0" err="1"/>
              <a:t>propuesta</a:t>
            </a:r>
            <a:r>
              <a:rPr dirty="0"/>
              <a:t> de </a:t>
            </a:r>
            <a:r>
              <a:rPr dirty="0" err="1"/>
              <a:t>trabajo</a:t>
            </a:r>
            <a:r>
              <a:rPr dirty="0"/>
              <a:t>, no un predictor </a:t>
            </a:r>
            <a:r>
              <a:rPr dirty="0" err="1"/>
              <a:t>implementado</a:t>
            </a:r>
            <a:r>
              <a:rPr dirty="0"/>
              <a:t>.</a:t>
            </a:r>
          </a:p>
          <a:p>
            <a:endParaRPr dirty="0"/>
          </a:p>
          <a:p>
            <a:r>
              <a:rPr dirty="0"/>
              <a:t>Fuentes y </a:t>
            </a:r>
            <a:r>
              <a:rPr dirty="0" err="1"/>
              <a:t>apoyo</a:t>
            </a:r>
            <a:r>
              <a:rPr dirty="0"/>
              <a:t> para </a:t>
            </a:r>
            <a:r>
              <a:rPr dirty="0" err="1"/>
              <a:t>el</a:t>
            </a:r>
            <a:r>
              <a:rPr dirty="0"/>
              <a:t> </a:t>
            </a:r>
            <a:r>
              <a:rPr dirty="0" err="1"/>
              <a:t>profesor</a:t>
            </a:r>
            <a:r>
              <a:rPr dirty="0"/>
              <a:t>:</a:t>
            </a:r>
          </a:p>
          <a:p>
            <a:r>
              <a:rPr dirty="0"/>
              <a:t>https://</a:t>
            </a:r>
            <a:r>
              <a:rPr dirty="0" err="1"/>
              <a:t>openstax.org</a:t>
            </a:r>
            <a:r>
              <a:rPr dirty="0"/>
              <a:t>/books/university-physics-volume-1/pages/10-2-rotation-with-constant-angular-acceleration</a:t>
            </a:r>
          </a:p>
          <a:p>
            <a:r>
              <a:rPr dirty="0"/>
              <a:t>https://</a:t>
            </a:r>
            <a:r>
              <a:rPr dirty="0" err="1"/>
              <a:t>doi.org</a:t>
            </a:r>
            <a:r>
              <a:rPr dirty="0"/>
              <a:t>/10.1007/978-3-642-03960-7_3</a:t>
            </a:r>
          </a:p>
          <a:p>
            <a:r>
              <a:rPr dirty="0"/>
              <a:t>https://</a:t>
            </a:r>
            <a:r>
              <a:rPr dirty="0" err="1"/>
              <a:t>ira.lib.polyu.edu.hk</a:t>
            </a:r>
            <a:r>
              <a:rPr dirty="0"/>
              <a:t>/bitstream/10397/6241/1/</a:t>
            </a:r>
            <a:r>
              <a:rPr dirty="0" err="1"/>
              <a:t>Small_Predicting_Outcome_Roulette.pdf</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seis casillas mostradas son consecutivas en una rueda europea de cero único. La primera docena reúne 1–12, la segunda 13–24 y la tercera 25–36. El cero queda fuera. Una zona pequeña de la rueda puede contener miembros de las tres docenas.</a:t>
            </a:r>
          </a:p>
          <a:p>
            <a:endParaRPr/>
          </a:p>
          <a:p>
            <a:r>
              <a:t>La posición angular estimada se convierte en casillas mediante el orden y la orientación de esa rueda. Para estimar la probabilidad de una docena se suman las probabilidades de sus doce números. La incertidumbre del aterrizaje impide asignar automáticamente una docena por proximidad física.</a:t>
            </a:r>
          </a:p>
          <a:p>
            <a:endParaRPr/>
          </a:p>
          <a:p>
            <a:r>
              <a:t>Fuentes y apoyo para el profesor:</a:t>
            </a:r>
          </a:p>
          <a:p>
            <a:r>
              <a:t>https://rules.sa-portal.com/swp_en/roulette/</a:t>
            </a:r>
          </a:p>
          <a:p>
            <a:r>
              <a:t>https://doi.org/10.1007/978-3-642-03960-7_3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Monte Carlo propaga distribuciones de las entradas a través de un modelo. Por ejemplo, cada ejecución usa una velocidad y un tiempo compatibles con el error medido, además de un comportamiento de rebote acorde con los ensayos. Se deben justificar rangos, distribuciones y dependencias entre variables. Agregar ruido arbitrario solo produce una simulación arbitraria.</a:t>
            </a:r>
          </a:p>
          <a:p>
            <a:endParaRPr/>
          </a:p>
          <a:p>
            <a:r>
              <a:t>La proporción de simulaciones en una casilla aproxima la probabilidad que asigna ese modelo. Más simulaciones reducen el error numérico de ese recuento, pero no corrigen mediciones sesgadas ni un modelo físico equivocado. La discrepancia del modelo también requiere evaluación. La validación se hace con giros reales independientes del ajuste.</a:t>
            </a:r>
          </a:p>
          <a:p>
            <a:endParaRPr/>
          </a:p>
          <a:p>
            <a:r>
              <a:t>Fuentes y apoyo para el profesor:</a:t>
            </a:r>
          </a:p>
          <a:p>
            <a:r>
              <a:t>https://www.bipm.org/documents/20126/2071204/JCGM_101_2008_E.pdf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Ejemplo aritmético inventado: P(0)=0,03. Se asigna 0,30/12 a cada número 1–12, 0,45/12 a cada número 13–24 y 0,22/12 a cada número 25–36. Las 37 probabilidades son no negativas y suman uno. Al sumar por grupos se obtienen 30 %, 45 %, 22 % y 3 %. El reparto uniforme dentro de cada docena es una elección de este ejemplo, no una propiedad física.</a:t>
            </a:r>
          </a:p>
          <a:p>
            <a:endParaRPr/>
          </a:p>
          <a:p>
            <a:r>
              <a:t>Un modelo real debería obtener su distribución de las medidas del giro, la dinámica y la incertidumbre, y después comprobarla. Aunque una docena tenga la probabilidad más alta, puede fallar. El 45 % mostrado no es una tasa observada, una promesa de acierto ni una conclusión sobre la ruleta del ejercicio.</a:t>
            </a:r>
          </a:p>
          <a:p>
            <a:endParaRPr/>
          </a:p>
          <a:p>
            <a:r>
              <a:t>La suma de sucesos excluyentes es la misma operación explicada en el bloque estadístico inicial.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desarrollo puede separar entrenamiento y validación para estimar y elegir parámetros. La evaluación final usa otro conjunto, preferiblemente posterior y sin consultar durante el desarrollo. Debe incluir sesiones completas cuando se evalúa estabilidad entre sesiones.</a:t>
            </a:r>
          </a:p>
          <a:p>
            <a:endParaRPr/>
          </a:p>
          <a:p>
            <a:r>
              <a:t>No se reparten fotogramas de un mismo giro entre entrenamiento y prueba: el modelo podría reconocer el giro en lugar de predecir uno nuevo. Tampoco se usan como entradas la caída o los rebotes vistos después del corte temporal. El resultado final solo se revela para evaluar la salida guardada. Si se cambia el modelo tras ver la prueba, hace falta una nueva evaluación. Las reglas de descarte se fijan previamente.</a:t>
            </a:r>
          </a:p>
          <a:p>
            <a:endParaRPr/>
          </a:p>
          <a:p>
            <a:r>
              <a:t>Fuentes y apoyo para el profesor:</a:t>
            </a:r>
          </a:p>
          <a:p>
            <a:r>
              <a:t>https://scikit-learn.org/stable/common_pitfalls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a:t>
            </a:r>
            <a:r>
              <a:rPr dirty="0" err="1"/>
              <a:t>calibración</a:t>
            </a:r>
            <a:r>
              <a:rPr dirty="0"/>
              <a:t> </a:t>
            </a:r>
            <a:r>
              <a:rPr dirty="0" err="1"/>
              <a:t>compara</a:t>
            </a:r>
            <a:r>
              <a:rPr dirty="0"/>
              <a:t> </a:t>
            </a:r>
            <a:r>
              <a:rPr dirty="0" err="1"/>
              <a:t>probabilidades</a:t>
            </a:r>
            <a:r>
              <a:rPr dirty="0"/>
              <a:t> </a:t>
            </a:r>
            <a:r>
              <a:rPr dirty="0" err="1"/>
              <a:t>anunciadas</a:t>
            </a:r>
            <a:r>
              <a:rPr dirty="0"/>
              <a:t> con </a:t>
            </a:r>
            <a:r>
              <a:rPr dirty="0" err="1"/>
              <a:t>frecuencias</a:t>
            </a:r>
            <a:r>
              <a:rPr dirty="0"/>
              <a:t> de </a:t>
            </a:r>
            <a:r>
              <a:rPr dirty="0" err="1"/>
              <a:t>acierto</a:t>
            </a:r>
            <a:r>
              <a:rPr dirty="0"/>
              <a:t> </a:t>
            </a:r>
            <a:r>
              <a:rPr dirty="0" err="1"/>
              <a:t>en</a:t>
            </a:r>
            <a:r>
              <a:rPr dirty="0"/>
              <a:t> </a:t>
            </a:r>
            <a:r>
              <a:rPr dirty="0" err="1"/>
              <a:t>casos</a:t>
            </a:r>
            <a:r>
              <a:rPr dirty="0"/>
              <a:t> </a:t>
            </a:r>
            <a:r>
              <a:rPr dirty="0" err="1"/>
              <a:t>nuevos</a:t>
            </a:r>
            <a:r>
              <a:rPr dirty="0"/>
              <a:t> </a:t>
            </a:r>
            <a:r>
              <a:rPr dirty="0" err="1"/>
              <a:t>comparables</a:t>
            </a:r>
            <a:r>
              <a:rPr dirty="0"/>
              <a:t>. El 60 % es un </a:t>
            </a:r>
            <a:r>
              <a:rPr dirty="0" err="1"/>
              <a:t>ejemplo</a:t>
            </a:r>
            <a:r>
              <a:rPr dirty="0"/>
              <a:t> conceptual, no un </a:t>
            </a:r>
            <a:r>
              <a:rPr dirty="0" err="1"/>
              <a:t>resultado</a:t>
            </a:r>
            <a:r>
              <a:rPr dirty="0"/>
              <a:t>. Se </a:t>
            </a:r>
            <a:r>
              <a:rPr dirty="0" err="1"/>
              <a:t>necesitan</a:t>
            </a:r>
            <a:r>
              <a:rPr dirty="0"/>
              <a:t> </a:t>
            </a:r>
            <a:r>
              <a:rPr dirty="0" err="1"/>
              <a:t>suficientes</a:t>
            </a:r>
            <a:r>
              <a:rPr dirty="0"/>
              <a:t> </a:t>
            </a:r>
            <a:r>
              <a:rPr dirty="0" err="1"/>
              <a:t>casos</a:t>
            </a:r>
            <a:r>
              <a:rPr dirty="0"/>
              <a:t> y </a:t>
            </a:r>
            <a:r>
              <a:rPr dirty="0" err="1"/>
              <a:t>considerar</a:t>
            </a:r>
            <a:r>
              <a:rPr dirty="0"/>
              <a:t> la </a:t>
            </a:r>
            <a:r>
              <a:rPr dirty="0" err="1"/>
              <a:t>incertidumbre</a:t>
            </a:r>
            <a:r>
              <a:rPr dirty="0"/>
              <a:t>. Un </a:t>
            </a:r>
            <a:r>
              <a:rPr dirty="0" err="1"/>
              <a:t>modelo</a:t>
            </a:r>
            <a:r>
              <a:rPr dirty="0"/>
              <a:t> que </a:t>
            </a:r>
            <a:r>
              <a:rPr dirty="0" err="1"/>
              <a:t>siempre</a:t>
            </a:r>
            <a:r>
              <a:rPr dirty="0"/>
              <a:t> </a:t>
            </a:r>
            <a:r>
              <a:rPr dirty="0" err="1"/>
              <a:t>anuncia</a:t>
            </a:r>
            <a:r>
              <a:rPr dirty="0"/>
              <a:t> la </a:t>
            </a:r>
            <a:r>
              <a:rPr dirty="0" err="1"/>
              <a:t>probabilidad</a:t>
            </a:r>
            <a:r>
              <a:rPr dirty="0"/>
              <a:t> </a:t>
            </a:r>
            <a:r>
              <a:rPr dirty="0" err="1"/>
              <a:t>uniforme</a:t>
            </a:r>
            <a:r>
              <a:rPr dirty="0"/>
              <a:t> </a:t>
            </a:r>
            <a:r>
              <a:rPr dirty="0" err="1"/>
              <a:t>puede</a:t>
            </a:r>
            <a:r>
              <a:rPr dirty="0"/>
              <a:t> </a:t>
            </a:r>
            <a:r>
              <a:rPr dirty="0" err="1"/>
              <a:t>estar</a:t>
            </a:r>
            <a:r>
              <a:rPr dirty="0"/>
              <a:t> </a:t>
            </a:r>
            <a:r>
              <a:rPr dirty="0" err="1"/>
              <a:t>calibrado</a:t>
            </a:r>
            <a:r>
              <a:rPr dirty="0"/>
              <a:t> y </a:t>
            </a:r>
            <a:r>
              <a:rPr dirty="0" err="1"/>
              <a:t>aportar</a:t>
            </a:r>
            <a:r>
              <a:rPr dirty="0"/>
              <a:t> </a:t>
            </a:r>
            <a:r>
              <a:rPr dirty="0" err="1"/>
              <a:t>poca</a:t>
            </a:r>
            <a:r>
              <a:rPr dirty="0"/>
              <a:t> </a:t>
            </a:r>
            <a:r>
              <a:rPr dirty="0" err="1"/>
              <a:t>información</a:t>
            </a:r>
            <a:r>
              <a:rPr dirty="0"/>
              <a:t> </a:t>
            </a:r>
            <a:r>
              <a:rPr dirty="0" err="1"/>
              <a:t>sobre</a:t>
            </a:r>
            <a:r>
              <a:rPr dirty="0"/>
              <a:t> </a:t>
            </a:r>
            <a:r>
              <a:rPr dirty="0" err="1"/>
              <a:t>qué</a:t>
            </a:r>
            <a:r>
              <a:rPr dirty="0"/>
              <a:t> </a:t>
            </a:r>
            <a:r>
              <a:rPr dirty="0" err="1"/>
              <a:t>giro</a:t>
            </a:r>
            <a:r>
              <a:rPr dirty="0"/>
              <a:t> </a:t>
            </a:r>
            <a:r>
              <a:rPr dirty="0" err="1"/>
              <a:t>acertará</a:t>
            </a:r>
            <a:r>
              <a:rPr dirty="0"/>
              <a:t>. Por </a:t>
            </a:r>
            <a:r>
              <a:rPr dirty="0" err="1"/>
              <a:t>eso</a:t>
            </a:r>
            <a:r>
              <a:rPr dirty="0"/>
              <a:t> se </a:t>
            </a:r>
            <a:r>
              <a:rPr dirty="0" err="1"/>
              <a:t>valoran</a:t>
            </a:r>
            <a:r>
              <a:rPr dirty="0"/>
              <a:t> </a:t>
            </a:r>
            <a:r>
              <a:rPr dirty="0" err="1"/>
              <a:t>conjuntamente</a:t>
            </a:r>
            <a:r>
              <a:rPr dirty="0"/>
              <a:t> sus </a:t>
            </a:r>
            <a:r>
              <a:rPr dirty="0" err="1"/>
              <a:t>probabilidades</a:t>
            </a:r>
            <a:r>
              <a:rPr dirty="0"/>
              <a:t>, </a:t>
            </a:r>
            <a:r>
              <a:rPr dirty="0" err="1"/>
              <a:t>su</a:t>
            </a:r>
            <a:r>
              <a:rPr dirty="0"/>
              <a:t> </a:t>
            </a:r>
            <a:r>
              <a:rPr dirty="0" err="1"/>
              <a:t>capacidad</a:t>
            </a:r>
            <a:r>
              <a:rPr dirty="0"/>
              <a:t> </a:t>
            </a:r>
            <a:r>
              <a:rPr dirty="0" err="1"/>
              <a:t>predictiva</a:t>
            </a:r>
            <a:r>
              <a:rPr dirty="0"/>
              <a:t> y la </a:t>
            </a:r>
            <a:r>
              <a:rPr dirty="0" err="1"/>
              <a:t>comparación</a:t>
            </a:r>
            <a:r>
              <a:rPr dirty="0"/>
              <a:t> con la </a:t>
            </a:r>
            <a:r>
              <a:rPr dirty="0" err="1"/>
              <a:t>referencia</a:t>
            </a:r>
            <a:r>
              <a:rPr dirty="0"/>
              <a:t>.</a:t>
            </a:r>
          </a:p>
          <a:p>
            <a:endParaRPr dirty="0"/>
          </a:p>
          <a:p>
            <a:r>
              <a:rPr dirty="0" err="1"/>
              <a:t>También</a:t>
            </a:r>
            <a:r>
              <a:rPr dirty="0"/>
              <a:t> se </a:t>
            </a:r>
            <a:r>
              <a:rPr dirty="0" err="1"/>
              <a:t>prueba</a:t>
            </a:r>
            <a:r>
              <a:rPr dirty="0"/>
              <a:t> </a:t>
            </a:r>
            <a:r>
              <a:rPr dirty="0" err="1"/>
              <a:t>si</a:t>
            </a:r>
            <a:r>
              <a:rPr dirty="0"/>
              <a:t> </a:t>
            </a:r>
            <a:r>
              <a:rPr dirty="0" err="1"/>
              <a:t>el</a:t>
            </a:r>
            <a:r>
              <a:rPr dirty="0"/>
              <a:t> </a:t>
            </a:r>
            <a:r>
              <a:rPr dirty="0" err="1"/>
              <a:t>resultado</a:t>
            </a:r>
            <a:r>
              <a:rPr dirty="0"/>
              <a:t> se </a:t>
            </a:r>
            <a:r>
              <a:rPr dirty="0" err="1"/>
              <a:t>mantiene</a:t>
            </a:r>
            <a:r>
              <a:rPr dirty="0"/>
              <a:t> </a:t>
            </a:r>
            <a:r>
              <a:rPr dirty="0" err="1"/>
              <a:t>en</a:t>
            </a:r>
            <a:r>
              <a:rPr dirty="0"/>
              <a:t> </a:t>
            </a:r>
            <a:r>
              <a:rPr dirty="0" err="1"/>
              <a:t>sesiones</a:t>
            </a:r>
            <a:r>
              <a:rPr dirty="0"/>
              <a:t> posteriores. Si se </a:t>
            </a:r>
            <a:r>
              <a:rPr dirty="0" err="1"/>
              <a:t>afirma</a:t>
            </a:r>
            <a:r>
              <a:rPr dirty="0"/>
              <a:t> que </a:t>
            </a:r>
            <a:r>
              <a:rPr dirty="0" err="1"/>
              <a:t>sirve</a:t>
            </a:r>
            <a:r>
              <a:rPr dirty="0"/>
              <a:t> para </a:t>
            </a:r>
            <a:r>
              <a:rPr dirty="0" err="1"/>
              <a:t>otras</a:t>
            </a:r>
            <a:r>
              <a:rPr dirty="0"/>
              <a:t> </a:t>
            </a:r>
            <a:r>
              <a:rPr dirty="0" err="1"/>
              <a:t>ruedas</a:t>
            </a:r>
            <a:r>
              <a:rPr dirty="0"/>
              <a:t>, hay que </a:t>
            </a:r>
            <a:r>
              <a:rPr dirty="0" err="1"/>
              <a:t>evaluarlo</a:t>
            </a:r>
            <a:r>
              <a:rPr dirty="0"/>
              <a:t> </a:t>
            </a:r>
            <a:r>
              <a:rPr dirty="0" err="1"/>
              <a:t>en</a:t>
            </a:r>
            <a:r>
              <a:rPr dirty="0"/>
              <a:t> </a:t>
            </a:r>
            <a:r>
              <a:rPr dirty="0" err="1"/>
              <a:t>ellas</a:t>
            </a:r>
            <a:r>
              <a:rPr dirty="0"/>
              <a:t>. Un </a:t>
            </a:r>
            <a:r>
              <a:rPr dirty="0" err="1"/>
              <a:t>cambio</a:t>
            </a:r>
            <a:r>
              <a:rPr dirty="0"/>
              <a:t> de </a:t>
            </a:r>
            <a:r>
              <a:rPr dirty="0" err="1"/>
              <a:t>rueda</a:t>
            </a:r>
            <a:r>
              <a:rPr dirty="0"/>
              <a:t>, bola, </a:t>
            </a:r>
            <a:r>
              <a:rPr dirty="0" err="1"/>
              <a:t>iluminación</a:t>
            </a:r>
            <a:r>
              <a:rPr dirty="0"/>
              <a:t> o </a:t>
            </a:r>
            <a:r>
              <a:rPr dirty="0" err="1"/>
              <a:t>cámara</a:t>
            </a:r>
            <a:r>
              <a:rPr dirty="0"/>
              <a:t> </a:t>
            </a:r>
            <a:r>
              <a:rPr dirty="0" err="1"/>
              <a:t>puede</a:t>
            </a:r>
            <a:r>
              <a:rPr dirty="0"/>
              <a:t> </a:t>
            </a:r>
            <a:r>
              <a:rPr dirty="0" err="1"/>
              <a:t>exigir</a:t>
            </a:r>
            <a:r>
              <a:rPr dirty="0"/>
              <a:t> </a:t>
            </a:r>
            <a:r>
              <a:rPr dirty="0" err="1"/>
              <a:t>nueva</a:t>
            </a:r>
            <a:r>
              <a:rPr dirty="0"/>
              <a:t> </a:t>
            </a:r>
            <a:r>
              <a:rPr dirty="0" err="1"/>
              <a:t>calibración</a:t>
            </a:r>
            <a:r>
              <a:rPr dirty="0"/>
              <a:t> y </a:t>
            </a:r>
            <a:r>
              <a:rPr dirty="0" err="1"/>
              <a:t>ajuste</a:t>
            </a:r>
            <a:r>
              <a:rPr dirty="0"/>
              <a:t>.</a:t>
            </a:r>
          </a:p>
          <a:p>
            <a:endParaRPr dirty="0"/>
          </a:p>
          <a:p>
            <a:r>
              <a:rPr dirty="0"/>
              <a:t>La </a:t>
            </a:r>
            <a:r>
              <a:rPr dirty="0" err="1"/>
              <a:t>abstención</a:t>
            </a:r>
            <a:r>
              <a:rPr dirty="0"/>
              <a:t> </a:t>
            </a:r>
            <a:r>
              <a:rPr dirty="0" err="1"/>
              <a:t>por</a:t>
            </a:r>
            <a:r>
              <a:rPr dirty="0"/>
              <a:t> </a:t>
            </a:r>
            <a:r>
              <a:rPr dirty="0" err="1"/>
              <a:t>medida</a:t>
            </a:r>
            <a:r>
              <a:rPr dirty="0"/>
              <a:t> poco </a:t>
            </a:r>
            <a:r>
              <a:rPr dirty="0" err="1"/>
              <a:t>fiable</a:t>
            </a:r>
            <a:r>
              <a:rPr dirty="0"/>
              <a:t> es </a:t>
            </a:r>
            <a:r>
              <a:rPr dirty="0" err="1"/>
              <a:t>una</a:t>
            </a:r>
            <a:r>
              <a:rPr dirty="0"/>
              <a:t> </a:t>
            </a:r>
            <a:r>
              <a:rPr dirty="0" err="1"/>
              <a:t>regla</a:t>
            </a:r>
            <a:r>
              <a:rPr dirty="0"/>
              <a:t> </a:t>
            </a:r>
            <a:r>
              <a:rPr dirty="0" err="1"/>
              <a:t>fijada</a:t>
            </a:r>
            <a:r>
              <a:rPr dirty="0"/>
              <a:t> antes de </a:t>
            </a:r>
            <a:r>
              <a:rPr dirty="0" err="1"/>
              <a:t>conocer</a:t>
            </a:r>
            <a:r>
              <a:rPr dirty="0"/>
              <a:t> </a:t>
            </a:r>
            <a:r>
              <a:rPr dirty="0" err="1"/>
              <a:t>el</a:t>
            </a:r>
            <a:r>
              <a:rPr dirty="0"/>
              <a:t> </a:t>
            </a:r>
            <a:r>
              <a:rPr dirty="0" err="1"/>
              <a:t>resultado</a:t>
            </a:r>
            <a:r>
              <a:rPr dirty="0"/>
              <a:t>. Se </a:t>
            </a:r>
            <a:r>
              <a:rPr dirty="0" err="1"/>
              <a:t>informa</a:t>
            </a:r>
            <a:r>
              <a:rPr dirty="0"/>
              <a:t> la </a:t>
            </a:r>
            <a:r>
              <a:rPr dirty="0" err="1"/>
              <a:t>cobertura</a:t>
            </a:r>
            <a:r>
              <a:rPr dirty="0"/>
              <a:t>: </a:t>
            </a:r>
            <a:r>
              <a:rPr dirty="0" err="1"/>
              <a:t>giros</a:t>
            </a:r>
            <a:r>
              <a:rPr dirty="0"/>
              <a:t> con </a:t>
            </a:r>
            <a:r>
              <a:rPr dirty="0" err="1"/>
              <a:t>predicción</a:t>
            </a:r>
            <a:r>
              <a:rPr dirty="0"/>
              <a:t> / </a:t>
            </a:r>
            <a:r>
              <a:rPr dirty="0" err="1"/>
              <a:t>giros</a:t>
            </a:r>
            <a:r>
              <a:rPr dirty="0"/>
              <a:t> </a:t>
            </a:r>
            <a:r>
              <a:rPr dirty="0" err="1"/>
              <a:t>elegibles</a:t>
            </a:r>
            <a:r>
              <a:rPr dirty="0"/>
              <a:t>, junto con </a:t>
            </a:r>
            <a:r>
              <a:rPr dirty="0" err="1"/>
              <a:t>aciertos</a:t>
            </a:r>
            <a:r>
              <a:rPr dirty="0"/>
              <a:t> y </a:t>
            </a:r>
            <a:r>
              <a:rPr dirty="0" err="1"/>
              <a:t>errores</a:t>
            </a:r>
            <a:r>
              <a:rPr dirty="0"/>
              <a:t> </a:t>
            </a:r>
            <a:r>
              <a:rPr dirty="0" err="1"/>
              <a:t>en</a:t>
            </a:r>
            <a:r>
              <a:rPr dirty="0"/>
              <a:t> </a:t>
            </a:r>
            <a:r>
              <a:rPr dirty="0" err="1"/>
              <a:t>los</a:t>
            </a:r>
            <a:r>
              <a:rPr dirty="0"/>
              <a:t> </a:t>
            </a:r>
            <a:r>
              <a:rPr dirty="0" err="1"/>
              <a:t>giros</a:t>
            </a:r>
            <a:r>
              <a:rPr dirty="0"/>
              <a:t> </a:t>
            </a:r>
            <a:r>
              <a:rPr dirty="0" err="1"/>
              <a:t>predichos</a:t>
            </a:r>
            <a:r>
              <a:rPr dirty="0"/>
              <a:t>. Se </a:t>
            </a:r>
            <a:r>
              <a:rPr dirty="0" err="1"/>
              <a:t>documentan</a:t>
            </a:r>
            <a:r>
              <a:rPr dirty="0"/>
              <a:t> </a:t>
            </a:r>
            <a:r>
              <a:rPr dirty="0" err="1"/>
              <a:t>todos</a:t>
            </a:r>
            <a:r>
              <a:rPr dirty="0"/>
              <a:t> </a:t>
            </a:r>
            <a:r>
              <a:rPr dirty="0" err="1"/>
              <a:t>los</a:t>
            </a:r>
            <a:r>
              <a:rPr dirty="0"/>
              <a:t> </a:t>
            </a:r>
            <a:r>
              <a:rPr dirty="0" err="1"/>
              <a:t>descartes</a:t>
            </a:r>
            <a:r>
              <a:rPr dirty="0"/>
              <a:t> y sus </a:t>
            </a:r>
            <a:r>
              <a:rPr dirty="0" err="1"/>
              <a:t>motivos</a:t>
            </a:r>
            <a:r>
              <a:rPr dirty="0"/>
              <a:t>. No se </a:t>
            </a:r>
            <a:r>
              <a:rPr dirty="0" err="1"/>
              <a:t>eliminan</a:t>
            </a:r>
            <a:r>
              <a:rPr dirty="0"/>
              <a:t> </a:t>
            </a:r>
            <a:r>
              <a:rPr dirty="0" err="1"/>
              <a:t>fallos</a:t>
            </a:r>
            <a:r>
              <a:rPr dirty="0"/>
              <a:t> a posteriori.</a:t>
            </a:r>
          </a:p>
          <a:p>
            <a:endParaRPr dirty="0"/>
          </a:p>
          <a:p>
            <a:r>
              <a:rPr dirty="0"/>
              <a:t>Fuentes y </a:t>
            </a:r>
            <a:r>
              <a:rPr dirty="0" err="1"/>
              <a:t>apoyo</a:t>
            </a:r>
            <a:r>
              <a:rPr dirty="0"/>
              <a:t> para </a:t>
            </a:r>
            <a:r>
              <a:rPr dirty="0" err="1"/>
              <a:t>el</a:t>
            </a:r>
            <a:r>
              <a:rPr dirty="0"/>
              <a:t> </a:t>
            </a:r>
            <a:r>
              <a:rPr dirty="0" err="1"/>
              <a:t>profesor</a:t>
            </a:r>
            <a:r>
              <a:rPr dirty="0"/>
              <a:t>:</a:t>
            </a:r>
          </a:p>
          <a:p>
            <a:r>
              <a:rPr dirty="0"/>
              <a:t>https://scikit-</a:t>
            </a:r>
            <a:r>
              <a:rPr dirty="0" err="1"/>
              <a:t>learn.org</a:t>
            </a:r>
            <a:r>
              <a:rPr dirty="0"/>
              <a:t>/stable/modules/</a:t>
            </a:r>
            <a:r>
              <a:rPr dirty="0" err="1"/>
              <a:t>calibration.html</a:t>
            </a:r>
            <a:endParaRPr dirty="0"/>
          </a:p>
          <a:p>
            <a:r>
              <a:rPr dirty="0"/>
              <a:t>https://</a:t>
            </a:r>
            <a:r>
              <a:rPr dirty="0" err="1"/>
              <a:t>docs.opencv.org</a:t>
            </a:r>
            <a:r>
              <a:rPr dirty="0"/>
              <a:t>/4.13.0/dc/</a:t>
            </a:r>
            <a:r>
              <a:rPr dirty="0" err="1"/>
              <a:t>dbb</a:t>
            </a:r>
            <a:r>
              <a:rPr dirty="0"/>
              <a:t>/</a:t>
            </a:r>
            <a:r>
              <a:rPr dirty="0" err="1"/>
              <a:t>tutorial_py_calibration.html</a:t>
            </a:r>
            <a:endParaRPr dirty="0"/>
          </a:p>
          <a:p>
            <a:r>
              <a:rPr dirty="0"/>
              <a:t>https://scikit-</a:t>
            </a:r>
            <a:r>
              <a:rPr dirty="0" err="1"/>
              <a:t>learn.org</a:t>
            </a:r>
            <a:r>
              <a:rPr dirty="0"/>
              <a:t>/stable/</a:t>
            </a:r>
            <a:r>
              <a:rPr dirty="0" err="1"/>
              <a:t>common_pitfalls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de cierre para el profesor: la idea inicial necesita pasar de una intuición de repetición a un experimento medible. El primer paso concreto sería obtener un pequeño conjunto de trayectorias revisadas para comprobar la calidad de la captura. Después se desarrollaría y evaluaría un modelo.</a:t>
            </a:r>
          </a:p>
          <a:p>
            <a:endParaRPr/>
          </a:p>
          <a:p>
            <a:r>
              <a:t>La presentación explica qué falta. No incluye datos físicos reales ni un predictor implementado. Con los mil números simulados del ejercicio se pueden estudiar frecuencias y probabilidades del modelo, pero no validar esta hipótesis de movimiento. Small y Tse aportan un antecedente experimental, no una garantía aplicable a cualquier rueda.</a:t>
            </a:r>
          </a:p>
          <a:p>
            <a:endParaRPr/>
          </a:p>
          <a:p>
            <a:r>
              <a:t>Fuentes y apoyo para el profesor:</a:t>
            </a:r>
          </a:p>
          <a:p>
            <a:r>
              <a:t>https://ira.lib.polyu.edu.hk/bitstream/10397/6241/1/Small_Predicting_Outcome_Roulette.pdf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430FF260-C893-44B8-9DF4-F7CF8A8EFE0F}"/>
              </a:ext>
            </a:extLst>
          </p:cNvPr>
          <p:cNvSpPr>
            <a:spLocks noGrp="1"/>
          </p:cNvSpPr>
          <p:nvPr>
            <p:ph type="ctrTitle"/>
          </p:nvPr>
        </p:nvSpPr>
        <p:spPr>
          <a:xfrm>
            <a:off x="546284" y="253491"/>
            <a:ext cx="2942590" cy="1525270"/>
          </a:xfrm>
          <a:prstGeom prst="rect">
            <a:avLst/>
          </a:prstGeom>
        </p:spPr>
        <p:txBody>
          <a:bodyPr wrap="square" lIns="0" tIns="0" rIns="0" bIns="0">
            <a:spAutoFit/>
          </a:bodyPr>
          <a:lstStyle>
            <a:lvl1pPr>
              <a:buNone/>
              <a:defRPr sz="4000" b="1" i="0">
                <a:solidFill>
                  <a:srgbClr val="044247"/>
                </a:solidFill>
                <a:latin typeface="Arial Narrow"/>
                <a:ea typeface="Arial Narrow"/>
                <a:cs typeface="Arial Narrow"/>
              </a:defRPr>
            </a:lvl1pPr>
          </a:lstStyle>
          <a:p>
            <a:endParaRPr/>
          </a:p>
        </p:txBody>
      </p:sp>
      <p:sp>
        <p:nvSpPr>
          <p:cNvPr id="3" name="Holder 3">
            <a:extLst>
              <a:ext uri="{FF2B5EF4-FFF2-40B4-BE49-F238E27FC236}">
                <a16:creationId xmlns:a16="http://schemas.microsoft.com/office/drawing/2014/main" id="{4A70FD32-48EA-4252-B132-D706EF332CBA}"/>
              </a:ext>
            </a:extLst>
          </p:cNvPr>
          <p:cNvSpPr>
            <a:spLocks noGrp="1"/>
          </p:cNvSpPr>
          <p:nvPr>
            <p:ph type="subTitle" idx="4"/>
          </p:nvPr>
        </p:nvSpPr>
        <p:spPr>
          <a:xfrm>
            <a:off x="1371600" y="2880360"/>
            <a:ext cx="6400800" cy="1285875"/>
          </a:xfrm>
          <a:prstGeom prst="rect">
            <a:avLst/>
          </a:prstGeom>
        </p:spPr>
        <p:txBody>
          <a:bodyPr wrap="square" lIns="0" tIns="0" rIns="0" bIns="0">
            <a:spAutoFit/>
          </a:bodyPr>
          <a:lstStyle>
            <a:lvl1pPr>
              <a:buNone/>
              <a:defRPr sz="1800" b="1" i="0">
                <a:solidFill>
                  <a:schemeClr val="tx1"/>
                </a:solidFill>
                <a:latin typeface="Courier New"/>
                <a:ea typeface="Courier New"/>
                <a:cs typeface="Courier New"/>
              </a:defRPr>
            </a:lvl1pPr>
          </a:lstStyle>
          <a:p>
            <a:endParaRPr/>
          </a:p>
        </p:txBody>
      </p:sp>
      <p:sp>
        <p:nvSpPr>
          <p:cNvPr id="4" name="Holder 4">
            <a:extLst>
              <a:ext uri="{FF2B5EF4-FFF2-40B4-BE49-F238E27FC236}">
                <a16:creationId xmlns:a16="http://schemas.microsoft.com/office/drawing/2014/main" id="{FFC34C11-409B-440F-9E70-2249CBE240DB}"/>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03817C03-4505-4136-BB98-16D1D046A6B1}"/>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10/29/26</a:t>
            </a:fld>
            <a:endParaRPr/>
          </a:p>
        </p:txBody>
      </p:sp>
      <p:sp>
        <p:nvSpPr>
          <p:cNvPr id="6" name="Holder 6">
            <a:extLst>
              <a:ext uri="{FF2B5EF4-FFF2-40B4-BE49-F238E27FC236}">
                <a16:creationId xmlns:a16="http://schemas.microsoft.com/office/drawing/2014/main" id="{F103C5AF-647E-49FD-9B12-D040F7A57EC1}"/>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1EE9A427-9FAB-4EBF-AC92-B086AA93E7C8}"/>
              </a:ext>
            </a:extLst>
          </p:cNvPr>
          <p:cNvSpPr>
            <a:spLocks noGrp="1"/>
          </p:cNvSpPr>
          <p:nvPr>
            <p:ph type="title"/>
          </p:nvPr>
        </p:nvSpPr>
        <p:spPr/>
        <p:txBody>
          <a:bodyPr lIns="0" tIns="0" rIns="0" bIns="0"/>
          <a:lstStyle>
            <a:lvl1pPr>
              <a:buNone/>
              <a:defRPr sz="4000" b="1" i="0">
                <a:solidFill>
                  <a:srgbClr val="044247"/>
                </a:solidFill>
                <a:latin typeface="Arial Narrow"/>
                <a:ea typeface="Arial Narrow"/>
                <a:cs typeface="Arial Narrow"/>
              </a:defRPr>
            </a:lvl1pPr>
          </a:lstStyle>
          <a:p>
            <a:endParaRPr/>
          </a:p>
        </p:txBody>
      </p:sp>
      <p:sp>
        <p:nvSpPr>
          <p:cNvPr id="3" name="Holder 3">
            <a:extLst>
              <a:ext uri="{FF2B5EF4-FFF2-40B4-BE49-F238E27FC236}">
                <a16:creationId xmlns:a16="http://schemas.microsoft.com/office/drawing/2014/main" id="{7A6421FF-DACE-44EC-A864-F2F79690DB7E}"/>
              </a:ext>
            </a:extLst>
          </p:cNvPr>
          <p:cNvSpPr>
            <a:spLocks noGrp="1"/>
          </p:cNvSpPr>
          <p:nvPr>
            <p:ph type="body" idx="1"/>
          </p:nvPr>
        </p:nvSpPr>
        <p:spPr/>
        <p:txBody>
          <a:bodyPr lIns="0" tIns="0" rIns="0" bIns="0"/>
          <a:lstStyle>
            <a:lvl1pPr>
              <a:buNone/>
              <a:defRPr sz="1800" b="1" i="0">
                <a:solidFill>
                  <a:schemeClr val="tx1"/>
                </a:solidFill>
                <a:latin typeface="Courier New"/>
                <a:ea typeface="Courier New"/>
                <a:cs typeface="Courier New"/>
              </a:defRPr>
            </a:lvl1pPr>
          </a:lstStyle>
          <a:p>
            <a:endParaRPr/>
          </a:p>
        </p:txBody>
      </p:sp>
      <p:sp>
        <p:nvSpPr>
          <p:cNvPr id="4" name="Holder 4">
            <a:extLst>
              <a:ext uri="{FF2B5EF4-FFF2-40B4-BE49-F238E27FC236}">
                <a16:creationId xmlns:a16="http://schemas.microsoft.com/office/drawing/2014/main" id="{911A561C-4E13-443F-B825-B72E84265FD3}"/>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3E698BCC-97BD-4758-A25E-9CA169236CD2}"/>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10/29/26</a:t>
            </a:fld>
            <a:endParaRPr/>
          </a:p>
        </p:txBody>
      </p:sp>
      <p:sp>
        <p:nvSpPr>
          <p:cNvPr id="6" name="Holder 6">
            <a:extLst>
              <a:ext uri="{FF2B5EF4-FFF2-40B4-BE49-F238E27FC236}">
                <a16:creationId xmlns:a16="http://schemas.microsoft.com/office/drawing/2014/main" id="{FE2483E6-7097-4927-B35E-18E2F1902955}"/>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D2D97CC2-DA9C-40CE-AD31-035F4A9FF2DD}"/>
              </a:ext>
            </a:extLst>
          </p:cNvPr>
          <p:cNvSpPr>
            <a:spLocks noGrp="1"/>
          </p:cNvSpPr>
          <p:nvPr>
            <p:ph type="title"/>
          </p:nvPr>
        </p:nvSpPr>
        <p:spPr/>
        <p:txBody>
          <a:bodyPr lIns="0" tIns="0" rIns="0" bIns="0"/>
          <a:lstStyle>
            <a:lvl1pPr>
              <a:buNone/>
              <a:defRPr sz="4000" b="1" i="0">
                <a:solidFill>
                  <a:srgbClr val="044247"/>
                </a:solidFill>
                <a:latin typeface="Arial Narrow"/>
                <a:ea typeface="Arial Narrow"/>
                <a:cs typeface="Arial Narrow"/>
              </a:defRPr>
            </a:lvl1pPr>
          </a:lstStyle>
          <a:p>
            <a:endParaRPr/>
          </a:p>
        </p:txBody>
      </p:sp>
      <p:sp>
        <p:nvSpPr>
          <p:cNvPr id="3" name="Holder 3">
            <a:extLst>
              <a:ext uri="{FF2B5EF4-FFF2-40B4-BE49-F238E27FC236}">
                <a16:creationId xmlns:a16="http://schemas.microsoft.com/office/drawing/2014/main" id="{D1FAA639-EFAA-49E6-9CBD-AB039E3E2C9A}"/>
              </a:ext>
            </a:extLst>
          </p:cNvPr>
          <p:cNvSpPr>
            <a:spLocks noGrp="1"/>
          </p:cNvSpPr>
          <p:nvPr>
            <p:ph idx="2"/>
          </p:nvPr>
        </p:nvSpPr>
        <p:spPr>
          <a:xfrm>
            <a:off x="457200" y="1183005"/>
            <a:ext cx="3977640" cy="3394710"/>
          </a:xfrm>
          <a:prstGeom prst="rect">
            <a:avLst/>
          </a:prstGeom>
        </p:spPr>
        <p:txBody>
          <a:bodyPr wrap="square" lIns="0" tIns="0" rIns="0" bIns="0">
            <a:spAutoFit/>
          </a:bodyPr>
          <a:lstStyle>
            <a:lvl1pPr>
              <a:buNone/>
              <a:defRPr/>
            </a:lvl1pPr>
          </a:lstStyle>
          <a:p>
            <a:endParaRPr/>
          </a:p>
        </p:txBody>
      </p:sp>
      <p:sp>
        <p:nvSpPr>
          <p:cNvPr id="4" name="Holder 4">
            <a:extLst>
              <a:ext uri="{FF2B5EF4-FFF2-40B4-BE49-F238E27FC236}">
                <a16:creationId xmlns:a16="http://schemas.microsoft.com/office/drawing/2014/main" id="{81659B86-673A-486E-91EE-21A2314873E9}"/>
              </a:ext>
            </a:extLst>
          </p:cNvPr>
          <p:cNvSpPr>
            <a:spLocks noGrp="1"/>
          </p:cNvSpPr>
          <p:nvPr>
            <p:ph idx="3"/>
          </p:nvPr>
        </p:nvSpPr>
        <p:spPr>
          <a:xfrm>
            <a:off x="4709160" y="1183005"/>
            <a:ext cx="3977640" cy="3394710"/>
          </a:xfrm>
          <a:prstGeom prst="rect">
            <a:avLst/>
          </a:prstGeom>
        </p:spPr>
        <p:txBody>
          <a:bodyPr wrap="square" lIns="0" tIns="0" rIns="0" bIns="0">
            <a:spAutoFit/>
          </a:bodyPr>
          <a:lstStyle>
            <a:lvl1pPr>
              <a:buNone/>
              <a:defRPr/>
            </a:lvl1pPr>
          </a:lstStyle>
          <a:p>
            <a:endParaRPr/>
          </a:p>
        </p:txBody>
      </p:sp>
      <p:sp>
        <p:nvSpPr>
          <p:cNvPr id="5" name="Holder 5">
            <a:extLst>
              <a:ext uri="{FF2B5EF4-FFF2-40B4-BE49-F238E27FC236}">
                <a16:creationId xmlns:a16="http://schemas.microsoft.com/office/drawing/2014/main" id="{9C216BD7-26A4-461F-B86E-A95A98684DDE}"/>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6" name="Holder 6">
            <a:extLst>
              <a:ext uri="{FF2B5EF4-FFF2-40B4-BE49-F238E27FC236}">
                <a16:creationId xmlns:a16="http://schemas.microsoft.com/office/drawing/2014/main" id="{BC852F87-803B-4FB5-B091-2215937BF624}"/>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10/29/26</a:t>
            </a:fld>
            <a:endParaRPr/>
          </a:p>
        </p:txBody>
      </p:sp>
      <p:sp>
        <p:nvSpPr>
          <p:cNvPr id="7" name="Holder 7">
            <a:extLst>
              <a:ext uri="{FF2B5EF4-FFF2-40B4-BE49-F238E27FC236}">
                <a16:creationId xmlns:a16="http://schemas.microsoft.com/office/drawing/2014/main" id="{F19A4E11-536A-410F-A63C-3B496307EEE2}"/>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66699741-A009-44C0-B2B1-B4DDF17E91EC}"/>
              </a:ext>
            </a:extLst>
          </p:cNvPr>
          <p:cNvSpPr>
            <a:spLocks noGrp="1"/>
          </p:cNvSpPr>
          <p:nvPr>
            <p:ph type="title"/>
          </p:nvPr>
        </p:nvSpPr>
        <p:spPr/>
        <p:txBody>
          <a:bodyPr lIns="0" tIns="0" rIns="0" bIns="0"/>
          <a:lstStyle>
            <a:lvl1pPr>
              <a:buNone/>
              <a:defRPr sz="4000" b="1" i="0">
                <a:solidFill>
                  <a:srgbClr val="044247"/>
                </a:solidFill>
                <a:latin typeface="Arial Narrow"/>
                <a:ea typeface="Arial Narrow"/>
                <a:cs typeface="Arial Narrow"/>
              </a:defRPr>
            </a:lvl1pPr>
          </a:lstStyle>
          <a:p>
            <a:endParaRPr/>
          </a:p>
        </p:txBody>
      </p:sp>
      <p:sp>
        <p:nvSpPr>
          <p:cNvPr id="3" name="Holder 3">
            <a:extLst>
              <a:ext uri="{FF2B5EF4-FFF2-40B4-BE49-F238E27FC236}">
                <a16:creationId xmlns:a16="http://schemas.microsoft.com/office/drawing/2014/main" id="{8255B1BB-CC4F-4F78-AA82-8ADABF348D4E}"/>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4" name="Holder 4">
            <a:extLst>
              <a:ext uri="{FF2B5EF4-FFF2-40B4-BE49-F238E27FC236}">
                <a16:creationId xmlns:a16="http://schemas.microsoft.com/office/drawing/2014/main" id="{8C381E45-0D9C-4C9A-9BB7-D462B68C0A2E}"/>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10/29/26</a:t>
            </a:fld>
            <a:endParaRPr/>
          </a:p>
        </p:txBody>
      </p:sp>
      <p:sp>
        <p:nvSpPr>
          <p:cNvPr id="5" name="Holder 5">
            <a:extLst>
              <a:ext uri="{FF2B5EF4-FFF2-40B4-BE49-F238E27FC236}">
                <a16:creationId xmlns:a16="http://schemas.microsoft.com/office/drawing/2014/main" id="{8BA4DD9B-6E9C-4DF9-914C-D802D178F1BD}"/>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4329726A-D405-42F9-A928-A4238A2918D6}"/>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3" name="Holder 3">
            <a:extLst>
              <a:ext uri="{FF2B5EF4-FFF2-40B4-BE49-F238E27FC236}">
                <a16:creationId xmlns:a16="http://schemas.microsoft.com/office/drawing/2014/main" id="{7FF850A4-609C-4D20-8BCA-8CC44B9D7DDC}"/>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10/29/26</a:t>
            </a:fld>
            <a:endParaRPr/>
          </a:p>
        </p:txBody>
      </p:sp>
      <p:sp>
        <p:nvSpPr>
          <p:cNvPr id="4" name="Holder 4">
            <a:extLst>
              <a:ext uri="{FF2B5EF4-FFF2-40B4-BE49-F238E27FC236}">
                <a16:creationId xmlns:a16="http://schemas.microsoft.com/office/drawing/2014/main" id="{91966575-7094-4D3E-BA55-B7B931916FF9}"/>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51E2D5E1-92DC-40CC-83F2-9BF251B4B617}"/>
              </a:ext>
            </a:extLst>
          </p:cNvPr>
          <p:cNvSpPr>
            <a:spLocks noGrp="1"/>
          </p:cNvSpPr>
          <p:nvPr>
            <p:ph type="title"/>
          </p:nvPr>
        </p:nvSpPr>
        <p:spPr>
          <a:xfrm>
            <a:off x="366771" y="118509"/>
            <a:ext cx="3148329" cy="1291590"/>
          </a:xfrm>
          <a:prstGeom prst="rect">
            <a:avLst/>
          </a:prstGeom>
        </p:spPr>
        <p:txBody>
          <a:bodyPr wrap="square" lIns="0" tIns="0" rIns="0" bIns="0">
            <a:spAutoFit/>
          </a:bodyPr>
          <a:lstStyle>
            <a:lvl1pPr>
              <a:buNone/>
              <a:defRPr sz="4000" b="1" i="0">
                <a:solidFill>
                  <a:srgbClr val="044247"/>
                </a:solidFill>
                <a:latin typeface="Arial Narrow"/>
                <a:ea typeface="Arial Narrow"/>
                <a:cs typeface="Arial Narrow"/>
              </a:defRPr>
            </a:lvl1pPr>
          </a:lstStyle>
          <a:p>
            <a:endParaRPr/>
          </a:p>
        </p:txBody>
      </p:sp>
      <p:sp>
        <p:nvSpPr>
          <p:cNvPr id="3" name="Holder 3">
            <a:extLst>
              <a:ext uri="{FF2B5EF4-FFF2-40B4-BE49-F238E27FC236}">
                <a16:creationId xmlns:a16="http://schemas.microsoft.com/office/drawing/2014/main" id="{17922146-C9ED-4450-A71E-EA5C1B907D92}"/>
              </a:ext>
            </a:extLst>
          </p:cNvPr>
          <p:cNvSpPr>
            <a:spLocks noGrp="1"/>
          </p:cNvSpPr>
          <p:nvPr>
            <p:ph type="body" idx="1"/>
          </p:nvPr>
        </p:nvSpPr>
        <p:spPr>
          <a:xfrm>
            <a:off x="3786643" y="2014220"/>
            <a:ext cx="4864100" cy="2943860"/>
          </a:xfrm>
          <a:prstGeom prst="rect">
            <a:avLst/>
          </a:prstGeom>
        </p:spPr>
        <p:txBody>
          <a:bodyPr wrap="square" lIns="0" tIns="0" rIns="0" bIns="0">
            <a:spAutoFit/>
          </a:bodyPr>
          <a:lstStyle>
            <a:lvl1pPr>
              <a:buNone/>
              <a:defRPr sz="1800" b="1" i="0">
                <a:solidFill>
                  <a:schemeClr val="tx1"/>
                </a:solidFill>
                <a:latin typeface="Courier New"/>
                <a:ea typeface="Courier New"/>
                <a:cs typeface="Courier New"/>
              </a:defRPr>
            </a:lvl1pPr>
          </a:lstStyle>
          <a:p>
            <a:endParaRPr/>
          </a:p>
        </p:txBody>
      </p:sp>
      <p:sp>
        <p:nvSpPr>
          <p:cNvPr id="4" name="Holder 4">
            <a:extLst>
              <a:ext uri="{FF2B5EF4-FFF2-40B4-BE49-F238E27FC236}">
                <a16:creationId xmlns:a16="http://schemas.microsoft.com/office/drawing/2014/main" id="{60A23D44-C1B2-4655-97B6-10DC2547E3DE}"/>
              </a:ext>
            </a:extLst>
          </p:cNvPr>
          <p:cNvSpPr>
            <a:spLocks noGrp="1"/>
          </p:cNvSpPr>
          <p:nvPr>
            <p:ph type="ftr" idx="5"/>
          </p:nvPr>
        </p:nvSpPr>
        <p:spPr>
          <a:xfrm>
            <a:off x="3108960" y="4783455"/>
            <a:ext cx="2926080" cy="257175"/>
          </a:xfrm>
          <a:prstGeom prst="rect">
            <a:avLst/>
          </a:prstGeom>
        </p:spPr>
        <p:txBody>
          <a:bodyPr wrap="square" lIns="0" tIns="0" rIns="0" bIns="0">
            <a:spAutoFit/>
          </a:bodyPr>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38D336CC-AC07-411A-AF88-43958F397F8B}"/>
              </a:ext>
            </a:extLst>
          </p:cNvPr>
          <p:cNvSpPr>
            <a:spLocks noGrp="1"/>
          </p:cNvSpPr>
          <p:nvPr>
            <p:ph type="dt" idx="6"/>
          </p:nvPr>
        </p:nvSpPr>
        <p:spPr>
          <a:xfrm>
            <a:off x="457200" y="4783455"/>
            <a:ext cx="2103120" cy="257175"/>
          </a:xfrm>
          <a:prstGeom prst="rect">
            <a:avLst/>
          </a:prstGeom>
        </p:spPr>
        <p:txBody>
          <a:bodyPr wrap="square" lIns="0" tIns="0" rIns="0" bIns="0">
            <a:spAutoFit/>
          </a:bodyPr>
          <a:lstStyle>
            <a:lvl1pPr algn="l">
              <a:buNone/>
              <a:defRPr>
                <a:solidFill>
                  <a:schemeClr val="tx1">
                    <a:tint val="75000"/>
                  </a:schemeClr>
                </a:solidFill>
              </a:defRPr>
            </a:lvl1pPr>
          </a:lstStyle>
          <a:p>
            <a:fld id="{1D8BD707-D9CF-40AE-B4C6-C98DA3205C09}" type="datetimeFigureOut">
              <a:t>10/29/26</a:t>
            </a:fld>
            <a:endParaRPr/>
          </a:p>
        </p:txBody>
      </p:sp>
      <p:sp>
        <p:nvSpPr>
          <p:cNvPr id="6" name="Holder 6">
            <a:extLst>
              <a:ext uri="{FF2B5EF4-FFF2-40B4-BE49-F238E27FC236}">
                <a16:creationId xmlns:a16="http://schemas.microsoft.com/office/drawing/2014/main" id="{C605BB73-E657-453C-9764-3EFD01676C60}"/>
              </a:ext>
            </a:extLst>
          </p:cNvPr>
          <p:cNvSpPr>
            <a:spLocks noGrp="1"/>
          </p:cNvSpPr>
          <p:nvPr>
            <p:ph type="sldNum" idx="7"/>
          </p:nvPr>
        </p:nvSpPr>
        <p:spPr>
          <a:xfrm>
            <a:off x="6583680" y="4783455"/>
            <a:ext cx="2103120" cy="257175"/>
          </a:xfrm>
          <a:prstGeom prst="rect">
            <a:avLst/>
          </a:prstGeom>
        </p:spPr>
        <p:txBody>
          <a:bodyPr wrap="square" lIns="0" tIns="0" rIns="0" bIns="0">
            <a:spAutoFit/>
          </a:bodyPr>
          <a:lstStyle>
            <a:lvl1pPr algn="r">
              <a:buNone/>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buNone/>
        <a:defRPr>
          <a:latin typeface="+mj-lt"/>
          <a:ea typeface="+mj-lt"/>
          <a:cs typeface="+mj-lt"/>
        </a:defRPr>
      </a:lvl1pPr>
    </p:titleStyle>
    <p:body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bodyStyle>
    <p:other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F9F71CE-68FE-1344-C35A-ABEA5C6978E6}"/>
              </a:ext>
            </a:extLst>
          </p:cNvPr>
          <p:cNvSpPr>
            <a:spLocks noGrp="1"/>
          </p:cNvSpPr>
          <p:nvPr/>
        </p:nvSpPr>
        <p:spPr>
          <a:xfrm>
            <a:off x="1" y="0"/>
            <a:ext cx="5002530" cy="3938270"/>
          </a:xfrm>
          <a:custGeom>
            <a:avLst/>
            <a:gdLst/>
            <a:ahLst/>
            <a:cxnLst/>
            <a:rect l="l" t="t" r="r" b="b"/>
            <a:pathLst>
              <a:path w="5002530" h="3938270">
                <a:moveTo>
                  <a:pt x="0" y="1704928"/>
                </a:moveTo>
                <a:lnTo>
                  <a:pt x="0" y="3856309"/>
                </a:lnTo>
                <a:lnTo>
                  <a:pt x="579720" y="3937783"/>
                </a:lnTo>
                <a:lnTo>
                  <a:pt x="1255398" y="2957054"/>
                </a:lnTo>
                <a:lnTo>
                  <a:pt x="876220" y="1828073"/>
                </a:lnTo>
                <a:lnTo>
                  <a:pt x="0" y="1704928"/>
                </a:lnTo>
                <a:close/>
              </a:path>
              <a:path w="5002530" h="3938270">
                <a:moveTo>
                  <a:pt x="1716059" y="768286"/>
                </a:moveTo>
                <a:lnTo>
                  <a:pt x="1040381" y="1749016"/>
                </a:lnTo>
                <a:lnTo>
                  <a:pt x="1419558" y="2877996"/>
                </a:lnTo>
                <a:lnTo>
                  <a:pt x="2811966" y="3073687"/>
                </a:lnTo>
                <a:lnTo>
                  <a:pt x="3487644" y="2092957"/>
                </a:lnTo>
                <a:lnTo>
                  <a:pt x="3108467" y="963976"/>
                </a:lnTo>
                <a:lnTo>
                  <a:pt x="1716059" y="768286"/>
                </a:lnTo>
                <a:close/>
              </a:path>
              <a:path w="5002530" h="3938270">
                <a:moveTo>
                  <a:pt x="1331643" y="0"/>
                </a:moveTo>
                <a:lnTo>
                  <a:pt x="0" y="0"/>
                </a:lnTo>
                <a:lnTo>
                  <a:pt x="0" y="1510524"/>
                </a:lnTo>
                <a:lnTo>
                  <a:pt x="875213" y="1633527"/>
                </a:lnTo>
                <a:lnTo>
                  <a:pt x="1550890" y="652797"/>
                </a:lnTo>
                <a:lnTo>
                  <a:pt x="1331643" y="0"/>
                </a:lnTo>
                <a:close/>
              </a:path>
              <a:path w="5002530" h="3938270">
                <a:moveTo>
                  <a:pt x="3995936" y="267493"/>
                </a:moveTo>
                <a:lnTo>
                  <a:pt x="3948860" y="270028"/>
                </a:lnTo>
                <a:lnTo>
                  <a:pt x="3903251" y="277458"/>
                </a:lnTo>
                <a:lnTo>
                  <a:pt x="3859375" y="289519"/>
                </a:lnTo>
                <a:lnTo>
                  <a:pt x="3817494" y="305948"/>
                </a:lnTo>
                <a:lnTo>
                  <a:pt x="3777872" y="326480"/>
                </a:lnTo>
                <a:lnTo>
                  <a:pt x="3740773" y="350853"/>
                </a:lnTo>
                <a:lnTo>
                  <a:pt x="3706460" y="378803"/>
                </a:lnTo>
                <a:lnTo>
                  <a:pt x="3675197" y="410066"/>
                </a:lnTo>
                <a:lnTo>
                  <a:pt x="3647247" y="444379"/>
                </a:lnTo>
                <a:lnTo>
                  <a:pt x="3622874" y="481478"/>
                </a:lnTo>
                <a:lnTo>
                  <a:pt x="3602342" y="521100"/>
                </a:lnTo>
                <a:lnTo>
                  <a:pt x="3585913" y="562980"/>
                </a:lnTo>
                <a:lnTo>
                  <a:pt x="3573852" y="606856"/>
                </a:lnTo>
                <a:lnTo>
                  <a:pt x="3566423" y="652464"/>
                </a:lnTo>
                <a:lnTo>
                  <a:pt x="3563887" y="699541"/>
                </a:lnTo>
                <a:lnTo>
                  <a:pt x="3566423" y="746617"/>
                </a:lnTo>
                <a:lnTo>
                  <a:pt x="3573852" y="792225"/>
                </a:lnTo>
                <a:lnTo>
                  <a:pt x="3585913" y="836102"/>
                </a:lnTo>
                <a:lnTo>
                  <a:pt x="3602342" y="877982"/>
                </a:lnTo>
                <a:lnTo>
                  <a:pt x="3622874" y="917604"/>
                </a:lnTo>
                <a:lnTo>
                  <a:pt x="3647247" y="954703"/>
                </a:lnTo>
                <a:lnTo>
                  <a:pt x="3675197" y="989016"/>
                </a:lnTo>
                <a:lnTo>
                  <a:pt x="3706460" y="1020279"/>
                </a:lnTo>
                <a:lnTo>
                  <a:pt x="3740773" y="1048229"/>
                </a:lnTo>
                <a:lnTo>
                  <a:pt x="3777872" y="1072602"/>
                </a:lnTo>
                <a:lnTo>
                  <a:pt x="3817494" y="1093134"/>
                </a:lnTo>
                <a:lnTo>
                  <a:pt x="3859375" y="1109563"/>
                </a:lnTo>
                <a:lnTo>
                  <a:pt x="3903251" y="1121624"/>
                </a:lnTo>
                <a:lnTo>
                  <a:pt x="3948860" y="1129053"/>
                </a:lnTo>
                <a:lnTo>
                  <a:pt x="3995936" y="1131589"/>
                </a:lnTo>
                <a:lnTo>
                  <a:pt x="4043013" y="1129053"/>
                </a:lnTo>
                <a:lnTo>
                  <a:pt x="4088620" y="1121624"/>
                </a:lnTo>
                <a:lnTo>
                  <a:pt x="4132496" y="1109563"/>
                </a:lnTo>
                <a:lnTo>
                  <a:pt x="4174377" y="1093134"/>
                </a:lnTo>
                <a:lnTo>
                  <a:pt x="4213998" y="1072602"/>
                </a:lnTo>
                <a:lnTo>
                  <a:pt x="4251097" y="1048229"/>
                </a:lnTo>
                <a:lnTo>
                  <a:pt x="4285410" y="1020279"/>
                </a:lnTo>
                <a:lnTo>
                  <a:pt x="4316673" y="989016"/>
                </a:lnTo>
                <a:lnTo>
                  <a:pt x="4344623" y="954703"/>
                </a:lnTo>
                <a:lnTo>
                  <a:pt x="4368996" y="917604"/>
                </a:lnTo>
                <a:lnTo>
                  <a:pt x="4389528" y="877982"/>
                </a:lnTo>
                <a:lnTo>
                  <a:pt x="4405957" y="836102"/>
                </a:lnTo>
                <a:lnTo>
                  <a:pt x="4418018" y="792225"/>
                </a:lnTo>
                <a:lnTo>
                  <a:pt x="4425447" y="746617"/>
                </a:lnTo>
                <a:lnTo>
                  <a:pt x="4427983" y="699541"/>
                </a:lnTo>
                <a:lnTo>
                  <a:pt x="4425466" y="652797"/>
                </a:lnTo>
                <a:lnTo>
                  <a:pt x="4418018" y="606856"/>
                </a:lnTo>
                <a:lnTo>
                  <a:pt x="4405957" y="562980"/>
                </a:lnTo>
                <a:lnTo>
                  <a:pt x="4389529" y="521100"/>
                </a:lnTo>
                <a:lnTo>
                  <a:pt x="4368996" y="481478"/>
                </a:lnTo>
                <a:lnTo>
                  <a:pt x="4344624" y="444379"/>
                </a:lnTo>
                <a:lnTo>
                  <a:pt x="4316674" y="410066"/>
                </a:lnTo>
                <a:lnTo>
                  <a:pt x="4285411" y="378803"/>
                </a:lnTo>
                <a:lnTo>
                  <a:pt x="4251098" y="350853"/>
                </a:lnTo>
                <a:lnTo>
                  <a:pt x="4214000" y="326480"/>
                </a:lnTo>
                <a:lnTo>
                  <a:pt x="4174378" y="305948"/>
                </a:lnTo>
                <a:lnTo>
                  <a:pt x="4132498" y="289519"/>
                </a:lnTo>
                <a:lnTo>
                  <a:pt x="4088622" y="277458"/>
                </a:lnTo>
                <a:lnTo>
                  <a:pt x="4043014" y="270028"/>
                </a:lnTo>
                <a:lnTo>
                  <a:pt x="3995936" y="267493"/>
                </a:lnTo>
                <a:close/>
              </a:path>
              <a:path w="5002530" h="3938270">
                <a:moveTo>
                  <a:pt x="3641270" y="0"/>
                </a:moveTo>
                <a:lnTo>
                  <a:pt x="1520549" y="0"/>
                </a:lnTo>
                <a:lnTo>
                  <a:pt x="1715051" y="579121"/>
                </a:lnTo>
                <a:lnTo>
                  <a:pt x="3107460" y="774811"/>
                </a:lnTo>
                <a:lnTo>
                  <a:pt x="3641270" y="0"/>
                </a:lnTo>
                <a:close/>
              </a:path>
              <a:path w="5002530" h="3938270">
                <a:moveTo>
                  <a:pt x="5001954" y="0"/>
                </a:moveTo>
                <a:lnTo>
                  <a:pt x="4158813" y="0"/>
                </a:lnTo>
                <a:lnTo>
                  <a:pt x="4182288" y="75625"/>
                </a:lnTo>
                <a:lnTo>
                  <a:pt x="4202310" y="116723"/>
                </a:lnTo>
                <a:lnTo>
                  <a:pt x="4226411" y="155244"/>
                </a:lnTo>
                <a:lnTo>
                  <a:pt x="4254310" y="190908"/>
                </a:lnTo>
                <a:lnTo>
                  <a:pt x="4285724" y="223432"/>
                </a:lnTo>
                <a:lnTo>
                  <a:pt x="4320373" y="252534"/>
                </a:lnTo>
                <a:lnTo>
                  <a:pt x="4357973" y="277932"/>
                </a:lnTo>
                <a:lnTo>
                  <a:pt x="4398243" y="299345"/>
                </a:lnTo>
                <a:lnTo>
                  <a:pt x="4440901" y="316490"/>
                </a:lnTo>
                <a:lnTo>
                  <a:pt x="4485665" y="329086"/>
                </a:lnTo>
                <a:lnTo>
                  <a:pt x="4532253" y="336850"/>
                </a:lnTo>
                <a:lnTo>
                  <a:pt x="4580383" y="339501"/>
                </a:lnTo>
                <a:lnTo>
                  <a:pt x="4628513" y="336850"/>
                </a:lnTo>
                <a:lnTo>
                  <a:pt x="4675101" y="329086"/>
                </a:lnTo>
                <a:lnTo>
                  <a:pt x="4719866" y="316490"/>
                </a:lnTo>
                <a:lnTo>
                  <a:pt x="4762524" y="299345"/>
                </a:lnTo>
                <a:lnTo>
                  <a:pt x="4802794" y="277932"/>
                </a:lnTo>
                <a:lnTo>
                  <a:pt x="4840394" y="252534"/>
                </a:lnTo>
                <a:lnTo>
                  <a:pt x="4875043" y="223432"/>
                </a:lnTo>
                <a:lnTo>
                  <a:pt x="4906457" y="190908"/>
                </a:lnTo>
                <a:lnTo>
                  <a:pt x="4934356" y="155244"/>
                </a:lnTo>
                <a:lnTo>
                  <a:pt x="4958458" y="116723"/>
                </a:lnTo>
                <a:lnTo>
                  <a:pt x="4978479" y="75625"/>
                </a:lnTo>
                <a:lnTo>
                  <a:pt x="5001954" y="0"/>
                </a:lnTo>
                <a:close/>
              </a:path>
            </a:pathLst>
          </a:custGeom>
          <a:solidFill>
            <a:srgbClr val="00DEA4"/>
          </a:solidFill>
        </p:spPr>
        <p:txBody>
          <a:bodyPr wrap="square" lIns="0" tIns="0" rIns="0" bIns="0"/>
          <a:lstStyle/>
          <a:p>
            <a:endParaRPr/>
          </a:p>
        </p:txBody>
      </p:sp>
      <p:sp>
        <p:nvSpPr>
          <p:cNvPr id="3" name="object 3">
            <a:extLst>
              <a:ext uri="{FF2B5EF4-FFF2-40B4-BE49-F238E27FC236}">
                <a16:creationId xmlns:a16="http://schemas.microsoft.com/office/drawing/2014/main" id="{1C133FDC-421A-0E6B-E8DF-2B079806A508}"/>
              </a:ext>
            </a:extLst>
          </p:cNvPr>
          <p:cNvSpPr>
            <a:spLocks noGrp="1"/>
          </p:cNvSpPr>
          <p:nvPr/>
        </p:nvSpPr>
        <p:spPr>
          <a:xfrm>
            <a:off x="4146683" y="3775149"/>
            <a:ext cx="2453005" cy="320601"/>
          </a:xfrm>
          <a:prstGeom prst="rect">
            <a:avLst/>
          </a:prstGeom>
        </p:spPr>
        <p:txBody>
          <a:bodyPr vert="horz" wrap="square" lIns="0" tIns="12700" rIns="0" bIns="0">
            <a:spAutoFit/>
          </a:bodyPr>
          <a:lstStyle/>
          <a:p>
            <a:pPr marL="12700">
              <a:lnSpc>
                <a:spcPct val="100000"/>
              </a:lnSpc>
              <a:spcBef>
                <a:spcPts val="100"/>
              </a:spcBef>
              <a:buNone/>
            </a:pPr>
            <a:r>
              <a:rPr sz="2000" b="1">
                <a:solidFill>
                  <a:srgbClr val="00DEA4"/>
                </a:solidFill>
                <a:latin typeface="Arial"/>
                <a:ea typeface="Arial"/>
                <a:cs typeface="Arial"/>
              </a:rPr>
              <a:t>Big</a:t>
            </a:r>
            <a:r>
              <a:rPr sz="2000" b="1" spc="-40">
                <a:solidFill>
                  <a:srgbClr val="00DEA4"/>
                </a:solidFill>
                <a:latin typeface="Arial"/>
                <a:ea typeface="Arial"/>
                <a:cs typeface="Arial"/>
              </a:rPr>
              <a:t> </a:t>
            </a:r>
            <a:r>
              <a:rPr sz="2000" b="1">
                <a:solidFill>
                  <a:srgbClr val="00DEA4"/>
                </a:solidFill>
                <a:latin typeface="Arial"/>
                <a:ea typeface="Arial"/>
                <a:cs typeface="Arial"/>
              </a:rPr>
              <a:t>Data</a:t>
            </a:r>
            <a:r>
              <a:rPr sz="2000" b="1" spc="-105">
                <a:solidFill>
                  <a:srgbClr val="00DEA4"/>
                </a:solidFill>
                <a:latin typeface="Arial"/>
                <a:ea typeface="Arial"/>
                <a:cs typeface="Arial"/>
              </a:rPr>
              <a:t> </a:t>
            </a:r>
            <a:r>
              <a:rPr sz="2000" b="1" spc="-10">
                <a:solidFill>
                  <a:srgbClr val="00DEA4"/>
                </a:solidFill>
                <a:latin typeface="Arial"/>
                <a:ea typeface="Arial"/>
                <a:cs typeface="Arial"/>
              </a:rPr>
              <a:t>Aplicado</a:t>
            </a:r>
            <a:endParaRPr sz="2000">
              <a:latin typeface="Arial"/>
              <a:ea typeface="Arial"/>
              <a:cs typeface="Arial"/>
            </a:endParaRPr>
          </a:p>
        </p:txBody>
      </p:sp>
      <p:sp>
        <p:nvSpPr>
          <p:cNvPr id="4" name="object 4">
            <a:extLst>
              <a:ext uri="{FF2B5EF4-FFF2-40B4-BE49-F238E27FC236}">
                <a16:creationId xmlns:a16="http://schemas.microsoft.com/office/drawing/2014/main" id="{9F3FFD88-846F-0CF0-CFF1-75F4C426129A}"/>
              </a:ext>
            </a:extLst>
          </p:cNvPr>
          <p:cNvSpPr>
            <a:spLocks noGrp="1"/>
          </p:cNvSpPr>
          <p:nvPr>
            <p:ph type="title"/>
          </p:nvPr>
        </p:nvSpPr>
        <p:spPr>
          <a:xfrm>
            <a:off x="4146709" y="1476375"/>
            <a:ext cx="4667250" cy="1243686"/>
          </a:xfrm>
          <a:prstGeom prst="rect">
            <a:avLst/>
          </a:prstGeom>
        </p:spPr>
        <p:txBody>
          <a:bodyPr vert="horz" wrap="square" lIns="0" tIns="0" rIns="0" bIns="0">
            <a:noAutofit/>
          </a:bodyPr>
          <a:lstStyle>
            <a:defPPr>
              <a:defRPr sz="4000" b="1">
                <a:solidFill>
                  <a:srgbClr val="044247"/>
                </a:solidFill>
                <a:latin typeface="Arial Narrow"/>
                <a:ea typeface="Arial Narrow"/>
                <a:cs typeface="Arial Narrow"/>
              </a:defRPr>
            </a:defPPr>
            <a:lvl1pPr>
              <a:defRPr sz="4000" b="1">
                <a:solidFill>
                  <a:srgbClr val="044247"/>
                </a:solidFill>
                <a:latin typeface="Arial Narrow"/>
                <a:ea typeface="Arial Narrow"/>
                <a:cs typeface="Arial Narrow"/>
              </a:defRPr>
            </a:lvl1pPr>
            <a:lvl2pPr>
              <a:defRPr sz="4000" b="1">
                <a:solidFill>
                  <a:srgbClr val="044247"/>
                </a:solidFill>
                <a:latin typeface="Arial Narrow"/>
                <a:ea typeface="Arial Narrow"/>
                <a:cs typeface="Arial Narrow"/>
              </a:defRPr>
            </a:lvl2pPr>
            <a:lvl3pPr>
              <a:defRPr sz="4000" b="1">
                <a:solidFill>
                  <a:srgbClr val="044247"/>
                </a:solidFill>
                <a:latin typeface="Arial Narrow"/>
                <a:ea typeface="Arial Narrow"/>
                <a:cs typeface="Arial Narrow"/>
              </a:defRPr>
            </a:lvl3pPr>
            <a:lvl4pPr>
              <a:defRPr sz="4000" b="1">
                <a:solidFill>
                  <a:srgbClr val="044247"/>
                </a:solidFill>
                <a:latin typeface="Arial Narrow"/>
                <a:ea typeface="Arial Narrow"/>
                <a:cs typeface="Arial Narrow"/>
              </a:defRPr>
            </a:lvl4pPr>
            <a:lvl5pPr>
              <a:defRPr sz="4000" b="1">
                <a:solidFill>
                  <a:srgbClr val="044247"/>
                </a:solidFill>
                <a:latin typeface="Arial Narrow"/>
                <a:ea typeface="Arial Narrow"/>
                <a:cs typeface="Arial Narrow"/>
              </a:defRPr>
            </a:lvl5pPr>
            <a:lvl6pPr>
              <a:defRPr sz="4000" b="1">
                <a:solidFill>
                  <a:srgbClr val="044247"/>
                </a:solidFill>
                <a:latin typeface="Arial Narrow"/>
                <a:ea typeface="Arial Narrow"/>
                <a:cs typeface="Arial Narrow"/>
              </a:defRPr>
            </a:lvl6pPr>
            <a:lvl7pPr>
              <a:defRPr sz="4000" b="1">
                <a:solidFill>
                  <a:srgbClr val="044247"/>
                </a:solidFill>
                <a:latin typeface="Arial Narrow"/>
                <a:ea typeface="Arial Narrow"/>
                <a:cs typeface="Arial Narrow"/>
              </a:defRPr>
            </a:lvl7pPr>
            <a:lvl8pPr>
              <a:defRPr sz="4000" b="1">
                <a:solidFill>
                  <a:srgbClr val="044247"/>
                </a:solidFill>
                <a:latin typeface="Arial Narrow"/>
                <a:ea typeface="Arial Narrow"/>
                <a:cs typeface="Arial Narrow"/>
              </a:defRPr>
            </a:lvl8pPr>
            <a:lvl9pPr>
              <a:defRPr sz="4000" b="1">
                <a:solidFill>
                  <a:srgbClr val="044247"/>
                </a:solidFill>
                <a:latin typeface="Arial Narrow"/>
                <a:ea typeface="Arial Narrow"/>
                <a:cs typeface="Arial Narrow"/>
              </a:defRPr>
            </a:lvl9pPr>
          </a:lstStyle>
          <a:p>
            <a:pPr marL="12700" marR="5080">
              <a:lnSpc>
                <a:spcPct val="79300"/>
              </a:lnSpc>
              <a:spcBef>
                <a:spcPts val="1090"/>
              </a:spcBef>
              <a:buNone/>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Estadística</a:t>
            </a:r>
            <a:endParaRPr spc="-10"/>
          </a:p>
          <a:p>
            <a:pPr marL="12700" marR="5080">
              <a:lnSpc>
                <a:spcPct val="79300"/>
              </a:lnSpc>
              <a:spcBef>
                <a:spcPts val="1090"/>
              </a:spcBef>
              <a:buNone/>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con una ruleta</a:t>
            </a:r>
            <a:endParaRPr spc="-10"/>
          </a:p>
        </p:txBody>
      </p:sp>
      <p:sp>
        <p:nvSpPr>
          <p:cNvPr id="6" name="object 6">
            <a:extLst>
              <a:ext uri="{FF2B5EF4-FFF2-40B4-BE49-F238E27FC236}">
                <a16:creationId xmlns:a16="http://schemas.microsoft.com/office/drawing/2014/main" id="{BA915AB7-ABCB-342C-0DAF-750D9A53D80B}"/>
              </a:ext>
            </a:extLst>
          </p:cNvPr>
          <p:cNvSpPr>
            <a:spLocks noGrp="1"/>
          </p:cNvSpPr>
          <p:nvPr/>
        </p:nvSpPr>
        <p:spPr>
          <a:xfrm>
            <a:off x="8254885" y="3943584"/>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pic>
        <p:nvPicPr>
          <p:cNvPr id="7" name="object 7">
            <a:extLst>
              <a:ext uri="{FF2B5EF4-FFF2-40B4-BE49-F238E27FC236}">
                <a16:creationId xmlns:a16="http://schemas.microsoft.com/office/drawing/2014/main" id="{97890C15-677E-48BA-A16C-D57663CAB44F}"/>
              </a:ext>
            </a:extLst>
          </p:cNvPr>
          <p:cNvPicPr>
            <a:picLocks noChangeAspect="1"/>
          </p:cNvPicPr>
          <p:nvPr/>
        </p:nvPicPr>
        <p:blipFill>
          <a:blip r:embed="rId3"/>
          <a:stretch>
            <a:fillRect/>
          </a:stretch>
        </p:blipFill>
        <p:spPr>
          <a:xfrm>
            <a:off x="6797040" y="4373880"/>
            <a:ext cx="1459992" cy="344423"/>
          </a:xfrm>
          <a:prstGeom prst="rect">
            <a:avLst/>
          </a:prstGeom>
        </p:spPr>
      </p:pic>
      <p:pic>
        <p:nvPicPr>
          <p:cNvPr id="8" name="object 8">
            <a:extLst>
              <a:ext uri="{FF2B5EF4-FFF2-40B4-BE49-F238E27FC236}">
                <a16:creationId xmlns:a16="http://schemas.microsoft.com/office/drawing/2014/main" id="{626CC2B0-2081-42F1-A503-C4D1D03B98A9}"/>
              </a:ext>
            </a:extLst>
          </p:cNvPr>
          <p:cNvPicPr>
            <a:picLocks noChangeAspect="1"/>
          </p:cNvPicPr>
          <p:nvPr/>
        </p:nvPicPr>
        <p:blipFill>
          <a:blip r:embed="rId4"/>
          <a:stretch>
            <a:fillRect/>
          </a:stretch>
        </p:blipFill>
        <p:spPr>
          <a:xfrm>
            <a:off x="5046790" y="4373843"/>
            <a:ext cx="749345" cy="365309"/>
          </a:xfrm>
          <a:prstGeom prst="rect">
            <a:avLst/>
          </a:prstGeom>
        </p:spPr>
      </p:pic>
      <p:sp>
        <p:nvSpPr>
          <p:cNvPr id="10" name="object 10">
            <a:extLst>
              <a:ext uri="{FF2B5EF4-FFF2-40B4-BE49-F238E27FC236}">
                <a16:creationId xmlns:a16="http://schemas.microsoft.com/office/drawing/2014/main" id="{E2F0F48C-0E0E-229C-94C7-5072D3D41E89}"/>
              </a:ext>
            </a:extLst>
          </p:cNvPr>
          <p:cNvSpPr>
            <a:spLocks noGrp="1"/>
          </p:cNvSpPr>
          <p:nvPr/>
        </p:nvSpPr>
        <p:spPr>
          <a:xfrm>
            <a:off x="4372655" y="4519010"/>
            <a:ext cx="109220" cy="46990"/>
          </a:xfrm>
          <a:custGeom>
            <a:avLst/>
            <a:gdLst/>
            <a:ahLst/>
            <a:cxnLst/>
            <a:rect l="l" t="t" r="r" b="b"/>
            <a:pathLst>
              <a:path w="109220" h="46989">
                <a:moveTo>
                  <a:pt x="109052" y="0"/>
                </a:moveTo>
                <a:lnTo>
                  <a:pt x="0" y="0"/>
                </a:lnTo>
                <a:lnTo>
                  <a:pt x="0" y="46456"/>
                </a:lnTo>
                <a:lnTo>
                  <a:pt x="109052" y="46456"/>
                </a:lnTo>
                <a:lnTo>
                  <a:pt x="109052" y="0"/>
                </a:lnTo>
                <a:close/>
              </a:path>
            </a:pathLst>
          </a:custGeom>
          <a:solidFill>
            <a:srgbClr val="044247"/>
          </a:solidFill>
        </p:spPr>
        <p:txBody>
          <a:bodyPr wrap="square" lIns="0" tIns="0" rIns="0" bIns="0"/>
          <a:lstStyle/>
          <a:p>
            <a:endParaRPr/>
          </a:p>
        </p:txBody>
      </p:sp>
      <p:sp>
        <p:nvSpPr>
          <p:cNvPr id="11" name="object 11">
            <a:extLst>
              <a:ext uri="{FF2B5EF4-FFF2-40B4-BE49-F238E27FC236}">
                <a16:creationId xmlns:a16="http://schemas.microsoft.com/office/drawing/2014/main" id="{6AAC1BAC-8892-2396-AD94-83256F1BF2C1}"/>
              </a:ext>
            </a:extLst>
          </p:cNvPr>
          <p:cNvSpPr>
            <a:spLocks noGrp="1"/>
          </p:cNvSpPr>
          <p:nvPr/>
        </p:nvSpPr>
        <p:spPr>
          <a:xfrm>
            <a:off x="4309590" y="4502793"/>
            <a:ext cx="76200" cy="76835"/>
          </a:xfrm>
          <a:custGeom>
            <a:avLst/>
            <a:gdLst/>
            <a:ahLst/>
            <a:cxnLst/>
            <a:rect l="l" t="t" r="r" b="b"/>
            <a:pathLst>
              <a:path w="76200" h="76835">
                <a:moveTo>
                  <a:pt x="37682" y="0"/>
                </a:moveTo>
                <a:lnTo>
                  <a:pt x="2554" y="23467"/>
                </a:lnTo>
                <a:lnTo>
                  <a:pt x="0" y="38074"/>
                </a:lnTo>
                <a:lnTo>
                  <a:pt x="535" y="45564"/>
                </a:lnTo>
                <a:lnTo>
                  <a:pt x="30171" y="75625"/>
                </a:lnTo>
                <a:lnTo>
                  <a:pt x="37682" y="76227"/>
                </a:lnTo>
                <a:lnTo>
                  <a:pt x="53179" y="73081"/>
                </a:lnTo>
                <a:lnTo>
                  <a:pt x="65054" y="64856"/>
                </a:lnTo>
                <a:lnTo>
                  <a:pt x="72979" y="52778"/>
                </a:lnTo>
                <a:lnTo>
                  <a:pt x="75756" y="38074"/>
                </a:lnTo>
                <a:lnTo>
                  <a:pt x="72642" y="22651"/>
                </a:lnTo>
                <a:lnTo>
                  <a:pt x="64442" y="10758"/>
                </a:lnTo>
                <a:lnTo>
                  <a:pt x="52380" y="2808"/>
                </a:lnTo>
                <a:lnTo>
                  <a:pt x="37682" y="0"/>
                </a:lnTo>
                <a:close/>
              </a:path>
            </a:pathLst>
          </a:custGeom>
          <a:solidFill>
            <a:srgbClr val="00DEA4"/>
          </a:solidFill>
        </p:spPr>
        <p:txBody>
          <a:bodyPr wrap="square" lIns="0" tIns="0" rIns="0" bIns="0"/>
          <a:lstStyle/>
          <a:p>
            <a:endParaRPr/>
          </a:p>
        </p:txBody>
      </p:sp>
      <p:sp>
        <p:nvSpPr>
          <p:cNvPr id="12" name="object 12">
            <a:extLst>
              <a:ext uri="{FF2B5EF4-FFF2-40B4-BE49-F238E27FC236}">
                <a16:creationId xmlns:a16="http://schemas.microsoft.com/office/drawing/2014/main" id="{F40938CA-BE7A-3190-C616-6A313AE05F31}"/>
              </a:ext>
            </a:extLst>
          </p:cNvPr>
          <p:cNvSpPr>
            <a:spLocks noGrp="1"/>
          </p:cNvSpPr>
          <p:nvPr/>
        </p:nvSpPr>
        <p:spPr>
          <a:xfrm>
            <a:off x="4245192" y="4397737"/>
            <a:ext cx="236854" cy="46990"/>
          </a:xfrm>
          <a:custGeom>
            <a:avLst/>
            <a:gdLst/>
            <a:ahLst/>
            <a:cxnLst/>
            <a:rect l="l" t="t" r="r" b="b"/>
            <a:pathLst>
              <a:path w="236854" h="46989">
                <a:moveTo>
                  <a:pt x="236515" y="0"/>
                </a:moveTo>
                <a:lnTo>
                  <a:pt x="0" y="0"/>
                </a:lnTo>
                <a:lnTo>
                  <a:pt x="0" y="46613"/>
                </a:lnTo>
                <a:lnTo>
                  <a:pt x="236515" y="46613"/>
                </a:lnTo>
                <a:lnTo>
                  <a:pt x="236515" y="0"/>
                </a:lnTo>
                <a:close/>
              </a:path>
            </a:pathLst>
          </a:custGeom>
          <a:solidFill>
            <a:srgbClr val="044247"/>
          </a:solidFill>
        </p:spPr>
        <p:txBody>
          <a:bodyPr wrap="square" lIns="0" tIns="0" rIns="0" bIns="0"/>
          <a:lstStyle/>
          <a:p>
            <a:endParaRPr/>
          </a:p>
        </p:txBody>
      </p:sp>
      <p:sp>
        <p:nvSpPr>
          <p:cNvPr id="13" name="object 13">
            <a:extLst>
              <a:ext uri="{FF2B5EF4-FFF2-40B4-BE49-F238E27FC236}">
                <a16:creationId xmlns:a16="http://schemas.microsoft.com/office/drawing/2014/main" id="{9F9B7D2F-C3B1-F3F6-7FDB-29B2E37BBB7C}"/>
              </a:ext>
            </a:extLst>
          </p:cNvPr>
          <p:cNvSpPr>
            <a:spLocks noGrp="1"/>
          </p:cNvSpPr>
          <p:nvPr/>
        </p:nvSpPr>
        <p:spPr>
          <a:xfrm>
            <a:off x="4210564" y="4381676"/>
            <a:ext cx="76200" cy="76200"/>
          </a:xfrm>
          <a:custGeom>
            <a:avLst/>
            <a:gdLst/>
            <a:ahLst/>
            <a:cxnLst/>
            <a:rect l="l" t="t" r="r" b="b"/>
            <a:pathLst>
              <a:path w="76200" h="76200">
                <a:moveTo>
                  <a:pt x="37918" y="0"/>
                </a:moveTo>
                <a:lnTo>
                  <a:pt x="2654" y="23243"/>
                </a:lnTo>
                <a:lnTo>
                  <a:pt x="0" y="37917"/>
                </a:lnTo>
                <a:lnTo>
                  <a:pt x="588" y="45409"/>
                </a:lnTo>
                <a:lnTo>
                  <a:pt x="30407" y="75390"/>
                </a:lnTo>
                <a:lnTo>
                  <a:pt x="37918" y="75992"/>
                </a:lnTo>
                <a:lnTo>
                  <a:pt x="45429" y="75390"/>
                </a:lnTo>
                <a:lnTo>
                  <a:pt x="75380" y="45425"/>
                </a:lnTo>
                <a:lnTo>
                  <a:pt x="75992" y="37917"/>
                </a:lnTo>
                <a:lnTo>
                  <a:pt x="75382" y="30391"/>
                </a:lnTo>
                <a:lnTo>
                  <a:pt x="45408" y="551"/>
                </a:lnTo>
                <a:lnTo>
                  <a:pt x="37918" y="0"/>
                </a:lnTo>
                <a:close/>
              </a:path>
            </a:pathLst>
          </a:custGeom>
          <a:solidFill>
            <a:srgbClr val="00DEA4"/>
          </a:solidFill>
        </p:spPr>
        <p:txBody>
          <a:bodyPr wrap="square" lIns="0" tIns="0" rIns="0" bIns="0"/>
          <a:lstStyle/>
          <a:p>
            <a:endParaRPr/>
          </a:p>
        </p:txBody>
      </p:sp>
      <p:sp>
        <p:nvSpPr>
          <p:cNvPr id="14" name="object 14">
            <a:extLst>
              <a:ext uri="{FF2B5EF4-FFF2-40B4-BE49-F238E27FC236}">
                <a16:creationId xmlns:a16="http://schemas.microsoft.com/office/drawing/2014/main" id="{A00D7C3E-0C7E-CBBD-6919-F7BA4EA4502E}"/>
              </a:ext>
            </a:extLst>
          </p:cNvPr>
          <p:cNvSpPr>
            <a:spLocks noGrp="1"/>
          </p:cNvSpPr>
          <p:nvPr/>
        </p:nvSpPr>
        <p:spPr>
          <a:xfrm>
            <a:off x="4245192" y="4647022"/>
            <a:ext cx="236854" cy="46990"/>
          </a:xfrm>
          <a:custGeom>
            <a:avLst/>
            <a:gdLst/>
            <a:ahLst/>
            <a:cxnLst/>
            <a:rect l="l" t="t" r="r" b="b"/>
            <a:pathLst>
              <a:path w="236854" h="46989">
                <a:moveTo>
                  <a:pt x="236515" y="0"/>
                </a:moveTo>
                <a:lnTo>
                  <a:pt x="0" y="0"/>
                </a:lnTo>
                <a:lnTo>
                  <a:pt x="0" y="46456"/>
                </a:lnTo>
                <a:lnTo>
                  <a:pt x="236515" y="46456"/>
                </a:lnTo>
                <a:lnTo>
                  <a:pt x="236515" y="0"/>
                </a:lnTo>
                <a:close/>
              </a:path>
            </a:pathLst>
          </a:custGeom>
          <a:solidFill>
            <a:srgbClr val="044247"/>
          </a:solidFill>
        </p:spPr>
        <p:txBody>
          <a:bodyPr wrap="square" lIns="0" tIns="0" rIns="0" bIns="0"/>
          <a:lstStyle/>
          <a:p>
            <a:endParaRPr/>
          </a:p>
        </p:txBody>
      </p:sp>
      <p:sp>
        <p:nvSpPr>
          <p:cNvPr id="15" name="object 15">
            <a:extLst>
              <a:ext uri="{FF2B5EF4-FFF2-40B4-BE49-F238E27FC236}">
                <a16:creationId xmlns:a16="http://schemas.microsoft.com/office/drawing/2014/main" id="{84C5BD20-CB30-D5AD-4AB4-07026AEC73B5}"/>
              </a:ext>
            </a:extLst>
          </p:cNvPr>
          <p:cNvSpPr>
            <a:spLocks noGrp="1"/>
          </p:cNvSpPr>
          <p:nvPr/>
        </p:nvSpPr>
        <p:spPr>
          <a:xfrm>
            <a:off x="4210558" y="4390377"/>
            <a:ext cx="653415" cy="316865"/>
          </a:xfrm>
          <a:custGeom>
            <a:avLst/>
            <a:gdLst/>
            <a:ahLst/>
            <a:cxnLst/>
            <a:rect l="l" t="t" r="r" b="b"/>
            <a:pathLst>
              <a:path w="653414" h="316864">
                <a:moveTo>
                  <a:pt x="75984" y="278549"/>
                </a:moveTo>
                <a:lnTo>
                  <a:pt x="52590" y="243141"/>
                </a:lnTo>
                <a:lnTo>
                  <a:pt x="37553" y="240423"/>
                </a:lnTo>
                <a:lnTo>
                  <a:pt x="22288" y="243624"/>
                </a:lnTo>
                <a:lnTo>
                  <a:pt x="10515" y="251853"/>
                </a:lnTo>
                <a:lnTo>
                  <a:pt x="2692" y="263880"/>
                </a:lnTo>
                <a:lnTo>
                  <a:pt x="0" y="278511"/>
                </a:lnTo>
                <a:lnTo>
                  <a:pt x="584" y="286016"/>
                </a:lnTo>
                <a:lnTo>
                  <a:pt x="30403" y="316064"/>
                </a:lnTo>
                <a:lnTo>
                  <a:pt x="37922" y="316661"/>
                </a:lnTo>
                <a:lnTo>
                  <a:pt x="45427" y="316064"/>
                </a:lnTo>
                <a:lnTo>
                  <a:pt x="75984" y="278549"/>
                </a:lnTo>
                <a:close/>
              </a:path>
              <a:path w="653414" h="316864">
                <a:moveTo>
                  <a:pt x="653376" y="150495"/>
                </a:moveTo>
                <a:lnTo>
                  <a:pt x="566496" y="0"/>
                </a:lnTo>
                <a:lnTo>
                  <a:pt x="392734" y="0"/>
                </a:lnTo>
                <a:lnTo>
                  <a:pt x="305854" y="150495"/>
                </a:lnTo>
                <a:lnTo>
                  <a:pt x="392734" y="301066"/>
                </a:lnTo>
                <a:lnTo>
                  <a:pt x="566496" y="301066"/>
                </a:lnTo>
                <a:lnTo>
                  <a:pt x="653376" y="150495"/>
                </a:lnTo>
                <a:close/>
              </a:path>
            </a:pathLst>
          </a:custGeom>
          <a:solidFill>
            <a:srgbClr val="00DEA4"/>
          </a:solidFill>
        </p:spPr>
        <p:txBody>
          <a:bodyPr wrap="square" lIns="0" tIns="0" rIns="0" bIns="0"/>
          <a:lstStyle/>
          <a:p>
            <a:endParaRPr/>
          </a:p>
        </p:txBody>
      </p:sp>
      <p:sp>
        <p:nvSpPr>
          <p:cNvPr id="16" name="alcance">
            <a:extLst>
              <a:ext uri="{FF2B5EF4-FFF2-40B4-BE49-F238E27FC236}">
                <a16:creationId xmlns:a16="http://schemas.microsoft.com/office/drawing/2014/main" id="{B79B0DA0-19DB-43B2-8BDF-C8D89C60FE25}"/>
              </a:ext>
            </a:extLst>
          </p:cNvPr>
          <p:cNvSpPr>
            <a:spLocks noGrp="1"/>
          </p:cNvSpPr>
          <p:nvPr/>
        </p:nvSpPr>
        <p:spPr>
          <a:xfrm>
            <a:off x="4146709" y="3000375"/>
            <a:ext cx="4095750" cy="657225"/>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Probabilidad, frecuencias</a:t>
            </a:r>
          </a:p>
          <a:p>
            <a:pPr algn="l">
              <a:defRPr sz="2000" b="0">
                <a:solidFill>
                  <a:srgbClr val="111111"/>
                </a:solidFill>
                <a:latin typeface="Arial"/>
                <a:ea typeface="Arial"/>
                <a:cs typeface="Arial"/>
              </a:defRPr>
            </a:pPr>
            <a:r>
              <a:rPr sz="2000" b="0">
                <a:solidFill>
                  <a:srgbClr val="111111"/>
                </a:solidFill>
                <a:latin typeface="Arial"/>
                <a:ea typeface="Arial"/>
                <a:cs typeface="Arial"/>
              </a:rPr>
              <a:t>y porcentajes</a:t>
            </a:r>
          </a:p>
        </p:txBody>
      </p:sp>
    </p:spTree>
    <p:extLst>
      <p:ext uri="{BB962C8B-B14F-4D97-AF65-F5344CB8AC3E}">
        <p14:creationId xmlns:p14="http://schemas.microsoft.com/office/powerpoint/2010/main" val="11823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63A0B772-E43D-4DDA-A648-ED35C65739C3}"/>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La ruleta</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europea</a:t>
            </a:r>
          </a:p>
        </p:txBody>
      </p:sp>
      <p:sp>
        <p:nvSpPr>
          <p:cNvPr id="7" name="subtitulo">
            <a:extLst>
              <a:ext uri="{FF2B5EF4-FFF2-40B4-BE49-F238E27FC236}">
                <a16:creationId xmlns:a16="http://schemas.microsoft.com/office/drawing/2014/main" id="{FA0F19BA-6145-4C2A-8155-4647F4F8A770}"/>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El modelo</a:t>
            </a:r>
          </a:p>
        </p:txBody>
      </p:sp>
      <p:sp>
        <p:nvSpPr>
          <p:cNvPr id="8" name="idea">
            <a:extLst>
              <a:ext uri="{FF2B5EF4-FFF2-40B4-BE49-F238E27FC236}">
                <a16:creationId xmlns:a16="http://schemas.microsoft.com/office/drawing/2014/main" id="{B133BA1C-2EDA-4439-9280-3BF8B869CC16}"/>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37 números</a:t>
            </a:r>
          </a:p>
          <a:p>
            <a:pPr algn="l">
              <a:defRPr sz="2100" b="0">
                <a:solidFill>
                  <a:srgbClr val="111111"/>
                </a:solidFill>
                <a:latin typeface="Arial"/>
                <a:ea typeface="Arial"/>
                <a:cs typeface="Arial"/>
              </a:defRPr>
            </a:pPr>
            <a:r>
              <a:rPr sz="2100" b="0">
                <a:solidFill>
                  <a:srgbClr val="111111"/>
                </a:solidFill>
                <a:latin typeface="Arial"/>
                <a:ea typeface="Arial"/>
                <a:cs typeface="Arial"/>
              </a:rPr>
              <a:t>Del 0 al 36</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Ruleta justa</a:t>
            </a:r>
          </a:p>
          <a:p>
            <a:pPr algn="l">
              <a:defRPr sz="2100" b="0">
                <a:solidFill>
                  <a:srgbClr val="111111"/>
                </a:solidFill>
                <a:latin typeface="Arial"/>
                <a:ea typeface="Arial"/>
                <a:cs typeface="Arial"/>
              </a:defRPr>
            </a:pPr>
            <a:r>
              <a:rPr sz="2100" b="0">
                <a:solidFill>
                  <a:srgbClr val="111111"/>
                </a:solidFill>
                <a:latin typeface="Arial"/>
                <a:ea typeface="Arial"/>
                <a:cs typeface="Arial"/>
              </a:rPr>
              <a:t>Tiradas independientes</a:t>
            </a:r>
          </a:p>
        </p:txBody>
      </p:sp>
      <p:graphicFrame>
        <p:nvGraphicFramePr>
          <p:cNvPr id="9" name="Chart">
            <a:extLst>
              <a:ext uri="{FF2B5EF4-FFF2-40B4-BE49-F238E27FC236}">
                <a16:creationId xmlns:a16="http://schemas.microsoft.com/office/drawing/2014/main" id="{5D230821-860F-449D-9419-BBFDD1C18F58}"/>
              </a:ext>
            </a:extLst>
          </p:cNvPr>
          <p:cNvGraphicFramePr/>
          <p:nvPr/>
        </p:nvGraphicFramePr>
        <p:xfrm>
          <a:off x="3390900" y="542925"/>
          <a:ext cx="4953000" cy="3638550"/>
        </p:xfrm>
        <a:graphic>
          <a:graphicData uri="http://schemas.openxmlformats.org/drawingml/2006/chart">
            <c:chart xmlns:c="http://schemas.openxmlformats.org/drawingml/2006/chart" xmlns:r="http://schemas.openxmlformats.org/officeDocument/2006/relationships" r:id="rId3"/>
          </a:graphicData>
        </a:graphic>
      </p:graphicFrame>
      <p:sp>
        <p:nvSpPr>
          <p:cNvPr id="10" name="aclaracion">
            <a:extLst>
              <a:ext uri="{FF2B5EF4-FFF2-40B4-BE49-F238E27FC236}">
                <a16:creationId xmlns:a16="http://schemas.microsoft.com/office/drawing/2014/main" id="{9A4F1942-3425-40DD-A062-891CB425ACD1}"/>
              </a:ext>
            </a:extLst>
          </p:cNvPr>
          <p:cNvSpPr>
            <a:spLocks noGrp="1"/>
          </p:cNvSpPr>
          <p:nvPr/>
        </p:nvSpPr>
        <p:spPr>
          <a:xfrm>
            <a:off x="3333750" y="4343400"/>
            <a:ext cx="5048250" cy="333375"/>
          </a:xfrm>
          <a:prstGeom prst="rect">
            <a:avLst/>
          </a:prstGeom>
          <a:noFill/>
          <a:ln w="0">
            <a:noFill/>
          </a:ln>
        </p:spPr>
        <p:txBody>
          <a:bodyPr wrap="square" lIns="0" tIns="0" rIns="0" bIns="0" anchor="t">
            <a:noAutofit/>
          </a:bodyPr>
          <a:lstStyle>
            <a:defPPr algn="l">
              <a:defRPr sz="1800" b="0">
                <a:solidFill>
                  <a:srgbClr val="044247"/>
                </a:solidFill>
                <a:latin typeface="Arial"/>
                <a:ea typeface="Arial"/>
                <a:cs typeface="Arial"/>
              </a:defRPr>
            </a:defPPr>
            <a:lvl1pPr algn="l">
              <a:defRPr sz="1800" b="0">
                <a:solidFill>
                  <a:srgbClr val="044247"/>
                </a:solidFill>
                <a:latin typeface="Arial"/>
                <a:ea typeface="Arial"/>
                <a:cs typeface="Arial"/>
              </a:defRPr>
            </a:lvl1pPr>
            <a:lvl2pPr algn="l">
              <a:defRPr sz="1800" b="0">
                <a:solidFill>
                  <a:srgbClr val="044247"/>
                </a:solidFill>
                <a:latin typeface="Arial"/>
                <a:ea typeface="Arial"/>
                <a:cs typeface="Arial"/>
              </a:defRPr>
            </a:lvl2pPr>
            <a:lvl3pPr algn="l">
              <a:defRPr sz="1800" b="0">
                <a:solidFill>
                  <a:srgbClr val="044247"/>
                </a:solidFill>
                <a:latin typeface="Arial"/>
                <a:ea typeface="Arial"/>
                <a:cs typeface="Arial"/>
              </a:defRPr>
            </a:lvl3pPr>
            <a:lvl4pPr algn="l">
              <a:defRPr sz="1800" b="0">
                <a:solidFill>
                  <a:srgbClr val="044247"/>
                </a:solidFill>
                <a:latin typeface="Arial"/>
                <a:ea typeface="Arial"/>
                <a:cs typeface="Arial"/>
              </a:defRPr>
            </a:lvl4pPr>
            <a:lvl5pPr algn="l">
              <a:defRPr sz="1800" b="0">
                <a:solidFill>
                  <a:srgbClr val="044247"/>
                </a:solidFill>
                <a:latin typeface="Arial"/>
                <a:ea typeface="Arial"/>
                <a:cs typeface="Arial"/>
              </a:defRPr>
            </a:lvl5pPr>
            <a:lvl6pPr algn="l">
              <a:defRPr sz="1800" b="0">
                <a:solidFill>
                  <a:srgbClr val="044247"/>
                </a:solidFill>
                <a:latin typeface="Arial"/>
                <a:ea typeface="Arial"/>
                <a:cs typeface="Arial"/>
              </a:defRPr>
            </a:lvl6pPr>
            <a:lvl7pPr algn="l">
              <a:defRPr sz="1800" b="0">
                <a:solidFill>
                  <a:srgbClr val="044247"/>
                </a:solidFill>
                <a:latin typeface="Arial"/>
                <a:ea typeface="Arial"/>
                <a:cs typeface="Arial"/>
              </a:defRPr>
            </a:lvl7pPr>
            <a:lvl8pPr algn="l">
              <a:defRPr sz="1800" b="0">
                <a:solidFill>
                  <a:srgbClr val="044247"/>
                </a:solidFill>
                <a:latin typeface="Arial"/>
                <a:ea typeface="Arial"/>
                <a:cs typeface="Arial"/>
              </a:defRPr>
            </a:lvl8pPr>
            <a:lvl9pPr algn="l">
              <a:defRPr sz="1800" b="0">
                <a:solidFill>
                  <a:srgbClr val="044247"/>
                </a:solidFill>
                <a:latin typeface="Arial"/>
                <a:ea typeface="Arial"/>
                <a:cs typeface="Arial"/>
              </a:defRPr>
            </a:lvl9pPr>
          </a:lstStyle>
          <a:p>
            <a:pPr algn="l">
              <a:defRPr sz="1800" b="0">
                <a:solidFill>
                  <a:srgbClr val="044247"/>
                </a:solidFill>
                <a:latin typeface="Arial"/>
                <a:ea typeface="Arial"/>
                <a:cs typeface="Arial"/>
              </a:defRPr>
            </a:pPr>
            <a:r>
              <a:rPr sz="1800" b="0">
                <a:solidFill>
                  <a:srgbClr val="044247"/>
                </a:solidFill>
                <a:latin typeface="Arial"/>
                <a:ea typeface="Arial"/>
                <a:cs typeface="Arial"/>
              </a:rPr>
              <a:t>Reparto de los 37 resultados posibles</a:t>
            </a:r>
          </a:p>
        </p:txBody>
      </p:sp>
    </p:spTree>
    <p:extLst>
      <p:ext uri="{BB962C8B-B14F-4D97-AF65-F5344CB8AC3E}">
        <p14:creationId xmlns:p14="http://schemas.microsoft.com/office/powerpoint/2010/main" val="125842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19D5FC6A-38DD-44CA-A8CD-26644C00D770}"/>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Resultado</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y suceso</a:t>
            </a:r>
          </a:p>
        </p:txBody>
      </p:sp>
      <p:sp>
        <p:nvSpPr>
          <p:cNvPr id="7" name="subtitulo">
            <a:extLst>
              <a:ext uri="{FF2B5EF4-FFF2-40B4-BE49-F238E27FC236}">
                <a16:creationId xmlns:a16="http://schemas.microsoft.com/office/drawing/2014/main" id="{737DF920-48AC-4E0E-BB80-D2CC90ABFC05}"/>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Qué contamos</a:t>
            </a:r>
          </a:p>
        </p:txBody>
      </p:sp>
      <p:sp>
        <p:nvSpPr>
          <p:cNvPr id="8" name="explicacion">
            <a:extLst>
              <a:ext uri="{FF2B5EF4-FFF2-40B4-BE49-F238E27FC236}">
                <a16:creationId xmlns:a16="http://schemas.microsoft.com/office/drawing/2014/main" id="{0FF39636-AD19-4ADF-B318-9121420BA217}"/>
              </a:ext>
            </a:extLst>
          </p:cNvPr>
          <p:cNvSpPr>
            <a:spLocks noGrp="1"/>
          </p:cNvSpPr>
          <p:nvPr/>
        </p:nvSpPr>
        <p:spPr>
          <a:xfrm>
            <a:off x="3333750" y="647700"/>
            <a:ext cx="5238750" cy="6667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Resultado: sale el 17</a:t>
            </a:r>
          </a:p>
        </p:txBody>
      </p:sp>
      <p:sp>
        <p:nvSpPr>
          <p:cNvPr id="9" name="explicacion">
            <a:extLst>
              <a:ext uri="{FF2B5EF4-FFF2-40B4-BE49-F238E27FC236}">
                <a16:creationId xmlns:a16="http://schemas.microsoft.com/office/drawing/2014/main" id="{DE67156D-EEE4-4C41-A587-6AEB57D40534}"/>
              </a:ext>
            </a:extLst>
          </p:cNvPr>
          <p:cNvSpPr>
            <a:spLocks noGrp="1"/>
          </p:cNvSpPr>
          <p:nvPr/>
        </p:nvSpPr>
        <p:spPr>
          <a:xfrm>
            <a:off x="3333750" y="1295400"/>
            <a:ext cx="5238750" cy="666750"/>
          </a:xfrm>
          <a:prstGeom prst="rect">
            <a:avLst/>
          </a:prstGeom>
          <a:noFill/>
          <a:ln w="0">
            <a:noFill/>
          </a:ln>
        </p:spPr>
        <p:txBody>
          <a:bodyPr wrap="square" lIns="0" tIns="0" rIns="0" bIns="0" anchor="t">
            <a:noAutofit/>
          </a:bodyPr>
          <a:lstStyle>
            <a:defPPr algn="l">
              <a:defRPr sz="2400" b="0">
                <a:solidFill>
                  <a:srgbClr val="111111"/>
                </a:solidFill>
                <a:latin typeface="Arial"/>
                <a:ea typeface="Arial"/>
                <a:cs typeface="Arial"/>
              </a:defRPr>
            </a:defPPr>
            <a:lvl1pPr algn="l">
              <a:defRPr sz="2400" b="0">
                <a:solidFill>
                  <a:srgbClr val="111111"/>
                </a:solidFill>
                <a:latin typeface="Arial"/>
                <a:ea typeface="Arial"/>
                <a:cs typeface="Arial"/>
              </a:defRPr>
            </a:lvl1pPr>
            <a:lvl2pPr algn="l">
              <a:defRPr sz="2400" b="0">
                <a:solidFill>
                  <a:srgbClr val="111111"/>
                </a:solidFill>
                <a:latin typeface="Arial"/>
                <a:ea typeface="Arial"/>
                <a:cs typeface="Arial"/>
              </a:defRPr>
            </a:lvl2pPr>
            <a:lvl3pPr algn="l">
              <a:defRPr sz="2400" b="0">
                <a:solidFill>
                  <a:srgbClr val="111111"/>
                </a:solidFill>
                <a:latin typeface="Arial"/>
                <a:ea typeface="Arial"/>
                <a:cs typeface="Arial"/>
              </a:defRPr>
            </a:lvl3pPr>
            <a:lvl4pPr algn="l">
              <a:defRPr sz="2400" b="0">
                <a:solidFill>
                  <a:srgbClr val="111111"/>
                </a:solidFill>
                <a:latin typeface="Arial"/>
                <a:ea typeface="Arial"/>
                <a:cs typeface="Arial"/>
              </a:defRPr>
            </a:lvl4pPr>
            <a:lvl5pPr algn="l">
              <a:defRPr sz="2400" b="0">
                <a:solidFill>
                  <a:srgbClr val="111111"/>
                </a:solidFill>
                <a:latin typeface="Arial"/>
                <a:ea typeface="Arial"/>
                <a:cs typeface="Arial"/>
              </a:defRPr>
            </a:lvl5pPr>
            <a:lvl6pPr algn="l">
              <a:defRPr sz="2400" b="0">
                <a:solidFill>
                  <a:srgbClr val="111111"/>
                </a:solidFill>
                <a:latin typeface="Arial"/>
                <a:ea typeface="Arial"/>
                <a:cs typeface="Arial"/>
              </a:defRPr>
            </a:lvl6pPr>
            <a:lvl7pPr algn="l">
              <a:defRPr sz="2400" b="0">
                <a:solidFill>
                  <a:srgbClr val="111111"/>
                </a:solidFill>
                <a:latin typeface="Arial"/>
                <a:ea typeface="Arial"/>
                <a:cs typeface="Arial"/>
              </a:defRPr>
            </a:lvl7pPr>
            <a:lvl8pPr algn="l">
              <a:defRPr sz="2400" b="0">
                <a:solidFill>
                  <a:srgbClr val="111111"/>
                </a:solidFill>
                <a:latin typeface="Arial"/>
                <a:ea typeface="Arial"/>
                <a:cs typeface="Arial"/>
              </a:defRPr>
            </a:lvl8pPr>
            <a:lvl9pPr algn="l">
              <a:defRPr sz="2400" b="0">
                <a:solidFill>
                  <a:srgbClr val="111111"/>
                </a:solidFill>
                <a:latin typeface="Arial"/>
                <a:ea typeface="Arial"/>
                <a:cs typeface="Arial"/>
              </a:defRPr>
            </a:lvl9pPr>
          </a:lstStyle>
          <a:p>
            <a:pPr algn="l">
              <a:defRPr sz="2400" b="0">
                <a:solidFill>
                  <a:srgbClr val="111111"/>
                </a:solidFill>
                <a:latin typeface="Arial"/>
                <a:ea typeface="Arial"/>
                <a:cs typeface="Arial"/>
              </a:defRPr>
            </a:pPr>
            <a:r>
              <a:rPr sz="2400" b="0">
                <a:solidFill>
                  <a:srgbClr val="111111"/>
                </a:solidFill>
                <a:latin typeface="Arial"/>
                <a:ea typeface="Arial"/>
                <a:cs typeface="Arial"/>
              </a:rPr>
              <a:t>Un resultado concreto</a:t>
            </a:r>
          </a:p>
          <a:p>
            <a:pPr algn="l">
              <a:defRPr sz="2400" b="0">
                <a:solidFill>
                  <a:srgbClr val="111111"/>
                </a:solidFill>
                <a:latin typeface="Arial"/>
                <a:ea typeface="Arial"/>
                <a:cs typeface="Arial"/>
              </a:defRPr>
            </a:pPr>
            <a:r>
              <a:rPr sz="2400" b="0">
                <a:solidFill>
                  <a:srgbClr val="111111"/>
                </a:solidFill>
                <a:latin typeface="Arial"/>
                <a:ea typeface="Arial"/>
                <a:cs typeface="Arial"/>
              </a:rPr>
              <a:t>entre los 37 posibles.</a:t>
            </a:r>
          </a:p>
        </p:txBody>
      </p:sp>
      <p:sp>
        <p:nvSpPr>
          <p:cNvPr id="10" name="explicacion">
            <a:extLst>
              <a:ext uri="{FF2B5EF4-FFF2-40B4-BE49-F238E27FC236}">
                <a16:creationId xmlns:a16="http://schemas.microsoft.com/office/drawing/2014/main" id="{1E1C476B-46A8-4ACD-BC24-0B5365B6174A}"/>
              </a:ext>
            </a:extLst>
          </p:cNvPr>
          <p:cNvSpPr>
            <a:spLocks noGrp="1"/>
          </p:cNvSpPr>
          <p:nvPr/>
        </p:nvSpPr>
        <p:spPr>
          <a:xfrm>
            <a:off x="3333750" y="2514600"/>
            <a:ext cx="5238750" cy="6667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Suceso: sale rojo</a:t>
            </a:r>
          </a:p>
        </p:txBody>
      </p:sp>
      <p:sp>
        <p:nvSpPr>
          <p:cNvPr id="11" name="explicacion">
            <a:extLst>
              <a:ext uri="{FF2B5EF4-FFF2-40B4-BE49-F238E27FC236}">
                <a16:creationId xmlns:a16="http://schemas.microsoft.com/office/drawing/2014/main" id="{9551D301-8FF0-4057-99CB-5E621717A8CF}"/>
              </a:ext>
            </a:extLst>
          </p:cNvPr>
          <p:cNvSpPr>
            <a:spLocks noGrp="1"/>
          </p:cNvSpPr>
          <p:nvPr/>
        </p:nvSpPr>
        <p:spPr>
          <a:xfrm>
            <a:off x="3333750" y="3162300"/>
            <a:ext cx="5238750" cy="666750"/>
          </a:xfrm>
          <a:prstGeom prst="rect">
            <a:avLst/>
          </a:prstGeom>
          <a:noFill/>
          <a:ln w="0">
            <a:noFill/>
          </a:ln>
        </p:spPr>
        <p:txBody>
          <a:bodyPr wrap="square" lIns="0" tIns="0" rIns="0" bIns="0" anchor="t">
            <a:noAutofit/>
          </a:bodyPr>
          <a:lstStyle>
            <a:defPPr algn="l">
              <a:defRPr sz="2400" b="0">
                <a:solidFill>
                  <a:srgbClr val="111111"/>
                </a:solidFill>
                <a:latin typeface="Arial"/>
                <a:ea typeface="Arial"/>
                <a:cs typeface="Arial"/>
              </a:defRPr>
            </a:defPPr>
            <a:lvl1pPr algn="l">
              <a:defRPr sz="2400" b="0">
                <a:solidFill>
                  <a:srgbClr val="111111"/>
                </a:solidFill>
                <a:latin typeface="Arial"/>
                <a:ea typeface="Arial"/>
                <a:cs typeface="Arial"/>
              </a:defRPr>
            </a:lvl1pPr>
            <a:lvl2pPr algn="l">
              <a:defRPr sz="2400" b="0">
                <a:solidFill>
                  <a:srgbClr val="111111"/>
                </a:solidFill>
                <a:latin typeface="Arial"/>
                <a:ea typeface="Arial"/>
                <a:cs typeface="Arial"/>
              </a:defRPr>
            </a:lvl2pPr>
            <a:lvl3pPr algn="l">
              <a:defRPr sz="2400" b="0">
                <a:solidFill>
                  <a:srgbClr val="111111"/>
                </a:solidFill>
                <a:latin typeface="Arial"/>
                <a:ea typeface="Arial"/>
                <a:cs typeface="Arial"/>
              </a:defRPr>
            </a:lvl3pPr>
            <a:lvl4pPr algn="l">
              <a:defRPr sz="2400" b="0">
                <a:solidFill>
                  <a:srgbClr val="111111"/>
                </a:solidFill>
                <a:latin typeface="Arial"/>
                <a:ea typeface="Arial"/>
                <a:cs typeface="Arial"/>
              </a:defRPr>
            </a:lvl4pPr>
            <a:lvl5pPr algn="l">
              <a:defRPr sz="2400" b="0">
                <a:solidFill>
                  <a:srgbClr val="111111"/>
                </a:solidFill>
                <a:latin typeface="Arial"/>
                <a:ea typeface="Arial"/>
                <a:cs typeface="Arial"/>
              </a:defRPr>
            </a:lvl5pPr>
            <a:lvl6pPr algn="l">
              <a:defRPr sz="2400" b="0">
                <a:solidFill>
                  <a:srgbClr val="111111"/>
                </a:solidFill>
                <a:latin typeface="Arial"/>
                <a:ea typeface="Arial"/>
                <a:cs typeface="Arial"/>
              </a:defRPr>
            </a:lvl6pPr>
            <a:lvl7pPr algn="l">
              <a:defRPr sz="2400" b="0">
                <a:solidFill>
                  <a:srgbClr val="111111"/>
                </a:solidFill>
                <a:latin typeface="Arial"/>
                <a:ea typeface="Arial"/>
                <a:cs typeface="Arial"/>
              </a:defRPr>
            </a:lvl7pPr>
            <a:lvl8pPr algn="l">
              <a:defRPr sz="2400" b="0">
                <a:solidFill>
                  <a:srgbClr val="111111"/>
                </a:solidFill>
                <a:latin typeface="Arial"/>
                <a:ea typeface="Arial"/>
                <a:cs typeface="Arial"/>
              </a:defRPr>
            </a:lvl8pPr>
            <a:lvl9pPr algn="l">
              <a:defRPr sz="2400" b="0">
                <a:solidFill>
                  <a:srgbClr val="111111"/>
                </a:solidFill>
                <a:latin typeface="Arial"/>
                <a:ea typeface="Arial"/>
                <a:cs typeface="Arial"/>
              </a:defRPr>
            </a:lvl9pPr>
          </a:lstStyle>
          <a:p>
            <a:pPr algn="l">
              <a:defRPr sz="2400" b="0">
                <a:solidFill>
                  <a:srgbClr val="111111"/>
                </a:solidFill>
                <a:latin typeface="Arial"/>
                <a:ea typeface="Arial"/>
                <a:cs typeface="Arial"/>
              </a:defRPr>
            </a:pPr>
            <a:r>
              <a:rPr sz="2400" b="0">
                <a:solidFill>
                  <a:srgbClr val="111111"/>
                </a:solidFill>
                <a:latin typeface="Arial"/>
                <a:ea typeface="Arial"/>
                <a:cs typeface="Arial"/>
              </a:rPr>
              <a:t>Reúne los 18 números</a:t>
            </a:r>
          </a:p>
          <a:p>
            <a:pPr algn="l">
              <a:defRPr sz="2400" b="0">
                <a:solidFill>
                  <a:srgbClr val="111111"/>
                </a:solidFill>
                <a:latin typeface="Arial"/>
                <a:ea typeface="Arial"/>
                <a:cs typeface="Arial"/>
              </a:defRPr>
            </a:pPr>
            <a:r>
              <a:rPr sz="2400" b="0">
                <a:solidFill>
                  <a:srgbClr val="111111"/>
                </a:solidFill>
                <a:latin typeface="Arial"/>
                <a:ea typeface="Arial"/>
                <a:cs typeface="Arial"/>
              </a:rPr>
              <a:t>rojos de la ruleta.</a:t>
            </a:r>
          </a:p>
        </p:txBody>
      </p:sp>
    </p:spTree>
    <p:extLst>
      <p:ext uri="{BB962C8B-B14F-4D97-AF65-F5344CB8AC3E}">
        <p14:creationId xmlns:p14="http://schemas.microsoft.com/office/powerpoint/2010/main" val="163843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6B816977-F607-4C35-B307-CBC18DEC64D2}"/>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Un número</a:t>
            </a:r>
          </a:p>
        </p:txBody>
      </p:sp>
      <p:sp>
        <p:nvSpPr>
          <p:cNvPr id="7" name="subtitulo">
            <a:extLst>
              <a:ext uri="{FF2B5EF4-FFF2-40B4-BE49-F238E27FC236}">
                <a16:creationId xmlns:a16="http://schemas.microsoft.com/office/drawing/2014/main" id="{51FC12C6-46DD-4373-B5D4-ACB125D91F1E}"/>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Probabilidad</a:t>
            </a:r>
          </a:p>
        </p:txBody>
      </p:sp>
      <p:sp>
        <p:nvSpPr>
          <p:cNvPr id="8" name="idea">
            <a:extLst>
              <a:ext uri="{FF2B5EF4-FFF2-40B4-BE49-F238E27FC236}">
                <a16:creationId xmlns:a16="http://schemas.microsoft.com/office/drawing/2014/main" id="{8F891DB4-7C02-4FDF-B7DD-83FAE629317E}"/>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Con resultados</a:t>
            </a:r>
          </a:p>
          <a:p>
            <a:pPr algn="l">
              <a:defRPr sz="2100" b="0">
                <a:solidFill>
                  <a:srgbClr val="111111"/>
                </a:solidFill>
                <a:latin typeface="Arial"/>
                <a:ea typeface="Arial"/>
                <a:cs typeface="Arial"/>
              </a:defRPr>
            </a:pPr>
            <a:r>
              <a:rPr sz="2100" b="0">
                <a:solidFill>
                  <a:srgbClr val="111111"/>
                </a:solidFill>
                <a:latin typeface="Arial"/>
                <a:ea typeface="Arial"/>
                <a:cs typeface="Arial"/>
              </a:rPr>
              <a:t>igualmente probables.</a:t>
            </a:r>
          </a:p>
        </p:txBody>
      </p:sp>
      <p:sp>
        <p:nvSpPr>
          <p:cNvPr id="9" name="explicacion">
            <a:extLst>
              <a:ext uri="{FF2B5EF4-FFF2-40B4-BE49-F238E27FC236}">
                <a16:creationId xmlns:a16="http://schemas.microsoft.com/office/drawing/2014/main" id="{7CDA7FB2-7585-4AE2-ACCC-117013B67E88}"/>
              </a:ext>
            </a:extLst>
          </p:cNvPr>
          <p:cNvSpPr>
            <a:spLocks noGrp="1"/>
          </p:cNvSpPr>
          <p:nvPr/>
        </p:nvSpPr>
        <p:spPr>
          <a:xfrm>
            <a:off x="3333750" y="609600"/>
            <a:ext cx="5238750" cy="6667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Probabilidad =</a:t>
            </a:r>
          </a:p>
        </p:txBody>
      </p:sp>
      <p:sp>
        <p:nvSpPr>
          <p:cNvPr id="10" name="explicacion">
            <a:extLst>
              <a:ext uri="{FF2B5EF4-FFF2-40B4-BE49-F238E27FC236}">
                <a16:creationId xmlns:a16="http://schemas.microsoft.com/office/drawing/2014/main" id="{0F5D5D44-45FB-445E-9405-5F76CBFE427A}"/>
              </a:ext>
            </a:extLst>
          </p:cNvPr>
          <p:cNvSpPr>
            <a:spLocks noGrp="1"/>
          </p:cNvSpPr>
          <p:nvPr/>
        </p:nvSpPr>
        <p:spPr>
          <a:xfrm>
            <a:off x="3333750" y="1209675"/>
            <a:ext cx="5238750" cy="6667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casos favorables / casos posibles</a:t>
            </a:r>
          </a:p>
        </p:txBody>
      </p:sp>
      <p:sp>
        <p:nvSpPr>
          <p:cNvPr id="11" name="explicacion">
            <a:extLst>
              <a:ext uri="{FF2B5EF4-FFF2-40B4-BE49-F238E27FC236}">
                <a16:creationId xmlns:a16="http://schemas.microsoft.com/office/drawing/2014/main" id="{B5D9B67A-47F9-4DB5-BE49-080B1F2CB6AA}"/>
              </a:ext>
            </a:extLst>
          </p:cNvPr>
          <p:cNvSpPr>
            <a:spLocks noGrp="1"/>
          </p:cNvSpPr>
          <p:nvPr/>
        </p:nvSpPr>
        <p:spPr>
          <a:xfrm>
            <a:off x="3333750" y="2200275"/>
            <a:ext cx="5238750" cy="666750"/>
          </a:xfrm>
          <a:prstGeom prst="rect">
            <a:avLst/>
          </a:prstGeom>
          <a:noFill/>
          <a:ln w="0">
            <a:noFill/>
          </a:ln>
        </p:spPr>
        <p:txBody>
          <a:bodyPr wrap="square" lIns="0" tIns="0" rIns="0" bIns="0" anchor="t">
            <a:noAutofit/>
          </a:bodyPr>
          <a:lstStyle>
            <a:defPPr algn="l">
              <a:defRPr sz="2400" b="0">
                <a:solidFill>
                  <a:srgbClr val="111111"/>
                </a:solidFill>
                <a:latin typeface="Arial"/>
                <a:ea typeface="Arial"/>
                <a:cs typeface="Arial"/>
              </a:defRPr>
            </a:defPPr>
            <a:lvl1pPr algn="l">
              <a:defRPr sz="2400" b="0">
                <a:solidFill>
                  <a:srgbClr val="111111"/>
                </a:solidFill>
                <a:latin typeface="Arial"/>
                <a:ea typeface="Arial"/>
                <a:cs typeface="Arial"/>
              </a:defRPr>
            </a:lvl1pPr>
            <a:lvl2pPr algn="l">
              <a:defRPr sz="2400" b="0">
                <a:solidFill>
                  <a:srgbClr val="111111"/>
                </a:solidFill>
                <a:latin typeface="Arial"/>
                <a:ea typeface="Arial"/>
                <a:cs typeface="Arial"/>
              </a:defRPr>
            </a:lvl2pPr>
            <a:lvl3pPr algn="l">
              <a:defRPr sz="2400" b="0">
                <a:solidFill>
                  <a:srgbClr val="111111"/>
                </a:solidFill>
                <a:latin typeface="Arial"/>
                <a:ea typeface="Arial"/>
                <a:cs typeface="Arial"/>
              </a:defRPr>
            </a:lvl3pPr>
            <a:lvl4pPr algn="l">
              <a:defRPr sz="2400" b="0">
                <a:solidFill>
                  <a:srgbClr val="111111"/>
                </a:solidFill>
                <a:latin typeface="Arial"/>
                <a:ea typeface="Arial"/>
                <a:cs typeface="Arial"/>
              </a:defRPr>
            </a:lvl4pPr>
            <a:lvl5pPr algn="l">
              <a:defRPr sz="2400" b="0">
                <a:solidFill>
                  <a:srgbClr val="111111"/>
                </a:solidFill>
                <a:latin typeface="Arial"/>
                <a:ea typeface="Arial"/>
                <a:cs typeface="Arial"/>
              </a:defRPr>
            </a:lvl5pPr>
            <a:lvl6pPr algn="l">
              <a:defRPr sz="2400" b="0">
                <a:solidFill>
                  <a:srgbClr val="111111"/>
                </a:solidFill>
                <a:latin typeface="Arial"/>
                <a:ea typeface="Arial"/>
                <a:cs typeface="Arial"/>
              </a:defRPr>
            </a:lvl6pPr>
            <a:lvl7pPr algn="l">
              <a:defRPr sz="2400" b="0">
                <a:solidFill>
                  <a:srgbClr val="111111"/>
                </a:solidFill>
                <a:latin typeface="Arial"/>
                <a:ea typeface="Arial"/>
                <a:cs typeface="Arial"/>
              </a:defRPr>
            </a:lvl7pPr>
            <a:lvl8pPr algn="l">
              <a:defRPr sz="2400" b="0">
                <a:solidFill>
                  <a:srgbClr val="111111"/>
                </a:solidFill>
                <a:latin typeface="Arial"/>
                <a:ea typeface="Arial"/>
                <a:cs typeface="Arial"/>
              </a:defRPr>
            </a:lvl8pPr>
            <a:lvl9pPr algn="l">
              <a:defRPr sz="2400" b="0">
                <a:solidFill>
                  <a:srgbClr val="111111"/>
                </a:solidFill>
                <a:latin typeface="Arial"/>
                <a:ea typeface="Arial"/>
                <a:cs typeface="Arial"/>
              </a:defRPr>
            </a:lvl9pPr>
          </a:lstStyle>
          <a:p>
            <a:pPr algn="l">
              <a:defRPr sz="2400" b="0">
                <a:solidFill>
                  <a:srgbClr val="111111"/>
                </a:solidFill>
                <a:latin typeface="Arial"/>
                <a:ea typeface="Arial"/>
                <a:cs typeface="Arial"/>
              </a:defRPr>
            </a:pPr>
            <a:r>
              <a:rPr sz="2400" b="0">
                <a:solidFill>
                  <a:srgbClr val="111111"/>
                </a:solidFill>
                <a:latin typeface="Arial"/>
                <a:ea typeface="Arial"/>
                <a:cs typeface="Arial"/>
              </a:rPr>
              <a:t>Para que salga el 17:</a:t>
            </a:r>
          </a:p>
        </p:txBody>
      </p:sp>
      <p:sp>
        <p:nvSpPr>
          <p:cNvPr id="12" name="explicacion">
            <a:extLst>
              <a:ext uri="{FF2B5EF4-FFF2-40B4-BE49-F238E27FC236}">
                <a16:creationId xmlns:a16="http://schemas.microsoft.com/office/drawing/2014/main" id="{2EBEE597-CB2E-4B3E-B04F-41E27CFD432E}"/>
              </a:ext>
            </a:extLst>
          </p:cNvPr>
          <p:cNvSpPr>
            <a:spLocks noGrp="1"/>
          </p:cNvSpPr>
          <p:nvPr/>
        </p:nvSpPr>
        <p:spPr>
          <a:xfrm>
            <a:off x="3333750" y="2828925"/>
            <a:ext cx="5238750" cy="666750"/>
          </a:xfrm>
          <a:prstGeom prst="rect">
            <a:avLst/>
          </a:prstGeom>
          <a:noFill/>
          <a:ln w="0">
            <a:noFill/>
          </a:ln>
        </p:spPr>
        <p:txBody>
          <a:bodyPr wrap="square" lIns="0" tIns="0" rIns="0" bIns="0" anchor="t">
            <a:noAutofit/>
          </a:bodyPr>
          <a:lstStyle>
            <a:defPPr algn="l">
              <a:defRPr sz="3600" b="1">
                <a:solidFill>
                  <a:srgbClr val="044247"/>
                </a:solidFill>
                <a:latin typeface="Arial"/>
                <a:ea typeface="Arial"/>
                <a:cs typeface="Arial"/>
              </a:defRPr>
            </a:defPPr>
            <a:lvl1pPr algn="l">
              <a:defRPr sz="3600" b="1">
                <a:solidFill>
                  <a:srgbClr val="044247"/>
                </a:solidFill>
                <a:latin typeface="Arial"/>
                <a:ea typeface="Arial"/>
                <a:cs typeface="Arial"/>
              </a:defRPr>
            </a:lvl1pPr>
            <a:lvl2pPr algn="l">
              <a:defRPr sz="3600" b="1">
                <a:solidFill>
                  <a:srgbClr val="044247"/>
                </a:solidFill>
                <a:latin typeface="Arial"/>
                <a:ea typeface="Arial"/>
                <a:cs typeface="Arial"/>
              </a:defRPr>
            </a:lvl2pPr>
            <a:lvl3pPr algn="l">
              <a:defRPr sz="3600" b="1">
                <a:solidFill>
                  <a:srgbClr val="044247"/>
                </a:solidFill>
                <a:latin typeface="Arial"/>
                <a:ea typeface="Arial"/>
                <a:cs typeface="Arial"/>
              </a:defRPr>
            </a:lvl3pPr>
            <a:lvl4pPr algn="l">
              <a:defRPr sz="3600" b="1">
                <a:solidFill>
                  <a:srgbClr val="044247"/>
                </a:solidFill>
                <a:latin typeface="Arial"/>
                <a:ea typeface="Arial"/>
                <a:cs typeface="Arial"/>
              </a:defRPr>
            </a:lvl4pPr>
            <a:lvl5pPr algn="l">
              <a:defRPr sz="3600" b="1">
                <a:solidFill>
                  <a:srgbClr val="044247"/>
                </a:solidFill>
                <a:latin typeface="Arial"/>
                <a:ea typeface="Arial"/>
                <a:cs typeface="Arial"/>
              </a:defRPr>
            </a:lvl5pPr>
            <a:lvl6pPr algn="l">
              <a:defRPr sz="3600" b="1">
                <a:solidFill>
                  <a:srgbClr val="044247"/>
                </a:solidFill>
                <a:latin typeface="Arial"/>
                <a:ea typeface="Arial"/>
                <a:cs typeface="Arial"/>
              </a:defRPr>
            </a:lvl6pPr>
            <a:lvl7pPr algn="l">
              <a:defRPr sz="3600" b="1">
                <a:solidFill>
                  <a:srgbClr val="044247"/>
                </a:solidFill>
                <a:latin typeface="Arial"/>
                <a:ea typeface="Arial"/>
                <a:cs typeface="Arial"/>
              </a:defRPr>
            </a:lvl7pPr>
            <a:lvl8pPr algn="l">
              <a:defRPr sz="3600" b="1">
                <a:solidFill>
                  <a:srgbClr val="044247"/>
                </a:solidFill>
                <a:latin typeface="Arial"/>
                <a:ea typeface="Arial"/>
                <a:cs typeface="Arial"/>
              </a:defRPr>
            </a:lvl8pPr>
            <a:lvl9pPr algn="l">
              <a:defRPr sz="3600" b="1">
                <a:solidFill>
                  <a:srgbClr val="044247"/>
                </a:solidFill>
                <a:latin typeface="Arial"/>
                <a:ea typeface="Arial"/>
                <a:cs typeface="Arial"/>
              </a:defRPr>
            </a:lvl9pPr>
          </a:lstStyle>
          <a:p>
            <a:pPr algn="l">
              <a:defRPr sz="3600" b="1">
                <a:solidFill>
                  <a:srgbClr val="044247"/>
                </a:solidFill>
                <a:latin typeface="Arial"/>
                <a:ea typeface="Arial"/>
                <a:cs typeface="Arial"/>
              </a:defRPr>
            </a:pPr>
            <a:r>
              <a:rPr sz="3600" b="1">
                <a:solidFill>
                  <a:srgbClr val="044247"/>
                </a:solidFill>
                <a:latin typeface="Arial"/>
                <a:ea typeface="Arial"/>
                <a:cs typeface="Arial"/>
              </a:rPr>
              <a:t>P(17) = 1 / 37</a:t>
            </a:r>
          </a:p>
        </p:txBody>
      </p:sp>
      <p:sp>
        <p:nvSpPr>
          <p:cNvPr id="13" name="explicacion">
            <a:extLst>
              <a:ext uri="{FF2B5EF4-FFF2-40B4-BE49-F238E27FC236}">
                <a16:creationId xmlns:a16="http://schemas.microsoft.com/office/drawing/2014/main" id="{CA3C1182-3474-4F0A-8555-59DFA270C0A2}"/>
              </a:ext>
            </a:extLst>
          </p:cNvPr>
          <p:cNvSpPr>
            <a:spLocks noGrp="1"/>
          </p:cNvSpPr>
          <p:nvPr/>
        </p:nvSpPr>
        <p:spPr>
          <a:xfrm>
            <a:off x="3333750" y="3667125"/>
            <a:ext cx="5238750" cy="6667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1 resultado favorable</a:t>
            </a:r>
          </a:p>
          <a:p>
            <a:pPr algn="l">
              <a:defRPr sz="2100" b="0">
                <a:solidFill>
                  <a:srgbClr val="111111"/>
                </a:solidFill>
                <a:latin typeface="Arial"/>
                <a:ea typeface="Arial"/>
                <a:cs typeface="Arial"/>
              </a:defRPr>
            </a:pPr>
            <a:r>
              <a:rPr sz="2100" b="0">
                <a:solidFill>
                  <a:srgbClr val="111111"/>
                </a:solidFill>
                <a:latin typeface="Arial"/>
                <a:ea typeface="Arial"/>
                <a:cs typeface="Arial"/>
              </a:rPr>
              <a:t>37 resultados posibles</a:t>
            </a:r>
          </a:p>
        </p:txBody>
      </p:sp>
    </p:spTree>
    <p:extLst>
      <p:ext uri="{BB962C8B-B14F-4D97-AF65-F5344CB8AC3E}">
        <p14:creationId xmlns:p14="http://schemas.microsoft.com/office/powerpoint/2010/main" val="3652627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8892F884-A643-458F-AAD2-2C55459FE9A1}"/>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Fracción y</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porcentaje</a:t>
            </a:r>
          </a:p>
        </p:txBody>
      </p:sp>
      <p:sp>
        <p:nvSpPr>
          <p:cNvPr id="7" name="subtitulo">
            <a:extLst>
              <a:ext uri="{FF2B5EF4-FFF2-40B4-BE49-F238E27FC236}">
                <a16:creationId xmlns:a16="http://schemas.microsoft.com/office/drawing/2014/main" id="{AF424C8E-C8D0-4CDF-9966-2913E9576B9B}"/>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Conversión</a:t>
            </a:r>
          </a:p>
        </p:txBody>
      </p:sp>
      <p:sp>
        <p:nvSpPr>
          <p:cNvPr id="8" name="explicacion">
            <a:extLst>
              <a:ext uri="{FF2B5EF4-FFF2-40B4-BE49-F238E27FC236}">
                <a16:creationId xmlns:a16="http://schemas.microsoft.com/office/drawing/2014/main" id="{E0337FCC-E485-4EEC-847C-8E7CEDE43F66}"/>
              </a:ext>
            </a:extLst>
          </p:cNvPr>
          <p:cNvSpPr>
            <a:spLocks noGrp="1"/>
          </p:cNvSpPr>
          <p:nvPr/>
        </p:nvSpPr>
        <p:spPr>
          <a:xfrm>
            <a:off x="3333750" y="514350"/>
            <a:ext cx="5238750" cy="381000"/>
          </a:xfrm>
          <a:prstGeom prst="rect">
            <a:avLst/>
          </a:prstGeom>
          <a:noFill/>
          <a:ln w="0">
            <a:noFill/>
          </a:ln>
        </p:spPr>
        <p:txBody>
          <a:bodyPr wrap="square" lIns="0" tIns="0" rIns="0" bIns="0" anchor="t">
            <a:noAutofit/>
          </a:bodyPr>
          <a:lstStyle>
            <a:defPPr algn="l">
              <a:defRPr sz="2100" b="1">
                <a:solidFill>
                  <a:srgbClr val="044247"/>
                </a:solidFill>
                <a:latin typeface="Arial"/>
                <a:ea typeface="Arial"/>
                <a:cs typeface="Arial"/>
              </a:defRPr>
            </a:defPPr>
            <a:lvl1pPr algn="l">
              <a:defRPr sz="2100" b="1">
                <a:solidFill>
                  <a:srgbClr val="044247"/>
                </a:solidFill>
                <a:latin typeface="Arial"/>
                <a:ea typeface="Arial"/>
                <a:cs typeface="Arial"/>
              </a:defRPr>
            </a:lvl1pPr>
            <a:lvl2pPr algn="l">
              <a:defRPr sz="2100" b="1">
                <a:solidFill>
                  <a:srgbClr val="044247"/>
                </a:solidFill>
                <a:latin typeface="Arial"/>
                <a:ea typeface="Arial"/>
                <a:cs typeface="Arial"/>
              </a:defRPr>
            </a:lvl2pPr>
            <a:lvl3pPr algn="l">
              <a:defRPr sz="2100" b="1">
                <a:solidFill>
                  <a:srgbClr val="044247"/>
                </a:solidFill>
                <a:latin typeface="Arial"/>
                <a:ea typeface="Arial"/>
                <a:cs typeface="Arial"/>
              </a:defRPr>
            </a:lvl3pPr>
            <a:lvl4pPr algn="l">
              <a:defRPr sz="2100" b="1">
                <a:solidFill>
                  <a:srgbClr val="044247"/>
                </a:solidFill>
                <a:latin typeface="Arial"/>
                <a:ea typeface="Arial"/>
                <a:cs typeface="Arial"/>
              </a:defRPr>
            </a:lvl4pPr>
            <a:lvl5pPr algn="l">
              <a:defRPr sz="2100" b="1">
                <a:solidFill>
                  <a:srgbClr val="044247"/>
                </a:solidFill>
                <a:latin typeface="Arial"/>
                <a:ea typeface="Arial"/>
                <a:cs typeface="Arial"/>
              </a:defRPr>
            </a:lvl5pPr>
            <a:lvl6pPr algn="l">
              <a:defRPr sz="2100" b="1">
                <a:solidFill>
                  <a:srgbClr val="044247"/>
                </a:solidFill>
                <a:latin typeface="Arial"/>
                <a:ea typeface="Arial"/>
                <a:cs typeface="Arial"/>
              </a:defRPr>
            </a:lvl6pPr>
            <a:lvl7pPr algn="l">
              <a:defRPr sz="2100" b="1">
                <a:solidFill>
                  <a:srgbClr val="044247"/>
                </a:solidFill>
                <a:latin typeface="Arial"/>
                <a:ea typeface="Arial"/>
                <a:cs typeface="Arial"/>
              </a:defRPr>
            </a:lvl7pPr>
            <a:lvl8pPr algn="l">
              <a:defRPr sz="2100" b="1">
                <a:solidFill>
                  <a:srgbClr val="044247"/>
                </a:solidFill>
                <a:latin typeface="Arial"/>
                <a:ea typeface="Arial"/>
                <a:cs typeface="Arial"/>
              </a:defRPr>
            </a:lvl8pPr>
            <a:lvl9pPr algn="l">
              <a:defRPr sz="2100" b="1">
                <a:solidFill>
                  <a:srgbClr val="044247"/>
                </a:solidFill>
                <a:latin typeface="Arial"/>
                <a:ea typeface="Arial"/>
                <a:cs typeface="Arial"/>
              </a:defRPr>
            </a:lvl9pPr>
          </a:lstStyle>
          <a:p>
            <a:pPr algn="l">
              <a:defRPr sz="2100" b="1">
                <a:solidFill>
                  <a:srgbClr val="044247"/>
                </a:solidFill>
                <a:latin typeface="Arial"/>
                <a:ea typeface="Arial"/>
                <a:cs typeface="Arial"/>
              </a:defRPr>
            </a:pPr>
            <a:r>
              <a:rPr sz="2100" b="1">
                <a:solidFill>
                  <a:srgbClr val="044247"/>
                </a:solidFill>
                <a:latin typeface="Arial"/>
                <a:ea typeface="Arial"/>
                <a:cs typeface="Arial"/>
              </a:rPr>
              <a:t>1. Fracción</a:t>
            </a:r>
          </a:p>
        </p:txBody>
      </p:sp>
      <p:sp>
        <p:nvSpPr>
          <p:cNvPr id="9" name="explicacion">
            <a:extLst>
              <a:ext uri="{FF2B5EF4-FFF2-40B4-BE49-F238E27FC236}">
                <a16:creationId xmlns:a16="http://schemas.microsoft.com/office/drawing/2014/main" id="{E2B85795-4348-4514-9FF2-ECBE87CFDBF7}"/>
              </a:ext>
            </a:extLst>
          </p:cNvPr>
          <p:cNvSpPr>
            <a:spLocks noGrp="1"/>
          </p:cNvSpPr>
          <p:nvPr/>
        </p:nvSpPr>
        <p:spPr>
          <a:xfrm>
            <a:off x="3333750" y="942975"/>
            <a:ext cx="5238750" cy="666750"/>
          </a:xfrm>
          <a:prstGeom prst="rect">
            <a:avLst/>
          </a:prstGeom>
          <a:noFill/>
          <a:ln w="0">
            <a:noFill/>
          </a:ln>
        </p:spPr>
        <p:txBody>
          <a:bodyPr wrap="square" lIns="0" tIns="0" rIns="0" bIns="0" anchor="t">
            <a:noAutofit/>
          </a:bodyPr>
          <a:lstStyle>
            <a:defPPr algn="l">
              <a:defRPr sz="3375" b="1">
                <a:solidFill>
                  <a:srgbClr val="044247"/>
                </a:solidFill>
                <a:latin typeface="Arial"/>
                <a:ea typeface="Arial"/>
                <a:cs typeface="Arial"/>
              </a:defRPr>
            </a:defPPr>
            <a:lvl1pPr algn="l">
              <a:defRPr sz="3375" b="1">
                <a:solidFill>
                  <a:srgbClr val="044247"/>
                </a:solidFill>
                <a:latin typeface="Arial"/>
                <a:ea typeface="Arial"/>
                <a:cs typeface="Arial"/>
              </a:defRPr>
            </a:lvl1pPr>
            <a:lvl2pPr algn="l">
              <a:defRPr sz="3375" b="1">
                <a:solidFill>
                  <a:srgbClr val="044247"/>
                </a:solidFill>
                <a:latin typeface="Arial"/>
                <a:ea typeface="Arial"/>
                <a:cs typeface="Arial"/>
              </a:defRPr>
            </a:lvl2pPr>
            <a:lvl3pPr algn="l">
              <a:defRPr sz="3375" b="1">
                <a:solidFill>
                  <a:srgbClr val="044247"/>
                </a:solidFill>
                <a:latin typeface="Arial"/>
                <a:ea typeface="Arial"/>
                <a:cs typeface="Arial"/>
              </a:defRPr>
            </a:lvl3pPr>
            <a:lvl4pPr algn="l">
              <a:defRPr sz="3375" b="1">
                <a:solidFill>
                  <a:srgbClr val="044247"/>
                </a:solidFill>
                <a:latin typeface="Arial"/>
                <a:ea typeface="Arial"/>
                <a:cs typeface="Arial"/>
              </a:defRPr>
            </a:lvl4pPr>
            <a:lvl5pPr algn="l">
              <a:defRPr sz="3375" b="1">
                <a:solidFill>
                  <a:srgbClr val="044247"/>
                </a:solidFill>
                <a:latin typeface="Arial"/>
                <a:ea typeface="Arial"/>
                <a:cs typeface="Arial"/>
              </a:defRPr>
            </a:lvl5pPr>
            <a:lvl6pPr algn="l">
              <a:defRPr sz="3375" b="1">
                <a:solidFill>
                  <a:srgbClr val="044247"/>
                </a:solidFill>
                <a:latin typeface="Arial"/>
                <a:ea typeface="Arial"/>
                <a:cs typeface="Arial"/>
              </a:defRPr>
            </a:lvl6pPr>
            <a:lvl7pPr algn="l">
              <a:defRPr sz="3375" b="1">
                <a:solidFill>
                  <a:srgbClr val="044247"/>
                </a:solidFill>
                <a:latin typeface="Arial"/>
                <a:ea typeface="Arial"/>
                <a:cs typeface="Arial"/>
              </a:defRPr>
            </a:lvl7pPr>
            <a:lvl8pPr algn="l">
              <a:defRPr sz="3375" b="1">
                <a:solidFill>
                  <a:srgbClr val="044247"/>
                </a:solidFill>
                <a:latin typeface="Arial"/>
                <a:ea typeface="Arial"/>
                <a:cs typeface="Arial"/>
              </a:defRPr>
            </a:lvl8pPr>
            <a:lvl9pPr algn="l">
              <a:defRPr sz="3375" b="1">
                <a:solidFill>
                  <a:srgbClr val="044247"/>
                </a:solidFill>
                <a:latin typeface="Arial"/>
                <a:ea typeface="Arial"/>
                <a:cs typeface="Arial"/>
              </a:defRPr>
            </a:lvl9pPr>
          </a:lstStyle>
          <a:p>
            <a:pPr algn="l">
              <a:defRPr sz="3375" b="1">
                <a:solidFill>
                  <a:srgbClr val="044247"/>
                </a:solidFill>
                <a:latin typeface="Arial"/>
                <a:ea typeface="Arial"/>
                <a:cs typeface="Arial"/>
              </a:defRPr>
            </a:pPr>
            <a:r>
              <a:rPr sz="3375" b="1">
                <a:solidFill>
                  <a:srgbClr val="044247"/>
                </a:solidFill>
                <a:latin typeface="Arial"/>
                <a:ea typeface="Arial"/>
                <a:cs typeface="Arial"/>
              </a:rPr>
              <a:t>1 / 37</a:t>
            </a:r>
          </a:p>
        </p:txBody>
      </p:sp>
      <p:sp>
        <p:nvSpPr>
          <p:cNvPr id="10" name="explicacion">
            <a:extLst>
              <a:ext uri="{FF2B5EF4-FFF2-40B4-BE49-F238E27FC236}">
                <a16:creationId xmlns:a16="http://schemas.microsoft.com/office/drawing/2014/main" id="{4B0F669F-0F44-44DE-971D-A8750E3F0191}"/>
              </a:ext>
            </a:extLst>
          </p:cNvPr>
          <p:cNvSpPr>
            <a:spLocks noGrp="1"/>
          </p:cNvSpPr>
          <p:nvPr/>
        </p:nvSpPr>
        <p:spPr>
          <a:xfrm>
            <a:off x="3333750" y="1838325"/>
            <a:ext cx="5238750" cy="381000"/>
          </a:xfrm>
          <a:prstGeom prst="rect">
            <a:avLst/>
          </a:prstGeom>
          <a:noFill/>
          <a:ln w="0">
            <a:noFill/>
          </a:ln>
        </p:spPr>
        <p:txBody>
          <a:bodyPr wrap="square" lIns="0" tIns="0" rIns="0" bIns="0" anchor="t">
            <a:noAutofit/>
          </a:bodyPr>
          <a:lstStyle>
            <a:defPPr algn="l">
              <a:defRPr sz="2100" b="1">
                <a:solidFill>
                  <a:srgbClr val="044247"/>
                </a:solidFill>
                <a:latin typeface="Arial"/>
                <a:ea typeface="Arial"/>
                <a:cs typeface="Arial"/>
              </a:defRPr>
            </a:defPPr>
            <a:lvl1pPr algn="l">
              <a:defRPr sz="2100" b="1">
                <a:solidFill>
                  <a:srgbClr val="044247"/>
                </a:solidFill>
                <a:latin typeface="Arial"/>
                <a:ea typeface="Arial"/>
                <a:cs typeface="Arial"/>
              </a:defRPr>
            </a:lvl1pPr>
            <a:lvl2pPr algn="l">
              <a:defRPr sz="2100" b="1">
                <a:solidFill>
                  <a:srgbClr val="044247"/>
                </a:solidFill>
                <a:latin typeface="Arial"/>
                <a:ea typeface="Arial"/>
                <a:cs typeface="Arial"/>
              </a:defRPr>
            </a:lvl2pPr>
            <a:lvl3pPr algn="l">
              <a:defRPr sz="2100" b="1">
                <a:solidFill>
                  <a:srgbClr val="044247"/>
                </a:solidFill>
                <a:latin typeface="Arial"/>
                <a:ea typeface="Arial"/>
                <a:cs typeface="Arial"/>
              </a:defRPr>
            </a:lvl3pPr>
            <a:lvl4pPr algn="l">
              <a:defRPr sz="2100" b="1">
                <a:solidFill>
                  <a:srgbClr val="044247"/>
                </a:solidFill>
                <a:latin typeface="Arial"/>
                <a:ea typeface="Arial"/>
                <a:cs typeface="Arial"/>
              </a:defRPr>
            </a:lvl4pPr>
            <a:lvl5pPr algn="l">
              <a:defRPr sz="2100" b="1">
                <a:solidFill>
                  <a:srgbClr val="044247"/>
                </a:solidFill>
                <a:latin typeface="Arial"/>
                <a:ea typeface="Arial"/>
                <a:cs typeface="Arial"/>
              </a:defRPr>
            </a:lvl5pPr>
            <a:lvl6pPr algn="l">
              <a:defRPr sz="2100" b="1">
                <a:solidFill>
                  <a:srgbClr val="044247"/>
                </a:solidFill>
                <a:latin typeface="Arial"/>
                <a:ea typeface="Arial"/>
                <a:cs typeface="Arial"/>
              </a:defRPr>
            </a:lvl6pPr>
            <a:lvl7pPr algn="l">
              <a:defRPr sz="2100" b="1">
                <a:solidFill>
                  <a:srgbClr val="044247"/>
                </a:solidFill>
                <a:latin typeface="Arial"/>
                <a:ea typeface="Arial"/>
                <a:cs typeface="Arial"/>
              </a:defRPr>
            </a:lvl7pPr>
            <a:lvl8pPr algn="l">
              <a:defRPr sz="2100" b="1">
                <a:solidFill>
                  <a:srgbClr val="044247"/>
                </a:solidFill>
                <a:latin typeface="Arial"/>
                <a:ea typeface="Arial"/>
                <a:cs typeface="Arial"/>
              </a:defRPr>
            </a:lvl8pPr>
            <a:lvl9pPr algn="l">
              <a:defRPr sz="2100" b="1">
                <a:solidFill>
                  <a:srgbClr val="044247"/>
                </a:solidFill>
                <a:latin typeface="Arial"/>
                <a:ea typeface="Arial"/>
                <a:cs typeface="Arial"/>
              </a:defRPr>
            </a:lvl9pPr>
          </a:lstStyle>
          <a:p>
            <a:pPr algn="l">
              <a:defRPr sz="2100" b="1">
                <a:solidFill>
                  <a:srgbClr val="044247"/>
                </a:solidFill>
                <a:latin typeface="Arial"/>
                <a:ea typeface="Arial"/>
                <a:cs typeface="Arial"/>
              </a:defRPr>
            </a:pPr>
            <a:r>
              <a:rPr sz="2100" b="1">
                <a:solidFill>
                  <a:srgbClr val="044247"/>
                </a:solidFill>
                <a:latin typeface="Arial"/>
                <a:ea typeface="Arial"/>
                <a:cs typeface="Arial"/>
              </a:rPr>
              <a:t>2. División</a:t>
            </a:r>
          </a:p>
        </p:txBody>
      </p:sp>
      <p:sp>
        <p:nvSpPr>
          <p:cNvPr id="11" name="explicacion">
            <a:extLst>
              <a:ext uri="{FF2B5EF4-FFF2-40B4-BE49-F238E27FC236}">
                <a16:creationId xmlns:a16="http://schemas.microsoft.com/office/drawing/2014/main" id="{562F5755-3316-48CC-973C-B2CA997B4D28}"/>
              </a:ext>
            </a:extLst>
          </p:cNvPr>
          <p:cNvSpPr>
            <a:spLocks noGrp="1"/>
          </p:cNvSpPr>
          <p:nvPr/>
        </p:nvSpPr>
        <p:spPr>
          <a:xfrm>
            <a:off x="3333750" y="2238375"/>
            <a:ext cx="5238750" cy="666750"/>
          </a:xfrm>
          <a:prstGeom prst="rect">
            <a:avLst/>
          </a:prstGeom>
          <a:noFill/>
          <a:ln w="0">
            <a:noFill/>
          </a:ln>
        </p:spPr>
        <p:txBody>
          <a:bodyPr wrap="square" lIns="0" tIns="0" rIns="0" bIns="0" anchor="t">
            <a:noAutofit/>
          </a:bodyPr>
          <a:lstStyle>
            <a:defPPr algn="l">
              <a:defRPr sz="2800" b="0">
                <a:solidFill>
                  <a:srgbClr val="111111"/>
                </a:solidFill>
                <a:latin typeface="Arial"/>
                <a:ea typeface="Arial"/>
                <a:cs typeface="Arial"/>
              </a:defRPr>
            </a:defPPr>
            <a:lvl1pPr algn="l">
              <a:defRPr sz="2800" b="0">
                <a:solidFill>
                  <a:srgbClr val="111111"/>
                </a:solidFill>
                <a:latin typeface="Arial"/>
                <a:ea typeface="Arial"/>
                <a:cs typeface="Arial"/>
              </a:defRPr>
            </a:lvl1pPr>
            <a:lvl2pPr algn="l">
              <a:defRPr sz="2800" b="0">
                <a:solidFill>
                  <a:srgbClr val="111111"/>
                </a:solidFill>
                <a:latin typeface="Arial"/>
                <a:ea typeface="Arial"/>
                <a:cs typeface="Arial"/>
              </a:defRPr>
            </a:lvl2pPr>
            <a:lvl3pPr algn="l">
              <a:defRPr sz="2800" b="0">
                <a:solidFill>
                  <a:srgbClr val="111111"/>
                </a:solidFill>
                <a:latin typeface="Arial"/>
                <a:ea typeface="Arial"/>
                <a:cs typeface="Arial"/>
              </a:defRPr>
            </a:lvl3pPr>
            <a:lvl4pPr algn="l">
              <a:defRPr sz="2800" b="0">
                <a:solidFill>
                  <a:srgbClr val="111111"/>
                </a:solidFill>
                <a:latin typeface="Arial"/>
                <a:ea typeface="Arial"/>
                <a:cs typeface="Arial"/>
              </a:defRPr>
            </a:lvl4pPr>
            <a:lvl5pPr algn="l">
              <a:defRPr sz="2800" b="0">
                <a:solidFill>
                  <a:srgbClr val="111111"/>
                </a:solidFill>
                <a:latin typeface="Arial"/>
                <a:ea typeface="Arial"/>
                <a:cs typeface="Arial"/>
              </a:defRPr>
            </a:lvl5pPr>
            <a:lvl6pPr algn="l">
              <a:defRPr sz="2800" b="0">
                <a:solidFill>
                  <a:srgbClr val="111111"/>
                </a:solidFill>
                <a:latin typeface="Arial"/>
                <a:ea typeface="Arial"/>
                <a:cs typeface="Arial"/>
              </a:defRPr>
            </a:lvl6pPr>
            <a:lvl7pPr algn="l">
              <a:defRPr sz="2800" b="0">
                <a:solidFill>
                  <a:srgbClr val="111111"/>
                </a:solidFill>
                <a:latin typeface="Arial"/>
                <a:ea typeface="Arial"/>
                <a:cs typeface="Arial"/>
              </a:defRPr>
            </a:lvl7pPr>
            <a:lvl8pPr algn="l">
              <a:defRPr sz="2800" b="0">
                <a:solidFill>
                  <a:srgbClr val="111111"/>
                </a:solidFill>
                <a:latin typeface="Arial"/>
                <a:ea typeface="Arial"/>
                <a:cs typeface="Arial"/>
              </a:defRPr>
            </a:lvl8pPr>
            <a:lvl9pPr algn="l">
              <a:defRPr sz="2800" b="0">
                <a:solidFill>
                  <a:srgbClr val="111111"/>
                </a:solidFill>
                <a:latin typeface="Arial"/>
                <a:ea typeface="Arial"/>
                <a:cs typeface="Arial"/>
              </a:defRPr>
            </a:lvl9pPr>
          </a:lstStyle>
          <a:p>
            <a:pPr algn="l">
              <a:defRPr sz="2800" b="0">
                <a:solidFill>
                  <a:srgbClr val="111111"/>
                </a:solidFill>
                <a:latin typeface="Arial"/>
                <a:ea typeface="Arial"/>
                <a:cs typeface="Arial"/>
              </a:defRPr>
            </a:pPr>
            <a:r>
              <a:rPr sz="2800" b="0">
                <a:solidFill>
                  <a:srgbClr val="111111"/>
                </a:solidFill>
                <a:latin typeface="Arial"/>
                <a:ea typeface="Arial"/>
                <a:cs typeface="Arial"/>
              </a:rPr>
              <a:t>1 ÷ 37 = 0,027027…</a:t>
            </a:r>
          </a:p>
        </p:txBody>
      </p:sp>
      <p:sp>
        <p:nvSpPr>
          <p:cNvPr id="12" name="explicacion">
            <a:extLst>
              <a:ext uri="{FF2B5EF4-FFF2-40B4-BE49-F238E27FC236}">
                <a16:creationId xmlns:a16="http://schemas.microsoft.com/office/drawing/2014/main" id="{FA36D682-2FBF-45B8-A564-2FEBC19674B6}"/>
              </a:ext>
            </a:extLst>
          </p:cNvPr>
          <p:cNvSpPr>
            <a:spLocks noGrp="1"/>
          </p:cNvSpPr>
          <p:nvPr/>
        </p:nvSpPr>
        <p:spPr>
          <a:xfrm>
            <a:off x="3333750" y="3152775"/>
            <a:ext cx="5238750" cy="381000"/>
          </a:xfrm>
          <a:prstGeom prst="rect">
            <a:avLst/>
          </a:prstGeom>
          <a:noFill/>
          <a:ln w="0">
            <a:noFill/>
          </a:ln>
        </p:spPr>
        <p:txBody>
          <a:bodyPr wrap="square" lIns="0" tIns="0" rIns="0" bIns="0" anchor="t">
            <a:noAutofit/>
          </a:bodyPr>
          <a:lstStyle>
            <a:defPPr algn="l">
              <a:defRPr sz="2100" b="1">
                <a:solidFill>
                  <a:srgbClr val="044247"/>
                </a:solidFill>
                <a:latin typeface="Arial"/>
                <a:ea typeface="Arial"/>
                <a:cs typeface="Arial"/>
              </a:defRPr>
            </a:defPPr>
            <a:lvl1pPr algn="l">
              <a:defRPr sz="2100" b="1">
                <a:solidFill>
                  <a:srgbClr val="044247"/>
                </a:solidFill>
                <a:latin typeface="Arial"/>
                <a:ea typeface="Arial"/>
                <a:cs typeface="Arial"/>
              </a:defRPr>
            </a:lvl1pPr>
            <a:lvl2pPr algn="l">
              <a:defRPr sz="2100" b="1">
                <a:solidFill>
                  <a:srgbClr val="044247"/>
                </a:solidFill>
                <a:latin typeface="Arial"/>
                <a:ea typeface="Arial"/>
                <a:cs typeface="Arial"/>
              </a:defRPr>
            </a:lvl2pPr>
            <a:lvl3pPr algn="l">
              <a:defRPr sz="2100" b="1">
                <a:solidFill>
                  <a:srgbClr val="044247"/>
                </a:solidFill>
                <a:latin typeface="Arial"/>
                <a:ea typeface="Arial"/>
                <a:cs typeface="Arial"/>
              </a:defRPr>
            </a:lvl3pPr>
            <a:lvl4pPr algn="l">
              <a:defRPr sz="2100" b="1">
                <a:solidFill>
                  <a:srgbClr val="044247"/>
                </a:solidFill>
                <a:latin typeface="Arial"/>
                <a:ea typeface="Arial"/>
                <a:cs typeface="Arial"/>
              </a:defRPr>
            </a:lvl4pPr>
            <a:lvl5pPr algn="l">
              <a:defRPr sz="2100" b="1">
                <a:solidFill>
                  <a:srgbClr val="044247"/>
                </a:solidFill>
                <a:latin typeface="Arial"/>
                <a:ea typeface="Arial"/>
                <a:cs typeface="Arial"/>
              </a:defRPr>
            </a:lvl5pPr>
            <a:lvl6pPr algn="l">
              <a:defRPr sz="2100" b="1">
                <a:solidFill>
                  <a:srgbClr val="044247"/>
                </a:solidFill>
                <a:latin typeface="Arial"/>
                <a:ea typeface="Arial"/>
                <a:cs typeface="Arial"/>
              </a:defRPr>
            </a:lvl6pPr>
            <a:lvl7pPr algn="l">
              <a:defRPr sz="2100" b="1">
                <a:solidFill>
                  <a:srgbClr val="044247"/>
                </a:solidFill>
                <a:latin typeface="Arial"/>
                <a:ea typeface="Arial"/>
                <a:cs typeface="Arial"/>
              </a:defRPr>
            </a:lvl7pPr>
            <a:lvl8pPr algn="l">
              <a:defRPr sz="2100" b="1">
                <a:solidFill>
                  <a:srgbClr val="044247"/>
                </a:solidFill>
                <a:latin typeface="Arial"/>
                <a:ea typeface="Arial"/>
                <a:cs typeface="Arial"/>
              </a:defRPr>
            </a:lvl8pPr>
            <a:lvl9pPr algn="l">
              <a:defRPr sz="2100" b="1">
                <a:solidFill>
                  <a:srgbClr val="044247"/>
                </a:solidFill>
                <a:latin typeface="Arial"/>
                <a:ea typeface="Arial"/>
                <a:cs typeface="Arial"/>
              </a:defRPr>
            </a:lvl9pPr>
          </a:lstStyle>
          <a:p>
            <a:pPr algn="l">
              <a:defRPr sz="2100" b="1">
                <a:solidFill>
                  <a:srgbClr val="044247"/>
                </a:solidFill>
                <a:latin typeface="Arial"/>
                <a:ea typeface="Arial"/>
                <a:cs typeface="Arial"/>
              </a:defRPr>
            </a:pPr>
            <a:r>
              <a:rPr sz="2100" b="1">
                <a:solidFill>
                  <a:srgbClr val="044247"/>
                </a:solidFill>
                <a:latin typeface="Arial"/>
                <a:ea typeface="Arial"/>
                <a:cs typeface="Arial"/>
              </a:rPr>
              <a:t>3. Multiplicación por 100</a:t>
            </a:r>
          </a:p>
        </p:txBody>
      </p:sp>
      <p:sp>
        <p:nvSpPr>
          <p:cNvPr id="13" name="explicacion">
            <a:extLst>
              <a:ext uri="{FF2B5EF4-FFF2-40B4-BE49-F238E27FC236}">
                <a16:creationId xmlns:a16="http://schemas.microsoft.com/office/drawing/2014/main" id="{3A63CC55-ED47-4BB5-A5B7-78930E7742BD}"/>
              </a:ext>
            </a:extLst>
          </p:cNvPr>
          <p:cNvSpPr>
            <a:spLocks noGrp="1"/>
          </p:cNvSpPr>
          <p:nvPr/>
        </p:nvSpPr>
        <p:spPr>
          <a:xfrm>
            <a:off x="3333750" y="3590925"/>
            <a:ext cx="5238750" cy="666750"/>
          </a:xfrm>
          <a:prstGeom prst="rect">
            <a:avLst/>
          </a:prstGeom>
          <a:noFill/>
          <a:ln w="0">
            <a:noFill/>
          </a:ln>
        </p:spPr>
        <p:txBody>
          <a:bodyPr wrap="square" lIns="0" tIns="0" rIns="0" bIns="0" anchor="t">
            <a:noAutofit/>
          </a:bodyPr>
          <a:lstStyle>
            <a:defPPr algn="l">
              <a:defRPr sz="2500" b="0">
                <a:solidFill>
                  <a:srgbClr val="111111"/>
                </a:solidFill>
                <a:latin typeface="Arial"/>
                <a:ea typeface="Arial"/>
                <a:cs typeface="Arial"/>
              </a:defRPr>
            </a:defPPr>
            <a:lvl1pPr algn="l">
              <a:defRPr sz="2500" b="0">
                <a:solidFill>
                  <a:srgbClr val="111111"/>
                </a:solidFill>
                <a:latin typeface="Arial"/>
                <a:ea typeface="Arial"/>
                <a:cs typeface="Arial"/>
              </a:defRPr>
            </a:lvl1pPr>
            <a:lvl2pPr algn="l">
              <a:defRPr sz="2500" b="0">
                <a:solidFill>
                  <a:srgbClr val="111111"/>
                </a:solidFill>
                <a:latin typeface="Arial"/>
                <a:ea typeface="Arial"/>
                <a:cs typeface="Arial"/>
              </a:defRPr>
            </a:lvl2pPr>
            <a:lvl3pPr algn="l">
              <a:defRPr sz="2500" b="0">
                <a:solidFill>
                  <a:srgbClr val="111111"/>
                </a:solidFill>
                <a:latin typeface="Arial"/>
                <a:ea typeface="Arial"/>
                <a:cs typeface="Arial"/>
              </a:defRPr>
            </a:lvl3pPr>
            <a:lvl4pPr algn="l">
              <a:defRPr sz="2500" b="0">
                <a:solidFill>
                  <a:srgbClr val="111111"/>
                </a:solidFill>
                <a:latin typeface="Arial"/>
                <a:ea typeface="Arial"/>
                <a:cs typeface="Arial"/>
              </a:defRPr>
            </a:lvl4pPr>
            <a:lvl5pPr algn="l">
              <a:defRPr sz="2500" b="0">
                <a:solidFill>
                  <a:srgbClr val="111111"/>
                </a:solidFill>
                <a:latin typeface="Arial"/>
                <a:ea typeface="Arial"/>
                <a:cs typeface="Arial"/>
              </a:defRPr>
            </a:lvl5pPr>
            <a:lvl6pPr algn="l">
              <a:defRPr sz="2500" b="0">
                <a:solidFill>
                  <a:srgbClr val="111111"/>
                </a:solidFill>
                <a:latin typeface="Arial"/>
                <a:ea typeface="Arial"/>
                <a:cs typeface="Arial"/>
              </a:defRPr>
            </a:lvl6pPr>
            <a:lvl7pPr algn="l">
              <a:defRPr sz="2500" b="0">
                <a:solidFill>
                  <a:srgbClr val="111111"/>
                </a:solidFill>
                <a:latin typeface="Arial"/>
                <a:ea typeface="Arial"/>
                <a:cs typeface="Arial"/>
              </a:defRPr>
            </a:lvl7pPr>
            <a:lvl8pPr algn="l">
              <a:defRPr sz="2500" b="0">
                <a:solidFill>
                  <a:srgbClr val="111111"/>
                </a:solidFill>
                <a:latin typeface="Arial"/>
                <a:ea typeface="Arial"/>
                <a:cs typeface="Arial"/>
              </a:defRPr>
            </a:lvl8pPr>
            <a:lvl9pPr algn="l">
              <a:defRPr sz="2500" b="0">
                <a:solidFill>
                  <a:srgbClr val="111111"/>
                </a:solidFill>
                <a:latin typeface="Arial"/>
                <a:ea typeface="Arial"/>
                <a:cs typeface="Arial"/>
              </a:defRPr>
            </a:lvl9pPr>
          </a:lstStyle>
          <a:p>
            <a:pPr algn="l">
              <a:defRPr sz="2500" b="0">
                <a:solidFill>
                  <a:srgbClr val="111111"/>
                </a:solidFill>
                <a:latin typeface="Arial"/>
                <a:ea typeface="Arial"/>
                <a:cs typeface="Arial"/>
              </a:defRPr>
            </a:pPr>
            <a:r>
              <a:rPr sz="2500" b="0">
                <a:solidFill>
                  <a:srgbClr val="111111"/>
                </a:solidFill>
                <a:latin typeface="Arial"/>
                <a:ea typeface="Arial"/>
                <a:cs typeface="Arial"/>
              </a:rPr>
              <a:t>0,027027… × 100 ≈ 2,70 %</a:t>
            </a:r>
          </a:p>
        </p:txBody>
      </p:sp>
    </p:spTree>
    <p:extLst>
      <p:ext uri="{BB962C8B-B14F-4D97-AF65-F5344CB8AC3E}">
        <p14:creationId xmlns:p14="http://schemas.microsoft.com/office/powerpoint/2010/main" val="4176940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F961D1EF-857B-4681-9511-A0C30DC5DE9F}"/>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Probabilidad</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 color</a:t>
            </a:r>
          </a:p>
        </p:txBody>
      </p:sp>
      <p:sp>
        <p:nvSpPr>
          <p:cNvPr id="7" name="subtitulo">
            <a:extLst>
              <a:ext uri="{FF2B5EF4-FFF2-40B4-BE49-F238E27FC236}">
                <a16:creationId xmlns:a16="http://schemas.microsoft.com/office/drawing/2014/main" id="{AEA8CCF4-51FD-452F-912C-8AFAB1529F70}"/>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Contar casillas</a:t>
            </a:r>
          </a:p>
        </p:txBody>
      </p:sp>
      <p:sp>
        <p:nvSpPr>
          <p:cNvPr id="8" name="idea">
            <a:extLst>
              <a:ext uri="{FF2B5EF4-FFF2-40B4-BE49-F238E27FC236}">
                <a16:creationId xmlns:a16="http://schemas.microsoft.com/office/drawing/2014/main" id="{31C22181-4E7E-40EB-B736-10E4C03DD9F1}"/>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Rojo: 18 de 37</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18 / 37 × 100</a:t>
            </a:r>
          </a:p>
          <a:p>
            <a:pPr algn="l">
              <a:defRPr sz="2100" b="0">
                <a:solidFill>
                  <a:srgbClr val="111111"/>
                </a:solidFill>
                <a:latin typeface="Arial"/>
                <a:ea typeface="Arial"/>
                <a:cs typeface="Arial"/>
              </a:defRPr>
            </a:pPr>
            <a:r>
              <a:rPr sz="2100" b="0">
                <a:solidFill>
                  <a:srgbClr val="111111"/>
                </a:solidFill>
                <a:latin typeface="Arial"/>
                <a:ea typeface="Arial"/>
                <a:cs typeface="Arial"/>
              </a:rPr>
              <a:t>≈ 48,65 %</a:t>
            </a:r>
          </a:p>
        </p:txBody>
      </p:sp>
      <p:graphicFrame>
        <p:nvGraphicFramePr>
          <p:cNvPr id="9" name="Table 8">
            <a:extLst>
              <a:ext uri="{FF2B5EF4-FFF2-40B4-BE49-F238E27FC236}">
                <a16:creationId xmlns:a16="http://schemas.microsoft.com/office/drawing/2014/main" id="{52459033-F601-4857-BD7B-EC207E44166B}"/>
              </a:ext>
            </a:extLst>
          </p:cNvPr>
          <p:cNvGraphicFramePr/>
          <p:nvPr/>
        </p:nvGraphicFramePr>
        <p:xfrm>
          <a:off x="3333750" y="809625"/>
          <a:ext cx="5143500" cy="2762250"/>
        </p:xfrm>
        <a:graphic>
          <a:graphicData uri="http://schemas.openxmlformats.org/drawingml/2006/table">
            <a:tbl>
              <a:tblPr firstRow="1"/>
              <a:tblGrid>
                <a:gridCol w="16668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tblGrid>
              <a:tr h="690563">
                <a:tc>
                  <a:txBody>
                    <a:bodyPr/>
                    <a:lstStyle/>
                    <a:p>
                      <a:pPr algn="l"/>
                      <a:r>
                        <a:rPr sz="2000" b="1">
                          <a:solidFill>
                            <a:srgbClr val="FFFFFF"/>
                          </a:solidFill>
                          <a:latin typeface="Arial"/>
                          <a:ea typeface="Arial"/>
                          <a:cs typeface="Arial"/>
                        </a:rPr>
                        <a:t>Color</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Fracción</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Porcentaje</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690563">
                <a:tc>
                  <a:txBody>
                    <a:bodyPr/>
                    <a:lstStyle/>
                    <a:p>
                      <a:pPr algn="l"/>
                      <a:r>
                        <a:rPr sz="2000" b="0">
                          <a:solidFill>
                            <a:srgbClr val="111111"/>
                          </a:solidFill>
                          <a:latin typeface="Arial"/>
                          <a:ea typeface="Arial"/>
                          <a:cs typeface="Arial"/>
                        </a:rPr>
                        <a:t>Rojo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48,65 %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690563">
                <a:tc>
                  <a:txBody>
                    <a:bodyPr/>
                    <a:lstStyle/>
                    <a:p>
                      <a:pPr algn="l"/>
                      <a:r>
                        <a:rPr sz="2000" b="0">
                          <a:solidFill>
                            <a:srgbClr val="111111"/>
                          </a:solidFill>
                          <a:latin typeface="Arial"/>
                          <a:ea typeface="Arial"/>
                          <a:cs typeface="Arial"/>
                        </a:rPr>
                        <a:t>Negro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48,65 %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690563">
                <a:tc>
                  <a:txBody>
                    <a:bodyPr/>
                    <a:lstStyle/>
                    <a:p>
                      <a:pPr algn="l"/>
                      <a:r>
                        <a:rPr sz="2000" b="0">
                          <a:solidFill>
                            <a:srgbClr val="111111"/>
                          </a:solidFill>
                          <a:latin typeface="Arial"/>
                          <a:ea typeface="Arial"/>
                          <a:cs typeface="Arial"/>
                        </a:rPr>
                        <a:t>Verde</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2,70 %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explicacion">
            <a:extLst>
              <a:ext uri="{FF2B5EF4-FFF2-40B4-BE49-F238E27FC236}">
                <a16:creationId xmlns:a16="http://schemas.microsoft.com/office/drawing/2014/main" id="{AD391AD0-CFD4-4FE5-A9B7-B9B92BD0F207}"/>
              </a:ext>
            </a:extLst>
          </p:cNvPr>
          <p:cNvSpPr>
            <a:spLocks noGrp="1"/>
          </p:cNvSpPr>
          <p:nvPr/>
        </p:nvSpPr>
        <p:spPr>
          <a:xfrm>
            <a:off x="3333750" y="3933825"/>
            <a:ext cx="5238750" cy="6667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cero aporta una</a:t>
            </a:r>
          </a:p>
          <a:p>
            <a:pPr algn="l">
              <a:defRPr sz="2100" b="0">
                <a:solidFill>
                  <a:srgbClr val="111111"/>
                </a:solidFill>
                <a:latin typeface="Arial"/>
                <a:ea typeface="Arial"/>
                <a:cs typeface="Arial"/>
              </a:defRPr>
            </a:pPr>
            <a:r>
              <a:rPr sz="2100" b="0">
                <a:solidFill>
                  <a:srgbClr val="111111"/>
                </a:solidFill>
                <a:latin typeface="Arial"/>
                <a:ea typeface="Arial"/>
                <a:cs typeface="Arial"/>
              </a:rPr>
              <a:t>casilla verde.</a:t>
            </a:r>
          </a:p>
        </p:txBody>
      </p:sp>
    </p:spTree>
    <p:extLst>
      <p:ext uri="{BB962C8B-B14F-4D97-AF65-F5344CB8AC3E}">
        <p14:creationId xmlns:p14="http://schemas.microsoft.com/office/powerpoint/2010/main" val="240085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2F5EFE3D-B452-4B22-9BC7-462B845FC7FC}"/>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Probabilidad</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 paridad</a:t>
            </a:r>
          </a:p>
        </p:txBody>
      </p:sp>
      <p:sp>
        <p:nvSpPr>
          <p:cNvPr id="7" name="subtitulo">
            <a:extLst>
              <a:ext uri="{FF2B5EF4-FFF2-40B4-BE49-F238E27FC236}">
                <a16:creationId xmlns:a16="http://schemas.microsoft.com/office/drawing/2014/main" id="{5836839C-11C2-4253-84EC-FCAB2A56E37E}"/>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El cero aparte</a:t>
            </a:r>
          </a:p>
        </p:txBody>
      </p:sp>
      <p:sp>
        <p:nvSpPr>
          <p:cNvPr id="8" name="idea">
            <a:extLst>
              <a:ext uri="{FF2B5EF4-FFF2-40B4-BE49-F238E27FC236}">
                <a16:creationId xmlns:a16="http://schemas.microsoft.com/office/drawing/2014/main" id="{C4CEB4DC-3909-41BF-8BE4-36A96D394DA5}"/>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Cada tirada queda</a:t>
            </a:r>
          </a:p>
          <a:p>
            <a:pPr algn="l">
              <a:defRPr sz="2100" b="0">
                <a:solidFill>
                  <a:srgbClr val="111111"/>
                </a:solidFill>
                <a:latin typeface="Arial"/>
                <a:ea typeface="Arial"/>
                <a:cs typeface="Arial"/>
              </a:defRPr>
            </a:pPr>
            <a:r>
              <a:rPr sz="2100" b="0">
                <a:solidFill>
                  <a:srgbClr val="111111"/>
                </a:solidFill>
                <a:latin typeface="Arial"/>
                <a:ea typeface="Arial"/>
                <a:cs typeface="Arial"/>
              </a:rPr>
              <a:t>en uno de estos</a:t>
            </a:r>
          </a:p>
          <a:p>
            <a:pPr algn="l">
              <a:defRPr sz="2100" b="0">
                <a:solidFill>
                  <a:srgbClr val="111111"/>
                </a:solidFill>
                <a:latin typeface="Arial"/>
                <a:ea typeface="Arial"/>
                <a:cs typeface="Arial"/>
              </a:defRPr>
            </a:pPr>
            <a:r>
              <a:rPr sz="2100" b="0">
                <a:solidFill>
                  <a:srgbClr val="111111"/>
                </a:solidFill>
                <a:latin typeface="Arial"/>
                <a:ea typeface="Arial"/>
                <a:cs typeface="Arial"/>
              </a:rPr>
              <a:t>tres grupos.</a:t>
            </a:r>
          </a:p>
        </p:txBody>
      </p:sp>
      <p:graphicFrame>
        <p:nvGraphicFramePr>
          <p:cNvPr id="9" name="Table 8">
            <a:extLst>
              <a:ext uri="{FF2B5EF4-FFF2-40B4-BE49-F238E27FC236}">
                <a16:creationId xmlns:a16="http://schemas.microsoft.com/office/drawing/2014/main" id="{DA6C3765-47D3-47B2-A8B0-A8BEE5D5C06F}"/>
              </a:ext>
            </a:extLst>
          </p:cNvPr>
          <p:cNvGraphicFramePr/>
          <p:nvPr/>
        </p:nvGraphicFramePr>
        <p:xfrm>
          <a:off x="3333750" y="809625"/>
          <a:ext cx="5143500" cy="2857500"/>
        </p:xfrm>
        <a:graphic>
          <a:graphicData uri="http://schemas.openxmlformats.org/drawingml/2006/table">
            <a:tbl>
              <a:tblPr firstRow="1"/>
              <a:tblGrid>
                <a:gridCol w="1285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714375">
                <a:tc>
                  <a:txBody>
                    <a:bodyPr/>
                    <a:lstStyle/>
                    <a:p>
                      <a:pPr algn="l"/>
                      <a:r>
                        <a:rPr sz="2000" b="1">
                          <a:solidFill>
                            <a:srgbClr val="FFFFFF"/>
                          </a:solidFill>
                          <a:latin typeface="Arial"/>
                          <a:ea typeface="Arial"/>
                          <a:cs typeface="Arial"/>
                        </a:rPr>
                        <a:t>Grupo</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Casillas</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Probabilidad</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714375">
                <a:tc>
                  <a:txBody>
                    <a:bodyPr/>
                    <a:lstStyle/>
                    <a:p>
                      <a:pPr algn="l"/>
                      <a:r>
                        <a:rPr sz="2000" b="0">
                          <a:solidFill>
                            <a:srgbClr val="111111"/>
                          </a:solidFill>
                          <a:latin typeface="Arial"/>
                          <a:ea typeface="Arial"/>
                          <a:cs typeface="Arial"/>
                        </a:rPr>
                        <a:t>Par</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18/37 ≈ 48,65 %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714375">
                <a:tc>
                  <a:txBody>
                    <a:bodyPr/>
                    <a:lstStyle/>
                    <a:p>
                      <a:pPr algn="l"/>
                      <a:r>
                        <a:rPr sz="2000" b="0">
                          <a:solidFill>
                            <a:srgbClr val="111111"/>
                          </a:solidFill>
                          <a:latin typeface="Arial"/>
                          <a:ea typeface="Arial"/>
                          <a:cs typeface="Arial"/>
                        </a:rPr>
                        <a:t>Impar</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18/37 ≈ 48,65 %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714375">
                <a:tc>
                  <a:txBody>
                    <a:bodyPr/>
                    <a:lstStyle/>
                    <a:p>
                      <a:pPr algn="l"/>
                      <a:r>
                        <a:rPr sz="2000" b="0">
                          <a:solidFill>
                            <a:srgbClr val="111111"/>
                          </a:solidFill>
                          <a:latin typeface="Arial"/>
                          <a:ea typeface="Arial"/>
                          <a:cs typeface="Arial"/>
                        </a:rPr>
                        <a:t>Cero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1/37 ≈ 2,70 %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explicacion">
            <a:extLst>
              <a:ext uri="{FF2B5EF4-FFF2-40B4-BE49-F238E27FC236}">
                <a16:creationId xmlns:a16="http://schemas.microsoft.com/office/drawing/2014/main" id="{5D3CAA89-062F-4164-A6EB-B67AAAB15E1F}"/>
              </a:ext>
            </a:extLst>
          </p:cNvPr>
          <p:cNvSpPr>
            <a:spLocks noGrp="1"/>
          </p:cNvSpPr>
          <p:nvPr/>
        </p:nvSpPr>
        <p:spPr>
          <a:xfrm>
            <a:off x="3333750" y="3943350"/>
            <a:ext cx="5238750" cy="666750"/>
          </a:xfrm>
          <a:prstGeom prst="rect">
            <a:avLst/>
          </a:prstGeom>
          <a:noFill/>
          <a:ln w="0">
            <a:noFill/>
          </a:ln>
        </p:spPr>
        <p:txBody>
          <a:bodyPr wrap="square" lIns="0" tIns="0" rIns="0" bIns="0" anchor="t">
            <a:noAutofit/>
          </a:bodyPr>
          <a:lstStyle>
            <a:defPPr algn="l">
              <a:defRPr sz="1900" b="0">
                <a:solidFill>
                  <a:srgbClr val="111111"/>
                </a:solidFill>
                <a:latin typeface="Arial"/>
                <a:ea typeface="Arial"/>
                <a:cs typeface="Arial"/>
              </a:defRPr>
            </a:defPPr>
            <a:lvl1pPr algn="l">
              <a:defRPr sz="1900" b="0">
                <a:solidFill>
                  <a:srgbClr val="111111"/>
                </a:solidFill>
                <a:latin typeface="Arial"/>
                <a:ea typeface="Arial"/>
                <a:cs typeface="Arial"/>
              </a:defRPr>
            </a:lvl1pPr>
            <a:lvl2pPr algn="l">
              <a:defRPr sz="1900" b="0">
                <a:solidFill>
                  <a:srgbClr val="111111"/>
                </a:solidFill>
                <a:latin typeface="Arial"/>
                <a:ea typeface="Arial"/>
                <a:cs typeface="Arial"/>
              </a:defRPr>
            </a:lvl2pPr>
            <a:lvl3pPr algn="l">
              <a:defRPr sz="1900" b="0">
                <a:solidFill>
                  <a:srgbClr val="111111"/>
                </a:solidFill>
                <a:latin typeface="Arial"/>
                <a:ea typeface="Arial"/>
                <a:cs typeface="Arial"/>
              </a:defRPr>
            </a:lvl3pPr>
            <a:lvl4pPr algn="l">
              <a:defRPr sz="1900" b="0">
                <a:solidFill>
                  <a:srgbClr val="111111"/>
                </a:solidFill>
                <a:latin typeface="Arial"/>
                <a:ea typeface="Arial"/>
                <a:cs typeface="Arial"/>
              </a:defRPr>
            </a:lvl4pPr>
            <a:lvl5pPr algn="l">
              <a:defRPr sz="1900" b="0">
                <a:solidFill>
                  <a:srgbClr val="111111"/>
                </a:solidFill>
                <a:latin typeface="Arial"/>
                <a:ea typeface="Arial"/>
                <a:cs typeface="Arial"/>
              </a:defRPr>
            </a:lvl5pPr>
            <a:lvl6pPr algn="l">
              <a:defRPr sz="1900" b="0">
                <a:solidFill>
                  <a:srgbClr val="111111"/>
                </a:solidFill>
                <a:latin typeface="Arial"/>
                <a:ea typeface="Arial"/>
                <a:cs typeface="Arial"/>
              </a:defRPr>
            </a:lvl6pPr>
            <a:lvl7pPr algn="l">
              <a:defRPr sz="1900" b="0">
                <a:solidFill>
                  <a:srgbClr val="111111"/>
                </a:solidFill>
                <a:latin typeface="Arial"/>
                <a:ea typeface="Arial"/>
                <a:cs typeface="Arial"/>
              </a:defRPr>
            </a:lvl7pPr>
            <a:lvl8pPr algn="l">
              <a:defRPr sz="1900" b="0">
                <a:solidFill>
                  <a:srgbClr val="111111"/>
                </a:solidFill>
                <a:latin typeface="Arial"/>
                <a:ea typeface="Arial"/>
                <a:cs typeface="Arial"/>
              </a:defRPr>
            </a:lvl8pPr>
            <a:lvl9pPr algn="l">
              <a:defRPr sz="1900" b="0">
                <a:solidFill>
                  <a:srgbClr val="111111"/>
                </a:solidFill>
                <a:latin typeface="Arial"/>
                <a:ea typeface="Arial"/>
                <a:cs typeface="Arial"/>
              </a:defRPr>
            </a:lvl9pPr>
          </a:lstStyle>
          <a:p>
            <a:pPr algn="l">
              <a:defRPr sz="1900" b="0">
                <a:solidFill>
                  <a:srgbClr val="111111"/>
                </a:solidFill>
                <a:latin typeface="Arial"/>
                <a:ea typeface="Arial"/>
                <a:cs typeface="Arial"/>
              </a:defRPr>
            </a:pPr>
            <a:r>
              <a:rPr sz="1900" b="0">
                <a:solidFill>
                  <a:srgbClr val="111111"/>
                </a:solidFill>
                <a:latin typeface="Arial"/>
                <a:ea typeface="Arial"/>
                <a:cs typeface="Arial"/>
              </a:rPr>
              <a:t>El script separa el cero</a:t>
            </a:r>
          </a:p>
          <a:p>
            <a:pPr algn="l">
              <a:defRPr sz="1900" b="0">
                <a:solidFill>
                  <a:srgbClr val="111111"/>
                </a:solidFill>
                <a:latin typeface="Arial"/>
                <a:ea typeface="Arial"/>
                <a:cs typeface="Arial"/>
              </a:defRPr>
            </a:pPr>
            <a:r>
              <a:rPr sz="1900" b="0">
                <a:solidFill>
                  <a:srgbClr val="111111"/>
                </a:solidFill>
                <a:latin typeface="Arial"/>
                <a:ea typeface="Arial"/>
                <a:cs typeface="Arial"/>
              </a:rPr>
              <a:t>de las otras dos categorías.</a:t>
            </a:r>
          </a:p>
        </p:txBody>
      </p:sp>
    </p:spTree>
    <p:extLst>
      <p:ext uri="{BB962C8B-B14F-4D97-AF65-F5344CB8AC3E}">
        <p14:creationId xmlns:p14="http://schemas.microsoft.com/office/powerpoint/2010/main" val="670045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26E84752-6624-4F77-86DA-B600435A06CE}"/>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Probabilidad</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 docena</a:t>
            </a:r>
          </a:p>
        </p:txBody>
      </p:sp>
      <p:sp>
        <p:nvSpPr>
          <p:cNvPr id="7" name="subtitulo">
            <a:extLst>
              <a:ext uri="{FF2B5EF4-FFF2-40B4-BE49-F238E27FC236}">
                <a16:creationId xmlns:a16="http://schemas.microsoft.com/office/drawing/2014/main" id="{D829A0EB-B37E-43BB-9654-1DFC19DB4A98}"/>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Grupos de doce</a:t>
            </a:r>
          </a:p>
        </p:txBody>
      </p:sp>
      <p:sp>
        <p:nvSpPr>
          <p:cNvPr id="8" name="idea">
            <a:extLst>
              <a:ext uri="{FF2B5EF4-FFF2-40B4-BE49-F238E27FC236}">
                <a16:creationId xmlns:a16="http://schemas.microsoft.com/office/drawing/2014/main" id="{F2771F07-9753-4F7C-AACE-4575572DCB15}"/>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Una docena:</a:t>
            </a:r>
          </a:p>
          <a:p>
            <a:pPr algn="l">
              <a:defRPr sz="2100" b="0">
                <a:solidFill>
                  <a:srgbClr val="111111"/>
                </a:solidFill>
                <a:latin typeface="Arial"/>
                <a:ea typeface="Arial"/>
                <a:cs typeface="Arial"/>
              </a:defRPr>
            </a:pPr>
            <a:r>
              <a:rPr sz="2100" b="0">
                <a:solidFill>
                  <a:srgbClr val="111111"/>
                </a:solidFill>
                <a:latin typeface="Arial"/>
                <a:ea typeface="Arial"/>
                <a:cs typeface="Arial"/>
              </a:rPr>
              <a:t>12 de 37</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12 / 37 × 100</a:t>
            </a:r>
          </a:p>
          <a:p>
            <a:pPr algn="l">
              <a:defRPr sz="2100" b="0">
                <a:solidFill>
                  <a:srgbClr val="111111"/>
                </a:solidFill>
                <a:latin typeface="Arial"/>
                <a:ea typeface="Arial"/>
                <a:cs typeface="Arial"/>
              </a:defRPr>
            </a:pPr>
            <a:r>
              <a:rPr sz="2100" b="0">
                <a:solidFill>
                  <a:srgbClr val="111111"/>
                </a:solidFill>
                <a:latin typeface="Arial"/>
                <a:ea typeface="Arial"/>
                <a:cs typeface="Arial"/>
              </a:rPr>
              <a:t>≈ 32,43 %</a:t>
            </a:r>
          </a:p>
        </p:txBody>
      </p:sp>
      <p:graphicFrame>
        <p:nvGraphicFramePr>
          <p:cNvPr id="9" name="Table 8">
            <a:extLst>
              <a:ext uri="{FF2B5EF4-FFF2-40B4-BE49-F238E27FC236}">
                <a16:creationId xmlns:a16="http://schemas.microsoft.com/office/drawing/2014/main" id="{B1C4D749-49DD-41EA-A12D-B97E570AFA29}"/>
              </a:ext>
            </a:extLst>
          </p:cNvPr>
          <p:cNvGraphicFramePr/>
          <p:nvPr/>
        </p:nvGraphicFramePr>
        <p:xfrm>
          <a:off x="3333750" y="714375"/>
          <a:ext cx="5143500" cy="3238500"/>
        </p:xfrm>
        <a:graphic>
          <a:graphicData uri="http://schemas.openxmlformats.org/drawingml/2006/table">
            <a:tbl>
              <a:tblPr firstRow="1"/>
              <a:tblGrid>
                <a:gridCol w="16192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647700">
                <a:tc>
                  <a:txBody>
                    <a:bodyPr/>
                    <a:lstStyle/>
                    <a:p>
                      <a:pPr algn="l"/>
                      <a:r>
                        <a:rPr sz="2000" b="1">
                          <a:solidFill>
                            <a:srgbClr val="FFFFFF"/>
                          </a:solidFill>
                          <a:latin typeface="Arial"/>
                          <a:ea typeface="Arial"/>
                          <a:cs typeface="Arial"/>
                        </a:rPr>
                        <a:t>Grupo</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Casillas</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Probabilidad</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647700">
                <a:tc>
                  <a:txBody>
                    <a:bodyPr/>
                    <a:lstStyle/>
                    <a:p>
                      <a:pPr algn="l"/>
                      <a:r>
                        <a:rPr sz="2000" b="0">
                          <a:solidFill>
                            <a:srgbClr val="111111"/>
                          </a:solidFill>
                          <a:latin typeface="Arial"/>
                          <a:ea typeface="Arial"/>
                          <a:cs typeface="Arial"/>
                        </a:rPr>
                        <a:t>1 a 12</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647700">
                <a:tc>
                  <a:txBody>
                    <a:bodyPr/>
                    <a:lstStyle/>
                    <a:p>
                      <a:pPr algn="l"/>
                      <a:r>
                        <a:rPr sz="2000" b="0">
                          <a:solidFill>
                            <a:srgbClr val="111111"/>
                          </a:solidFill>
                          <a:latin typeface="Arial"/>
                          <a:ea typeface="Arial"/>
                          <a:cs typeface="Arial"/>
                        </a:rPr>
                        <a:t>13 a 24</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647700">
                <a:tc>
                  <a:txBody>
                    <a:bodyPr/>
                    <a:lstStyle/>
                    <a:p>
                      <a:pPr algn="l"/>
                      <a:r>
                        <a:rPr sz="2000" b="0">
                          <a:solidFill>
                            <a:srgbClr val="111111"/>
                          </a:solidFill>
                          <a:latin typeface="Arial"/>
                          <a:ea typeface="Arial"/>
                          <a:cs typeface="Arial"/>
                        </a:rPr>
                        <a:t>25 a 36</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12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647700">
                <a:tc>
                  <a:txBody>
                    <a:bodyPr/>
                    <a:lstStyle/>
                    <a:p>
                      <a:pPr algn="l"/>
                      <a:r>
                        <a:rPr sz="2000" b="0">
                          <a:solidFill>
                            <a:srgbClr val="111111"/>
                          </a:solidFill>
                          <a:latin typeface="Arial"/>
                          <a:ea typeface="Arial"/>
                          <a:cs typeface="Arial"/>
                        </a:rPr>
                        <a:t>Cero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 / 37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 name="explicacion">
            <a:extLst>
              <a:ext uri="{FF2B5EF4-FFF2-40B4-BE49-F238E27FC236}">
                <a16:creationId xmlns:a16="http://schemas.microsoft.com/office/drawing/2014/main" id="{F05FB165-9A11-4F0D-B4DF-650B6D36524F}"/>
              </a:ext>
            </a:extLst>
          </p:cNvPr>
          <p:cNvSpPr>
            <a:spLocks noGrp="1"/>
          </p:cNvSpPr>
          <p:nvPr/>
        </p:nvSpPr>
        <p:spPr>
          <a:xfrm>
            <a:off x="3333750" y="4191000"/>
            <a:ext cx="5238750" cy="666750"/>
          </a:xfrm>
          <a:prstGeom prst="rect">
            <a:avLst/>
          </a:prstGeom>
          <a:noFill/>
          <a:ln w="0">
            <a:noFill/>
          </a:ln>
        </p:spPr>
        <p:txBody>
          <a:bodyPr wrap="square" lIns="0" tIns="0" rIns="0" bIns="0" anchor="t">
            <a:noAutofit/>
          </a:bodyPr>
          <a:lstStyle>
            <a:defPPr algn="l">
              <a:defRPr sz="1900" b="0">
                <a:solidFill>
                  <a:srgbClr val="111111"/>
                </a:solidFill>
                <a:latin typeface="Arial"/>
                <a:ea typeface="Arial"/>
                <a:cs typeface="Arial"/>
              </a:defRPr>
            </a:defPPr>
            <a:lvl1pPr algn="l">
              <a:defRPr sz="1900" b="0">
                <a:solidFill>
                  <a:srgbClr val="111111"/>
                </a:solidFill>
                <a:latin typeface="Arial"/>
                <a:ea typeface="Arial"/>
                <a:cs typeface="Arial"/>
              </a:defRPr>
            </a:lvl1pPr>
            <a:lvl2pPr algn="l">
              <a:defRPr sz="1900" b="0">
                <a:solidFill>
                  <a:srgbClr val="111111"/>
                </a:solidFill>
                <a:latin typeface="Arial"/>
                <a:ea typeface="Arial"/>
                <a:cs typeface="Arial"/>
              </a:defRPr>
            </a:lvl2pPr>
            <a:lvl3pPr algn="l">
              <a:defRPr sz="1900" b="0">
                <a:solidFill>
                  <a:srgbClr val="111111"/>
                </a:solidFill>
                <a:latin typeface="Arial"/>
                <a:ea typeface="Arial"/>
                <a:cs typeface="Arial"/>
              </a:defRPr>
            </a:lvl3pPr>
            <a:lvl4pPr algn="l">
              <a:defRPr sz="1900" b="0">
                <a:solidFill>
                  <a:srgbClr val="111111"/>
                </a:solidFill>
                <a:latin typeface="Arial"/>
                <a:ea typeface="Arial"/>
                <a:cs typeface="Arial"/>
              </a:defRPr>
            </a:lvl4pPr>
            <a:lvl5pPr algn="l">
              <a:defRPr sz="1900" b="0">
                <a:solidFill>
                  <a:srgbClr val="111111"/>
                </a:solidFill>
                <a:latin typeface="Arial"/>
                <a:ea typeface="Arial"/>
                <a:cs typeface="Arial"/>
              </a:defRPr>
            </a:lvl5pPr>
            <a:lvl6pPr algn="l">
              <a:defRPr sz="1900" b="0">
                <a:solidFill>
                  <a:srgbClr val="111111"/>
                </a:solidFill>
                <a:latin typeface="Arial"/>
                <a:ea typeface="Arial"/>
                <a:cs typeface="Arial"/>
              </a:defRPr>
            </a:lvl6pPr>
            <a:lvl7pPr algn="l">
              <a:defRPr sz="1900" b="0">
                <a:solidFill>
                  <a:srgbClr val="111111"/>
                </a:solidFill>
                <a:latin typeface="Arial"/>
                <a:ea typeface="Arial"/>
                <a:cs typeface="Arial"/>
              </a:defRPr>
            </a:lvl7pPr>
            <a:lvl8pPr algn="l">
              <a:defRPr sz="1900" b="0">
                <a:solidFill>
                  <a:srgbClr val="111111"/>
                </a:solidFill>
                <a:latin typeface="Arial"/>
                <a:ea typeface="Arial"/>
                <a:cs typeface="Arial"/>
              </a:defRPr>
            </a:lvl8pPr>
            <a:lvl9pPr algn="l">
              <a:defRPr sz="1900" b="0">
                <a:solidFill>
                  <a:srgbClr val="111111"/>
                </a:solidFill>
                <a:latin typeface="Arial"/>
                <a:ea typeface="Arial"/>
                <a:cs typeface="Arial"/>
              </a:defRPr>
            </a:lvl9pPr>
          </a:lstStyle>
          <a:p>
            <a:pPr algn="l">
              <a:defRPr sz="1900" b="0">
                <a:solidFill>
                  <a:srgbClr val="111111"/>
                </a:solidFill>
                <a:latin typeface="Arial"/>
                <a:ea typeface="Arial"/>
                <a:cs typeface="Arial"/>
              </a:defRPr>
            </a:pPr>
            <a:r>
              <a:rPr sz="1900" b="0">
                <a:solidFill>
                  <a:srgbClr val="111111"/>
                </a:solidFill>
                <a:latin typeface="Arial"/>
                <a:ea typeface="Arial"/>
                <a:cs typeface="Arial"/>
              </a:rPr>
              <a:t>El cero queda fuera</a:t>
            </a:r>
          </a:p>
          <a:p>
            <a:pPr algn="l">
              <a:defRPr sz="1900" b="0">
                <a:solidFill>
                  <a:srgbClr val="111111"/>
                </a:solidFill>
                <a:latin typeface="Arial"/>
                <a:ea typeface="Arial"/>
                <a:cs typeface="Arial"/>
              </a:defRPr>
            </a:pPr>
            <a:r>
              <a:rPr sz="1900" b="0">
                <a:solidFill>
                  <a:srgbClr val="111111"/>
                </a:solidFill>
                <a:latin typeface="Arial"/>
                <a:ea typeface="Arial"/>
                <a:cs typeface="Arial"/>
              </a:rPr>
              <a:t>de las tres docenas.</a:t>
            </a:r>
          </a:p>
        </p:txBody>
      </p:sp>
    </p:spTree>
    <p:extLst>
      <p:ext uri="{BB962C8B-B14F-4D97-AF65-F5344CB8AC3E}">
        <p14:creationId xmlns:p14="http://schemas.microsoft.com/office/powerpoint/2010/main" val="2580440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0A55E940-7C71-4727-A30E-A41573842179}"/>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Los datos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del ejercicio</a:t>
            </a:r>
          </a:p>
        </p:txBody>
      </p:sp>
      <p:sp>
        <p:nvSpPr>
          <p:cNvPr id="7" name="subtitulo">
            <a:extLst>
              <a:ext uri="{FF2B5EF4-FFF2-40B4-BE49-F238E27FC236}">
                <a16:creationId xmlns:a16="http://schemas.microsoft.com/office/drawing/2014/main" id="{F52F8633-96D7-4602-B7CA-EEAD41CABA24}"/>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Una fila</a:t>
            </a:r>
          </a:p>
        </p:txBody>
      </p:sp>
      <p:sp>
        <p:nvSpPr>
          <p:cNvPr id="8" name="idea">
            <a:extLst>
              <a:ext uri="{FF2B5EF4-FFF2-40B4-BE49-F238E27FC236}">
                <a16:creationId xmlns:a16="http://schemas.microsoft.com/office/drawing/2014/main" id="{9CE35BB1-3981-4EED-8115-CA41D34B50C2}"/>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CSV contiene</a:t>
            </a:r>
          </a:p>
          <a:p>
            <a:pPr algn="l">
              <a:defRPr sz="2100" b="0">
                <a:solidFill>
                  <a:srgbClr val="111111"/>
                </a:solidFill>
                <a:latin typeface="Arial"/>
                <a:ea typeface="Arial"/>
                <a:cs typeface="Arial"/>
              </a:defRPr>
            </a:pPr>
            <a:r>
              <a:rPr sz="2100" b="0">
                <a:solidFill>
                  <a:srgbClr val="111111"/>
                </a:solidFill>
                <a:latin typeface="Arial"/>
                <a:ea typeface="Arial"/>
                <a:cs typeface="Arial"/>
              </a:rPr>
              <a:t>1.000 tiradas</a:t>
            </a:r>
          </a:p>
          <a:p>
            <a:pPr algn="l">
              <a:defRPr sz="2100" b="0">
                <a:solidFill>
                  <a:srgbClr val="111111"/>
                </a:solidFill>
                <a:latin typeface="Arial"/>
                <a:ea typeface="Arial"/>
                <a:cs typeface="Arial"/>
              </a:defRPr>
            </a:pPr>
            <a:r>
              <a:rPr sz="2100" b="0">
                <a:solidFill>
                  <a:srgbClr val="111111"/>
                </a:solidFill>
                <a:latin typeface="Arial"/>
                <a:ea typeface="Arial"/>
                <a:cs typeface="Arial"/>
              </a:rPr>
              <a:t>simuladas.</a:t>
            </a:r>
          </a:p>
        </p:txBody>
      </p:sp>
      <p:graphicFrame>
        <p:nvGraphicFramePr>
          <p:cNvPr id="9" name="Table 8">
            <a:extLst>
              <a:ext uri="{FF2B5EF4-FFF2-40B4-BE49-F238E27FC236}">
                <a16:creationId xmlns:a16="http://schemas.microsoft.com/office/drawing/2014/main" id="{0683AADB-22A4-43FD-A26D-793E23B3FCF5}"/>
              </a:ext>
            </a:extLst>
          </p:cNvPr>
          <p:cNvGraphicFramePr/>
          <p:nvPr/>
        </p:nvGraphicFramePr>
        <p:xfrm>
          <a:off x="3333750" y="619125"/>
          <a:ext cx="5143500" cy="3190875"/>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531813">
                <a:tc>
                  <a:txBody>
                    <a:bodyPr/>
                    <a:lstStyle/>
                    <a:p>
                      <a:pPr algn="l"/>
                      <a:r>
                        <a:rPr sz="2300" b="1">
                          <a:solidFill>
                            <a:srgbClr val="FFFFFF"/>
                          </a:solidFill>
                          <a:latin typeface="Arial"/>
                          <a:ea typeface="Arial"/>
                          <a:cs typeface="Arial"/>
                        </a:rPr>
                        <a:t>tirada</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300" b="1">
                          <a:solidFill>
                            <a:srgbClr val="FFFFFF"/>
                          </a:solidFill>
                          <a:latin typeface="Arial"/>
                          <a:ea typeface="Arial"/>
                          <a:cs typeface="Arial"/>
                        </a:rPr>
                        <a:t>numero</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531813">
                <a:tc>
                  <a:txBody>
                    <a:bodyPr/>
                    <a:lstStyle/>
                    <a:p>
                      <a:pPr algn="l"/>
                      <a:r>
                        <a:rPr sz="2300" b="0">
                          <a:solidFill>
                            <a:srgbClr val="111111"/>
                          </a:solidFill>
                          <a:latin typeface="Arial"/>
                          <a:ea typeface="Arial"/>
                          <a:cs typeface="Arial"/>
                        </a:rPr>
                        <a:t>1</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300" b="0">
                          <a:solidFill>
                            <a:srgbClr val="111111"/>
                          </a:solidFill>
                          <a:latin typeface="Arial"/>
                          <a:ea typeface="Arial"/>
                          <a:cs typeface="Arial"/>
                        </a:rPr>
                        <a:t>28</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531813">
                <a:tc>
                  <a:txBody>
                    <a:bodyPr/>
                    <a:lstStyle/>
                    <a:p>
                      <a:pPr algn="l"/>
                      <a:r>
                        <a:rPr sz="2300" b="0">
                          <a:solidFill>
                            <a:srgbClr val="111111"/>
                          </a:solidFill>
                          <a:latin typeface="Arial"/>
                          <a:ea typeface="Arial"/>
                          <a:cs typeface="Arial"/>
                        </a:rPr>
                        <a:t>2</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300" b="0">
                          <a:solidFill>
                            <a:srgbClr val="111111"/>
                          </a:solidFill>
                          <a:latin typeface="Arial"/>
                          <a:ea typeface="Arial"/>
                          <a:cs typeface="Arial"/>
                        </a:rPr>
                        <a:t>32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531813">
                <a:tc>
                  <a:txBody>
                    <a:bodyPr/>
                    <a:lstStyle/>
                    <a:p>
                      <a:pPr algn="l"/>
                      <a:r>
                        <a:rPr sz="2300" b="0">
                          <a:solidFill>
                            <a:srgbClr val="111111"/>
                          </a:solidFill>
                          <a:latin typeface="Arial"/>
                          <a:ea typeface="Arial"/>
                          <a:cs typeface="Arial"/>
                        </a:rPr>
                        <a:t>3</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300" b="0">
                          <a:solidFill>
                            <a:srgbClr val="111111"/>
                          </a:solidFill>
                          <a:latin typeface="Arial"/>
                          <a:ea typeface="Arial"/>
                          <a:cs typeface="Arial"/>
                        </a:rPr>
                        <a:t>26</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531813">
                <a:tc>
                  <a:txBody>
                    <a:bodyPr/>
                    <a:lstStyle/>
                    <a:p>
                      <a:pPr algn="l"/>
                      <a:r>
                        <a:rPr sz="2300" b="0">
                          <a:solidFill>
                            <a:srgbClr val="111111"/>
                          </a:solidFill>
                          <a:latin typeface="Arial"/>
                          <a:ea typeface="Arial"/>
                          <a:cs typeface="Arial"/>
                        </a:rPr>
                        <a:t>4</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300" b="0">
                          <a:solidFill>
                            <a:srgbClr val="111111"/>
                          </a:solidFill>
                          <a:latin typeface="Arial"/>
                          <a:ea typeface="Arial"/>
                          <a:cs typeface="Arial"/>
                        </a:rPr>
                        <a:t>35</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r h="531813">
                <a:tc>
                  <a:txBody>
                    <a:bodyPr/>
                    <a:lstStyle/>
                    <a:p>
                      <a:pPr algn="l"/>
                      <a:r>
                        <a:rPr sz="2300" b="0">
                          <a:solidFill>
                            <a:srgbClr val="111111"/>
                          </a:solidFill>
                          <a:latin typeface="Arial"/>
                          <a:ea typeface="Arial"/>
                          <a:cs typeface="Arial"/>
                        </a:rPr>
                        <a:t>5</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300" b="0">
                          <a:solidFill>
                            <a:srgbClr val="111111"/>
                          </a:solidFill>
                          <a:latin typeface="Arial"/>
                          <a:ea typeface="Arial"/>
                          <a:cs typeface="Arial"/>
                        </a:rPr>
                        <a:t>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explicacion">
            <a:extLst>
              <a:ext uri="{FF2B5EF4-FFF2-40B4-BE49-F238E27FC236}">
                <a16:creationId xmlns:a16="http://schemas.microsoft.com/office/drawing/2014/main" id="{F2F14C03-27C7-4A82-847D-28EEFA1B620A}"/>
              </a:ext>
            </a:extLst>
          </p:cNvPr>
          <p:cNvSpPr>
            <a:spLocks noGrp="1"/>
          </p:cNvSpPr>
          <p:nvPr/>
        </p:nvSpPr>
        <p:spPr>
          <a:xfrm>
            <a:off x="3333750" y="3971925"/>
            <a:ext cx="5238750" cy="666750"/>
          </a:xfrm>
          <a:prstGeom prst="rect">
            <a:avLst/>
          </a:prstGeom>
          <a:noFill/>
          <a:ln w="0">
            <a:noFill/>
          </a:ln>
        </p:spPr>
        <p:txBody>
          <a:bodyPr wrap="square" lIns="0" tIns="0" rIns="0" bIns="0" anchor="t">
            <a:noAutofit/>
          </a:bodyPr>
          <a:lstStyle>
            <a:defPPr algn="l">
              <a:defRPr sz="1900" b="0">
                <a:solidFill>
                  <a:srgbClr val="111111"/>
                </a:solidFill>
                <a:latin typeface="Arial"/>
                <a:ea typeface="Arial"/>
                <a:cs typeface="Arial"/>
              </a:defRPr>
            </a:defPPr>
            <a:lvl1pPr algn="l">
              <a:defRPr sz="1900" b="0">
                <a:solidFill>
                  <a:srgbClr val="111111"/>
                </a:solidFill>
                <a:latin typeface="Arial"/>
                <a:ea typeface="Arial"/>
                <a:cs typeface="Arial"/>
              </a:defRPr>
            </a:lvl1pPr>
            <a:lvl2pPr algn="l">
              <a:defRPr sz="1900" b="0">
                <a:solidFill>
                  <a:srgbClr val="111111"/>
                </a:solidFill>
                <a:latin typeface="Arial"/>
                <a:ea typeface="Arial"/>
                <a:cs typeface="Arial"/>
              </a:defRPr>
            </a:lvl2pPr>
            <a:lvl3pPr algn="l">
              <a:defRPr sz="1900" b="0">
                <a:solidFill>
                  <a:srgbClr val="111111"/>
                </a:solidFill>
                <a:latin typeface="Arial"/>
                <a:ea typeface="Arial"/>
                <a:cs typeface="Arial"/>
              </a:defRPr>
            </a:lvl3pPr>
            <a:lvl4pPr algn="l">
              <a:defRPr sz="1900" b="0">
                <a:solidFill>
                  <a:srgbClr val="111111"/>
                </a:solidFill>
                <a:latin typeface="Arial"/>
                <a:ea typeface="Arial"/>
                <a:cs typeface="Arial"/>
              </a:defRPr>
            </a:lvl4pPr>
            <a:lvl5pPr algn="l">
              <a:defRPr sz="1900" b="0">
                <a:solidFill>
                  <a:srgbClr val="111111"/>
                </a:solidFill>
                <a:latin typeface="Arial"/>
                <a:ea typeface="Arial"/>
                <a:cs typeface="Arial"/>
              </a:defRPr>
            </a:lvl5pPr>
            <a:lvl6pPr algn="l">
              <a:defRPr sz="1900" b="0">
                <a:solidFill>
                  <a:srgbClr val="111111"/>
                </a:solidFill>
                <a:latin typeface="Arial"/>
                <a:ea typeface="Arial"/>
                <a:cs typeface="Arial"/>
              </a:defRPr>
            </a:lvl6pPr>
            <a:lvl7pPr algn="l">
              <a:defRPr sz="1900" b="0">
                <a:solidFill>
                  <a:srgbClr val="111111"/>
                </a:solidFill>
                <a:latin typeface="Arial"/>
                <a:ea typeface="Arial"/>
                <a:cs typeface="Arial"/>
              </a:defRPr>
            </a:lvl7pPr>
            <a:lvl8pPr algn="l">
              <a:defRPr sz="1900" b="0">
                <a:solidFill>
                  <a:srgbClr val="111111"/>
                </a:solidFill>
                <a:latin typeface="Arial"/>
                <a:ea typeface="Arial"/>
                <a:cs typeface="Arial"/>
              </a:defRPr>
            </a:lvl8pPr>
            <a:lvl9pPr algn="l">
              <a:defRPr sz="1900" b="0">
                <a:solidFill>
                  <a:srgbClr val="111111"/>
                </a:solidFill>
                <a:latin typeface="Arial"/>
                <a:ea typeface="Arial"/>
                <a:cs typeface="Arial"/>
              </a:defRPr>
            </a:lvl9pPr>
          </a:lstStyle>
          <a:p>
            <a:pPr algn="l">
              <a:defRPr sz="1900" b="0">
                <a:solidFill>
                  <a:srgbClr val="111111"/>
                </a:solidFill>
                <a:latin typeface="Arial"/>
                <a:ea typeface="Arial"/>
                <a:cs typeface="Arial"/>
              </a:defRPr>
            </a:pPr>
            <a:r>
              <a:rPr sz="1900" b="0">
                <a:solidFill>
                  <a:srgbClr val="111111"/>
                </a:solidFill>
                <a:latin typeface="Arial"/>
                <a:ea typeface="Arial"/>
                <a:cs typeface="Arial"/>
              </a:rPr>
              <a:t>El código calcula color,</a:t>
            </a:r>
          </a:p>
          <a:p>
            <a:pPr algn="l">
              <a:defRPr sz="1900" b="0">
                <a:solidFill>
                  <a:srgbClr val="111111"/>
                </a:solidFill>
                <a:latin typeface="Arial"/>
                <a:ea typeface="Arial"/>
                <a:cs typeface="Arial"/>
              </a:defRPr>
            </a:pPr>
            <a:r>
              <a:rPr sz="1900" b="0">
                <a:solidFill>
                  <a:srgbClr val="111111"/>
                </a:solidFill>
                <a:latin typeface="Arial"/>
                <a:ea typeface="Arial"/>
                <a:cs typeface="Arial"/>
              </a:rPr>
              <a:t>paridad y docena a partir</a:t>
            </a:r>
          </a:p>
          <a:p>
            <a:pPr algn="l">
              <a:defRPr sz="1900" b="0">
                <a:solidFill>
                  <a:srgbClr val="111111"/>
                </a:solidFill>
                <a:latin typeface="Arial"/>
                <a:ea typeface="Arial"/>
                <a:cs typeface="Arial"/>
              </a:defRPr>
            </a:pPr>
            <a:r>
              <a:rPr sz="1900" b="0">
                <a:solidFill>
                  <a:srgbClr val="111111"/>
                </a:solidFill>
                <a:latin typeface="Arial"/>
                <a:ea typeface="Arial"/>
                <a:cs typeface="Arial"/>
              </a:rPr>
              <a:t>de cada número.</a:t>
            </a:r>
          </a:p>
        </p:txBody>
      </p:sp>
      <p:sp>
        <p:nvSpPr>
          <p:cNvPr id="11" name="fuente-visible">
            <a:extLst>
              <a:ext uri="{FF2B5EF4-FFF2-40B4-BE49-F238E27FC236}">
                <a16:creationId xmlns:a16="http://schemas.microsoft.com/office/drawing/2014/main" id="{AD39161C-7388-4864-8C52-BD3F56C5230E}"/>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2992235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A27240F9-14CD-4774-8BB2-4253591AA3B7}"/>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Frecuencia</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absoluta</a:t>
            </a:r>
          </a:p>
        </p:txBody>
      </p:sp>
      <p:sp>
        <p:nvSpPr>
          <p:cNvPr id="7" name="subtitulo">
            <a:extLst>
              <a:ext uri="{FF2B5EF4-FFF2-40B4-BE49-F238E27FC236}">
                <a16:creationId xmlns:a16="http://schemas.microsoft.com/office/drawing/2014/main" id="{3E9D16F2-FD2F-4F11-93D5-453D29695516}"/>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Recuento</a:t>
            </a:r>
          </a:p>
        </p:txBody>
      </p:sp>
      <p:sp>
        <p:nvSpPr>
          <p:cNvPr id="8" name="idea">
            <a:extLst>
              <a:ext uri="{FF2B5EF4-FFF2-40B4-BE49-F238E27FC236}">
                <a16:creationId xmlns:a16="http://schemas.microsoft.com/office/drawing/2014/main" id="{2F15F8E3-65E8-47E2-9B7F-C4CF635AA4DF}"/>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Cuenta cuántas veces</a:t>
            </a:r>
          </a:p>
          <a:p>
            <a:pPr algn="l">
              <a:defRPr sz="2100" b="0">
                <a:solidFill>
                  <a:srgbClr val="111111"/>
                </a:solidFill>
                <a:latin typeface="Arial"/>
                <a:ea typeface="Arial"/>
                <a:cs typeface="Arial"/>
              </a:defRPr>
            </a:pPr>
            <a:r>
              <a:rPr sz="2100" b="0">
                <a:solidFill>
                  <a:srgbClr val="111111"/>
                </a:solidFill>
                <a:latin typeface="Arial"/>
                <a:ea typeface="Arial"/>
                <a:cs typeface="Arial"/>
              </a:rPr>
              <a:t>aparece un resultado.</a:t>
            </a:r>
          </a:p>
        </p:txBody>
      </p:sp>
      <p:sp>
        <p:nvSpPr>
          <p:cNvPr id="9" name="explicacion">
            <a:extLst>
              <a:ext uri="{FF2B5EF4-FFF2-40B4-BE49-F238E27FC236}">
                <a16:creationId xmlns:a16="http://schemas.microsoft.com/office/drawing/2014/main" id="{BE0EB61B-FDFA-47EF-B2BE-6F8C50CD2B01}"/>
              </a:ext>
            </a:extLst>
          </p:cNvPr>
          <p:cNvSpPr>
            <a:spLocks noGrp="1"/>
          </p:cNvSpPr>
          <p:nvPr/>
        </p:nvSpPr>
        <p:spPr>
          <a:xfrm>
            <a:off x="3333750" y="619125"/>
            <a:ext cx="5238750" cy="6667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Número 17</a:t>
            </a:r>
          </a:p>
        </p:txBody>
      </p:sp>
      <p:sp>
        <p:nvSpPr>
          <p:cNvPr id="10" name="explicacion">
            <a:extLst>
              <a:ext uri="{FF2B5EF4-FFF2-40B4-BE49-F238E27FC236}">
                <a16:creationId xmlns:a16="http://schemas.microsoft.com/office/drawing/2014/main" id="{805CB86A-5A9D-4949-87FB-7576B24C08B5}"/>
              </a:ext>
            </a:extLst>
          </p:cNvPr>
          <p:cNvSpPr>
            <a:spLocks noGrp="1"/>
          </p:cNvSpPr>
          <p:nvPr/>
        </p:nvSpPr>
        <p:spPr>
          <a:xfrm>
            <a:off x="3333750" y="1457325"/>
            <a:ext cx="5238750" cy="666750"/>
          </a:xfrm>
          <a:prstGeom prst="rect">
            <a:avLst/>
          </a:prstGeom>
          <a:noFill/>
          <a:ln w="0">
            <a:noFill/>
          </a:ln>
        </p:spPr>
        <p:txBody>
          <a:bodyPr wrap="square" lIns="0" tIns="0" rIns="0" bIns="0" anchor="t">
            <a:noAutofit/>
          </a:bodyPr>
          <a:lstStyle>
            <a:defPPr algn="l">
              <a:defRPr sz="4000" b="1">
                <a:solidFill>
                  <a:srgbClr val="044247"/>
                </a:solidFill>
                <a:latin typeface="Arial"/>
                <a:ea typeface="Arial"/>
                <a:cs typeface="Arial"/>
              </a:defRPr>
            </a:defPPr>
            <a:lvl1pPr algn="l">
              <a:defRPr sz="4000" b="1">
                <a:solidFill>
                  <a:srgbClr val="044247"/>
                </a:solidFill>
                <a:latin typeface="Arial"/>
                <a:ea typeface="Arial"/>
                <a:cs typeface="Arial"/>
              </a:defRPr>
            </a:lvl1pPr>
            <a:lvl2pPr algn="l">
              <a:defRPr sz="4000" b="1">
                <a:solidFill>
                  <a:srgbClr val="044247"/>
                </a:solidFill>
                <a:latin typeface="Arial"/>
                <a:ea typeface="Arial"/>
                <a:cs typeface="Arial"/>
              </a:defRPr>
            </a:lvl2pPr>
            <a:lvl3pPr algn="l">
              <a:defRPr sz="4000" b="1">
                <a:solidFill>
                  <a:srgbClr val="044247"/>
                </a:solidFill>
                <a:latin typeface="Arial"/>
                <a:ea typeface="Arial"/>
                <a:cs typeface="Arial"/>
              </a:defRPr>
            </a:lvl3pPr>
            <a:lvl4pPr algn="l">
              <a:defRPr sz="4000" b="1">
                <a:solidFill>
                  <a:srgbClr val="044247"/>
                </a:solidFill>
                <a:latin typeface="Arial"/>
                <a:ea typeface="Arial"/>
                <a:cs typeface="Arial"/>
              </a:defRPr>
            </a:lvl4pPr>
            <a:lvl5pPr algn="l">
              <a:defRPr sz="4000" b="1">
                <a:solidFill>
                  <a:srgbClr val="044247"/>
                </a:solidFill>
                <a:latin typeface="Arial"/>
                <a:ea typeface="Arial"/>
                <a:cs typeface="Arial"/>
              </a:defRPr>
            </a:lvl5pPr>
            <a:lvl6pPr algn="l">
              <a:defRPr sz="4000" b="1">
                <a:solidFill>
                  <a:srgbClr val="044247"/>
                </a:solidFill>
                <a:latin typeface="Arial"/>
                <a:ea typeface="Arial"/>
                <a:cs typeface="Arial"/>
              </a:defRPr>
            </a:lvl6pPr>
            <a:lvl7pPr algn="l">
              <a:defRPr sz="4000" b="1">
                <a:solidFill>
                  <a:srgbClr val="044247"/>
                </a:solidFill>
                <a:latin typeface="Arial"/>
                <a:ea typeface="Arial"/>
                <a:cs typeface="Arial"/>
              </a:defRPr>
            </a:lvl7pPr>
            <a:lvl8pPr algn="l">
              <a:defRPr sz="4000" b="1">
                <a:solidFill>
                  <a:srgbClr val="044247"/>
                </a:solidFill>
                <a:latin typeface="Arial"/>
                <a:ea typeface="Arial"/>
                <a:cs typeface="Arial"/>
              </a:defRPr>
            </a:lvl8pPr>
            <a:lvl9pPr algn="l">
              <a:defRPr sz="4000" b="1">
                <a:solidFill>
                  <a:srgbClr val="044247"/>
                </a:solidFill>
                <a:latin typeface="Arial"/>
                <a:ea typeface="Arial"/>
                <a:cs typeface="Arial"/>
              </a:defRPr>
            </a:lvl9pPr>
          </a:lstStyle>
          <a:p>
            <a:pPr algn="l">
              <a:defRPr sz="4000" b="1">
                <a:solidFill>
                  <a:srgbClr val="044247"/>
                </a:solidFill>
                <a:latin typeface="Arial"/>
                <a:ea typeface="Arial"/>
                <a:cs typeface="Arial"/>
              </a:defRPr>
            </a:pPr>
            <a:r>
              <a:rPr sz="4000" b="1">
                <a:solidFill>
                  <a:srgbClr val="044247"/>
                </a:solidFill>
                <a:latin typeface="Arial"/>
                <a:ea typeface="Arial"/>
                <a:cs typeface="Arial"/>
              </a:rPr>
              <a:t>43 apariciones</a:t>
            </a:r>
          </a:p>
        </p:txBody>
      </p:sp>
      <p:sp>
        <p:nvSpPr>
          <p:cNvPr id="11" name="explicacion">
            <a:extLst>
              <a:ext uri="{FF2B5EF4-FFF2-40B4-BE49-F238E27FC236}">
                <a16:creationId xmlns:a16="http://schemas.microsoft.com/office/drawing/2014/main" id="{B2ABED6F-E3AC-4C24-BA4D-265AB67CFB9E}"/>
              </a:ext>
            </a:extLst>
          </p:cNvPr>
          <p:cNvSpPr>
            <a:spLocks noGrp="1"/>
          </p:cNvSpPr>
          <p:nvPr/>
        </p:nvSpPr>
        <p:spPr>
          <a:xfrm>
            <a:off x="3333750" y="2352675"/>
            <a:ext cx="5238750" cy="6667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algn="l">
              <a:defRPr sz="2300" b="0">
                <a:solidFill>
                  <a:srgbClr val="111111"/>
                </a:solidFill>
                <a:latin typeface="Arial"/>
                <a:ea typeface="Arial"/>
                <a:cs typeface="Arial"/>
              </a:defRPr>
            </a:pPr>
            <a:r>
              <a:rPr sz="2300" b="0">
                <a:solidFill>
                  <a:srgbClr val="111111"/>
                </a:solidFill>
                <a:latin typeface="Arial"/>
                <a:ea typeface="Arial"/>
                <a:cs typeface="Arial"/>
              </a:rPr>
              <a:t>en 1000 tiradas simuladas</a:t>
            </a:r>
          </a:p>
        </p:txBody>
      </p:sp>
      <p:sp>
        <p:nvSpPr>
          <p:cNvPr id="12" name="explicacion">
            <a:extLst>
              <a:ext uri="{FF2B5EF4-FFF2-40B4-BE49-F238E27FC236}">
                <a16:creationId xmlns:a16="http://schemas.microsoft.com/office/drawing/2014/main" id="{41C13CE8-CEC3-470E-8838-009ADB364BB2}"/>
              </a:ext>
            </a:extLst>
          </p:cNvPr>
          <p:cNvSpPr>
            <a:spLocks noGrp="1"/>
          </p:cNvSpPr>
          <p:nvPr/>
        </p:nvSpPr>
        <p:spPr>
          <a:xfrm>
            <a:off x="3333750" y="3352800"/>
            <a:ext cx="5238750" cy="666750"/>
          </a:xfrm>
          <a:prstGeom prst="rect">
            <a:avLst/>
          </a:prstGeom>
          <a:noFill/>
          <a:ln w="0">
            <a:noFill/>
          </a:ln>
        </p:spPr>
        <p:txBody>
          <a:bodyPr wrap="square" lIns="0" tIns="0" rIns="0" bIns="0" anchor="t">
            <a:noAutofit/>
          </a:bodyPr>
          <a:lstStyle>
            <a:defPPr algn="l">
              <a:defRPr sz="2800" b="0">
                <a:solidFill>
                  <a:srgbClr val="111111"/>
                </a:solidFill>
                <a:latin typeface="Arial"/>
                <a:ea typeface="Arial"/>
                <a:cs typeface="Arial"/>
              </a:defRPr>
            </a:defPPr>
            <a:lvl1pPr algn="l">
              <a:defRPr sz="2800" b="0">
                <a:solidFill>
                  <a:srgbClr val="111111"/>
                </a:solidFill>
                <a:latin typeface="Arial"/>
                <a:ea typeface="Arial"/>
                <a:cs typeface="Arial"/>
              </a:defRPr>
            </a:lvl1pPr>
            <a:lvl2pPr algn="l">
              <a:defRPr sz="2800" b="0">
                <a:solidFill>
                  <a:srgbClr val="111111"/>
                </a:solidFill>
                <a:latin typeface="Arial"/>
                <a:ea typeface="Arial"/>
                <a:cs typeface="Arial"/>
              </a:defRPr>
            </a:lvl2pPr>
            <a:lvl3pPr algn="l">
              <a:defRPr sz="2800" b="0">
                <a:solidFill>
                  <a:srgbClr val="111111"/>
                </a:solidFill>
                <a:latin typeface="Arial"/>
                <a:ea typeface="Arial"/>
                <a:cs typeface="Arial"/>
              </a:defRPr>
            </a:lvl3pPr>
            <a:lvl4pPr algn="l">
              <a:defRPr sz="2800" b="0">
                <a:solidFill>
                  <a:srgbClr val="111111"/>
                </a:solidFill>
                <a:latin typeface="Arial"/>
                <a:ea typeface="Arial"/>
                <a:cs typeface="Arial"/>
              </a:defRPr>
            </a:lvl4pPr>
            <a:lvl5pPr algn="l">
              <a:defRPr sz="2800" b="0">
                <a:solidFill>
                  <a:srgbClr val="111111"/>
                </a:solidFill>
                <a:latin typeface="Arial"/>
                <a:ea typeface="Arial"/>
                <a:cs typeface="Arial"/>
              </a:defRPr>
            </a:lvl5pPr>
            <a:lvl6pPr algn="l">
              <a:defRPr sz="2800" b="0">
                <a:solidFill>
                  <a:srgbClr val="111111"/>
                </a:solidFill>
                <a:latin typeface="Arial"/>
                <a:ea typeface="Arial"/>
                <a:cs typeface="Arial"/>
              </a:defRPr>
            </a:lvl6pPr>
            <a:lvl7pPr algn="l">
              <a:defRPr sz="2800" b="0">
                <a:solidFill>
                  <a:srgbClr val="111111"/>
                </a:solidFill>
                <a:latin typeface="Arial"/>
                <a:ea typeface="Arial"/>
                <a:cs typeface="Arial"/>
              </a:defRPr>
            </a:lvl7pPr>
            <a:lvl8pPr algn="l">
              <a:defRPr sz="2800" b="0">
                <a:solidFill>
                  <a:srgbClr val="111111"/>
                </a:solidFill>
                <a:latin typeface="Arial"/>
                <a:ea typeface="Arial"/>
                <a:cs typeface="Arial"/>
              </a:defRPr>
            </a:lvl8pPr>
            <a:lvl9pPr algn="l">
              <a:defRPr sz="2800" b="0">
                <a:solidFill>
                  <a:srgbClr val="111111"/>
                </a:solidFill>
                <a:latin typeface="Arial"/>
                <a:ea typeface="Arial"/>
                <a:cs typeface="Arial"/>
              </a:defRPr>
            </a:lvl9pPr>
          </a:lstStyle>
          <a:p>
            <a:pPr algn="l">
              <a:defRPr sz="2800" b="0">
                <a:solidFill>
                  <a:srgbClr val="111111"/>
                </a:solidFill>
                <a:latin typeface="Arial"/>
                <a:ea typeface="Arial"/>
                <a:cs typeface="Arial"/>
              </a:defRPr>
            </a:pPr>
            <a:r>
              <a:rPr sz="2800" b="0">
                <a:solidFill>
                  <a:srgbClr val="111111"/>
                </a:solidFill>
                <a:latin typeface="Arial"/>
                <a:ea typeface="Arial"/>
                <a:cs typeface="Arial"/>
              </a:rPr>
              <a:t>La frecuencia absoluta</a:t>
            </a:r>
          </a:p>
          <a:p>
            <a:pPr algn="l">
              <a:defRPr sz="2800" b="0">
                <a:solidFill>
                  <a:srgbClr val="111111"/>
                </a:solidFill>
                <a:latin typeface="Arial"/>
                <a:ea typeface="Arial"/>
                <a:cs typeface="Arial"/>
              </a:defRPr>
            </a:pPr>
            <a:r>
              <a:rPr sz="2800" b="0">
                <a:solidFill>
                  <a:srgbClr val="111111"/>
                </a:solidFill>
                <a:latin typeface="Arial"/>
                <a:ea typeface="Arial"/>
                <a:cs typeface="Arial"/>
              </a:rPr>
              <a:t>es 43.</a:t>
            </a:r>
          </a:p>
        </p:txBody>
      </p:sp>
      <p:sp>
        <p:nvSpPr>
          <p:cNvPr id="13" name="fuente-visible">
            <a:extLst>
              <a:ext uri="{FF2B5EF4-FFF2-40B4-BE49-F238E27FC236}">
                <a16:creationId xmlns:a16="http://schemas.microsoft.com/office/drawing/2014/main" id="{9A491C21-758C-43A5-A1C3-EC1A9E07B85A}"/>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181695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5B1E2A64-D0A5-499F-987C-5255BA7CE4B2}"/>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Frecuencia</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relativa</a:t>
            </a:r>
          </a:p>
        </p:txBody>
      </p:sp>
      <p:sp>
        <p:nvSpPr>
          <p:cNvPr id="7" name="subtitulo">
            <a:extLst>
              <a:ext uri="{FF2B5EF4-FFF2-40B4-BE49-F238E27FC236}">
                <a16:creationId xmlns:a16="http://schemas.microsoft.com/office/drawing/2014/main" id="{3E95752D-794C-4C01-8FAB-345ED99B8A07}"/>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Proporción</a:t>
            </a:r>
          </a:p>
        </p:txBody>
      </p:sp>
      <p:sp>
        <p:nvSpPr>
          <p:cNvPr id="8" name="idea">
            <a:extLst>
              <a:ext uri="{FF2B5EF4-FFF2-40B4-BE49-F238E27FC236}">
                <a16:creationId xmlns:a16="http://schemas.microsoft.com/office/drawing/2014/main" id="{472ED0FD-7644-40A9-9E90-F859B3DAE657}"/>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Recuento / tiradas</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Después, × 100</a:t>
            </a:r>
          </a:p>
          <a:p>
            <a:pPr algn="l">
              <a:defRPr sz="2100" b="0">
                <a:solidFill>
                  <a:srgbClr val="111111"/>
                </a:solidFill>
                <a:latin typeface="Arial"/>
                <a:ea typeface="Arial"/>
                <a:cs typeface="Arial"/>
              </a:defRPr>
            </a:pPr>
            <a:r>
              <a:rPr sz="2100" b="0">
                <a:solidFill>
                  <a:srgbClr val="111111"/>
                </a:solidFill>
                <a:latin typeface="Arial"/>
                <a:ea typeface="Arial"/>
                <a:cs typeface="Arial"/>
              </a:rPr>
              <a:t>para el porcentaje.</a:t>
            </a:r>
          </a:p>
        </p:txBody>
      </p:sp>
      <p:sp>
        <p:nvSpPr>
          <p:cNvPr id="9" name="explicacion">
            <a:extLst>
              <a:ext uri="{FF2B5EF4-FFF2-40B4-BE49-F238E27FC236}">
                <a16:creationId xmlns:a16="http://schemas.microsoft.com/office/drawing/2014/main" id="{7823DDAA-7C79-43A2-9C7D-62C56ED19C84}"/>
              </a:ext>
            </a:extLst>
          </p:cNvPr>
          <p:cNvSpPr>
            <a:spLocks noGrp="1"/>
          </p:cNvSpPr>
          <p:nvPr/>
        </p:nvSpPr>
        <p:spPr>
          <a:xfrm>
            <a:off x="3333750" y="714375"/>
            <a:ext cx="5238750" cy="666750"/>
          </a:xfrm>
          <a:prstGeom prst="rect">
            <a:avLst/>
          </a:prstGeom>
          <a:noFill/>
          <a:ln w="0">
            <a:noFill/>
          </a:ln>
        </p:spPr>
        <p:txBody>
          <a:bodyPr wrap="square" lIns="0" tIns="0" rIns="0" bIns="0" anchor="t">
            <a:noAutofit/>
          </a:bodyPr>
          <a:lstStyle>
            <a:defPPr algn="l">
              <a:defRPr sz="3000" b="1">
                <a:solidFill>
                  <a:srgbClr val="044247"/>
                </a:solidFill>
                <a:latin typeface="Arial"/>
                <a:ea typeface="Arial"/>
                <a:cs typeface="Arial"/>
              </a:defRPr>
            </a:defPPr>
            <a:lvl1pPr algn="l">
              <a:defRPr sz="3000" b="1">
                <a:solidFill>
                  <a:srgbClr val="044247"/>
                </a:solidFill>
                <a:latin typeface="Arial"/>
                <a:ea typeface="Arial"/>
                <a:cs typeface="Arial"/>
              </a:defRPr>
            </a:lvl1pPr>
            <a:lvl2pPr algn="l">
              <a:defRPr sz="3000" b="1">
                <a:solidFill>
                  <a:srgbClr val="044247"/>
                </a:solidFill>
                <a:latin typeface="Arial"/>
                <a:ea typeface="Arial"/>
                <a:cs typeface="Arial"/>
              </a:defRPr>
            </a:lvl2pPr>
            <a:lvl3pPr algn="l">
              <a:defRPr sz="3000" b="1">
                <a:solidFill>
                  <a:srgbClr val="044247"/>
                </a:solidFill>
                <a:latin typeface="Arial"/>
                <a:ea typeface="Arial"/>
                <a:cs typeface="Arial"/>
              </a:defRPr>
            </a:lvl3pPr>
            <a:lvl4pPr algn="l">
              <a:defRPr sz="3000" b="1">
                <a:solidFill>
                  <a:srgbClr val="044247"/>
                </a:solidFill>
                <a:latin typeface="Arial"/>
                <a:ea typeface="Arial"/>
                <a:cs typeface="Arial"/>
              </a:defRPr>
            </a:lvl4pPr>
            <a:lvl5pPr algn="l">
              <a:defRPr sz="3000" b="1">
                <a:solidFill>
                  <a:srgbClr val="044247"/>
                </a:solidFill>
                <a:latin typeface="Arial"/>
                <a:ea typeface="Arial"/>
                <a:cs typeface="Arial"/>
              </a:defRPr>
            </a:lvl5pPr>
            <a:lvl6pPr algn="l">
              <a:defRPr sz="3000" b="1">
                <a:solidFill>
                  <a:srgbClr val="044247"/>
                </a:solidFill>
                <a:latin typeface="Arial"/>
                <a:ea typeface="Arial"/>
                <a:cs typeface="Arial"/>
              </a:defRPr>
            </a:lvl6pPr>
            <a:lvl7pPr algn="l">
              <a:defRPr sz="3000" b="1">
                <a:solidFill>
                  <a:srgbClr val="044247"/>
                </a:solidFill>
                <a:latin typeface="Arial"/>
                <a:ea typeface="Arial"/>
                <a:cs typeface="Arial"/>
              </a:defRPr>
            </a:lvl7pPr>
            <a:lvl8pPr algn="l">
              <a:defRPr sz="3000" b="1">
                <a:solidFill>
                  <a:srgbClr val="044247"/>
                </a:solidFill>
                <a:latin typeface="Arial"/>
                <a:ea typeface="Arial"/>
                <a:cs typeface="Arial"/>
              </a:defRPr>
            </a:lvl8pPr>
            <a:lvl9pPr algn="l">
              <a:defRPr sz="3000" b="1">
                <a:solidFill>
                  <a:srgbClr val="044247"/>
                </a:solidFill>
                <a:latin typeface="Arial"/>
                <a:ea typeface="Arial"/>
                <a:cs typeface="Arial"/>
              </a:defRPr>
            </a:lvl9pPr>
          </a:lstStyle>
          <a:p>
            <a:pPr algn="l">
              <a:defRPr sz="3000" b="1">
                <a:solidFill>
                  <a:srgbClr val="044247"/>
                </a:solidFill>
                <a:latin typeface="Arial"/>
                <a:ea typeface="Arial"/>
                <a:cs typeface="Arial"/>
              </a:defRPr>
            </a:pPr>
            <a:r>
              <a:rPr sz="3000" b="1">
                <a:solidFill>
                  <a:srgbClr val="044247"/>
                </a:solidFill>
                <a:latin typeface="Arial"/>
                <a:ea typeface="Arial"/>
                <a:cs typeface="Arial"/>
              </a:rPr>
              <a:t>43 / 1.000 = 0,043</a:t>
            </a:r>
          </a:p>
        </p:txBody>
      </p:sp>
      <p:sp>
        <p:nvSpPr>
          <p:cNvPr id="10" name="explicacion">
            <a:extLst>
              <a:ext uri="{FF2B5EF4-FFF2-40B4-BE49-F238E27FC236}">
                <a16:creationId xmlns:a16="http://schemas.microsoft.com/office/drawing/2014/main" id="{4E3CBCBB-C56A-4040-B6EF-435FE1719454}"/>
              </a:ext>
            </a:extLst>
          </p:cNvPr>
          <p:cNvSpPr>
            <a:spLocks noGrp="1"/>
          </p:cNvSpPr>
          <p:nvPr/>
        </p:nvSpPr>
        <p:spPr>
          <a:xfrm>
            <a:off x="3333750" y="1762125"/>
            <a:ext cx="5238750" cy="666750"/>
          </a:xfrm>
          <a:prstGeom prst="rect">
            <a:avLst/>
          </a:prstGeom>
          <a:noFill/>
          <a:ln w="0">
            <a:noFill/>
          </a:ln>
        </p:spPr>
        <p:txBody>
          <a:bodyPr wrap="square" lIns="0" tIns="0" rIns="0" bIns="0" anchor="t">
            <a:noAutofit/>
          </a:bodyPr>
          <a:lstStyle>
            <a:defPPr algn="l">
              <a:defRPr sz="3000" b="1">
                <a:solidFill>
                  <a:srgbClr val="044247"/>
                </a:solidFill>
                <a:latin typeface="Arial"/>
                <a:ea typeface="Arial"/>
                <a:cs typeface="Arial"/>
              </a:defRPr>
            </a:defPPr>
            <a:lvl1pPr algn="l">
              <a:defRPr sz="3000" b="1">
                <a:solidFill>
                  <a:srgbClr val="044247"/>
                </a:solidFill>
                <a:latin typeface="Arial"/>
                <a:ea typeface="Arial"/>
                <a:cs typeface="Arial"/>
              </a:defRPr>
            </a:lvl1pPr>
            <a:lvl2pPr algn="l">
              <a:defRPr sz="3000" b="1">
                <a:solidFill>
                  <a:srgbClr val="044247"/>
                </a:solidFill>
                <a:latin typeface="Arial"/>
                <a:ea typeface="Arial"/>
                <a:cs typeface="Arial"/>
              </a:defRPr>
            </a:lvl2pPr>
            <a:lvl3pPr algn="l">
              <a:defRPr sz="3000" b="1">
                <a:solidFill>
                  <a:srgbClr val="044247"/>
                </a:solidFill>
                <a:latin typeface="Arial"/>
                <a:ea typeface="Arial"/>
                <a:cs typeface="Arial"/>
              </a:defRPr>
            </a:lvl3pPr>
            <a:lvl4pPr algn="l">
              <a:defRPr sz="3000" b="1">
                <a:solidFill>
                  <a:srgbClr val="044247"/>
                </a:solidFill>
                <a:latin typeface="Arial"/>
                <a:ea typeface="Arial"/>
                <a:cs typeface="Arial"/>
              </a:defRPr>
            </a:lvl4pPr>
            <a:lvl5pPr algn="l">
              <a:defRPr sz="3000" b="1">
                <a:solidFill>
                  <a:srgbClr val="044247"/>
                </a:solidFill>
                <a:latin typeface="Arial"/>
                <a:ea typeface="Arial"/>
                <a:cs typeface="Arial"/>
              </a:defRPr>
            </a:lvl5pPr>
            <a:lvl6pPr algn="l">
              <a:defRPr sz="3000" b="1">
                <a:solidFill>
                  <a:srgbClr val="044247"/>
                </a:solidFill>
                <a:latin typeface="Arial"/>
                <a:ea typeface="Arial"/>
                <a:cs typeface="Arial"/>
              </a:defRPr>
            </a:lvl6pPr>
            <a:lvl7pPr algn="l">
              <a:defRPr sz="3000" b="1">
                <a:solidFill>
                  <a:srgbClr val="044247"/>
                </a:solidFill>
                <a:latin typeface="Arial"/>
                <a:ea typeface="Arial"/>
                <a:cs typeface="Arial"/>
              </a:defRPr>
            </a:lvl7pPr>
            <a:lvl8pPr algn="l">
              <a:defRPr sz="3000" b="1">
                <a:solidFill>
                  <a:srgbClr val="044247"/>
                </a:solidFill>
                <a:latin typeface="Arial"/>
                <a:ea typeface="Arial"/>
                <a:cs typeface="Arial"/>
              </a:defRPr>
            </a:lvl8pPr>
            <a:lvl9pPr algn="l">
              <a:defRPr sz="3000" b="1">
                <a:solidFill>
                  <a:srgbClr val="044247"/>
                </a:solidFill>
                <a:latin typeface="Arial"/>
                <a:ea typeface="Arial"/>
                <a:cs typeface="Arial"/>
              </a:defRPr>
            </a:lvl9pPr>
          </a:lstStyle>
          <a:p>
            <a:pPr algn="l">
              <a:defRPr sz="3000" b="1">
                <a:solidFill>
                  <a:srgbClr val="044247"/>
                </a:solidFill>
                <a:latin typeface="Arial"/>
                <a:ea typeface="Arial"/>
                <a:cs typeface="Arial"/>
              </a:defRPr>
            </a:pPr>
            <a:r>
              <a:rPr sz="3000" b="1">
                <a:solidFill>
                  <a:srgbClr val="044247"/>
                </a:solidFill>
                <a:latin typeface="Arial"/>
                <a:ea typeface="Arial"/>
                <a:cs typeface="Arial"/>
              </a:rPr>
              <a:t>0,043 × 100 = 4,3 %</a:t>
            </a:r>
          </a:p>
        </p:txBody>
      </p:sp>
      <p:sp>
        <p:nvSpPr>
          <p:cNvPr id="11" name="explicacion">
            <a:extLst>
              <a:ext uri="{FF2B5EF4-FFF2-40B4-BE49-F238E27FC236}">
                <a16:creationId xmlns:a16="http://schemas.microsoft.com/office/drawing/2014/main" id="{75CE87D4-5E68-4EEC-A5FC-5CD125F4C2F6}"/>
              </a:ext>
            </a:extLst>
          </p:cNvPr>
          <p:cNvSpPr>
            <a:spLocks noGrp="1"/>
          </p:cNvSpPr>
          <p:nvPr/>
        </p:nvSpPr>
        <p:spPr>
          <a:xfrm>
            <a:off x="3333750" y="2990850"/>
            <a:ext cx="5238750" cy="666750"/>
          </a:xfrm>
          <a:prstGeom prst="rect">
            <a:avLst/>
          </a:prstGeom>
          <a:noFill/>
          <a:ln w="0">
            <a:noFill/>
          </a:ln>
        </p:spPr>
        <p:txBody>
          <a:bodyPr wrap="square" lIns="0" tIns="0" rIns="0" bIns="0" anchor="t">
            <a:noAutofit/>
          </a:bodyPr>
          <a:lstStyle>
            <a:defPPr algn="l">
              <a:defRPr sz="2400" b="0">
                <a:solidFill>
                  <a:srgbClr val="111111"/>
                </a:solidFill>
                <a:latin typeface="Arial"/>
                <a:ea typeface="Arial"/>
                <a:cs typeface="Arial"/>
              </a:defRPr>
            </a:defPPr>
            <a:lvl1pPr algn="l">
              <a:defRPr sz="2400" b="0">
                <a:solidFill>
                  <a:srgbClr val="111111"/>
                </a:solidFill>
                <a:latin typeface="Arial"/>
                <a:ea typeface="Arial"/>
                <a:cs typeface="Arial"/>
              </a:defRPr>
            </a:lvl1pPr>
            <a:lvl2pPr algn="l">
              <a:defRPr sz="2400" b="0">
                <a:solidFill>
                  <a:srgbClr val="111111"/>
                </a:solidFill>
                <a:latin typeface="Arial"/>
                <a:ea typeface="Arial"/>
                <a:cs typeface="Arial"/>
              </a:defRPr>
            </a:lvl2pPr>
            <a:lvl3pPr algn="l">
              <a:defRPr sz="2400" b="0">
                <a:solidFill>
                  <a:srgbClr val="111111"/>
                </a:solidFill>
                <a:latin typeface="Arial"/>
                <a:ea typeface="Arial"/>
                <a:cs typeface="Arial"/>
              </a:defRPr>
            </a:lvl3pPr>
            <a:lvl4pPr algn="l">
              <a:defRPr sz="2400" b="0">
                <a:solidFill>
                  <a:srgbClr val="111111"/>
                </a:solidFill>
                <a:latin typeface="Arial"/>
                <a:ea typeface="Arial"/>
                <a:cs typeface="Arial"/>
              </a:defRPr>
            </a:lvl4pPr>
            <a:lvl5pPr algn="l">
              <a:defRPr sz="2400" b="0">
                <a:solidFill>
                  <a:srgbClr val="111111"/>
                </a:solidFill>
                <a:latin typeface="Arial"/>
                <a:ea typeface="Arial"/>
                <a:cs typeface="Arial"/>
              </a:defRPr>
            </a:lvl5pPr>
            <a:lvl6pPr algn="l">
              <a:defRPr sz="2400" b="0">
                <a:solidFill>
                  <a:srgbClr val="111111"/>
                </a:solidFill>
                <a:latin typeface="Arial"/>
                <a:ea typeface="Arial"/>
                <a:cs typeface="Arial"/>
              </a:defRPr>
            </a:lvl6pPr>
            <a:lvl7pPr algn="l">
              <a:defRPr sz="2400" b="0">
                <a:solidFill>
                  <a:srgbClr val="111111"/>
                </a:solidFill>
                <a:latin typeface="Arial"/>
                <a:ea typeface="Arial"/>
                <a:cs typeface="Arial"/>
              </a:defRPr>
            </a:lvl7pPr>
            <a:lvl8pPr algn="l">
              <a:defRPr sz="2400" b="0">
                <a:solidFill>
                  <a:srgbClr val="111111"/>
                </a:solidFill>
                <a:latin typeface="Arial"/>
                <a:ea typeface="Arial"/>
                <a:cs typeface="Arial"/>
              </a:defRPr>
            </a:lvl8pPr>
            <a:lvl9pPr algn="l">
              <a:defRPr sz="2400" b="0">
                <a:solidFill>
                  <a:srgbClr val="111111"/>
                </a:solidFill>
                <a:latin typeface="Arial"/>
                <a:ea typeface="Arial"/>
                <a:cs typeface="Arial"/>
              </a:defRPr>
            </a:lvl9pPr>
          </a:lstStyle>
          <a:p>
            <a:pPr algn="l">
              <a:defRPr sz="2400" b="0">
                <a:solidFill>
                  <a:srgbClr val="111111"/>
                </a:solidFill>
                <a:latin typeface="Arial"/>
                <a:ea typeface="Arial"/>
                <a:cs typeface="Arial"/>
              </a:defRPr>
            </a:pPr>
            <a:r>
              <a:rPr sz="2400" b="0">
                <a:solidFill>
                  <a:srgbClr val="111111"/>
                </a:solidFill>
                <a:latin typeface="Arial"/>
                <a:ea typeface="Arial"/>
                <a:cs typeface="Arial"/>
              </a:rPr>
              <a:t>El 17 aparece en el 4,3 %</a:t>
            </a:r>
          </a:p>
          <a:p>
            <a:pPr algn="l">
              <a:defRPr sz="2400" b="0">
                <a:solidFill>
                  <a:srgbClr val="111111"/>
                </a:solidFill>
                <a:latin typeface="Arial"/>
                <a:ea typeface="Arial"/>
                <a:cs typeface="Arial"/>
              </a:defRPr>
            </a:pPr>
            <a:r>
              <a:rPr sz="2400" b="0">
                <a:solidFill>
                  <a:srgbClr val="111111"/>
                </a:solidFill>
                <a:latin typeface="Arial"/>
                <a:ea typeface="Arial"/>
                <a:cs typeface="Arial"/>
              </a:rPr>
              <a:t>de este historial simulado.</a:t>
            </a:r>
          </a:p>
        </p:txBody>
      </p:sp>
      <p:sp>
        <p:nvSpPr>
          <p:cNvPr id="12" name="fuente-visible">
            <a:extLst>
              <a:ext uri="{FF2B5EF4-FFF2-40B4-BE49-F238E27FC236}">
                <a16:creationId xmlns:a16="http://schemas.microsoft.com/office/drawing/2014/main" id="{97CC9885-1AA9-4A0D-AB27-43B1245C2EC0}"/>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3828410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D06048EB-11B6-468B-BF75-49294E8D3024}"/>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Porcentajes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observados</a:t>
            </a:r>
          </a:p>
        </p:txBody>
      </p:sp>
      <p:sp>
        <p:nvSpPr>
          <p:cNvPr id="7" name="subtitulo">
            <a:extLst>
              <a:ext uri="{FF2B5EF4-FFF2-40B4-BE49-F238E27FC236}">
                <a16:creationId xmlns:a16="http://schemas.microsoft.com/office/drawing/2014/main" id="{E192927E-CF4E-467A-A6C5-E9E81B35DDC4}"/>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Por color</a:t>
            </a:r>
          </a:p>
        </p:txBody>
      </p:sp>
      <p:sp>
        <p:nvSpPr>
          <p:cNvPr id="8" name="idea">
            <a:extLst>
              <a:ext uri="{FF2B5EF4-FFF2-40B4-BE49-F238E27FC236}">
                <a16:creationId xmlns:a16="http://schemas.microsoft.com/office/drawing/2014/main" id="{D9CD7269-B6B7-4083-A58B-DE9A3458A189}"/>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Rojo:</a:t>
            </a:r>
          </a:p>
          <a:p>
            <a:pPr algn="l">
              <a:defRPr sz="2100" b="0">
                <a:solidFill>
                  <a:srgbClr val="111111"/>
                </a:solidFill>
                <a:latin typeface="Arial"/>
                <a:ea typeface="Arial"/>
                <a:cs typeface="Arial"/>
              </a:defRPr>
            </a:pPr>
            <a:r>
              <a:rPr sz="2100" b="0">
                <a:solidFill>
                  <a:srgbClr val="111111"/>
                </a:solidFill>
                <a:latin typeface="Arial"/>
                <a:ea typeface="Arial"/>
                <a:cs typeface="Arial"/>
              </a:rPr>
              <a:t>484 / 1.000</a:t>
            </a:r>
          </a:p>
          <a:p>
            <a:pPr algn="l">
              <a:defRPr sz="2100" b="0">
                <a:solidFill>
                  <a:srgbClr val="111111"/>
                </a:solidFill>
                <a:latin typeface="Arial"/>
                <a:ea typeface="Arial"/>
                <a:cs typeface="Arial"/>
              </a:defRPr>
            </a:pPr>
            <a:r>
              <a:rPr sz="2100" b="0">
                <a:solidFill>
                  <a:srgbClr val="111111"/>
                </a:solidFill>
                <a:latin typeface="Arial"/>
                <a:ea typeface="Arial"/>
                <a:cs typeface="Arial"/>
              </a:rPr>
              <a:t>= 0,484</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0,484 × 100</a:t>
            </a:r>
          </a:p>
          <a:p>
            <a:pPr algn="l">
              <a:defRPr sz="2100" b="0">
                <a:solidFill>
                  <a:srgbClr val="111111"/>
                </a:solidFill>
                <a:latin typeface="Arial"/>
                <a:ea typeface="Arial"/>
                <a:cs typeface="Arial"/>
              </a:defRPr>
            </a:pPr>
            <a:r>
              <a:rPr sz="2100" b="0">
                <a:solidFill>
                  <a:srgbClr val="111111"/>
                </a:solidFill>
                <a:latin typeface="Arial"/>
                <a:ea typeface="Arial"/>
                <a:cs typeface="Arial"/>
              </a:rPr>
              <a:t>= 48,4 %</a:t>
            </a:r>
          </a:p>
        </p:txBody>
      </p:sp>
      <p:graphicFrame>
        <p:nvGraphicFramePr>
          <p:cNvPr id="9" name="Table 8">
            <a:extLst>
              <a:ext uri="{FF2B5EF4-FFF2-40B4-BE49-F238E27FC236}">
                <a16:creationId xmlns:a16="http://schemas.microsoft.com/office/drawing/2014/main" id="{A198056C-9973-440F-AEB8-0F3B48B567D0}"/>
              </a:ext>
            </a:extLst>
          </p:cNvPr>
          <p:cNvGraphicFramePr/>
          <p:nvPr/>
        </p:nvGraphicFramePr>
        <p:xfrm>
          <a:off x="3333750" y="857250"/>
          <a:ext cx="5143500" cy="3095625"/>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619125">
                <a:tc>
                  <a:txBody>
                    <a:bodyPr/>
                    <a:lstStyle/>
                    <a:p>
                      <a:pPr algn="l"/>
                      <a:r>
                        <a:rPr sz="2000" b="1">
                          <a:solidFill>
                            <a:srgbClr val="FFFFFF"/>
                          </a:solidFill>
                          <a:latin typeface="Arial"/>
                          <a:ea typeface="Arial"/>
                          <a:cs typeface="Arial"/>
                        </a:rPr>
                        <a:t>Color</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Frecuencia</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Porcentaje</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619125">
                <a:tc>
                  <a:txBody>
                    <a:bodyPr/>
                    <a:lstStyle/>
                    <a:p>
                      <a:pPr algn="l"/>
                      <a:r>
                        <a:rPr sz="2000" b="0">
                          <a:solidFill>
                            <a:srgbClr val="111111"/>
                          </a:solidFill>
                          <a:latin typeface="Arial"/>
                          <a:ea typeface="Arial"/>
                          <a:cs typeface="Arial"/>
                        </a:rPr>
                        <a:t>Rojo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619125">
                <a:tc>
                  <a:txBody>
                    <a:bodyPr/>
                    <a:lstStyle/>
                    <a:p>
                      <a:pPr algn="l"/>
                      <a:r>
                        <a:rPr sz="2000" b="0">
                          <a:solidFill>
                            <a:srgbClr val="111111"/>
                          </a:solidFill>
                          <a:latin typeface="Arial"/>
                          <a:ea typeface="Arial"/>
                          <a:cs typeface="Arial"/>
                        </a:rPr>
                        <a:t>Negro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619125">
                <a:tc>
                  <a:txBody>
                    <a:bodyPr/>
                    <a:lstStyle/>
                    <a:p>
                      <a:pPr algn="l"/>
                      <a:r>
                        <a:rPr sz="2000" b="0">
                          <a:solidFill>
                            <a:srgbClr val="111111"/>
                          </a:solidFill>
                          <a:latin typeface="Arial"/>
                          <a:ea typeface="Arial"/>
                          <a:cs typeface="Arial"/>
                        </a:rPr>
                        <a:t>Verde</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32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3,2 %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619125">
                <a:tc>
                  <a:txBody>
                    <a:bodyPr/>
                    <a:lstStyle/>
                    <a:p>
                      <a:pPr algn="l"/>
                      <a:r>
                        <a:rPr sz="2000" b="0">
                          <a:solidFill>
                            <a:srgbClr val="111111"/>
                          </a:solidFill>
                          <a:latin typeface="Arial"/>
                          <a:ea typeface="Arial"/>
                          <a:cs typeface="Arial"/>
                        </a:rPr>
                        <a:t>Total</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1.000</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100 %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 name="fuente-visible">
            <a:extLst>
              <a:ext uri="{FF2B5EF4-FFF2-40B4-BE49-F238E27FC236}">
                <a16:creationId xmlns:a16="http://schemas.microsoft.com/office/drawing/2014/main" id="{EE46C007-B908-4C75-82BC-8C72DD1EFA45}"/>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230961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1A009ECD-5A90-451D-B5FA-F1D602264C74}"/>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Paridad y</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docenas</a:t>
            </a:r>
          </a:p>
        </p:txBody>
      </p:sp>
      <p:sp>
        <p:nvSpPr>
          <p:cNvPr id="7" name="subtitulo">
            <a:extLst>
              <a:ext uri="{FF2B5EF4-FFF2-40B4-BE49-F238E27FC236}">
                <a16:creationId xmlns:a16="http://schemas.microsoft.com/office/drawing/2014/main" id="{681A2BC4-9F99-4237-9B5E-242E01CE44C3}"/>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El mismo cálculo</a:t>
            </a:r>
          </a:p>
        </p:txBody>
      </p:sp>
      <p:sp>
        <p:nvSpPr>
          <p:cNvPr id="8" name="idea">
            <a:extLst>
              <a:ext uri="{FF2B5EF4-FFF2-40B4-BE49-F238E27FC236}">
                <a16:creationId xmlns:a16="http://schemas.microsoft.com/office/drawing/2014/main" id="{1A791BB1-F73C-4CE1-8EB1-97EE4307DF41}"/>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Frecuencia / 1.000</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Multiplicar por 100</a:t>
            </a:r>
          </a:p>
          <a:p>
            <a:pPr algn="l">
              <a:defRPr sz="2100" b="0">
                <a:solidFill>
                  <a:srgbClr val="111111"/>
                </a:solidFill>
                <a:latin typeface="Arial"/>
                <a:ea typeface="Arial"/>
                <a:cs typeface="Arial"/>
              </a:defRPr>
            </a:pPr>
            <a:r>
              <a:rPr sz="2100" b="0">
                <a:solidFill>
                  <a:srgbClr val="111111"/>
                </a:solidFill>
                <a:latin typeface="Arial"/>
                <a:ea typeface="Arial"/>
                <a:cs typeface="Arial"/>
              </a:rPr>
              <a:t>para el porcentaje.</a:t>
            </a:r>
          </a:p>
        </p:txBody>
      </p:sp>
      <p:graphicFrame>
        <p:nvGraphicFramePr>
          <p:cNvPr id="9" name="Table 8">
            <a:extLst>
              <a:ext uri="{FF2B5EF4-FFF2-40B4-BE49-F238E27FC236}">
                <a16:creationId xmlns:a16="http://schemas.microsoft.com/office/drawing/2014/main" id="{646F07AB-9660-4B82-83E1-F4D44F08BB3F}"/>
              </a:ext>
            </a:extLst>
          </p:cNvPr>
          <p:cNvGraphicFramePr/>
          <p:nvPr/>
        </p:nvGraphicFramePr>
        <p:xfrm>
          <a:off x="3333750" y="428625"/>
          <a:ext cx="5143500" cy="3333750"/>
        </p:xfrm>
        <a:graphic>
          <a:graphicData uri="http://schemas.openxmlformats.org/drawingml/2006/table">
            <a:tbl>
              <a:tblPr firstRow="1"/>
              <a:tblGrid>
                <a:gridCol w="2190750">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tblGrid>
              <a:tr h="476250">
                <a:tc>
                  <a:txBody>
                    <a:bodyPr/>
                    <a:lstStyle/>
                    <a:p>
                      <a:pPr algn="l"/>
                      <a:r>
                        <a:rPr sz="1800" b="1">
                          <a:solidFill>
                            <a:srgbClr val="FFFFFF"/>
                          </a:solidFill>
                          <a:latin typeface="Arial"/>
                          <a:ea typeface="Arial"/>
                          <a:cs typeface="Arial"/>
                        </a:rPr>
                        <a:t>Agrupación</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1800" b="1">
                          <a:solidFill>
                            <a:srgbClr val="FFFFFF"/>
                          </a:solidFill>
                          <a:latin typeface="Arial"/>
                          <a:ea typeface="Arial"/>
                          <a:cs typeface="Arial"/>
                        </a:rPr>
                        <a:t>Casos</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1800" b="1">
                          <a:solidFill>
                            <a:srgbClr val="FFFFFF"/>
                          </a:solidFill>
                          <a:latin typeface="Arial"/>
                          <a:ea typeface="Arial"/>
                          <a:cs typeface="Arial"/>
                        </a:rPr>
                        <a:t>Porcentaje</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476250">
                <a:tc>
                  <a:txBody>
                    <a:bodyPr/>
                    <a:lstStyle/>
                    <a:p>
                      <a:pPr algn="l"/>
                      <a:r>
                        <a:rPr sz="1800" b="0">
                          <a:solidFill>
                            <a:srgbClr val="111111"/>
                          </a:solidFill>
                          <a:latin typeface="Arial"/>
                          <a:ea typeface="Arial"/>
                          <a:cs typeface="Arial"/>
                        </a:rPr>
                        <a:t>Par</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454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45,4 %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476250">
                <a:tc>
                  <a:txBody>
                    <a:bodyPr/>
                    <a:lstStyle/>
                    <a:p>
                      <a:pPr algn="l"/>
                      <a:r>
                        <a:rPr sz="1800" b="0">
                          <a:solidFill>
                            <a:srgbClr val="111111"/>
                          </a:solidFill>
                          <a:latin typeface="Arial"/>
                          <a:ea typeface="Arial"/>
                          <a:cs typeface="Arial"/>
                        </a:rPr>
                        <a:t>Impar</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514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51,4 %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476250">
                <a:tc>
                  <a:txBody>
                    <a:bodyPr/>
                    <a:lstStyle/>
                    <a:p>
                      <a:pPr algn="l"/>
                      <a:r>
                        <a:rPr sz="1800" b="0">
                          <a:solidFill>
                            <a:srgbClr val="111111"/>
                          </a:solidFill>
                          <a:latin typeface="Arial"/>
                          <a:ea typeface="Arial"/>
                          <a:cs typeface="Arial"/>
                        </a:rPr>
                        <a:t>Cero</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32</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3,2 %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476250">
                <a:tc>
                  <a:txBody>
                    <a:bodyPr/>
                    <a:lstStyle/>
                    <a:p>
                      <a:pPr algn="l"/>
                      <a:r>
                        <a:rPr sz="1800" b="0">
                          <a:solidFill>
                            <a:srgbClr val="111111"/>
                          </a:solidFill>
                          <a:latin typeface="Arial"/>
                          <a:ea typeface="Arial"/>
                          <a:cs typeface="Arial"/>
                        </a:rPr>
                        <a:t>1 a 12</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320</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32 %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r h="476250">
                <a:tc>
                  <a:txBody>
                    <a:bodyPr/>
                    <a:lstStyle/>
                    <a:p>
                      <a:pPr algn="l"/>
                      <a:r>
                        <a:rPr sz="1800" b="0">
                          <a:solidFill>
                            <a:srgbClr val="111111"/>
                          </a:solidFill>
                          <a:latin typeface="Arial"/>
                          <a:ea typeface="Arial"/>
                          <a:cs typeface="Arial"/>
                        </a:rPr>
                        <a:t>13 a 24</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331</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33,1 %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5"/>
                  </a:ext>
                </a:extLst>
              </a:tr>
              <a:tr h="476250">
                <a:tc>
                  <a:txBody>
                    <a:bodyPr/>
                    <a:lstStyle/>
                    <a:p>
                      <a:pPr algn="l"/>
                      <a:r>
                        <a:rPr sz="1800" b="0">
                          <a:solidFill>
                            <a:srgbClr val="111111"/>
                          </a:solidFill>
                          <a:latin typeface="Arial"/>
                          <a:ea typeface="Arial"/>
                          <a:cs typeface="Arial"/>
                        </a:rPr>
                        <a:t>25 a 36</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317</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800" b="0">
                          <a:solidFill>
                            <a:srgbClr val="111111"/>
                          </a:solidFill>
                          <a:latin typeface="Arial"/>
                          <a:ea typeface="Arial"/>
                          <a:cs typeface="Arial"/>
                        </a:rPr>
                        <a:t>31,7 %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 name="explicacion">
            <a:extLst>
              <a:ext uri="{FF2B5EF4-FFF2-40B4-BE49-F238E27FC236}">
                <a16:creationId xmlns:a16="http://schemas.microsoft.com/office/drawing/2014/main" id="{6B467A55-ECAB-4831-9E12-F71CF9A71A1F}"/>
              </a:ext>
            </a:extLst>
          </p:cNvPr>
          <p:cNvSpPr>
            <a:spLocks noGrp="1"/>
          </p:cNvSpPr>
          <p:nvPr/>
        </p:nvSpPr>
        <p:spPr>
          <a:xfrm>
            <a:off x="3333750" y="4010025"/>
            <a:ext cx="5238750" cy="666750"/>
          </a:xfrm>
          <a:prstGeom prst="rect">
            <a:avLst/>
          </a:prstGeom>
          <a:noFill/>
          <a:ln w="0">
            <a:noFill/>
          </a:ln>
        </p:spPr>
        <p:txBody>
          <a:bodyPr wrap="square" lIns="0" tIns="0" rIns="0" bIns="0" anchor="t">
            <a:noAutofit/>
          </a:bodyPr>
          <a:lstStyle>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a:pPr algn="l">
              <a:defRPr sz="1800" b="0">
                <a:solidFill>
                  <a:srgbClr val="111111"/>
                </a:solidFill>
                <a:latin typeface="Arial"/>
                <a:ea typeface="Arial"/>
                <a:cs typeface="Arial"/>
              </a:defRPr>
            </a:pPr>
            <a:r>
              <a:rPr sz="1800" b="0">
                <a:solidFill>
                  <a:srgbClr val="111111"/>
                </a:solidFill>
                <a:latin typeface="Arial"/>
                <a:ea typeface="Arial"/>
                <a:cs typeface="Arial"/>
              </a:rPr>
              <a:t>Las docenas suman 96,8 %.</a:t>
            </a:r>
          </a:p>
          <a:p>
            <a:pPr algn="l">
              <a:defRPr sz="1800" b="0">
                <a:solidFill>
                  <a:srgbClr val="111111"/>
                </a:solidFill>
                <a:latin typeface="Arial"/>
                <a:ea typeface="Arial"/>
                <a:cs typeface="Arial"/>
              </a:defRPr>
            </a:pPr>
            <a:r>
              <a:rPr sz="1800" b="0">
                <a:solidFill>
                  <a:srgbClr val="111111"/>
                </a:solidFill>
                <a:latin typeface="Arial"/>
                <a:ea typeface="Arial"/>
                <a:cs typeface="Arial"/>
              </a:rPr>
              <a:t>El 3,2 % restante es el cero.</a:t>
            </a:r>
          </a:p>
        </p:txBody>
      </p:sp>
      <p:sp>
        <p:nvSpPr>
          <p:cNvPr id="11" name="fuente-visible">
            <a:extLst>
              <a:ext uri="{FF2B5EF4-FFF2-40B4-BE49-F238E27FC236}">
                <a16:creationId xmlns:a16="http://schemas.microsoft.com/office/drawing/2014/main" id="{156FDE36-57DB-4DE6-BFD1-3F6B17284E69}"/>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3201222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0F93AF4B-A1CC-4B08-AF35-3EBF76EDEEE8}"/>
              </a:ext>
            </a:extLst>
          </p:cNvPr>
          <p:cNvSpPr>
            <a:spLocks noGrp="1"/>
          </p:cNvSpPr>
          <p:nvPr/>
        </p:nvSpPr>
        <p:spPr>
          <a:xfrm>
            <a:off x="546259" y="323850"/>
            <a:ext cx="7620000" cy="619125"/>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Frecuencia esperada</a:t>
            </a:r>
          </a:p>
        </p:txBody>
      </p:sp>
      <p:sp>
        <p:nvSpPr>
          <p:cNvPr id="7" name="subtitulo">
            <a:extLst>
              <a:ext uri="{FF2B5EF4-FFF2-40B4-BE49-F238E27FC236}">
                <a16:creationId xmlns:a16="http://schemas.microsoft.com/office/drawing/2014/main" id="{B37AB6C0-3952-4AE2-8DBF-648DCDD79458}"/>
              </a:ext>
            </a:extLst>
          </p:cNvPr>
          <p:cNvSpPr>
            <a:spLocks noGrp="1"/>
          </p:cNvSpPr>
          <p:nvPr/>
        </p:nvSpPr>
        <p:spPr>
          <a:xfrm>
            <a:off x="546259" y="990600"/>
            <a:ext cx="7620000"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1.000 × 1/37 ≈ 27,03 por número, de media</a:t>
            </a:r>
          </a:p>
        </p:txBody>
      </p:sp>
      <p:graphicFrame>
        <p:nvGraphicFramePr>
          <p:cNvPr id="8" name="Chart">
            <a:extLst>
              <a:ext uri="{FF2B5EF4-FFF2-40B4-BE49-F238E27FC236}">
                <a16:creationId xmlns:a16="http://schemas.microsoft.com/office/drawing/2014/main" id="{C8516419-0288-430A-9A0E-84A41D9EB724}"/>
              </a:ext>
            </a:extLst>
          </p:cNvPr>
          <p:cNvGraphicFramePr/>
          <p:nvPr/>
        </p:nvGraphicFramePr>
        <p:xfrm>
          <a:off x="546259" y="1714500"/>
          <a:ext cx="7572375"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9" name="fuente-visible">
            <a:extLst>
              <a:ext uri="{FF2B5EF4-FFF2-40B4-BE49-F238E27FC236}">
                <a16:creationId xmlns:a16="http://schemas.microsoft.com/office/drawing/2014/main" id="{FE3FA6F3-2079-4FE1-AF1D-57B5CA63E976}"/>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954023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793531C6-728F-41BE-8700-F49B6FDD76E4}"/>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Observado</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y modelo</a:t>
            </a:r>
          </a:p>
        </p:txBody>
      </p:sp>
      <p:sp>
        <p:nvSpPr>
          <p:cNvPr id="7" name="subtitulo">
            <a:extLst>
              <a:ext uri="{FF2B5EF4-FFF2-40B4-BE49-F238E27FC236}">
                <a16:creationId xmlns:a16="http://schemas.microsoft.com/office/drawing/2014/main" id="{2B90395C-E47B-462B-B1B7-3B7754AD8D86}"/>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Por color</a:t>
            </a:r>
          </a:p>
        </p:txBody>
      </p:sp>
      <p:sp>
        <p:nvSpPr>
          <p:cNvPr id="8" name="idea">
            <a:extLst>
              <a:ext uri="{FF2B5EF4-FFF2-40B4-BE49-F238E27FC236}">
                <a16:creationId xmlns:a16="http://schemas.microsoft.com/office/drawing/2014/main" id="{5CC3359E-8CEE-4F47-91E8-47D9C747028C}"/>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Observado:</a:t>
            </a:r>
          </a:p>
          <a:p>
            <a:pPr algn="l">
              <a:defRPr sz="2100" b="0">
                <a:solidFill>
                  <a:srgbClr val="111111"/>
                </a:solidFill>
                <a:latin typeface="Arial"/>
                <a:ea typeface="Arial"/>
                <a:cs typeface="Arial"/>
              </a:defRPr>
            </a:pPr>
            <a:r>
              <a:rPr sz="2100" b="0">
                <a:solidFill>
                  <a:srgbClr val="111111"/>
                </a:solidFill>
                <a:latin typeface="Arial"/>
                <a:ea typeface="Arial"/>
                <a:cs typeface="Arial"/>
              </a:rPr>
              <a:t>recuento / 1.000</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Modelo:</a:t>
            </a:r>
          </a:p>
          <a:p>
            <a:pPr algn="l">
              <a:defRPr sz="2100" b="0">
                <a:solidFill>
                  <a:srgbClr val="111111"/>
                </a:solidFill>
                <a:latin typeface="Arial"/>
                <a:ea typeface="Arial"/>
                <a:cs typeface="Arial"/>
              </a:defRPr>
            </a:pPr>
            <a:r>
              <a:rPr sz="2100" b="0">
                <a:solidFill>
                  <a:srgbClr val="111111"/>
                </a:solidFill>
                <a:latin typeface="Arial"/>
                <a:ea typeface="Arial"/>
                <a:cs typeface="Arial"/>
              </a:rPr>
              <a:t>casillas / 37</a:t>
            </a:r>
          </a:p>
        </p:txBody>
      </p:sp>
      <p:graphicFrame>
        <p:nvGraphicFramePr>
          <p:cNvPr id="9" name="Chart">
            <a:extLst>
              <a:ext uri="{FF2B5EF4-FFF2-40B4-BE49-F238E27FC236}">
                <a16:creationId xmlns:a16="http://schemas.microsoft.com/office/drawing/2014/main" id="{B2BC4038-5A99-4D1D-BD39-3E47C97F43AE}"/>
              </a:ext>
            </a:extLst>
          </p:cNvPr>
          <p:cNvGraphicFramePr/>
          <p:nvPr/>
        </p:nvGraphicFramePr>
        <p:xfrm>
          <a:off x="3286125" y="523875"/>
          <a:ext cx="5095875"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10" name="explicacion">
            <a:extLst>
              <a:ext uri="{FF2B5EF4-FFF2-40B4-BE49-F238E27FC236}">
                <a16:creationId xmlns:a16="http://schemas.microsoft.com/office/drawing/2014/main" id="{C7119E94-522A-4A5E-9195-28672EFAC927}"/>
              </a:ext>
            </a:extLst>
          </p:cNvPr>
          <p:cNvSpPr>
            <a:spLocks noGrp="1"/>
          </p:cNvSpPr>
          <p:nvPr/>
        </p:nvSpPr>
        <p:spPr>
          <a:xfrm>
            <a:off x="3333750" y="4257675"/>
            <a:ext cx="5238750" cy="66675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Rojo: 48,4 % observado</a:t>
            </a:r>
          </a:p>
          <a:p>
            <a:pPr algn="l">
              <a:defRPr sz="2000" b="0">
                <a:solidFill>
                  <a:srgbClr val="111111"/>
                </a:solidFill>
                <a:latin typeface="Arial"/>
                <a:ea typeface="Arial"/>
                <a:cs typeface="Arial"/>
              </a:defRPr>
            </a:pPr>
            <a:r>
              <a:rPr sz="2000" b="0">
                <a:solidFill>
                  <a:srgbClr val="111111"/>
                </a:solidFill>
                <a:latin typeface="Arial"/>
                <a:ea typeface="Arial"/>
                <a:cs typeface="Arial"/>
              </a:rPr>
              <a:t>y ≈ 48,65 % en el modelo.</a:t>
            </a:r>
          </a:p>
        </p:txBody>
      </p:sp>
      <p:sp>
        <p:nvSpPr>
          <p:cNvPr id="11" name="fuente-visible">
            <a:extLst>
              <a:ext uri="{FF2B5EF4-FFF2-40B4-BE49-F238E27FC236}">
                <a16:creationId xmlns:a16="http://schemas.microsoft.com/office/drawing/2014/main" id="{089295D4-8015-48EC-80E6-096E10DF2BED}"/>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2809257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55A43A75-E1A1-41D8-88AA-2DE05FAC3FC3}"/>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Puntos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porcentuales</a:t>
            </a:r>
          </a:p>
        </p:txBody>
      </p:sp>
      <p:sp>
        <p:nvSpPr>
          <p:cNvPr id="7" name="subtitulo">
            <a:extLst>
              <a:ext uri="{FF2B5EF4-FFF2-40B4-BE49-F238E27FC236}">
                <a16:creationId xmlns:a16="http://schemas.microsoft.com/office/drawing/2014/main" id="{8460BA1D-7765-45F0-8034-0DEB36538A23}"/>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Diferencia</a:t>
            </a:r>
          </a:p>
        </p:txBody>
      </p:sp>
      <p:sp>
        <p:nvSpPr>
          <p:cNvPr id="8" name="idea">
            <a:extLst>
              <a:ext uri="{FF2B5EF4-FFF2-40B4-BE49-F238E27FC236}">
                <a16:creationId xmlns:a16="http://schemas.microsoft.com/office/drawing/2014/main" id="{F93D3FA8-8F29-4864-8D34-2963A7D86114}"/>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Observado</a:t>
            </a:r>
          </a:p>
          <a:p>
            <a:pPr algn="l">
              <a:defRPr sz="2100" b="0">
                <a:solidFill>
                  <a:srgbClr val="111111"/>
                </a:solidFill>
                <a:latin typeface="Arial"/>
                <a:ea typeface="Arial"/>
                <a:cs typeface="Arial"/>
              </a:defRPr>
            </a:pPr>
            <a:r>
              <a:rPr sz="2100" b="0">
                <a:solidFill>
                  <a:srgbClr val="111111"/>
                </a:solidFill>
                <a:latin typeface="Arial"/>
                <a:ea typeface="Arial"/>
                <a:cs typeface="Arial"/>
              </a:rPr>
              <a:t>menos modelo</a:t>
            </a:r>
          </a:p>
        </p:txBody>
      </p:sp>
      <p:sp>
        <p:nvSpPr>
          <p:cNvPr id="9" name="explicacion">
            <a:extLst>
              <a:ext uri="{FF2B5EF4-FFF2-40B4-BE49-F238E27FC236}">
                <a16:creationId xmlns:a16="http://schemas.microsoft.com/office/drawing/2014/main" id="{CC84FBC3-D833-4C74-8FA7-63DBF540157E}"/>
              </a:ext>
            </a:extLst>
          </p:cNvPr>
          <p:cNvSpPr>
            <a:spLocks noGrp="1"/>
          </p:cNvSpPr>
          <p:nvPr/>
        </p:nvSpPr>
        <p:spPr>
          <a:xfrm>
            <a:off x="3333750" y="762000"/>
            <a:ext cx="5238750" cy="666750"/>
          </a:xfrm>
          <a:prstGeom prst="rect">
            <a:avLst/>
          </a:prstGeom>
          <a:noFill/>
          <a:ln w="0">
            <a:noFill/>
          </a:ln>
        </p:spPr>
        <p:txBody>
          <a:bodyPr wrap="square" lIns="0" tIns="0" rIns="0" bIns="0" anchor="t">
            <a:noAutofit/>
          </a:bodyPr>
          <a:lstStyle>
            <a:defPPr algn="l">
              <a:defRPr sz="3150" b="1">
                <a:solidFill>
                  <a:srgbClr val="044247"/>
                </a:solidFill>
                <a:latin typeface="Arial"/>
                <a:ea typeface="Arial"/>
                <a:cs typeface="Arial"/>
              </a:defRPr>
            </a:defPPr>
            <a:lvl1pPr algn="l">
              <a:defRPr sz="3150" b="1">
                <a:solidFill>
                  <a:srgbClr val="044247"/>
                </a:solidFill>
                <a:latin typeface="Arial"/>
                <a:ea typeface="Arial"/>
                <a:cs typeface="Arial"/>
              </a:defRPr>
            </a:lvl1pPr>
            <a:lvl2pPr algn="l">
              <a:defRPr sz="3150" b="1">
                <a:solidFill>
                  <a:srgbClr val="044247"/>
                </a:solidFill>
                <a:latin typeface="Arial"/>
                <a:ea typeface="Arial"/>
                <a:cs typeface="Arial"/>
              </a:defRPr>
            </a:lvl2pPr>
            <a:lvl3pPr algn="l">
              <a:defRPr sz="3150" b="1">
                <a:solidFill>
                  <a:srgbClr val="044247"/>
                </a:solidFill>
                <a:latin typeface="Arial"/>
                <a:ea typeface="Arial"/>
                <a:cs typeface="Arial"/>
              </a:defRPr>
            </a:lvl3pPr>
            <a:lvl4pPr algn="l">
              <a:defRPr sz="3150" b="1">
                <a:solidFill>
                  <a:srgbClr val="044247"/>
                </a:solidFill>
                <a:latin typeface="Arial"/>
                <a:ea typeface="Arial"/>
                <a:cs typeface="Arial"/>
              </a:defRPr>
            </a:lvl4pPr>
            <a:lvl5pPr algn="l">
              <a:defRPr sz="3150" b="1">
                <a:solidFill>
                  <a:srgbClr val="044247"/>
                </a:solidFill>
                <a:latin typeface="Arial"/>
                <a:ea typeface="Arial"/>
                <a:cs typeface="Arial"/>
              </a:defRPr>
            </a:lvl5pPr>
            <a:lvl6pPr algn="l">
              <a:defRPr sz="3150" b="1">
                <a:solidFill>
                  <a:srgbClr val="044247"/>
                </a:solidFill>
                <a:latin typeface="Arial"/>
                <a:ea typeface="Arial"/>
                <a:cs typeface="Arial"/>
              </a:defRPr>
            </a:lvl6pPr>
            <a:lvl7pPr algn="l">
              <a:defRPr sz="3150" b="1">
                <a:solidFill>
                  <a:srgbClr val="044247"/>
                </a:solidFill>
                <a:latin typeface="Arial"/>
                <a:ea typeface="Arial"/>
                <a:cs typeface="Arial"/>
              </a:defRPr>
            </a:lvl7pPr>
            <a:lvl8pPr algn="l">
              <a:defRPr sz="3150" b="1">
                <a:solidFill>
                  <a:srgbClr val="044247"/>
                </a:solidFill>
                <a:latin typeface="Arial"/>
                <a:ea typeface="Arial"/>
                <a:cs typeface="Arial"/>
              </a:defRPr>
            </a:lvl8pPr>
            <a:lvl9pPr algn="l">
              <a:defRPr sz="3150" b="1">
                <a:solidFill>
                  <a:srgbClr val="044247"/>
                </a:solidFill>
                <a:latin typeface="Arial"/>
                <a:ea typeface="Arial"/>
                <a:cs typeface="Arial"/>
              </a:defRPr>
            </a:lvl9pPr>
          </a:lstStyle>
          <a:p>
            <a:pPr algn="l">
              <a:defRPr sz="3150" b="1">
                <a:solidFill>
                  <a:srgbClr val="044247"/>
                </a:solidFill>
                <a:latin typeface="Arial"/>
                <a:ea typeface="Arial"/>
                <a:cs typeface="Arial"/>
              </a:defRPr>
            </a:pPr>
            <a:r>
              <a:rPr sz="3150" b="1">
                <a:solidFill>
                  <a:srgbClr val="044247"/>
                </a:solidFill>
                <a:latin typeface="Arial"/>
                <a:ea typeface="Arial"/>
                <a:cs typeface="Arial"/>
              </a:rPr>
              <a:t>48,4 − 48,6486…</a:t>
            </a:r>
          </a:p>
        </p:txBody>
      </p:sp>
      <p:sp>
        <p:nvSpPr>
          <p:cNvPr id="10" name="explicacion">
            <a:extLst>
              <a:ext uri="{FF2B5EF4-FFF2-40B4-BE49-F238E27FC236}">
                <a16:creationId xmlns:a16="http://schemas.microsoft.com/office/drawing/2014/main" id="{99E4157F-CBA8-4258-ADAA-16CDEBAFA918}"/>
              </a:ext>
            </a:extLst>
          </p:cNvPr>
          <p:cNvSpPr>
            <a:spLocks noGrp="1"/>
          </p:cNvSpPr>
          <p:nvPr/>
        </p:nvSpPr>
        <p:spPr>
          <a:xfrm>
            <a:off x="3333750" y="1771650"/>
            <a:ext cx="5238750" cy="666750"/>
          </a:xfrm>
          <a:prstGeom prst="rect">
            <a:avLst/>
          </a:prstGeom>
          <a:noFill/>
          <a:ln w="0">
            <a:noFill/>
          </a:ln>
        </p:spPr>
        <p:txBody>
          <a:bodyPr wrap="square" lIns="0" tIns="0" rIns="0" bIns="0" anchor="t">
            <a:noAutofit/>
          </a:bodyPr>
          <a:lstStyle>
            <a:defPPr algn="l">
              <a:defRPr sz="2600" b="1">
                <a:solidFill>
                  <a:srgbClr val="044247"/>
                </a:solidFill>
                <a:latin typeface="Arial"/>
                <a:ea typeface="Arial"/>
                <a:cs typeface="Arial"/>
              </a:defRPr>
            </a:defPPr>
            <a:lvl1pPr algn="l">
              <a:defRPr sz="2600" b="1">
                <a:solidFill>
                  <a:srgbClr val="044247"/>
                </a:solidFill>
                <a:latin typeface="Arial"/>
                <a:ea typeface="Arial"/>
                <a:cs typeface="Arial"/>
              </a:defRPr>
            </a:lvl1pPr>
            <a:lvl2pPr algn="l">
              <a:defRPr sz="2600" b="1">
                <a:solidFill>
                  <a:srgbClr val="044247"/>
                </a:solidFill>
                <a:latin typeface="Arial"/>
                <a:ea typeface="Arial"/>
                <a:cs typeface="Arial"/>
              </a:defRPr>
            </a:lvl2pPr>
            <a:lvl3pPr algn="l">
              <a:defRPr sz="2600" b="1">
                <a:solidFill>
                  <a:srgbClr val="044247"/>
                </a:solidFill>
                <a:latin typeface="Arial"/>
                <a:ea typeface="Arial"/>
                <a:cs typeface="Arial"/>
              </a:defRPr>
            </a:lvl3pPr>
            <a:lvl4pPr algn="l">
              <a:defRPr sz="2600" b="1">
                <a:solidFill>
                  <a:srgbClr val="044247"/>
                </a:solidFill>
                <a:latin typeface="Arial"/>
                <a:ea typeface="Arial"/>
                <a:cs typeface="Arial"/>
              </a:defRPr>
            </a:lvl4pPr>
            <a:lvl5pPr algn="l">
              <a:defRPr sz="2600" b="1">
                <a:solidFill>
                  <a:srgbClr val="044247"/>
                </a:solidFill>
                <a:latin typeface="Arial"/>
                <a:ea typeface="Arial"/>
                <a:cs typeface="Arial"/>
              </a:defRPr>
            </a:lvl5pPr>
            <a:lvl6pPr algn="l">
              <a:defRPr sz="2600" b="1">
                <a:solidFill>
                  <a:srgbClr val="044247"/>
                </a:solidFill>
                <a:latin typeface="Arial"/>
                <a:ea typeface="Arial"/>
                <a:cs typeface="Arial"/>
              </a:defRPr>
            </a:lvl6pPr>
            <a:lvl7pPr algn="l">
              <a:defRPr sz="2600" b="1">
                <a:solidFill>
                  <a:srgbClr val="044247"/>
                </a:solidFill>
                <a:latin typeface="Arial"/>
                <a:ea typeface="Arial"/>
                <a:cs typeface="Arial"/>
              </a:defRPr>
            </a:lvl7pPr>
            <a:lvl8pPr algn="l">
              <a:defRPr sz="2600" b="1">
                <a:solidFill>
                  <a:srgbClr val="044247"/>
                </a:solidFill>
                <a:latin typeface="Arial"/>
                <a:ea typeface="Arial"/>
                <a:cs typeface="Arial"/>
              </a:defRPr>
            </a:lvl8pPr>
            <a:lvl9pPr algn="l">
              <a:defRPr sz="2600" b="1">
                <a:solidFill>
                  <a:srgbClr val="044247"/>
                </a:solidFill>
                <a:latin typeface="Arial"/>
                <a:ea typeface="Arial"/>
                <a:cs typeface="Arial"/>
              </a:defRPr>
            </a:lvl9pPr>
          </a:lstStyle>
          <a:p>
            <a:pPr algn="l">
              <a:defRPr sz="2600" b="1">
                <a:solidFill>
                  <a:srgbClr val="044247"/>
                </a:solidFill>
                <a:latin typeface="Arial"/>
                <a:ea typeface="Arial"/>
                <a:cs typeface="Arial"/>
              </a:defRPr>
            </a:pPr>
            <a:r>
              <a:rPr sz="2600" b="1">
                <a:solidFill>
                  <a:srgbClr val="044247"/>
                </a:solidFill>
                <a:latin typeface="Arial"/>
                <a:ea typeface="Arial"/>
                <a:cs typeface="Arial"/>
              </a:rPr>
              <a:t>≈ −0,25 puntos porcentuales</a:t>
            </a:r>
          </a:p>
        </p:txBody>
      </p:sp>
      <p:sp>
        <p:nvSpPr>
          <p:cNvPr id="11" name="explicacion">
            <a:extLst>
              <a:ext uri="{FF2B5EF4-FFF2-40B4-BE49-F238E27FC236}">
                <a16:creationId xmlns:a16="http://schemas.microsoft.com/office/drawing/2014/main" id="{9B501A35-23B6-4E52-88B1-DB95BAAABF84}"/>
              </a:ext>
            </a:extLst>
          </p:cNvPr>
          <p:cNvSpPr>
            <a:spLocks noGrp="1"/>
          </p:cNvSpPr>
          <p:nvPr/>
        </p:nvSpPr>
        <p:spPr>
          <a:xfrm>
            <a:off x="3333750" y="2924175"/>
            <a:ext cx="5238750" cy="6667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algn="l">
              <a:defRPr sz="2300" b="0">
                <a:solidFill>
                  <a:srgbClr val="111111"/>
                </a:solidFill>
                <a:latin typeface="Arial"/>
                <a:ea typeface="Arial"/>
                <a:cs typeface="Arial"/>
              </a:defRPr>
            </a:pPr>
            <a:r>
              <a:rPr sz="2300" b="0">
                <a:solidFill>
                  <a:srgbClr val="111111"/>
                </a:solidFill>
                <a:latin typeface="Arial"/>
                <a:ea typeface="Arial"/>
                <a:cs typeface="Arial"/>
              </a:rPr>
              <a:t>El porcentaje observado</a:t>
            </a:r>
          </a:p>
          <a:p>
            <a:pPr algn="l">
              <a:defRPr sz="2300" b="0">
                <a:solidFill>
                  <a:srgbClr val="111111"/>
                </a:solidFill>
                <a:latin typeface="Arial"/>
                <a:ea typeface="Arial"/>
                <a:cs typeface="Arial"/>
              </a:defRPr>
            </a:pPr>
            <a:r>
              <a:rPr sz="2300" b="0">
                <a:solidFill>
                  <a:srgbClr val="111111"/>
                </a:solidFill>
                <a:latin typeface="Arial"/>
                <a:ea typeface="Arial"/>
                <a:cs typeface="Arial"/>
              </a:rPr>
              <a:t>de rojo queda unos 0,25</a:t>
            </a:r>
          </a:p>
          <a:p>
            <a:pPr algn="l">
              <a:defRPr sz="2300" b="0">
                <a:solidFill>
                  <a:srgbClr val="111111"/>
                </a:solidFill>
                <a:latin typeface="Arial"/>
                <a:ea typeface="Arial"/>
                <a:cs typeface="Arial"/>
              </a:defRPr>
            </a:pPr>
            <a:r>
              <a:rPr sz="2300" b="0">
                <a:solidFill>
                  <a:srgbClr val="111111"/>
                </a:solidFill>
                <a:latin typeface="Arial"/>
                <a:ea typeface="Arial"/>
                <a:cs typeface="Arial"/>
              </a:rPr>
              <a:t>puntos por debajo del modelo.</a:t>
            </a:r>
          </a:p>
        </p:txBody>
      </p:sp>
      <p:sp>
        <p:nvSpPr>
          <p:cNvPr id="12" name="fuente-visible">
            <a:extLst>
              <a:ext uri="{FF2B5EF4-FFF2-40B4-BE49-F238E27FC236}">
                <a16:creationId xmlns:a16="http://schemas.microsoft.com/office/drawing/2014/main" id="{B8E5950A-5F8F-4E95-91B9-70240B6C0DE4}"/>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3886603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682C7CFA-14E7-4776-BA28-4CDBEBD449EE}"/>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Ventanas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de tiradas</a:t>
            </a:r>
          </a:p>
        </p:txBody>
      </p:sp>
      <p:sp>
        <p:nvSpPr>
          <p:cNvPr id="7" name="subtitulo">
            <a:extLst>
              <a:ext uri="{FF2B5EF4-FFF2-40B4-BE49-F238E27FC236}">
                <a16:creationId xmlns:a16="http://schemas.microsoft.com/office/drawing/2014/main" id="{A04F07D2-F8A3-4EE6-890A-60A19104BE75}"/>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Últimas X</a:t>
            </a:r>
          </a:p>
        </p:txBody>
      </p:sp>
      <p:sp>
        <p:nvSpPr>
          <p:cNvPr id="8" name="idea">
            <a:extLst>
              <a:ext uri="{FF2B5EF4-FFF2-40B4-BE49-F238E27FC236}">
                <a16:creationId xmlns:a16="http://schemas.microsoft.com/office/drawing/2014/main" id="{FF8235A2-AC3D-4881-A8CF-A42E37F902A7}"/>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Cada ventana tiene</a:t>
            </a:r>
          </a:p>
          <a:p>
            <a:pPr algn="l">
              <a:defRPr sz="2100" b="0">
                <a:solidFill>
                  <a:srgbClr val="111111"/>
                </a:solidFill>
                <a:latin typeface="Arial"/>
                <a:ea typeface="Arial"/>
                <a:cs typeface="Arial"/>
              </a:defRPr>
            </a:pPr>
            <a:r>
              <a:rPr sz="2100" b="0">
                <a:solidFill>
                  <a:srgbClr val="111111"/>
                </a:solidFill>
                <a:latin typeface="Arial"/>
                <a:ea typeface="Arial"/>
                <a:cs typeface="Arial"/>
              </a:rPr>
              <a:t>su propio total.</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11 / 20 × 100</a:t>
            </a:r>
          </a:p>
          <a:p>
            <a:pPr algn="l">
              <a:defRPr sz="2100" b="0">
                <a:solidFill>
                  <a:srgbClr val="111111"/>
                </a:solidFill>
                <a:latin typeface="Arial"/>
                <a:ea typeface="Arial"/>
                <a:cs typeface="Arial"/>
              </a:defRPr>
            </a:pPr>
            <a:r>
              <a:rPr sz="2100" b="0">
                <a:solidFill>
                  <a:srgbClr val="111111"/>
                </a:solidFill>
                <a:latin typeface="Arial"/>
                <a:ea typeface="Arial"/>
                <a:cs typeface="Arial"/>
              </a:rPr>
              <a:t>= 55 %</a:t>
            </a:r>
          </a:p>
        </p:txBody>
      </p:sp>
      <p:graphicFrame>
        <p:nvGraphicFramePr>
          <p:cNvPr id="9" name="Table 8">
            <a:extLst>
              <a:ext uri="{FF2B5EF4-FFF2-40B4-BE49-F238E27FC236}">
                <a16:creationId xmlns:a16="http://schemas.microsoft.com/office/drawing/2014/main" id="{27B7C83C-63A2-4772-A37F-9916D385A641}"/>
              </a:ext>
            </a:extLst>
          </p:cNvPr>
          <p:cNvGraphicFramePr/>
          <p:nvPr/>
        </p:nvGraphicFramePr>
        <p:xfrm>
          <a:off x="3333750" y="809625"/>
          <a:ext cx="5143500" cy="3048000"/>
        </p:xfrm>
        <a:graphic>
          <a:graphicData uri="http://schemas.openxmlformats.org/drawingml/2006/table">
            <a:tbl>
              <a:tblPr firstRow="1"/>
              <a:tblGrid>
                <a:gridCol w="17145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609600">
                <a:tc>
                  <a:txBody>
                    <a:bodyPr/>
                    <a:lstStyle/>
                    <a:p>
                      <a:pPr algn="l"/>
                      <a:r>
                        <a:rPr sz="2000" b="1">
                          <a:solidFill>
                            <a:srgbClr val="FFFFFF"/>
                          </a:solidFill>
                          <a:latin typeface="Arial"/>
                          <a:ea typeface="Arial"/>
                          <a:cs typeface="Arial"/>
                        </a:rPr>
                        <a:t>Últimas</a:t>
                      </a:r>
                    </a:p>
                  </a:txBody>
                  <a:tcPr marL="76200" marR="76200" marT="47625" marB="47625"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Rojos</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2000" b="1">
                          <a:solidFill>
                            <a:srgbClr val="FFFFFF"/>
                          </a:solidFill>
                          <a:latin typeface="Arial"/>
                          <a:ea typeface="Arial"/>
                          <a:cs typeface="Arial"/>
                        </a:rPr>
                        <a:t>Porcentaje</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609600">
                <a:tc>
                  <a:txBody>
                    <a:bodyPr/>
                    <a:lstStyle/>
                    <a:p>
                      <a:pPr algn="l"/>
                      <a:r>
                        <a:rPr sz="2000" b="0">
                          <a:solidFill>
                            <a:srgbClr val="111111"/>
                          </a:solidFill>
                          <a:latin typeface="Arial"/>
                          <a:ea typeface="Arial"/>
                          <a:cs typeface="Arial"/>
                        </a:rPr>
                        <a:t>20</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11</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55 %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609600">
                <a:tc>
                  <a:txBody>
                    <a:bodyPr/>
                    <a:lstStyle/>
                    <a:p>
                      <a:pPr algn="l"/>
                      <a:r>
                        <a:rPr sz="2000" b="0">
                          <a:solidFill>
                            <a:srgbClr val="111111"/>
                          </a:solidFill>
                          <a:latin typeface="Arial"/>
                          <a:ea typeface="Arial"/>
                          <a:cs typeface="Arial"/>
                        </a:rPr>
                        <a:t>100</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50</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50 %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609600">
                <a:tc>
                  <a:txBody>
                    <a:bodyPr/>
                    <a:lstStyle/>
                    <a:p>
                      <a:pPr algn="l"/>
                      <a:r>
                        <a:rPr sz="2000" b="0">
                          <a:solidFill>
                            <a:srgbClr val="111111"/>
                          </a:solidFill>
                          <a:latin typeface="Arial"/>
                          <a:ea typeface="Arial"/>
                          <a:cs typeface="Arial"/>
                        </a:rPr>
                        <a:t>500</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243</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48,6 %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609600">
                <a:tc>
                  <a:txBody>
                    <a:bodyPr/>
                    <a:lstStyle/>
                    <a:p>
                      <a:pPr algn="l"/>
                      <a:r>
                        <a:rPr sz="2000" b="0">
                          <a:solidFill>
                            <a:srgbClr val="111111"/>
                          </a:solidFill>
                          <a:latin typeface="Arial"/>
                          <a:ea typeface="Arial"/>
                          <a:cs typeface="Arial"/>
                        </a:rPr>
                        <a:t>1.000</a:t>
                      </a:r>
                    </a:p>
                  </a:txBody>
                  <a:tcPr marL="76200" marR="76200" marT="47625" marB="47625"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2000" b="0">
                          <a:solidFill>
                            <a:srgbClr val="111111"/>
                          </a:solidFill>
                          <a:latin typeface="Arial"/>
                          <a:ea typeface="Arial"/>
                          <a:cs typeface="Arial"/>
                        </a:rPr>
                        <a:t>48,4 %</a:t>
                      </a:r>
                    </a:p>
                  </a:txBody>
                  <a:tcPr marL="76200" marR="76200" marT="47625" marB="47625"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 name="explicacion">
            <a:extLst>
              <a:ext uri="{FF2B5EF4-FFF2-40B4-BE49-F238E27FC236}">
                <a16:creationId xmlns:a16="http://schemas.microsoft.com/office/drawing/2014/main" id="{EF081D55-D7EB-4139-BEDD-7099A8BC774F}"/>
              </a:ext>
            </a:extLst>
          </p:cNvPr>
          <p:cNvSpPr>
            <a:spLocks noGrp="1"/>
          </p:cNvSpPr>
          <p:nvPr/>
        </p:nvSpPr>
        <p:spPr>
          <a:xfrm>
            <a:off x="3333750" y="4133850"/>
            <a:ext cx="5238750" cy="66675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La referencia del modelo</a:t>
            </a:r>
          </a:p>
          <a:p>
            <a:pPr algn="l">
              <a:defRPr sz="2000" b="0">
                <a:solidFill>
                  <a:srgbClr val="111111"/>
                </a:solidFill>
                <a:latin typeface="Arial"/>
                <a:ea typeface="Arial"/>
                <a:cs typeface="Arial"/>
              </a:defRPr>
            </a:pPr>
            <a:r>
              <a:rPr sz="2000" b="0">
                <a:solidFill>
                  <a:srgbClr val="111111"/>
                </a:solidFill>
                <a:latin typeface="Arial"/>
                <a:ea typeface="Arial"/>
                <a:cs typeface="Arial"/>
              </a:rPr>
              <a:t>sigue siendo ≈ 48,65 %.</a:t>
            </a:r>
          </a:p>
        </p:txBody>
      </p:sp>
      <p:sp>
        <p:nvSpPr>
          <p:cNvPr id="11" name="fuente-visible">
            <a:extLst>
              <a:ext uri="{FF2B5EF4-FFF2-40B4-BE49-F238E27FC236}">
                <a16:creationId xmlns:a16="http://schemas.microsoft.com/office/drawing/2014/main" id="{E324AF25-F0C4-48CA-BDD5-68FB5AD6C69A}"/>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3256536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495DA84D-DED1-4918-A3D1-39E041A8C983}"/>
              </a:ext>
            </a:extLst>
          </p:cNvPr>
          <p:cNvSpPr>
            <a:spLocks noGrp="1"/>
          </p:cNvSpPr>
          <p:nvPr/>
        </p:nvSpPr>
        <p:spPr>
          <a:xfrm>
            <a:off x="546259" y="323850"/>
            <a:ext cx="7620000" cy="619125"/>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Porcentaje acumulado</a:t>
            </a:r>
          </a:p>
        </p:txBody>
      </p:sp>
      <p:sp>
        <p:nvSpPr>
          <p:cNvPr id="7" name="subtitulo">
            <a:extLst>
              <a:ext uri="{FF2B5EF4-FFF2-40B4-BE49-F238E27FC236}">
                <a16:creationId xmlns:a16="http://schemas.microsoft.com/office/drawing/2014/main" id="{8C11153A-B08B-4030-8614-80F151BA955F}"/>
              </a:ext>
            </a:extLst>
          </p:cNvPr>
          <p:cNvSpPr>
            <a:spLocks noGrp="1"/>
          </p:cNvSpPr>
          <p:nvPr/>
        </p:nvSpPr>
        <p:spPr>
          <a:xfrm>
            <a:off x="546259" y="990600"/>
            <a:ext cx="7620000"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Rojos hasta ese momento / tiradas acumuladas × 100</a:t>
            </a:r>
          </a:p>
        </p:txBody>
      </p:sp>
      <p:graphicFrame>
        <p:nvGraphicFramePr>
          <p:cNvPr id="8" name="Chart">
            <a:extLst>
              <a:ext uri="{FF2B5EF4-FFF2-40B4-BE49-F238E27FC236}">
                <a16:creationId xmlns:a16="http://schemas.microsoft.com/office/drawing/2014/main" id="{959DC3DF-859F-4646-8D41-C4FF7D303572}"/>
              </a:ext>
            </a:extLst>
          </p:cNvPr>
          <p:cNvGraphicFramePr/>
          <p:nvPr/>
        </p:nvGraphicFramePr>
        <p:xfrm>
          <a:off x="546259" y="1714500"/>
          <a:ext cx="7572375"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9" name="fuente-visible">
            <a:extLst>
              <a:ext uri="{FF2B5EF4-FFF2-40B4-BE49-F238E27FC236}">
                <a16:creationId xmlns:a16="http://schemas.microsoft.com/office/drawing/2014/main" id="{905870F6-3FC1-494B-B6E7-FEF6FF1726D4}"/>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Datos simulados, n = 1.000</a:t>
            </a:r>
          </a:p>
        </p:txBody>
      </p:sp>
    </p:spTree>
    <p:extLst>
      <p:ext uri="{BB962C8B-B14F-4D97-AF65-F5344CB8AC3E}">
        <p14:creationId xmlns:p14="http://schemas.microsoft.com/office/powerpoint/2010/main" val="3342853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59FA17CD-F72C-491E-B295-1DE65550D926}"/>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La siguiente</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tirada</a:t>
            </a:r>
          </a:p>
        </p:txBody>
      </p:sp>
      <p:sp>
        <p:nvSpPr>
          <p:cNvPr id="7" name="subtitulo">
            <a:extLst>
              <a:ext uri="{FF2B5EF4-FFF2-40B4-BE49-F238E27FC236}">
                <a16:creationId xmlns:a16="http://schemas.microsoft.com/office/drawing/2014/main" id="{B04B60F4-B726-4B79-AE55-962EA410842D}"/>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Independencia</a:t>
            </a:r>
          </a:p>
        </p:txBody>
      </p:sp>
      <p:sp>
        <p:nvSpPr>
          <p:cNvPr id="8" name="idea">
            <a:extLst>
              <a:ext uri="{FF2B5EF4-FFF2-40B4-BE49-F238E27FC236}">
                <a16:creationId xmlns:a16="http://schemas.microsoft.com/office/drawing/2014/main" id="{E451F5A7-7243-426F-A4F8-3B3D0FFBDD50}"/>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modelo mantiene</a:t>
            </a:r>
          </a:p>
          <a:p>
            <a:pPr algn="l">
              <a:defRPr sz="2100" b="0">
                <a:solidFill>
                  <a:srgbClr val="111111"/>
                </a:solidFill>
                <a:latin typeface="Arial"/>
                <a:ea typeface="Arial"/>
                <a:cs typeface="Arial"/>
              </a:defRPr>
            </a:pPr>
            <a:r>
              <a:rPr sz="2100" b="0">
                <a:solidFill>
                  <a:srgbClr val="111111"/>
                </a:solidFill>
                <a:latin typeface="Arial"/>
                <a:ea typeface="Arial"/>
                <a:cs typeface="Arial"/>
              </a:rPr>
              <a:t>las probabilidades</a:t>
            </a:r>
          </a:p>
          <a:p>
            <a:pPr algn="l">
              <a:defRPr sz="2100" b="0">
                <a:solidFill>
                  <a:srgbClr val="111111"/>
                </a:solidFill>
                <a:latin typeface="Arial"/>
                <a:ea typeface="Arial"/>
                <a:cs typeface="Arial"/>
              </a:defRPr>
            </a:pPr>
            <a:r>
              <a:rPr sz="2100" b="0">
                <a:solidFill>
                  <a:srgbClr val="111111"/>
                </a:solidFill>
                <a:latin typeface="Arial"/>
                <a:ea typeface="Arial"/>
                <a:cs typeface="Arial"/>
              </a:rPr>
              <a:t>tras cada tirada.</a:t>
            </a:r>
          </a:p>
        </p:txBody>
      </p:sp>
      <p:sp>
        <p:nvSpPr>
          <p:cNvPr id="9" name="explicacion">
            <a:extLst>
              <a:ext uri="{FF2B5EF4-FFF2-40B4-BE49-F238E27FC236}">
                <a16:creationId xmlns:a16="http://schemas.microsoft.com/office/drawing/2014/main" id="{BB4CACD3-2A8B-479D-B7A9-E4EECA7F9B11}"/>
              </a:ext>
            </a:extLst>
          </p:cNvPr>
          <p:cNvSpPr>
            <a:spLocks noGrp="1"/>
          </p:cNvSpPr>
          <p:nvPr/>
        </p:nvSpPr>
        <p:spPr>
          <a:xfrm>
            <a:off x="3333750" y="590550"/>
            <a:ext cx="5238750" cy="6667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algn="l">
              <a:defRPr sz="2300" b="0">
                <a:solidFill>
                  <a:srgbClr val="111111"/>
                </a:solidFill>
                <a:latin typeface="Arial"/>
                <a:ea typeface="Arial"/>
                <a:cs typeface="Arial"/>
              </a:defRPr>
            </a:pPr>
            <a:r>
              <a:rPr sz="2300" b="0">
                <a:solidFill>
                  <a:srgbClr val="111111"/>
                </a:solidFill>
                <a:latin typeface="Arial"/>
                <a:ea typeface="Arial"/>
                <a:cs typeface="Arial"/>
              </a:rPr>
              <a:t>Tras varios negros:</a:t>
            </a:r>
          </a:p>
        </p:txBody>
      </p:sp>
      <p:sp>
        <p:nvSpPr>
          <p:cNvPr id="10" name="explicacion">
            <a:extLst>
              <a:ext uri="{FF2B5EF4-FFF2-40B4-BE49-F238E27FC236}">
                <a16:creationId xmlns:a16="http://schemas.microsoft.com/office/drawing/2014/main" id="{15A06736-02C1-4131-9DE5-89152306F6B8}"/>
              </a:ext>
            </a:extLst>
          </p:cNvPr>
          <p:cNvSpPr>
            <a:spLocks noGrp="1"/>
          </p:cNvSpPr>
          <p:nvPr/>
        </p:nvSpPr>
        <p:spPr>
          <a:xfrm>
            <a:off x="3333750" y="1133475"/>
            <a:ext cx="5238750" cy="666750"/>
          </a:xfrm>
          <a:prstGeom prst="rect">
            <a:avLst/>
          </a:prstGeom>
          <a:noFill/>
          <a:ln w="0">
            <a:noFill/>
          </a:ln>
        </p:spPr>
        <p:txBody>
          <a:bodyPr wrap="square" lIns="0" tIns="0" rIns="0" bIns="0" anchor="t">
            <a:noAutofit/>
          </a:bodyPr>
          <a:lstStyle>
            <a:defPPr algn="l">
              <a:defRPr sz="2600" b="1">
                <a:solidFill>
                  <a:srgbClr val="044247"/>
                </a:solidFill>
                <a:latin typeface="Arial"/>
                <a:ea typeface="Arial"/>
                <a:cs typeface="Arial"/>
              </a:defRPr>
            </a:defPPr>
            <a:lvl1pPr algn="l">
              <a:defRPr sz="2600" b="1">
                <a:solidFill>
                  <a:srgbClr val="044247"/>
                </a:solidFill>
                <a:latin typeface="Arial"/>
                <a:ea typeface="Arial"/>
                <a:cs typeface="Arial"/>
              </a:defRPr>
            </a:lvl1pPr>
            <a:lvl2pPr algn="l">
              <a:defRPr sz="2600" b="1">
                <a:solidFill>
                  <a:srgbClr val="044247"/>
                </a:solidFill>
                <a:latin typeface="Arial"/>
                <a:ea typeface="Arial"/>
                <a:cs typeface="Arial"/>
              </a:defRPr>
            </a:lvl2pPr>
            <a:lvl3pPr algn="l">
              <a:defRPr sz="2600" b="1">
                <a:solidFill>
                  <a:srgbClr val="044247"/>
                </a:solidFill>
                <a:latin typeface="Arial"/>
                <a:ea typeface="Arial"/>
                <a:cs typeface="Arial"/>
              </a:defRPr>
            </a:lvl3pPr>
            <a:lvl4pPr algn="l">
              <a:defRPr sz="2600" b="1">
                <a:solidFill>
                  <a:srgbClr val="044247"/>
                </a:solidFill>
                <a:latin typeface="Arial"/>
                <a:ea typeface="Arial"/>
                <a:cs typeface="Arial"/>
              </a:defRPr>
            </a:lvl4pPr>
            <a:lvl5pPr algn="l">
              <a:defRPr sz="2600" b="1">
                <a:solidFill>
                  <a:srgbClr val="044247"/>
                </a:solidFill>
                <a:latin typeface="Arial"/>
                <a:ea typeface="Arial"/>
                <a:cs typeface="Arial"/>
              </a:defRPr>
            </a:lvl5pPr>
            <a:lvl6pPr algn="l">
              <a:defRPr sz="2600" b="1">
                <a:solidFill>
                  <a:srgbClr val="044247"/>
                </a:solidFill>
                <a:latin typeface="Arial"/>
                <a:ea typeface="Arial"/>
                <a:cs typeface="Arial"/>
              </a:defRPr>
            </a:lvl6pPr>
            <a:lvl7pPr algn="l">
              <a:defRPr sz="2600" b="1">
                <a:solidFill>
                  <a:srgbClr val="044247"/>
                </a:solidFill>
                <a:latin typeface="Arial"/>
                <a:ea typeface="Arial"/>
                <a:cs typeface="Arial"/>
              </a:defRPr>
            </a:lvl7pPr>
            <a:lvl8pPr algn="l">
              <a:defRPr sz="2600" b="1">
                <a:solidFill>
                  <a:srgbClr val="044247"/>
                </a:solidFill>
                <a:latin typeface="Arial"/>
                <a:ea typeface="Arial"/>
                <a:cs typeface="Arial"/>
              </a:defRPr>
            </a:lvl8pPr>
            <a:lvl9pPr algn="l">
              <a:defRPr sz="2600" b="1">
                <a:solidFill>
                  <a:srgbClr val="044247"/>
                </a:solidFill>
                <a:latin typeface="Arial"/>
                <a:ea typeface="Arial"/>
                <a:cs typeface="Arial"/>
              </a:defRPr>
            </a:lvl9pPr>
          </a:lstStyle>
          <a:p>
            <a:pPr algn="l">
              <a:defRPr sz="2600" b="1">
                <a:solidFill>
                  <a:srgbClr val="044247"/>
                </a:solidFill>
                <a:latin typeface="Arial"/>
                <a:ea typeface="Arial"/>
                <a:cs typeface="Arial"/>
              </a:defRPr>
            </a:pPr>
            <a:r>
              <a:rPr sz="2600" b="1">
                <a:solidFill>
                  <a:srgbClr val="044247"/>
                </a:solidFill>
                <a:latin typeface="Arial"/>
                <a:ea typeface="Arial"/>
                <a:cs typeface="Arial"/>
              </a:rPr>
              <a:t>P(rojo siguiente) = 18 / 37</a:t>
            </a:r>
          </a:p>
        </p:txBody>
      </p:sp>
      <p:sp>
        <p:nvSpPr>
          <p:cNvPr id="11" name="explicacion">
            <a:extLst>
              <a:ext uri="{FF2B5EF4-FFF2-40B4-BE49-F238E27FC236}">
                <a16:creationId xmlns:a16="http://schemas.microsoft.com/office/drawing/2014/main" id="{78E2AF0A-7CBB-4E29-8CD2-92293D244571}"/>
              </a:ext>
            </a:extLst>
          </p:cNvPr>
          <p:cNvSpPr>
            <a:spLocks noGrp="1"/>
          </p:cNvSpPr>
          <p:nvPr/>
        </p:nvSpPr>
        <p:spPr>
          <a:xfrm>
            <a:off x="3333750" y="2466975"/>
            <a:ext cx="5238750" cy="6667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Aunque el 17 haya salido 43 veces:</a:t>
            </a:r>
          </a:p>
        </p:txBody>
      </p:sp>
      <p:sp>
        <p:nvSpPr>
          <p:cNvPr id="12" name="explicacion">
            <a:extLst>
              <a:ext uri="{FF2B5EF4-FFF2-40B4-BE49-F238E27FC236}">
                <a16:creationId xmlns:a16="http://schemas.microsoft.com/office/drawing/2014/main" id="{F10844C2-040C-4098-8C48-AD3AC31D5AA5}"/>
              </a:ext>
            </a:extLst>
          </p:cNvPr>
          <p:cNvSpPr>
            <a:spLocks noGrp="1"/>
          </p:cNvSpPr>
          <p:nvPr/>
        </p:nvSpPr>
        <p:spPr>
          <a:xfrm>
            <a:off x="3333750" y="3028950"/>
            <a:ext cx="5238750" cy="666750"/>
          </a:xfrm>
          <a:prstGeom prst="rect">
            <a:avLst/>
          </a:prstGeom>
          <a:noFill/>
          <a:ln w="0">
            <a:noFill/>
          </a:ln>
        </p:spPr>
        <p:txBody>
          <a:bodyPr wrap="square" lIns="0" tIns="0" rIns="0" bIns="0" anchor="t">
            <a:noAutofit/>
          </a:bodyPr>
          <a:lstStyle>
            <a:defPPr algn="l">
              <a:defRPr sz="2700" b="1">
                <a:solidFill>
                  <a:srgbClr val="044247"/>
                </a:solidFill>
                <a:latin typeface="Arial"/>
                <a:ea typeface="Arial"/>
                <a:cs typeface="Arial"/>
              </a:defRPr>
            </a:defPPr>
            <a:lvl1pPr algn="l">
              <a:defRPr sz="2700" b="1">
                <a:solidFill>
                  <a:srgbClr val="044247"/>
                </a:solidFill>
                <a:latin typeface="Arial"/>
                <a:ea typeface="Arial"/>
                <a:cs typeface="Arial"/>
              </a:defRPr>
            </a:lvl1pPr>
            <a:lvl2pPr algn="l">
              <a:defRPr sz="2700" b="1">
                <a:solidFill>
                  <a:srgbClr val="044247"/>
                </a:solidFill>
                <a:latin typeface="Arial"/>
                <a:ea typeface="Arial"/>
                <a:cs typeface="Arial"/>
              </a:defRPr>
            </a:lvl2pPr>
            <a:lvl3pPr algn="l">
              <a:defRPr sz="2700" b="1">
                <a:solidFill>
                  <a:srgbClr val="044247"/>
                </a:solidFill>
                <a:latin typeface="Arial"/>
                <a:ea typeface="Arial"/>
                <a:cs typeface="Arial"/>
              </a:defRPr>
            </a:lvl3pPr>
            <a:lvl4pPr algn="l">
              <a:defRPr sz="2700" b="1">
                <a:solidFill>
                  <a:srgbClr val="044247"/>
                </a:solidFill>
                <a:latin typeface="Arial"/>
                <a:ea typeface="Arial"/>
                <a:cs typeface="Arial"/>
              </a:defRPr>
            </a:lvl4pPr>
            <a:lvl5pPr algn="l">
              <a:defRPr sz="2700" b="1">
                <a:solidFill>
                  <a:srgbClr val="044247"/>
                </a:solidFill>
                <a:latin typeface="Arial"/>
                <a:ea typeface="Arial"/>
                <a:cs typeface="Arial"/>
              </a:defRPr>
            </a:lvl5pPr>
            <a:lvl6pPr algn="l">
              <a:defRPr sz="2700" b="1">
                <a:solidFill>
                  <a:srgbClr val="044247"/>
                </a:solidFill>
                <a:latin typeface="Arial"/>
                <a:ea typeface="Arial"/>
                <a:cs typeface="Arial"/>
              </a:defRPr>
            </a:lvl6pPr>
            <a:lvl7pPr algn="l">
              <a:defRPr sz="2700" b="1">
                <a:solidFill>
                  <a:srgbClr val="044247"/>
                </a:solidFill>
                <a:latin typeface="Arial"/>
                <a:ea typeface="Arial"/>
                <a:cs typeface="Arial"/>
              </a:defRPr>
            </a:lvl7pPr>
            <a:lvl8pPr algn="l">
              <a:defRPr sz="2700" b="1">
                <a:solidFill>
                  <a:srgbClr val="044247"/>
                </a:solidFill>
                <a:latin typeface="Arial"/>
                <a:ea typeface="Arial"/>
                <a:cs typeface="Arial"/>
              </a:defRPr>
            </a:lvl8pPr>
            <a:lvl9pPr algn="l">
              <a:defRPr sz="2700" b="1">
                <a:solidFill>
                  <a:srgbClr val="044247"/>
                </a:solidFill>
                <a:latin typeface="Arial"/>
                <a:ea typeface="Arial"/>
                <a:cs typeface="Arial"/>
              </a:defRPr>
            </a:lvl9pPr>
          </a:lstStyle>
          <a:p>
            <a:pPr algn="l">
              <a:defRPr sz="2700" b="1">
                <a:solidFill>
                  <a:srgbClr val="044247"/>
                </a:solidFill>
                <a:latin typeface="Arial"/>
                <a:ea typeface="Arial"/>
                <a:cs typeface="Arial"/>
              </a:defRPr>
            </a:pPr>
            <a:r>
              <a:rPr sz="2700" b="1">
                <a:solidFill>
                  <a:srgbClr val="044247"/>
                </a:solidFill>
                <a:latin typeface="Arial"/>
                <a:ea typeface="Arial"/>
                <a:cs typeface="Arial"/>
              </a:rPr>
              <a:t>P(17 siguiente) = 1 / 37</a:t>
            </a:r>
          </a:p>
        </p:txBody>
      </p:sp>
    </p:spTree>
    <p:extLst>
      <p:ext uri="{BB962C8B-B14F-4D97-AF65-F5344CB8AC3E}">
        <p14:creationId xmlns:p14="http://schemas.microsoft.com/office/powerpoint/2010/main" val="2728173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88CDC8FE-084C-4A6E-AFF3-49144A22B6FD}"/>
              </a:ext>
            </a:extLst>
          </p:cNvPr>
          <p:cNvSpPr>
            <a:spLocks noGrp="1"/>
          </p:cNvSpPr>
          <p:nvPr/>
        </p:nvSpPr>
        <p:spPr>
          <a:xfrm>
            <a:off x="546259" y="323850"/>
            <a:ext cx="7620000" cy="619125"/>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Las columnas del resumen</a:t>
            </a:r>
          </a:p>
        </p:txBody>
      </p:sp>
      <p:sp>
        <p:nvSpPr>
          <p:cNvPr id="7" name="subtitulo">
            <a:extLst>
              <a:ext uri="{FF2B5EF4-FFF2-40B4-BE49-F238E27FC236}">
                <a16:creationId xmlns:a16="http://schemas.microsoft.com/office/drawing/2014/main" id="{01B6630F-8DBB-4E5B-9628-5A1AA6E38C4D}"/>
              </a:ext>
            </a:extLst>
          </p:cNvPr>
          <p:cNvSpPr>
            <a:spLocks noGrp="1"/>
          </p:cNvSpPr>
          <p:nvPr/>
        </p:nvSpPr>
        <p:spPr>
          <a:xfrm>
            <a:off x="546259" y="990600"/>
            <a:ext cx="7620000"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Los cálculos que muestra el programa</a:t>
            </a:r>
          </a:p>
        </p:txBody>
      </p:sp>
      <p:graphicFrame>
        <p:nvGraphicFramePr>
          <p:cNvPr id="8" name="Table 7">
            <a:extLst>
              <a:ext uri="{FF2B5EF4-FFF2-40B4-BE49-F238E27FC236}">
                <a16:creationId xmlns:a16="http://schemas.microsoft.com/office/drawing/2014/main" id="{6019DA39-4F11-4749-B451-6B8FD14C8B11}"/>
              </a:ext>
            </a:extLst>
          </p:cNvPr>
          <p:cNvGraphicFramePr/>
          <p:nvPr/>
        </p:nvGraphicFramePr>
        <p:xfrm>
          <a:off x="546259" y="1590675"/>
          <a:ext cx="7572375" cy="3095622"/>
        </p:xfrm>
        <a:graphic>
          <a:graphicData uri="http://schemas.openxmlformats.org/drawingml/2006/table">
            <a:tbl>
              <a:tblPr firstRow="1"/>
              <a:tblGrid>
                <a:gridCol w="3219450">
                  <a:extLst>
                    <a:ext uri="{9D8B030D-6E8A-4147-A177-3AD203B41FA5}">
                      <a16:colId xmlns:a16="http://schemas.microsoft.com/office/drawing/2014/main" val="20000"/>
                    </a:ext>
                  </a:extLst>
                </a:gridCol>
                <a:gridCol w="4352925">
                  <a:extLst>
                    <a:ext uri="{9D8B030D-6E8A-4147-A177-3AD203B41FA5}">
                      <a16:colId xmlns:a16="http://schemas.microsoft.com/office/drawing/2014/main" val="20001"/>
                    </a:ext>
                  </a:extLst>
                </a:gridCol>
              </a:tblGrid>
              <a:tr h="343958">
                <a:tc>
                  <a:txBody>
                    <a:bodyPr/>
                    <a:lstStyle/>
                    <a:p>
                      <a:pPr algn="l"/>
                      <a:r>
                        <a:rPr sz="1700" b="1">
                          <a:solidFill>
                            <a:srgbClr val="FFFFFF"/>
                          </a:solidFill>
                          <a:latin typeface="Arial"/>
                          <a:ea typeface="Arial"/>
                          <a:cs typeface="Arial"/>
                        </a:rPr>
                        <a:t>Columna</a:t>
                      </a:r>
                    </a:p>
                  </a:txBody>
                  <a:tcPr marL="76200" marR="76200" marT="19050" marB="19050"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ctr"/>
                      <a:r>
                        <a:rPr sz="1700" b="1">
                          <a:solidFill>
                            <a:srgbClr val="FFFFFF"/>
                          </a:solidFill>
                          <a:latin typeface="Arial"/>
                          <a:ea typeface="Arial"/>
                          <a:cs typeface="Arial"/>
                        </a:rPr>
                        <a:t>Significado o cálculo</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343958">
                <a:tc>
                  <a:txBody>
                    <a:bodyPr/>
                    <a:lstStyle/>
                    <a:p>
                      <a:pPr algn="l"/>
                      <a:r>
                        <a:rPr sz="1700" b="0">
                          <a:solidFill>
                            <a:srgbClr val="111111"/>
                          </a:solidFill>
                          <a:latin typeface="Arial"/>
                          <a:ea typeface="Arial"/>
                          <a:cs typeface="Arial"/>
                        </a:rPr>
                        <a:t>resultado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Número o grupo analizado</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343958">
                <a:tc>
                  <a:txBody>
                    <a:bodyPr/>
                    <a:lstStyle/>
                    <a:p>
                      <a:pPr algn="l"/>
                      <a:r>
                        <a:rPr sz="1700" b="0">
                          <a:solidFill>
                            <a:srgbClr val="111111"/>
                          </a:solidFill>
                          <a:latin typeface="Arial"/>
                          <a:ea typeface="Arial"/>
                          <a:cs typeface="Arial"/>
                        </a:rPr>
                        <a:t>frecuencia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Apariciones contadas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343958">
                <a:tc>
                  <a:txBody>
                    <a:bodyPr/>
                    <a:lstStyle/>
                    <a:p>
                      <a:pPr algn="l"/>
                      <a:r>
                        <a:rPr sz="1700" b="0">
                          <a:solidFill>
                            <a:srgbClr val="111111"/>
                          </a:solidFill>
                          <a:latin typeface="Arial"/>
                          <a:ea typeface="Arial"/>
                          <a:cs typeface="Arial"/>
                        </a:rPr>
                        <a:t>proporcion_observada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frecuencia / tiradas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343958">
                <a:tc>
                  <a:txBody>
                    <a:bodyPr/>
                    <a:lstStyle/>
                    <a:p>
                      <a:pPr algn="l"/>
                      <a:r>
                        <a:rPr sz="1700" b="0">
                          <a:solidFill>
                            <a:srgbClr val="111111"/>
                          </a:solidFill>
                          <a:latin typeface="Arial"/>
                          <a:ea typeface="Arial"/>
                          <a:cs typeface="Arial"/>
                        </a:rPr>
                        <a:t>probabilidad_modelo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Casos favorables / 37</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r h="343958">
                <a:tc>
                  <a:txBody>
                    <a:bodyPr/>
                    <a:lstStyle/>
                    <a:p>
                      <a:pPr algn="l"/>
                      <a:r>
                        <a:rPr sz="1700" b="0">
                          <a:solidFill>
                            <a:srgbClr val="111111"/>
                          </a:solidFill>
                          <a:latin typeface="Arial"/>
                          <a:ea typeface="Arial"/>
                          <a:cs typeface="Arial"/>
                        </a:rPr>
                        <a:t>porcentaje_observado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proporcion_observada × 100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5"/>
                  </a:ext>
                </a:extLst>
              </a:tr>
              <a:tr h="343958">
                <a:tc>
                  <a:txBody>
                    <a:bodyPr/>
                    <a:lstStyle/>
                    <a:p>
                      <a:pPr algn="l"/>
                      <a:r>
                        <a:rPr sz="1700" b="0">
                          <a:solidFill>
                            <a:srgbClr val="111111"/>
                          </a:solidFill>
                          <a:latin typeface="Arial"/>
                          <a:ea typeface="Arial"/>
                          <a:cs typeface="Arial"/>
                        </a:rPr>
                        <a:t>porcentaje_modelo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probabilidad_modelo × 100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6"/>
                  </a:ext>
                </a:extLst>
              </a:tr>
              <a:tr h="343958">
                <a:tc>
                  <a:txBody>
                    <a:bodyPr/>
                    <a:lstStyle/>
                    <a:p>
                      <a:pPr algn="l"/>
                      <a:r>
                        <a:rPr sz="1700" b="0">
                          <a:solidFill>
                            <a:srgbClr val="111111"/>
                          </a:solidFill>
                          <a:latin typeface="Arial"/>
                          <a:ea typeface="Arial"/>
                          <a:cs typeface="Arial"/>
                        </a:rPr>
                        <a:t>frecuencia_esperada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tiradas × probabilidad_modelo</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7"/>
                  </a:ext>
                </a:extLst>
              </a:tr>
              <a:tr h="343958">
                <a:tc>
                  <a:txBody>
                    <a:bodyPr/>
                    <a:lstStyle/>
                    <a:p>
                      <a:pPr algn="l"/>
                      <a:r>
                        <a:rPr sz="1700" b="0">
                          <a:solidFill>
                            <a:srgbClr val="111111"/>
                          </a:solidFill>
                          <a:latin typeface="Arial"/>
                          <a:ea typeface="Arial"/>
                          <a:cs typeface="Arial"/>
                        </a:rPr>
                        <a:t>diferencia_pp</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ctr"/>
                      <a:r>
                        <a:rPr sz="1700" b="0">
                          <a:solidFill>
                            <a:srgbClr val="111111"/>
                          </a:solidFill>
                          <a:latin typeface="Arial"/>
                          <a:ea typeface="Arial"/>
                          <a:cs typeface="Arial"/>
                        </a:rPr>
                        <a:t>% observado − % del modelo</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89710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32583AF8-21C3-40C5-8A1F-50BD8C9B05D7}"/>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Repaso</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final</a:t>
            </a:r>
          </a:p>
        </p:txBody>
      </p:sp>
      <p:sp>
        <p:nvSpPr>
          <p:cNvPr id="7" name="subtitulo">
            <a:extLst>
              <a:ext uri="{FF2B5EF4-FFF2-40B4-BE49-F238E27FC236}">
                <a16:creationId xmlns:a16="http://schemas.microsoft.com/office/drawing/2014/main" id="{08C7430A-852E-4CD4-9989-EE318D6BF2A4}"/>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Comprensión</a:t>
            </a:r>
          </a:p>
        </p:txBody>
      </p:sp>
      <p:sp>
        <p:nvSpPr>
          <p:cNvPr id="8" name="lista">
            <a:extLst>
              <a:ext uri="{FF2B5EF4-FFF2-40B4-BE49-F238E27FC236}">
                <a16:creationId xmlns:a16="http://schemas.microsoft.com/office/drawing/2014/main" id="{0602AE31-F2EB-4606-917E-7988D358372F}"/>
              </a:ext>
            </a:extLst>
          </p:cNvPr>
          <p:cNvSpPr>
            <a:spLocks noGrp="1"/>
          </p:cNvSpPr>
          <p:nvPr/>
        </p:nvSpPr>
        <p:spPr>
          <a:xfrm>
            <a:off x="3333750" y="523875"/>
            <a:ext cx="5191125" cy="3905250"/>
          </a:xfrm>
          <a:prstGeom prst="rect">
            <a:avLst/>
          </a:prstGeom>
          <a:noFill/>
          <a:ln w="0">
            <a:noFill/>
          </a:ln>
        </p:spPr>
        <p:txBody>
          <a:bodyPr wrap="square" lIns="0" tIns="0" rIns="0" bIns="0" anchor="t">
            <a:noAutofit/>
          </a:bodyPr>
          <a:lstStyle>
            <a:defPPr algn="l">
              <a:defRPr sz="2500" b="0">
                <a:solidFill>
                  <a:srgbClr val="111111"/>
                </a:solidFill>
                <a:latin typeface="Arial"/>
                <a:ea typeface="Arial"/>
                <a:cs typeface="Arial"/>
              </a:defRPr>
            </a:defPPr>
            <a:lvl1pPr algn="l">
              <a:defRPr sz="2500" b="0">
                <a:solidFill>
                  <a:srgbClr val="111111"/>
                </a:solidFill>
                <a:latin typeface="Arial"/>
                <a:ea typeface="Arial"/>
                <a:cs typeface="Arial"/>
              </a:defRPr>
            </a:lvl1pPr>
            <a:lvl2pPr algn="l">
              <a:defRPr sz="2500" b="0">
                <a:solidFill>
                  <a:srgbClr val="111111"/>
                </a:solidFill>
                <a:latin typeface="Arial"/>
                <a:ea typeface="Arial"/>
                <a:cs typeface="Arial"/>
              </a:defRPr>
            </a:lvl2pPr>
            <a:lvl3pPr algn="l">
              <a:defRPr sz="2500" b="0">
                <a:solidFill>
                  <a:srgbClr val="111111"/>
                </a:solidFill>
                <a:latin typeface="Arial"/>
                <a:ea typeface="Arial"/>
                <a:cs typeface="Arial"/>
              </a:defRPr>
            </a:lvl3pPr>
            <a:lvl4pPr algn="l">
              <a:defRPr sz="2500" b="0">
                <a:solidFill>
                  <a:srgbClr val="111111"/>
                </a:solidFill>
                <a:latin typeface="Arial"/>
                <a:ea typeface="Arial"/>
                <a:cs typeface="Arial"/>
              </a:defRPr>
            </a:lvl4pPr>
            <a:lvl5pPr algn="l">
              <a:defRPr sz="2500" b="0">
                <a:solidFill>
                  <a:srgbClr val="111111"/>
                </a:solidFill>
                <a:latin typeface="Arial"/>
                <a:ea typeface="Arial"/>
                <a:cs typeface="Arial"/>
              </a:defRPr>
            </a:lvl5pPr>
            <a:lvl6pPr algn="l">
              <a:defRPr sz="2500" b="0">
                <a:solidFill>
                  <a:srgbClr val="111111"/>
                </a:solidFill>
                <a:latin typeface="Arial"/>
                <a:ea typeface="Arial"/>
                <a:cs typeface="Arial"/>
              </a:defRPr>
            </a:lvl6pPr>
            <a:lvl7pPr algn="l">
              <a:defRPr sz="2500" b="0">
                <a:solidFill>
                  <a:srgbClr val="111111"/>
                </a:solidFill>
                <a:latin typeface="Arial"/>
                <a:ea typeface="Arial"/>
                <a:cs typeface="Arial"/>
              </a:defRPr>
            </a:lvl7pPr>
            <a:lvl8pPr algn="l">
              <a:defRPr sz="2500" b="0">
                <a:solidFill>
                  <a:srgbClr val="111111"/>
                </a:solidFill>
                <a:latin typeface="Arial"/>
                <a:ea typeface="Arial"/>
                <a:cs typeface="Arial"/>
              </a:defRPr>
            </a:lvl8pPr>
            <a:lvl9pPr algn="l">
              <a:defRPr sz="2500" b="0">
                <a:solidFill>
                  <a:srgbClr val="111111"/>
                </a:solidFill>
                <a:latin typeface="Arial"/>
                <a:ea typeface="Arial"/>
                <a:cs typeface="Arial"/>
              </a:defRPr>
            </a:lvl9pPr>
          </a:lstStyle>
          <a:p>
            <a:pPr marL="228600" indent="-114300" algn="l">
              <a:spcAft>
                <a:spcPts val="1600"/>
              </a:spcAft>
              <a:buChar char="■"/>
              <a:defRPr sz="2500" b="0">
                <a:solidFill>
                  <a:srgbClr val="111111"/>
                </a:solidFill>
                <a:latin typeface="Arial"/>
                <a:ea typeface="Arial"/>
                <a:cs typeface="Arial"/>
              </a:defRPr>
            </a:pPr>
            <a:r>
              <a:t>¿Qué probabilidad tiene el cero?</a:t>
            </a:r>
          </a:p>
          <a:p>
            <a:pPr marL="228600" indent="-114300" algn="l">
              <a:spcAft>
                <a:spcPts val="1600"/>
              </a:spcAft>
              <a:buChar char="■"/>
              <a:defRPr sz="2500" b="0">
                <a:solidFill>
                  <a:srgbClr val="111111"/>
                </a:solidFill>
                <a:latin typeface="Arial"/>
                <a:ea typeface="Arial"/>
                <a:cs typeface="Arial"/>
              </a:defRPr>
            </a:pPr>
            <a:r>
              <a:t>Si hay 11 rojos en 20 tiradas, ¿qué porcentaje es?</a:t>
            </a:r>
          </a:p>
          <a:p>
            <a:pPr marL="228600" indent="-114300" algn="l">
              <a:spcAft>
                <a:spcPts val="1600"/>
              </a:spcAft>
              <a:buChar char="■"/>
              <a:defRPr sz="2500" b="0">
                <a:solidFill>
                  <a:srgbClr val="111111"/>
                </a:solidFill>
                <a:latin typeface="Arial"/>
                <a:ea typeface="Arial"/>
                <a:cs typeface="Arial"/>
              </a:defRPr>
            </a:pPr>
            <a:r>
              <a:t>Después de varios negros, ¿qué probabilidad tiene el rojo?</a:t>
            </a:r>
          </a:p>
        </p:txBody>
      </p:sp>
    </p:spTree>
    <p:extLst>
      <p:ext uri="{BB962C8B-B14F-4D97-AF65-F5344CB8AC3E}">
        <p14:creationId xmlns:p14="http://schemas.microsoft.com/office/powerpoint/2010/main" val="4285117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EE090-A82C-3A21-5F49-7D5D2873A680}"/>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225218E-62DD-BA03-0132-94FF62F800E4}"/>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CC10247E-C336-A6B9-92D0-D6C91FEFCD75}"/>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Repaso</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final</a:t>
            </a:r>
          </a:p>
        </p:txBody>
      </p:sp>
      <p:sp>
        <p:nvSpPr>
          <p:cNvPr id="7" name="subtitulo">
            <a:extLst>
              <a:ext uri="{FF2B5EF4-FFF2-40B4-BE49-F238E27FC236}">
                <a16:creationId xmlns:a16="http://schemas.microsoft.com/office/drawing/2014/main" id="{8215B7BF-9659-A5EB-0812-8EB456561F78}"/>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lang="es-ES" sz="2800" b="1" dirty="0">
                <a:solidFill>
                  <a:srgbClr val="FF0000"/>
                </a:solidFill>
                <a:latin typeface="Arial Narrow"/>
                <a:ea typeface="Arial Narrow"/>
                <a:cs typeface="Arial Narrow"/>
              </a:rPr>
              <a:t>Flipada</a:t>
            </a:r>
          </a:p>
          <a:p>
            <a:pPr algn="l">
              <a:defRPr sz="2800" b="1">
                <a:solidFill>
                  <a:srgbClr val="FF0000"/>
                </a:solidFill>
                <a:latin typeface="Arial Narrow"/>
                <a:ea typeface="Arial Narrow"/>
                <a:cs typeface="Arial Narrow"/>
              </a:defRPr>
            </a:pPr>
            <a:endParaRPr sz="2800" b="1" dirty="0">
              <a:solidFill>
                <a:srgbClr val="FF0000"/>
              </a:solidFill>
              <a:latin typeface="Arial Narrow"/>
              <a:ea typeface="Arial Narrow"/>
              <a:cs typeface="Arial Narrow"/>
            </a:endParaRPr>
          </a:p>
        </p:txBody>
      </p:sp>
      <p:sp>
        <p:nvSpPr>
          <p:cNvPr id="8" name="lista">
            <a:extLst>
              <a:ext uri="{FF2B5EF4-FFF2-40B4-BE49-F238E27FC236}">
                <a16:creationId xmlns:a16="http://schemas.microsoft.com/office/drawing/2014/main" id="{F27D9193-7CAC-D169-6023-369F67F35DBB}"/>
              </a:ext>
            </a:extLst>
          </p:cNvPr>
          <p:cNvSpPr>
            <a:spLocks noGrp="1"/>
          </p:cNvSpPr>
          <p:nvPr/>
        </p:nvSpPr>
        <p:spPr>
          <a:xfrm>
            <a:off x="3333750" y="523875"/>
            <a:ext cx="5191125" cy="3905250"/>
          </a:xfrm>
          <a:prstGeom prst="rect">
            <a:avLst/>
          </a:prstGeom>
          <a:noFill/>
          <a:ln w="0">
            <a:noFill/>
          </a:ln>
        </p:spPr>
        <p:txBody>
          <a:bodyPr wrap="square" lIns="0" tIns="0" rIns="0" bIns="0" anchor="t">
            <a:noAutofit/>
          </a:bodyPr>
          <a:lstStyle>
            <a:defPPr algn="l">
              <a:defRPr sz="2500" b="0">
                <a:solidFill>
                  <a:srgbClr val="111111"/>
                </a:solidFill>
                <a:latin typeface="Arial"/>
                <a:ea typeface="Arial"/>
                <a:cs typeface="Arial"/>
              </a:defRPr>
            </a:defPPr>
            <a:lvl1pPr algn="l">
              <a:defRPr sz="2500" b="0">
                <a:solidFill>
                  <a:srgbClr val="111111"/>
                </a:solidFill>
                <a:latin typeface="Arial"/>
                <a:ea typeface="Arial"/>
                <a:cs typeface="Arial"/>
              </a:defRPr>
            </a:lvl1pPr>
            <a:lvl2pPr algn="l">
              <a:defRPr sz="2500" b="0">
                <a:solidFill>
                  <a:srgbClr val="111111"/>
                </a:solidFill>
                <a:latin typeface="Arial"/>
                <a:ea typeface="Arial"/>
                <a:cs typeface="Arial"/>
              </a:defRPr>
            </a:lvl2pPr>
            <a:lvl3pPr algn="l">
              <a:defRPr sz="2500" b="0">
                <a:solidFill>
                  <a:srgbClr val="111111"/>
                </a:solidFill>
                <a:latin typeface="Arial"/>
                <a:ea typeface="Arial"/>
                <a:cs typeface="Arial"/>
              </a:defRPr>
            </a:lvl3pPr>
            <a:lvl4pPr algn="l">
              <a:defRPr sz="2500" b="0">
                <a:solidFill>
                  <a:srgbClr val="111111"/>
                </a:solidFill>
                <a:latin typeface="Arial"/>
                <a:ea typeface="Arial"/>
                <a:cs typeface="Arial"/>
              </a:defRPr>
            </a:lvl4pPr>
            <a:lvl5pPr algn="l">
              <a:defRPr sz="2500" b="0">
                <a:solidFill>
                  <a:srgbClr val="111111"/>
                </a:solidFill>
                <a:latin typeface="Arial"/>
                <a:ea typeface="Arial"/>
                <a:cs typeface="Arial"/>
              </a:defRPr>
            </a:lvl5pPr>
            <a:lvl6pPr algn="l">
              <a:defRPr sz="2500" b="0">
                <a:solidFill>
                  <a:srgbClr val="111111"/>
                </a:solidFill>
                <a:latin typeface="Arial"/>
                <a:ea typeface="Arial"/>
                <a:cs typeface="Arial"/>
              </a:defRPr>
            </a:lvl6pPr>
            <a:lvl7pPr algn="l">
              <a:defRPr sz="2500" b="0">
                <a:solidFill>
                  <a:srgbClr val="111111"/>
                </a:solidFill>
                <a:latin typeface="Arial"/>
                <a:ea typeface="Arial"/>
                <a:cs typeface="Arial"/>
              </a:defRPr>
            </a:lvl7pPr>
            <a:lvl8pPr algn="l">
              <a:defRPr sz="2500" b="0">
                <a:solidFill>
                  <a:srgbClr val="111111"/>
                </a:solidFill>
                <a:latin typeface="Arial"/>
                <a:ea typeface="Arial"/>
                <a:cs typeface="Arial"/>
              </a:defRPr>
            </a:lvl8pPr>
            <a:lvl9pPr algn="l">
              <a:defRPr sz="2500" b="0">
                <a:solidFill>
                  <a:srgbClr val="111111"/>
                </a:solidFill>
                <a:latin typeface="Arial"/>
                <a:ea typeface="Arial"/>
                <a:cs typeface="Arial"/>
              </a:defRPr>
            </a:lvl9pPr>
          </a:lstStyle>
          <a:p>
            <a:pPr marL="228600" indent="-114300" algn="l">
              <a:spcAft>
                <a:spcPts val="1600"/>
              </a:spcAft>
              <a:buChar char="■"/>
              <a:defRPr sz="2500" b="0">
                <a:solidFill>
                  <a:srgbClr val="111111"/>
                </a:solidFill>
                <a:latin typeface="Arial"/>
                <a:ea typeface="Arial"/>
                <a:cs typeface="Arial"/>
              </a:defRPr>
            </a:pPr>
            <a:r>
              <a:rPr lang="en-US" dirty="0"/>
              <a:t>¿Se </a:t>
            </a:r>
            <a:r>
              <a:rPr lang="en-US" dirty="0" err="1"/>
              <a:t>podría</a:t>
            </a:r>
            <a:r>
              <a:rPr lang="en-US" dirty="0"/>
              <a:t> </a:t>
            </a:r>
            <a:r>
              <a:rPr lang="en-US" dirty="0" err="1"/>
              <a:t>implementar</a:t>
            </a:r>
            <a:r>
              <a:rPr lang="en-US" dirty="0"/>
              <a:t> </a:t>
            </a:r>
            <a:r>
              <a:rPr lang="en-US" dirty="0" err="1"/>
              <a:t>en</a:t>
            </a:r>
            <a:r>
              <a:rPr lang="en-US" dirty="0"/>
              <a:t> la </a:t>
            </a:r>
            <a:r>
              <a:rPr lang="en-US" dirty="0" err="1"/>
              <a:t>realidad</a:t>
            </a:r>
            <a:r>
              <a:rPr lang="en-US" dirty="0"/>
              <a:t>?</a:t>
            </a:r>
          </a:p>
          <a:p>
            <a:pPr marL="228600" indent="-114300" algn="l">
              <a:spcAft>
                <a:spcPts val="1600"/>
              </a:spcAft>
              <a:buChar char="■"/>
              <a:defRPr sz="2500" b="0">
                <a:solidFill>
                  <a:srgbClr val="111111"/>
                </a:solidFill>
                <a:latin typeface="Arial"/>
                <a:ea typeface="Arial"/>
                <a:cs typeface="Arial"/>
              </a:defRPr>
            </a:pPr>
            <a:r>
              <a:rPr lang="en-US" dirty="0"/>
              <a:t>¿</a:t>
            </a:r>
            <a:r>
              <a:rPr lang="en-US" dirty="0" err="1"/>
              <a:t>Qué</a:t>
            </a:r>
            <a:r>
              <a:rPr lang="en-US" dirty="0"/>
              <a:t> </a:t>
            </a:r>
            <a:r>
              <a:rPr lang="en-US" dirty="0" err="1"/>
              <a:t>datos</a:t>
            </a:r>
            <a:r>
              <a:rPr lang="en-US" dirty="0"/>
              <a:t> o </a:t>
            </a:r>
            <a:r>
              <a:rPr lang="en-US" dirty="0" err="1"/>
              <a:t>cálculos</a:t>
            </a:r>
            <a:r>
              <a:rPr lang="en-US" dirty="0"/>
              <a:t> </a:t>
            </a:r>
            <a:r>
              <a:rPr lang="en-US" dirty="0" err="1"/>
              <a:t>necesitaríamos</a:t>
            </a:r>
            <a:r>
              <a:rPr lang="en-US" dirty="0"/>
              <a:t> para </a:t>
            </a:r>
            <a:r>
              <a:rPr lang="en-US" dirty="0" err="1"/>
              <a:t>burlar</a:t>
            </a:r>
            <a:r>
              <a:rPr lang="en-US" dirty="0"/>
              <a:t> a la </a:t>
            </a:r>
            <a:r>
              <a:rPr lang="en-US" dirty="0" err="1"/>
              <a:t>ruleta</a:t>
            </a:r>
            <a:r>
              <a:rPr lang="en-US" dirty="0"/>
              <a:t>?</a:t>
            </a:r>
          </a:p>
        </p:txBody>
      </p:sp>
    </p:spTree>
    <p:extLst>
      <p:ext uri="{BB962C8B-B14F-4D97-AF65-F5344CB8AC3E}">
        <p14:creationId xmlns:p14="http://schemas.microsoft.com/office/powerpoint/2010/main" val="2456823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431CF533-7503-4C9B-9A3A-E67C32FB25B9}"/>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Predicción</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física</a:t>
            </a:r>
          </a:p>
        </p:txBody>
      </p:sp>
      <p:sp>
        <p:nvSpPr>
          <p:cNvPr id="7" name="subtitulo">
            <a:extLst>
              <a:ext uri="{FF2B5EF4-FFF2-40B4-BE49-F238E27FC236}">
                <a16:creationId xmlns:a16="http://schemas.microsoft.com/office/drawing/2014/main" id="{5BCC7360-6D6A-4730-BAED-782F85C563E4}"/>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Otra información</a:t>
            </a:r>
          </a:p>
        </p:txBody>
      </p:sp>
      <p:sp>
        <p:nvSpPr>
          <p:cNvPr id="8" name="idea">
            <a:extLst>
              <a:ext uri="{FF2B5EF4-FFF2-40B4-BE49-F238E27FC236}">
                <a16:creationId xmlns:a16="http://schemas.microsoft.com/office/drawing/2014/main" id="{34A6E91C-9AE8-4740-88DF-79051805A475}"/>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historial resume</a:t>
            </a:r>
          </a:p>
          <a:p>
            <a:pPr algn="l">
              <a:defRPr sz="2100" b="0">
                <a:solidFill>
                  <a:srgbClr val="111111"/>
                </a:solidFill>
                <a:latin typeface="Arial"/>
                <a:ea typeface="Arial"/>
                <a:cs typeface="Arial"/>
              </a:defRPr>
            </a:pPr>
            <a:r>
              <a:rPr sz="2100" b="0">
                <a:solidFill>
                  <a:srgbClr val="111111"/>
                </a:solidFill>
                <a:latin typeface="Arial"/>
                <a:ea typeface="Arial"/>
                <a:cs typeface="Arial"/>
              </a:rPr>
              <a:t>el pasado.</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El modelo físico</a:t>
            </a:r>
          </a:p>
          <a:p>
            <a:pPr algn="l">
              <a:defRPr sz="2100" b="0">
                <a:solidFill>
                  <a:srgbClr val="111111"/>
                </a:solidFill>
                <a:latin typeface="Arial"/>
                <a:ea typeface="Arial"/>
                <a:cs typeface="Arial"/>
              </a:defRPr>
            </a:pPr>
            <a:r>
              <a:rPr sz="2100" b="0">
                <a:solidFill>
                  <a:srgbClr val="111111"/>
                </a:solidFill>
                <a:latin typeface="Arial"/>
                <a:ea typeface="Arial"/>
                <a:cs typeface="Arial"/>
              </a:rPr>
              <a:t>usa el giro actual.</a:t>
            </a:r>
          </a:p>
        </p:txBody>
      </p:sp>
      <p:sp>
        <p:nvSpPr>
          <p:cNvPr id="9" name="contenido">
            <a:extLst>
              <a:ext uri="{FF2B5EF4-FFF2-40B4-BE49-F238E27FC236}">
                <a16:creationId xmlns:a16="http://schemas.microsoft.com/office/drawing/2014/main" id="{C8E48AF3-70AA-4EAB-8A31-7035B2FFCDB7}"/>
              </a:ext>
            </a:extLst>
          </p:cNvPr>
          <p:cNvSpPr>
            <a:spLocks noGrp="1"/>
          </p:cNvSpPr>
          <p:nvPr/>
        </p:nvSpPr>
        <p:spPr>
          <a:xfrm>
            <a:off x="3333750" y="619125"/>
            <a:ext cx="5143500" cy="857250"/>
          </a:xfrm>
          <a:prstGeom prst="rect">
            <a:avLst/>
          </a:prstGeom>
          <a:noFill/>
          <a:ln w="0">
            <a:noFill/>
          </a:ln>
        </p:spPr>
        <p:txBody>
          <a:bodyPr wrap="square" lIns="0" tIns="0" rIns="0" bIns="0" anchor="t">
            <a:noAutofit/>
          </a:bodyPr>
          <a:lstStyle>
            <a:defPPr algn="l">
              <a:defRPr sz="2600" b="1">
                <a:solidFill>
                  <a:srgbClr val="044247"/>
                </a:solidFill>
                <a:latin typeface="Arial"/>
                <a:ea typeface="Arial"/>
                <a:cs typeface="Arial"/>
              </a:defRPr>
            </a:defPPr>
            <a:lvl1pPr algn="l">
              <a:defRPr sz="2600" b="1">
                <a:solidFill>
                  <a:srgbClr val="044247"/>
                </a:solidFill>
                <a:latin typeface="Arial"/>
                <a:ea typeface="Arial"/>
                <a:cs typeface="Arial"/>
              </a:defRPr>
            </a:lvl1pPr>
            <a:lvl2pPr algn="l">
              <a:defRPr sz="2600" b="1">
                <a:solidFill>
                  <a:srgbClr val="044247"/>
                </a:solidFill>
                <a:latin typeface="Arial"/>
                <a:ea typeface="Arial"/>
                <a:cs typeface="Arial"/>
              </a:defRPr>
            </a:lvl2pPr>
            <a:lvl3pPr algn="l">
              <a:defRPr sz="2600" b="1">
                <a:solidFill>
                  <a:srgbClr val="044247"/>
                </a:solidFill>
                <a:latin typeface="Arial"/>
                <a:ea typeface="Arial"/>
                <a:cs typeface="Arial"/>
              </a:defRPr>
            </a:lvl3pPr>
            <a:lvl4pPr algn="l">
              <a:defRPr sz="2600" b="1">
                <a:solidFill>
                  <a:srgbClr val="044247"/>
                </a:solidFill>
                <a:latin typeface="Arial"/>
                <a:ea typeface="Arial"/>
                <a:cs typeface="Arial"/>
              </a:defRPr>
            </a:lvl4pPr>
            <a:lvl5pPr algn="l">
              <a:defRPr sz="2600" b="1">
                <a:solidFill>
                  <a:srgbClr val="044247"/>
                </a:solidFill>
                <a:latin typeface="Arial"/>
                <a:ea typeface="Arial"/>
                <a:cs typeface="Arial"/>
              </a:defRPr>
            </a:lvl5pPr>
            <a:lvl6pPr algn="l">
              <a:defRPr sz="2600" b="1">
                <a:solidFill>
                  <a:srgbClr val="044247"/>
                </a:solidFill>
                <a:latin typeface="Arial"/>
                <a:ea typeface="Arial"/>
                <a:cs typeface="Arial"/>
              </a:defRPr>
            </a:lvl6pPr>
            <a:lvl7pPr algn="l">
              <a:defRPr sz="2600" b="1">
                <a:solidFill>
                  <a:srgbClr val="044247"/>
                </a:solidFill>
                <a:latin typeface="Arial"/>
                <a:ea typeface="Arial"/>
                <a:cs typeface="Arial"/>
              </a:defRPr>
            </a:lvl7pPr>
            <a:lvl8pPr algn="l">
              <a:defRPr sz="2600" b="1">
                <a:solidFill>
                  <a:srgbClr val="044247"/>
                </a:solidFill>
                <a:latin typeface="Arial"/>
                <a:ea typeface="Arial"/>
                <a:cs typeface="Arial"/>
              </a:defRPr>
            </a:lvl8pPr>
            <a:lvl9pPr algn="l">
              <a:defRPr sz="2600" b="1">
                <a:solidFill>
                  <a:srgbClr val="044247"/>
                </a:solidFill>
                <a:latin typeface="Arial"/>
                <a:ea typeface="Arial"/>
                <a:cs typeface="Arial"/>
              </a:defRPr>
            </a:lvl9pPr>
          </a:lstStyle>
          <a:p>
            <a:pPr algn="l">
              <a:defRPr sz="2600" b="1">
                <a:solidFill>
                  <a:srgbClr val="044247"/>
                </a:solidFill>
                <a:latin typeface="Arial"/>
                <a:ea typeface="Arial"/>
                <a:cs typeface="Arial"/>
              </a:defRPr>
            </a:pPr>
            <a:r>
              <a:rPr sz="2600" b="1">
                <a:solidFill>
                  <a:srgbClr val="044247"/>
                </a:solidFill>
                <a:latin typeface="Arial"/>
                <a:ea typeface="Arial"/>
                <a:cs typeface="Arial"/>
              </a:rPr>
              <a:t>Un modelo finito puede</a:t>
            </a:r>
          </a:p>
          <a:p>
            <a:pPr algn="l">
              <a:defRPr sz="2600" b="1">
                <a:solidFill>
                  <a:srgbClr val="044247"/>
                </a:solidFill>
                <a:latin typeface="Arial"/>
                <a:ea typeface="Arial"/>
                <a:cs typeface="Arial"/>
              </a:defRPr>
            </a:pPr>
            <a:r>
              <a:rPr sz="2600" b="1">
                <a:solidFill>
                  <a:srgbClr val="044247"/>
                </a:solidFill>
                <a:latin typeface="Arial"/>
                <a:ea typeface="Arial"/>
                <a:cs typeface="Arial"/>
              </a:rPr>
              <a:t>describir el movimiento.</a:t>
            </a:r>
          </a:p>
        </p:txBody>
      </p:sp>
      <p:sp>
        <p:nvSpPr>
          <p:cNvPr id="10" name="contenido">
            <a:extLst>
              <a:ext uri="{FF2B5EF4-FFF2-40B4-BE49-F238E27FC236}">
                <a16:creationId xmlns:a16="http://schemas.microsoft.com/office/drawing/2014/main" id="{8FBC94B0-046E-4C51-B9F1-C0D29C7C8EE8}"/>
              </a:ext>
            </a:extLst>
          </p:cNvPr>
          <p:cNvSpPr>
            <a:spLocks noGrp="1"/>
          </p:cNvSpPr>
          <p:nvPr/>
        </p:nvSpPr>
        <p:spPr>
          <a:xfrm>
            <a:off x="3333750" y="2000250"/>
            <a:ext cx="5143500" cy="1190625"/>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algn="l">
              <a:defRPr sz="2300" b="0">
                <a:solidFill>
                  <a:srgbClr val="111111"/>
                </a:solidFill>
                <a:latin typeface="Arial"/>
                <a:ea typeface="Arial"/>
                <a:cs typeface="Arial"/>
              </a:defRPr>
            </a:pPr>
            <a:r>
              <a:rPr sz="2300" b="0">
                <a:solidFill>
                  <a:srgbClr val="111111"/>
                </a:solidFill>
                <a:latin typeface="Arial"/>
                <a:ea typeface="Arial"/>
                <a:cs typeface="Arial"/>
              </a:rPr>
              <a:t>Mismo estado inicial completo:</a:t>
            </a:r>
          </a:p>
          <a:p>
            <a:pPr algn="l">
              <a:defRPr sz="2300" b="0">
                <a:solidFill>
                  <a:srgbClr val="111111"/>
                </a:solidFill>
                <a:latin typeface="Arial"/>
                <a:ea typeface="Arial"/>
                <a:cs typeface="Arial"/>
              </a:defRPr>
            </a:pPr>
            <a:r>
              <a:rPr sz="2300" b="0">
                <a:solidFill>
                  <a:srgbClr val="111111"/>
                </a:solidFill>
                <a:latin typeface="Arial"/>
                <a:ea typeface="Arial"/>
                <a:cs typeface="Arial"/>
              </a:rPr>
              <a:t>misma trayectoria en un</a:t>
            </a:r>
          </a:p>
          <a:p>
            <a:pPr algn="l">
              <a:defRPr sz="2300" b="0">
                <a:solidFill>
                  <a:srgbClr val="111111"/>
                </a:solidFill>
                <a:latin typeface="Arial"/>
                <a:ea typeface="Arial"/>
                <a:cs typeface="Arial"/>
              </a:defRPr>
            </a:pPr>
            <a:r>
              <a:rPr sz="2300" b="0">
                <a:solidFill>
                  <a:srgbClr val="111111"/>
                </a:solidFill>
                <a:latin typeface="Arial"/>
                <a:ea typeface="Arial"/>
                <a:cs typeface="Arial"/>
              </a:rPr>
              <a:t>modelo determinista ideal.</a:t>
            </a:r>
          </a:p>
        </p:txBody>
      </p:sp>
      <p:sp>
        <p:nvSpPr>
          <p:cNvPr id="11" name="contenido">
            <a:extLst>
              <a:ext uri="{FF2B5EF4-FFF2-40B4-BE49-F238E27FC236}">
                <a16:creationId xmlns:a16="http://schemas.microsoft.com/office/drawing/2014/main" id="{010BDC47-CAF2-4970-91C9-A68B1D9DC83E}"/>
              </a:ext>
            </a:extLst>
          </p:cNvPr>
          <p:cNvSpPr>
            <a:spLocks noGrp="1"/>
          </p:cNvSpPr>
          <p:nvPr/>
        </p:nvSpPr>
        <p:spPr>
          <a:xfrm>
            <a:off x="3333750" y="3638550"/>
            <a:ext cx="5143500" cy="857250"/>
          </a:xfrm>
          <a:prstGeom prst="rect">
            <a:avLst/>
          </a:prstGeom>
          <a:noFill/>
          <a:ln w="0">
            <a:noFill/>
          </a:ln>
        </p:spPr>
        <p:txBody>
          <a:bodyPr wrap="square" lIns="0" tIns="0" rIns="0" bIns="0" anchor="t">
            <a:noAutofit/>
          </a:bodyPr>
          <a:lstStyle>
            <a:defPPr algn="l">
              <a:defRPr sz="2400" b="1">
                <a:solidFill>
                  <a:srgbClr val="044247"/>
                </a:solidFill>
                <a:latin typeface="Arial"/>
                <a:ea typeface="Arial"/>
                <a:cs typeface="Arial"/>
              </a:defRPr>
            </a:defPPr>
            <a:lvl1pPr algn="l">
              <a:defRPr sz="2400" b="1">
                <a:solidFill>
                  <a:srgbClr val="044247"/>
                </a:solidFill>
                <a:latin typeface="Arial"/>
                <a:ea typeface="Arial"/>
                <a:cs typeface="Arial"/>
              </a:defRPr>
            </a:lvl1pPr>
            <a:lvl2pPr algn="l">
              <a:defRPr sz="2400" b="1">
                <a:solidFill>
                  <a:srgbClr val="044247"/>
                </a:solidFill>
                <a:latin typeface="Arial"/>
                <a:ea typeface="Arial"/>
                <a:cs typeface="Arial"/>
              </a:defRPr>
            </a:lvl2pPr>
            <a:lvl3pPr algn="l">
              <a:defRPr sz="2400" b="1">
                <a:solidFill>
                  <a:srgbClr val="044247"/>
                </a:solidFill>
                <a:latin typeface="Arial"/>
                <a:ea typeface="Arial"/>
                <a:cs typeface="Arial"/>
              </a:defRPr>
            </a:lvl3pPr>
            <a:lvl4pPr algn="l">
              <a:defRPr sz="2400" b="1">
                <a:solidFill>
                  <a:srgbClr val="044247"/>
                </a:solidFill>
                <a:latin typeface="Arial"/>
                <a:ea typeface="Arial"/>
                <a:cs typeface="Arial"/>
              </a:defRPr>
            </a:lvl4pPr>
            <a:lvl5pPr algn="l">
              <a:defRPr sz="2400" b="1">
                <a:solidFill>
                  <a:srgbClr val="044247"/>
                </a:solidFill>
                <a:latin typeface="Arial"/>
                <a:ea typeface="Arial"/>
                <a:cs typeface="Arial"/>
              </a:defRPr>
            </a:lvl5pPr>
            <a:lvl6pPr algn="l">
              <a:defRPr sz="2400" b="1">
                <a:solidFill>
                  <a:srgbClr val="044247"/>
                </a:solidFill>
                <a:latin typeface="Arial"/>
                <a:ea typeface="Arial"/>
                <a:cs typeface="Arial"/>
              </a:defRPr>
            </a:lvl6pPr>
            <a:lvl7pPr algn="l">
              <a:defRPr sz="2400" b="1">
                <a:solidFill>
                  <a:srgbClr val="044247"/>
                </a:solidFill>
                <a:latin typeface="Arial"/>
                <a:ea typeface="Arial"/>
                <a:cs typeface="Arial"/>
              </a:defRPr>
            </a:lvl7pPr>
            <a:lvl8pPr algn="l">
              <a:defRPr sz="2400" b="1">
                <a:solidFill>
                  <a:srgbClr val="044247"/>
                </a:solidFill>
                <a:latin typeface="Arial"/>
                <a:ea typeface="Arial"/>
                <a:cs typeface="Arial"/>
              </a:defRPr>
            </a:lvl8pPr>
            <a:lvl9pPr algn="l">
              <a:defRPr sz="2400" b="1">
                <a:solidFill>
                  <a:srgbClr val="044247"/>
                </a:solidFill>
                <a:latin typeface="Arial"/>
                <a:ea typeface="Arial"/>
                <a:cs typeface="Arial"/>
              </a:defRPr>
            </a:lvl9pPr>
          </a:lstStyle>
          <a:p>
            <a:pPr algn="l">
              <a:defRPr sz="2400" b="1">
                <a:solidFill>
                  <a:srgbClr val="044247"/>
                </a:solidFill>
                <a:latin typeface="Arial"/>
                <a:ea typeface="Arial"/>
                <a:cs typeface="Arial"/>
              </a:defRPr>
            </a:pPr>
            <a:r>
              <a:rPr sz="2400" b="1">
                <a:solidFill>
                  <a:srgbClr val="044247"/>
                </a:solidFill>
                <a:latin typeface="Arial"/>
                <a:ea typeface="Arial"/>
                <a:cs typeface="Arial"/>
              </a:rPr>
              <a:t>Determinismo no implica</a:t>
            </a:r>
          </a:p>
          <a:p>
            <a:pPr algn="l">
              <a:defRPr sz="2400" b="1">
                <a:solidFill>
                  <a:srgbClr val="044247"/>
                </a:solidFill>
                <a:latin typeface="Arial"/>
                <a:ea typeface="Arial"/>
                <a:cs typeface="Arial"/>
              </a:defRPr>
            </a:pPr>
            <a:r>
              <a:rPr sz="2400" b="1">
                <a:solidFill>
                  <a:srgbClr val="044247"/>
                </a:solidFill>
                <a:latin typeface="Arial"/>
                <a:ea typeface="Arial"/>
                <a:cs typeface="Arial"/>
              </a:rPr>
              <a:t>periodicidad.</a:t>
            </a:r>
          </a:p>
        </p:txBody>
      </p:sp>
      <p:sp>
        <p:nvSpPr>
          <p:cNvPr id="12" name="fuente">
            <a:extLst>
              <a:ext uri="{FF2B5EF4-FFF2-40B4-BE49-F238E27FC236}">
                <a16:creationId xmlns:a16="http://schemas.microsoft.com/office/drawing/2014/main" id="{B7C5A9E6-C459-4916-B22E-A1B03AFBBC2D}"/>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La hipótesis necesita mediciones del giro actual</a:t>
            </a:r>
          </a:p>
        </p:txBody>
      </p:sp>
    </p:spTree>
    <p:extLst>
      <p:ext uri="{BB962C8B-B14F-4D97-AF65-F5344CB8AC3E}">
        <p14:creationId xmlns:p14="http://schemas.microsoft.com/office/powerpoint/2010/main" val="3343283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798F4-D9F7-5A01-C102-D9DD3210CC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D8938D-FDD6-48A3-FC51-16EA16046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462" y="562961"/>
            <a:ext cx="8166538" cy="4593678"/>
          </a:xfrm>
          <a:prstGeom prst="rect">
            <a:avLst/>
          </a:prstGeom>
        </p:spPr>
      </p:pic>
      <p:sp>
        <p:nvSpPr>
          <p:cNvPr id="5" name="object 5">
            <a:extLst>
              <a:ext uri="{FF2B5EF4-FFF2-40B4-BE49-F238E27FC236}">
                <a16:creationId xmlns:a16="http://schemas.microsoft.com/office/drawing/2014/main" id="{7DADFA5A-5F3E-0B1E-0B38-4FC545AB6763}"/>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E98E8A31-E8B2-876C-E26A-0FCBF982E405}"/>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Predicción</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física</a:t>
            </a:r>
          </a:p>
        </p:txBody>
      </p:sp>
    </p:spTree>
    <p:extLst>
      <p:ext uri="{BB962C8B-B14F-4D97-AF65-F5344CB8AC3E}">
        <p14:creationId xmlns:p14="http://schemas.microsoft.com/office/powerpoint/2010/main" val="3079728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DB654C47-B0CE-4626-AA95-50B2E1CB78AC}"/>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El objetivo</a:t>
            </a:r>
          </a:p>
        </p:txBody>
      </p:sp>
      <p:sp>
        <p:nvSpPr>
          <p:cNvPr id="7" name="subtitulo">
            <a:extLst>
              <a:ext uri="{FF2B5EF4-FFF2-40B4-BE49-F238E27FC236}">
                <a16:creationId xmlns:a16="http://schemas.microsoft.com/office/drawing/2014/main" id="{BCE52432-9A83-4587-B120-1A457A000910}"/>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Antes del ensayo</a:t>
            </a:r>
          </a:p>
        </p:txBody>
      </p:sp>
      <p:sp>
        <p:nvSpPr>
          <p:cNvPr id="8" name="idea">
            <a:extLst>
              <a:ext uri="{FF2B5EF4-FFF2-40B4-BE49-F238E27FC236}">
                <a16:creationId xmlns:a16="http://schemas.microsoft.com/office/drawing/2014/main" id="{9CC72BD0-E8E0-4981-9A7A-4C35F1CEC687}"/>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La dificultad cambia</a:t>
            </a:r>
          </a:p>
          <a:p>
            <a:pPr algn="l">
              <a:defRPr sz="2100" b="0">
                <a:solidFill>
                  <a:srgbClr val="111111"/>
                </a:solidFill>
                <a:latin typeface="Arial"/>
                <a:ea typeface="Arial"/>
                <a:cs typeface="Arial"/>
              </a:defRPr>
            </a:pPr>
            <a:r>
              <a:rPr sz="2100" b="0">
                <a:solidFill>
                  <a:srgbClr val="111111"/>
                </a:solidFill>
                <a:latin typeface="Arial"/>
                <a:ea typeface="Arial"/>
                <a:cs typeface="Arial"/>
              </a:rPr>
              <a:t>según lo que</a:t>
            </a:r>
          </a:p>
          <a:p>
            <a:pPr algn="l">
              <a:defRPr sz="2100" b="0">
                <a:solidFill>
                  <a:srgbClr val="111111"/>
                </a:solidFill>
                <a:latin typeface="Arial"/>
                <a:ea typeface="Arial"/>
                <a:cs typeface="Arial"/>
              </a:defRPr>
            </a:pPr>
            <a:r>
              <a:rPr sz="2100" b="0">
                <a:solidFill>
                  <a:srgbClr val="111111"/>
                </a:solidFill>
                <a:latin typeface="Arial"/>
                <a:ea typeface="Arial"/>
                <a:cs typeface="Arial"/>
              </a:rPr>
              <a:t>queremos acertar.</a:t>
            </a:r>
          </a:p>
        </p:txBody>
      </p:sp>
      <p:graphicFrame>
        <p:nvGraphicFramePr>
          <p:cNvPr id="9" name="Table 8">
            <a:extLst>
              <a:ext uri="{FF2B5EF4-FFF2-40B4-BE49-F238E27FC236}">
                <a16:creationId xmlns:a16="http://schemas.microsoft.com/office/drawing/2014/main" id="{94479E61-DDB3-49C1-B5A3-7CC80F7D7EEE}"/>
              </a:ext>
            </a:extLst>
          </p:cNvPr>
          <p:cNvGraphicFramePr/>
          <p:nvPr/>
        </p:nvGraphicFramePr>
        <p:xfrm>
          <a:off x="3333750" y="523875"/>
          <a:ext cx="5143500" cy="2524124"/>
        </p:xfrm>
        <a:graphic>
          <a:graphicData uri="http://schemas.openxmlformats.org/drawingml/2006/table">
            <a:tbl>
              <a:tblPr firstRow="1"/>
              <a:tblGrid>
                <a:gridCol w="147637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tblGrid>
              <a:tr h="631031">
                <a:tc>
                  <a:txBody>
                    <a:bodyPr/>
                    <a:lstStyle/>
                    <a:p>
                      <a:pPr algn="l"/>
                      <a:r>
                        <a:rPr sz="1900" b="1">
                          <a:solidFill>
                            <a:srgbClr val="FFFFFF"/>
                          </a:solidFill>
                          <a:latin typeface="Arial"/>
                          <a:ea typeface="Arial"/>
                          <a:cs typeface="Arial"/>
                        </a:rPr>
                        <a:t>Objetivo</a:t>
                      </a:r>
                    </a:p>
                  </a:txBody>
                  <a:tcPr marL="76200" marR="76200" marT="19050" marB="19050"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1900" b="1">
                          <a:solidFill>
                            <a:srgbClr val="FFFFFF"/>
                          </a:solidFill>
                          <a:latin typeface="Arial"/>
                          <a:ea typeface="Arial"/>
                          <a:cs typeface="Arial"/>
                        </a:rPr>
                        <a:t>Qué cuenta como acierto</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631031">
                <a:tc>
                  <a:txBody>
                    <a:bodyPr/>
                    <a:lstStyle/>
                    <a:p>
                      <a:pPr algn="l"/>
                      <a:r>
                        <a:rPr sz="1900" b="0">
                          <a:solidFill>
                            <a:srgbClr val="111111"/>
                          </a:solidFill>
                          <a:latin typeface="Arial"/>
                          <a:ea typeface="Arial"/>
                          <a:cs typeface="Arial"/>
                        </a:rPr>
                        <a:t>Número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Una casilla concreta</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631031">
                <a:tc>
                  <a:txBody>
                    <a:bodyPr/>
                    <a:lstStyle/>
                    <a:p>
                      <a:pPr algn="l"/>
                      <a:r>
                        <a:rPr sz="1900" b="0">
                          <a:solidFill>
                            <a:srgbClr val="111111"/>
                          </a:solidFill>
                          <a:latin typeface="Arial"/>
                          <a:ea typeface="Arial"/>
                          <a:cs typeface="Arial"/>
                        </a:rPr>
                        <a:t>Sector</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Una de k casillas vecinas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631031">
                <a:tc>
                  <a:txBody>
                    <a:bodyPr/>
                    <a:lstStyle/>
                    <a:p>
                      <a:pPr algn="l"/>
                      <a:r>
                        <a:rPr sz="1900" b="0">
                          <a:solidFill>
                            <a:srgbClr val="111111"/>
                          </a:solidFill>
                          <a:latin typeface="Arial"/>
                          <a:ea typeface="Arial"/>
                          <a:cs typeface="Arial"/>
                        </a:rPr>
                        <a:t>Docena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Uno de los tres grupos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contenido">
            <a:extLst>
              <a:ext uri="{FF2B5EF4-FFF2-40B4-BE49-F238E27FC236}">
                <a16:creationId xmlns:a16="http://schemas.microsoft.com/office/drawing/2014/main" id="{3F3DE110-01C8-4753-A375-E29E3B39201A}"/>
              </a:ext>
            </a:extLst>
          </p:cNvPr>
          <p:cNvSpPr>
            <a:spLocks noGrp="1"/>
          </p:cNvSpPr>
          <p:nvPr/>
        </p:nvSpPr>
        <p:spPr>
          <a:xfrm>
            <a:off x="3333750" y="3476625"/>
            <a:ext cx="5143500" cy="1000125"/>
          </a:xfrm>
          <a:prstGeom prst="rect">
            <a:avLst/>
          </a:prstGeom>
          <a:noFill/>
          <a:ln w="0">
            <a:noFill/>
          </a:ln>
        </p:spPr>
        <p:txBody>
          <a:bodyPr wrap="square" lIns="0" tIns="0" rIns="0" bIns="0" anchor="t">
            <a:noAutofit/>
          </a:bodyPr>
          <a:lstStyle>
            <a:defPPr algn="l">
              <a:defRPr sz="2200" b="1">
                <a:solidFill>
                  <a:srgbClr val="044247"/>
                </a:solidFill>
                <a:latin typeface="Arial"/>
                <a:ea typeface="Arial"/>
                <a:cs typeface="Arial"/>
              </a:defRPr>
            </a:defPPr>
            <a:lvl1pPr algn="l">
              <a:defRPr sz="2200" b="1">
                <a:solidFill>
                  <a:srgbClr val="044247"/>
                </a:solidFill>
                <a:latin typeface="Arial"/>
                <a:ea typeface="Arial"/>
                <a:cs typeface="Arial"/>
              </a:defRPr>
            </a:lvl1pPr>
            <a:lvl2pPr algn="l">
              <a:defRPr sz="2200" b="1">
                <a:solidFill>
                  <a:srgbClr val="044247"/>
                </a:solidFill>
                <a:latin typeface="Arial"/>
                <a:ea typeface="Arial"/>
                <a:cs typeface="Arial"/>
              </a:defRPr>
            </a:lvl2pPr>
            <a:lvl3pPr algn="l">
              <a:defRPr sz="2200" b="1">
                <a:solidFill>
                  <a:srgbClr val="044247"/>
                </a:solidFill>
                <a:latin typeface="Arial"/>
                <a:ea typeface="Arial"/>
                <a:cs typeface="Arial"/>
              </a:defRPr>
            </a:lvl3pPr>
            <a:lvl4pPr algn="l">
              <a:defRPr sz="2200" b="1">
                <a:solidFill>
                  <a:srgbClr val="044247"/>
                </a:solidFill>
                <a:latin typeface="Arial"/>
                <a:ea typeface="Arial"/>
                <a:cs typeface="Arial"/>
              </a:defRPr>
            </a:lvl4pPr>
            <a:lvl5pPr algn="l">
              <a:defRPr sz="2200" b="1">
                <a:solidFill>
                  <a:srgbClr val="044247"/>
                </a:solidFill>
                <a:latin typeface="Arial"/>
                <a:ea typeface="Arial"/>
                <a:cs typeface="Arial"/>
              </a:defRPr>
            </a:lvl5pPr>
            <a:lvl6pPr algn="l">
              <a:defRPr sz="2200" b="1">
                <a:solidFill>
                  <a:srgbClr val="044247"/>
                </a:solidFill>
                <a:latin typeface="Arial"/>
                <a:ea typeface="Arial"/>
                <a:cs typeface="Arial"/>
              </a:defRPr>
            </a:lvl6pPr>
            <a:lvl7pPr algn="l">
              <a:defRPr sz="2200" b="1">
                <a:solidFill>
                  <a:srgbClr val="044247"/>
                </a:solidFill>
                <a:latin typeface="Arial"/>
                <a:ea typeface="Arial"/>
                <a:cs typeface="Arial"/>
              </a:defRPr>
            </a:lvl7pPr>
            <a:lvl8pPr algn="l">
              <a:defRPr sz="2200" b="1">
                <a:solidFill>
                  <a:srgbClr val="044247"/>
                </a:solidFill>
                <a:latin typeface="Arial"/>
                <a:ea typeface="Arial"/>
                <a:cs typeface="Arial"/>
              </a:defRPr>
            </a:lvl8pPr>
            <a:lvl9pPr algn="l">
              <a:defRPr sz="2200" b="1">
                <a:solidFill>
                  <a:srgbClr val="044247"/>
                </a:solidFill>
                <a:latin typeface="Arial"/>
                <a:ea typeface="Arial"/>
                <a:cs typeface="Arial"/>
              </a:defRPr>
            </a:lvl9pPr>
          </a:lstStyle>
          <a:p>
            <a:pPr algn="l">
              <a:defRPr sz="2200" b="1">
                <a:solidFill>
                  <a:srgbClr val="044247"/>
                </a:solidFill>
                <a:latin typeface="Arial"/>
                <a:ea typeface="Arial"/>
                <a:cs typeface="Arial"/>
              </a:defRPr>
            </a:pPr>
            <a:r>
              <a:rPr sz="2200" b="1">
                <a:solidFill>
                  <a:srgbClr val="044247"/>
                </a:solidFill>
                <a:latin typeface="Arial"/>
                <a:ea typeface="Arial"/>
                <a:cs typeface="Arial"/>
              </a:rPr>
              <a:t>La predicción se guarda en un</a:t>
            </a:r>
          </a:p>
          <a:p>
            <a:pPr algn="l">
              <a:defRPr sz="2200" b="1">
                <a:solidFill>
                  <a:srgbClr val="044247"/>
                </a:solidFill>
                <a:latin typeface="Arial"/>
                <a:ea typeface="Arial"/>
                <a:cs typeface="Arial"/>
              </a:defRPr>
            </a:pPr>
            <a:r>
              <a:rPr sz="2200" b="1">
                <a:solidFill>
                  <a:srgbClr val="044247"/>
                </a:solidFill>
                <a:latin typeface="Arial"/>
                <a:ea typeface="Arial"/>
                <a:cs typeface="Arial"/>
              </a:rPr>
              <a:t>instante fijado antes del resultado.</a:t>
            </a:r>
          </a:p>
        </p:txBody>
      </p:sp>
      <p:sp>
        <p:nvSpPr>
          <p:cNvPr id="11" name="fuente">
            <a:extLst>
              <a:ext uri="{FF2B5EF4-FFF2-40B4-BE49-F238E27FC236}">
                <a16:creationId xmlns:a16="http://schemas.microsoft.com/office/drawing/2014/main" id="{0CF1FFD3-9C3D-4195-9373-112AC66F9E20}"/>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El instante de predicción forma parte del experimento</a:t>
            </a:r>
          </a:p>
        </p:txBody>
      </p:sp>
    </p:spTree>
    <p:extLst>
      <p:ext uri="{BB962C8B-B14F-4D97-AF65-F5344CB8AC3E}">
        <p14:creationId xmlns:p14="http://schemas.microsoft.com/office/powerpoint/2010/main" val="3304710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DBBD1571-E177-447C-94B3-9958EA7EBC38}"/>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Mediciones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necesarias</a:t>
            </a:r>
          </a:p>
        </p:txBody>
      </p:sp>
      <p:sp>
        <p:nvSpPr>
          <p:cNvPr id="7" name="subtitulo">
            <a:extLst>
              <a:ext uri="{FF2B5EF4-FFF2-40B4-BE49-F238E27FC236}">
                <a16:creationId xmlns:a16="http://schemas.microsoft.com/office/drawing/2014/main" id="{B8CC0051-28E4-4FE3-8266-8AB036D24067}"/>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En cada giro</a:t>
            </a:r>
          </a:p>
        </p:txBody>
      </p:sp>
      <p:sp>
        <p:nvSpPr>
          <p:cNvPr id="8" name="idea">
            <a:extLst>
              <a:ext uri="{FF2B5EF4-FFF2-40B4-BE49-F238E27FC236}">
                <a16:creationId xmlns:a16="http://schemas.microsoft.com/office/drawing/2014/main" id="{C84C1903-5A5A-49EA-86AD-876732A2D6B8}"/>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CSV actual solo</a:t>
            </a:r>
          </a:p>
          <a:p>
            <a:pPr algn="l">
              <a:defRPr sz="2100" b="0">
                <a:solidFill>
                  <a:srgbClr val="111111"/>
                </a:solidFill>
                <a:latin typeface="Arial"/>
                <a:ea typeface="Arial"/>
                <a:cs typeface="Arial"/>
              </a:defRPr>
            </a:pPr>
            <a:r>
              <a:rPr sz="2100" b="0">
                <a:solidFill>
                  <a:srgbClr val="111111"/>
                </a:solidFill>
                <a:latin typeface="Arial"/>
                <a:ea typeface="Arial"/>
                <a:cs typeface="Arial"/>
              </a:rPr>
              <a:t>registra tirada</a:t>
            </a:r>
          </a:p>
          <a:p>
            <a:pPr algn="l">
              <a:defRPr sz="2100" b="0">
                <a:solidFill>
                  <a:srgbClr val="111111"/>
                </a:solidFill>
                <a:latin typeface="Arial"/>
                <a:ea typeface="Arial"/>
                <a:cs typeface="Arial"/>
              </a:defRPr>
            </a:pPr>
            <a:r>
              <a:rPr sz="2100" b="0">
                <a:solidFill>
                  <a:srgbClr val="111111"/>
                </a:solidFill>
                <a:latin typeface="Arial"/>
                <a:ea typeface="Arial"/>
                <a:cs typeface="Arial"/>
              </a:rPr>
              <a:t>y número.</a:t>
            </a:r>
          </a:p>
        </p:txBody>
      </p:sp>
      <p:graphicFrame>
        <p:nvGraphicFramePr>
          <p:cNvPr id="9" name="Table 8">
            <a:extLst>
              <a:ext uri="{FF2B5EF4-FFF2-40B4-BE49-F238E27FC236}">
                <a16:creationId xmlns:a16="http://schemas.microsoft.com/office/drawing/2014/main" id="{F9B1E722-EDD5-44EA-AA5C-83DB94B42CCD}"/>
              </a:ext>
            </a:extLst>
          </p:cNvPr>
          <p:cNvGraphicFramePr/>
          <p:nvPr/>
        </p:nvGraphicFramePr>
        <p:xfrm>
          <a:off x="3333750" y="523875"/>
          <a:ext cx="5143500" cy="3381378"/>
        </p:xfrm>
        <a:graphic>
          <a:graphicData uri="http://schemas.openxmlformats.org/drawingml/2006/table">
            <a:tbl>
              <a:tblPr firstRow="1"/>
              <a:tblGrid>
                <a:gridCol w="1619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tblGrid>
              <a:tr h="563563">
                <a:tc>
                  <a:txBody>
                    <a:bodyPr/>
                    <a:lstStyle/>
                    <a:p>
                      <a:pPr algn="l"/>
                      <a:r>
                        <a:rPr sz="1900" b="1">
                          <a:solidFill>
                            <a:srgbClr val="FFFFFF"/>
                          </a:solidFill>
                          <a:latin typeface="Arial"/>
                          <a:ea typeface="Arial"/>
                          <a:cs typeface="Arial"/>
                        </a:rPr>
                        <a:t>Elemento</a:t>
                      </a:r>
                    </a:p>
                  </a:txBody>
                  <a:tcPr marL="76200" marR="76200" marT="19050" marB="19050"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1900" b="1">
                          <a:solidFill>
                            <a:srgbClr val="FFFFFF"/>
                          </a:solidFill>
                          <a:latin typeface="Arial"/>
                          <a:ea typeface="Arial"/>
                          <a:cs typeface="Arial"/>
                        </a:rPr>
                        <a:t>Información</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563563">
                <a:tc>
                  <a:txBody>
                    <a:bodyPr/>
                    <a:lstStyle/>
                    <a:p>
                      <a:pPr algn="l"/>
                      <a:r>
                        <a:rPr sz="1900" b="0">
                          <a:solidFill>
                            <a:srgbClr val="111111"/>
                          </a:solidFill>
                          <a:latin typeface="Arial"/>
                          <a:ea typeface="Arial"/>
                          <a:cs typeface="Arial"/>
                        </a:rPr>
                        <a:t>Bola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Ángulo, radio y velocidad</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563563">
                <a:tc>
                  <a:txBody>
                    <a:bodyPr/>
                    <a:lstStyle/>
                    <a:p>
                      <a:pPr algn="l"/>
                      <a:r>
                        <a:rPr sz="1900" b="0">
                          <a:solidFill>
                            <a:srgbClr val="111111"/>
                          </a:solidFill>
                          <a:latin typeface="Arial"/>
                          <a:ea typeface="Arial"/>
                          <a:cs typeface="Arial"/>
                        </a:rPr>
                        <a:t>Rotor</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Posición y velocidad</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563563">
                <a:tc>
                  <a:txBody>
                    <a:bodyPr/>
                    <a:lstStyle/>
                    <a:p>
                      <a:pPr algn="l"/>
                      <a:r>
                        <a:rPr sz="1900" b="0">
                          <a:solidFill>
                            <a:srgbClr val="111111"/>
                          </a:solidFill>
                          <a:latin typeface="Arial"/>
                          <a:ea typeface="Arial"/>
                          <a:cs typeface="Arial"/>
                        </a:rPr>
                        <a:t>Frenado</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Cambio de velocidad</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563563">
                <a:tc>
                  <a:txBody>
                    <a:bodyPr/>
                    <a:lstStyle/>
                    <a:p>
                      <a:pPr algn="l"/>
                      <a:r>
                        <a:rPr sz="1900" b="0">
                          <a:solidFill>
                            <a:srgbClr val="111111"/>
                          </a:solidFill>
                          <a:latin typeface="Arial"/>
                          <a:ea typeface="Arial"/>
                          <a:cs typeface="Arial"/>
                        </a:rPr>
                        <a:t>Ruleta</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Geometría e inclinación</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r h="563563">
                <a:tc>
                  <a:txBody>
                    <a:bodyPr/>
                    <a:lstStyle/>
                    <a:p>
                      <a:pPr algn="l"/>
                      <a:r>
                        <a:rPr sz="1900" b="0">
                          <a:solidFill>
                            <a:srgbClr val="111111"/>
                          </a:solidFill>
                          <a:latin typeface="Arial"/>
                          <a:ea typeface="Arial"/>
                          <a:cs typeface="Arial"/>
                        </a:rPr>
                        <a:t>Rebotes</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Dispersión de los choques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contenido">
            <a:extLst>
              <a:ext uri="{FF2B5EF4-FFF2-40B4-BE49-F238E27FC236}">
                <a16:creationId xmlns:a16="http://schemas.microsoft.com/office/drawing/2014/main" id="{79847D0D-10BE-43A0-8E4B-DF5B308A23E3}"/>
              </a:ext>
            </a:extLst>
          </p:cNvPr>
          <p:cNvSpPr>
            <a:spLocks noGrp="1"/>
          </p:cNvSpPr>
          <p:nvPr/>
        </p:nvSpPr>
        <p:spPr>
          <a:xfrm>
            <a:off x="3333750" y="4181475"/>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Las velocidades cambian</a:t>
            </a:r>
          </a:p>
          <a:p>
            <a:pPr algn="l">
              <a:defRPr sz="2100" b="0">
                <a:solidFill>
                  <a:srgbClr val="111111"/>
                </a:solidFill>
                <a:latin typeface="Arial"/>
                <a:ea typeface="Arial"/>
                <a:cs typeface="Arial"/>
              </a:defRPr>
            </a:pPr>
            <a:r>
              <a:rPr sz="2100" b="0">
                <a:solidFill>
                  <a:srgbClr val="111111"/>
                </a:solidFill>
                <a:latin typeface="Arial"/>
                <a:ea typeface="Arial"/>
                <a:cs typeface="Arial"/>
              </a:rPr>
              <a:t>durante el movimiento.</a:t>
            </a:r>
          </a:p>
        </p:txBody>
      </p:sp>
    </p:spTree>
    <p:extLst>
      <p:ext uri="{BB962C8B-B14F-4D97-AF65-F5344CB8AC3E}">
        <p14:creationId xmlns:p14="http://schemas.microsoft.com/office/powerpoint/2010/main" val="1734059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EB4E2948-6021-4555-A7EB-465D05647D2F}"/>
              </a:ext>
            </a:extLst>
          </p:cNvPr>
          <p:cNvSpPr>
            <a:spLocks noGrp="1"/>
          </p:cNvSpPr>
          <p:nvPr/>
        </p:nvSpPr>
        <p:spPr>
          <a:xfrm>
            <a:off x="546259" y="323850"/>
            <a:ext cx="7620000" cy="619125"/>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Un registro del movimiento</a:t>
            </a:r>
          </a:p>
        </p:txBody>
      </p:sp>
      <p:sp>
        <p:nvSpPr>
          <p:cNvPr id="7" name="subtitulo">
            <a:extLst>
              <a:ext uri="{FF2B5EF4-FFF2-40B4-BE49-F238E27FC236}">
                <a16:creationId xmlns:a16="http://schemas.microsoft.com/office/drawing/2014/main" id="{6FEC6CBD-A14C-4E1C-AE23-2E178150807C}"/>
              </a:ext>
            </a:extLst>
          </p:cNvPr>
          <p:cNvSpPr>
            <a:spLocks noGrp="1"/>
          </p:cNvSpPr>
          <p:nvPr/>
        </p:nvSpPr>
        <p:spPr>
          <a:xfrm>
            <a:off x="546259" y="990600"/>
            <a:ext cx="7620000"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Ejemplo inventado del mismo giro</a:t>
            </a:r>
          </a:p>
        </p:txBody>
      </p:sp>
      <p:graphicFrame>
        <p:nvGraphicFramePr>
          <p:cNvPr id="8" name="Table 7">
            <a:extLst>
              <a:ext uri="{FF2B5EF4-FFF2-40B4-BE49-F238E27FC236}">
                <a16:creationId xmlns:a16="http://schemas.microsoft.com/office/drawing/2014/main" id="{C234D823-D113-43AC-AE6C-E697BE0C74A1}"/>
              </a:ext>
            </a:extLst>
          </p:cNvPr>
          <p:cNvGraphicFramePr/>
          <p:nvPr/>
        </p:nvGraphicFramePr>
        <p:xfrm>
          <a:off x="546259" y="1685925"/>
          <a:ext cx="7572375" cy="2143124"/>
        </p:xfrm>
        <a:graphic>
          <a:graphicData uri="http://schemas.openxmlformats.org/drawingml/2006/table">
            <a:tbl>
              <a:tblPr firstRow="1"/>
              <a:tblGrid>
                <a:gridCol w="1190625">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535781">
                <a:tc>
                  <a:txBody>
                    <a:bodyPr/>
                    <a:lstStyle/>
                    <a:p>
                      <a:pPr algn="l"/>
                      <a:r>
                        <a:rPr sz="2100" b="1">
                          <a:solidFill>
                            <a:srgbClr val="FFFFFF"/>
                          </a:solidFill>
                          <a:latin typeface="Arial"/>
                          <a:ea typeface="Arial"/>
                          <a:cs typeface="Arial"/>
                        </a:rPr>
                        <a:t>Giro</a:t>
                      </a:r>
                    </a:p>
                  </a:txBody>
                  <a:tcPr marL="76200" marR="76200" marT="19050" marB="19050"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2100" b="1">
                          <a:solidFill>
                            <a:srgbClr val="FFFFFF"/>
                          </a:solidFill>
                          <a:latin typeface="Arial"/>
                          <a:ea typeface="Arial"/>
                          <a:cs typeface="Arial"/>
                        </a:rPr>
                        <a:t>Tiempo (s)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2100" b="1">
                          <a:solidFill>
                            <a:srgbClr val="FFFFFF"/>
                          </a:solidFill>
                          <a:latin typeface="Arial"/>
                          <a:ea typeface="Arial"/>
                          <a:cs typeface="Arial"/>
                        </a:rPr>
                        <a:t>Bola (°)</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2100" b="1">
                          <a:solidFill>
                            <a:srgbClr val="FFFFFF"/>
                          </a:solidFill>
                          <a:latin typeface="Arial"/>
                          <a:ea typeface="Arial"/>
                          <a:cs typeface="Arial"/>
                        </a:rPr>
                        <a:t>Rotor (°)</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535781">
                <a:tc>
                  <a:txBody>
                    <a:bodyPr/>
                    <a:lstStyle/>
                    <a:p>
                      <a:pPr algn="l"/>
                      <a:r>
                        <a:rPr sz="2100" b="0">
                          <a:solidFill>
                            <a:srgbClr val="111111"/>
                          </a:solidFill>
                          <a:latin typeface="Arial"/>
                          <a:ea typeface="Arial"/>
                          <a:cs typeface="Arial"/>
                        </a:rPr>
                        <a:t>001</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0,00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358,0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20,00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535781">
                <a:tc>
                  <a:txBody>
                    <a:bodyPr/>
                    <a:lstStyle/>
                    <a:p>
                      <a:pPr algn="l"/>
                      <a:r>
                        <a:rPr sz="2100" b="0">
                          <a:solidFill>
                            <a:srgbClr val="111111"/>
                          </a:solidFill>
                          <a:latin typeface="Arial"/>
                          <a:ea typeface="Arial"/>
                          <a:cs typeface="Arial"/>
                        </a:rPr>
                        <a:t>001</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0,02</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1,0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19,00</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535781">
                <a:tc>
                  <a:txBody>
                    <a:bodyPr/>
                    <a:lstStyle/>
                    <a:p>
                      <a:pPr algn="l"/>
                      <a:r>
                        <a:rPr sz="2100" b="0">
                          <a:solidFill>
                            <a:srgbClr val="111111"/>
                          </a:solidFill>
                          <a:latin typeface="Arial"/>
                          <a:ea typeface="Arial"/>
                          <a:cs typeface="Arial"/>
                        </a:rPr>
                        <a:t>001</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0,04</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3,8</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2100" b="0">
                          <a:solidFill>
                            <a:srgbClr val="111111"/>
                          </a:solidFill>
                          <a:latin typeface="Arial"/>
                          <a:ea typeface="Arial"/>
                          <a:cs typeface="Arial"/>
                        </a:rPr>
                        <a:t>18,02</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9" name="lectura">
            <a:extLst>
              <a:ext uri="{FF2B5EF4-FFF2-40B4-BE49-F238E27FC236}">
                <a16:creationId xmlns:a16="http://schemas.microsoft.com/office/drawing/2014/main" id="{E7CEBA0B-EB0C-4188-947D-E47171B84497}"/>
              </a:ext>
            </a:extLst>
          </p:cNvPr>
          <p:cNvSpPr>
            <a:spLocks noGrp="1"/>
          </p:cNvSpPr>
          <p:nvPr/>
        </p:nvSpPr>
        <p:spPr>
          <a:xfrm>
            <a:off x="546259" y="4095750"/>
            <a:ext cx="7572375" cy="68580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Cada fila mide un instante. El resultado final</a:t>
            </a:r>
          </a:p>
          <a:p>
            <a:pPr algn="l">
              <a:defRPr sz="2000" b="0">
                <a:solidFill>
                  <a:srgbClr val="111111"/>
                </a:solidFill>
                <a:latin typeface="Arial"/>
                <a:ea typeface="Arial"/>
                <a:cs typeface="Arial"/>
              </a:defRPr>
            </a:pPr>
            <a:r>
              <a:rPr sz="2000" b="0">
                <a:solidFill>
                  <a:srgbClr val="111111"/>
                </a:solidFill>
                <a:latin typeface="Arial"/>
                <a:ea typeface="Arial"/>
                <a:cs typeface="Arial"/>
              </a:rPr>
              <a:t>se vincula después mediante el identificador del giro.</a:t>
            </a:r>
          </a:p>
        </p:txBody>
      </p:sp>
    </p:spTree>
    <p:extLst>
      <p:ext uri="{BB962C8B-B14F-4D97-AF65-F5344CB8AC3E}">
        <p14:creationId xmlns:p14="http://schemas.microsoft.com/office/powerpoint/2010/main" val="2122965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536C4395-63A1-48DD-AD1E-EA2D83D0B72A}"/>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Medidas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fiables</a:t>
            </a:r>
          </a:p>
        </p:txBody>
      </p:sp>
      <p:sp>
        <p:nvSpPr>
          <p:cNvPr id="7" name="subtitulo">
            <a:extLst>
              <a:ext uri="{FF2B5EF4-FFF2-40B4-BE49-F238E27FC236}">
                <a16:creationId xmlns:a16="http://schemas.microsoft.com/office/drawing/2014/main" id="{558CB045-B378-489E-9786-E86734C8E537}"/>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Calidad del dato</a:t>
            </a:r>
          </a:p>
        </p:txBody>
      </p:sp>
      <p:sp>
        <p:nvSpPr>
          <p:cNvPr id="8" name="idea">
            <a:extLst>
              <a:ext uri="{FF2B5EF4-FFF2-40B4-BE49-F238E27FC236}">
                <a16:creationId xmlns:a16="http://schemas.microsoft.com/office/drawing/2014/main" id="{EA51FA46-6B24-4A2E-9BC1-2AF550D78519}"/>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Cada medida tiene</a:t>
            </a:r>
          </a:p>
          <a:p>
            <a:pPr algn="l">
              <a:defRPr sz="2100" b="0">
                <a:solidFill>
                  <a:srgbClr val="111111"/>
                </a:solidFill>
                <a:latin typeface="Arial"/>
                <a:ea typeface="Arial"/>
                <a:cs typeface="Arial"/>
              </a:defRPr>
            </a:pPr>
            <a:r>
              <a:rPr sz="2100" b="0">
                <a:solidFill>
                  <a:srgbClr val="111111"/>
                </a:solidFill>
                <a:latin typeface="Arial"/>
                <a:ea typeface="Arial"/>
                <a:cs typeface="Arial"/>
              </a:rPr>
              <a:t>un margen de error.</a:t>
            </a:r>
          </a:p>
        </p:txBody>
      </p:sp>
      <p:sp>
        <p:nvSpPr>
          <p:cNvPr id="9" name="pasos">
            <a:extLst>
              <a:ext uri="{FF2B5EF4-FFF2-40B4-BE49-F238E27FC236}">
                <a16:creationId xmlns:a16="http://schemas.microsoft.com/office/drawing/2014/main" id="{21AB1EE5-9591-4F56-AAAE-EE34F0243213}"/>
              </a:ext>
            </a:extLst>
          </p:cNvPr>
          <p:cNvSpPr>
            <a:spLocks noGrp="1"/>
          </p:cNvSpPr>
          <p:nvPr/>
        </p:nvSpPr>
        <p:spPr>
          <a:xfrm>
            <a:off x="3333750" y="571500"/>
            <a:ext cx="5143500" cy="3981450"/>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marL="228600" indent="-114300" algn="l">
              <a:spcAft>
                <a:spcPts val="1500"/>
              </a:spcAft>
              <a:buChar char="■"/>
              <a:defRPr sz="2200" b="0">
                <a:solidFill>
                  <a:srgbClr val="111111"/>
                </a:solidFill>
                <a:latin typeface="Arial"/>
                <a:ea typeface="Arial"/>
                <a:cs typeface="Arial"/>
              </a:defRPr>
            </a:pPr>
            <a:r>
              <a:t>Fijar el centro y una referencia angular común.</a:t>
            </a:r>
          </a:p>
          <a:p>
            <a:pPr marL="228600" indent="-114300" algn="l">
              <a:spcAft>
                <a:spcPts val="1500"/>
              </a:spcAft>
              <a:buChar char="■"/>
              <a:defRPr sz="2200" b="0">
                <a:solidFill>
                  <a:srgbClr val="111111"/>
                </a:solidFill>
                <a:latin typeface="Arial"/>
                <a:ea typeface="Arial"/>
                <a:cs typeface="Arial"/>
              </a:defRPr>
            </a:pPr>
            <a:r>
              <a:t>Corregir perspectiva y distorsión de la cámara.</a:t>
            </a:r>
          </a:p>
          <a:p>
            <a:pPr marL="228600" indent="-114300" algn="l">
              <a:spcAft>
                <a:spcPts val="1500"/>
              </a:spcAft>
              <a:buChar char="■"/>
              <a:defRPr sz="2200" b="0">
                <a:solidFill>
                  <a:srgbClr val="111111"/>
                </a:solidFill>
                <a:latin typeface="Arial"/>
                <a:ea typeface="Arial"/>
                <a:cs typeface="Arial"/>
              </a:defRPr>
            </a:pPr>
            <a:r>
              <a:t>Sincronizar los tiempos de bola y rotor.</a:t>
            </a:r>
          </a:p>
          <a:p>
            <a:pPr marL="228600" indent="-114300" algn="l">
              <a:spcAft>
                <a:spcPts val="1500"/>
              </a:spcAft>
              <a:buChar char="■"/>
              <a:defRPr sz="2200" b="0">
                <a:solidFill>
                  <a:srgbClr val="111111"/>
                </a:solidFill>
                <a:latin typeface="Arial"/>
                <a:ea typeface="Arial"/>
                <a:cs typeface="Arial"/>
              </a:defRPr>
            </a:pPr>
            <a:r>
              <a:t>Registrar pérdidas de seguimiento y errores.</a:t>
            </a:r>
          </a:p>
        </p:txBody>
      </p:sp>
      <p:sp>
        <p:nvSpPr>
          <p:cNvPr id="10" name="fuente">
            <a:extLst>
              <a:ext uri="{FF2B5EF4-FFF2-40B4-BE49-F238E27FC236}">
                <a16:creationId xmlns:a16="http://schemas.microsoft.com/office/drawing/2014/main" id="{41746D38-A954-42DA-AC42-301DD1A56BFC}"/>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La frecuencia de captura debe permitir seguir el movimiento</a:t>
            </a:r>
          </a:p>
        </p:txBody>
      </p:sp>
    </p:spTree>
    <p:extLst>
      <p:ext uri="{BB962C8B-B14F-4D97-AF65-F5344CB8AC3E}">
        <p14:creationId xmlns:p14="http://schemas.microsoft.com/office/powerpoint/2010/main" val="888600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EE3CADCC-D794-4C4B-9664-32C579FE0397}"/>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Un error</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de tiempo</a:t>
            </a:r>
          </a:p>
        </p:txBody>
      </p:sp>
      <p:sp>
        <p:nvSpPr>
          <p:cNvPr id="7" name="subtitulo">
            <a:extLst>
              <a:ext uri="{FF2B5EF4-FFF2-40B4-BE49-F238E27FC236}">
                <a16:creationId xmlns:a16="http://schemas.microsoft.com/office/drawing/2014/main" id="{C68B5822-EF36-493B-9A95-80E67380F1CD}"/>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Ejemplo hipotético</a:t>
            </a:r>
          </a:p>
        </p:txBody>
      </p:sp>
      <p:sp>
        <p:nvSpPr>
          <p:cNvPr id="8" name="idea">
            <a:extLst>
              <a:ext uri="{FF2B5EF4-FFF2-40B4-BE49-F238E27FC236}">
                <a16:creationId xmlns:a16="http://schemas.microsoft.com/office/drawing/2014/main" id="{C38208F1-B54C-444D-BAC7-D8AD31B498E2}"/>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Suponemos un giro</a:t>
            </a:r>
          </a:p>
          <a:p>
            <a:pPr algn="l">
              <a:defRPr sz="2100" b="0">
                <a:solidFill>
                  <a:srgbClr val="111111"/>
                </a:solidFill>
                <a:latin typeface="Arial"/>
                <a:ea typeface="Arial"/>
                <a:cs typeface="Arial"/>
              </a:defRPr>
            </a:pPr>
            <a:r>
              <a:rPr sz="2100" b="0">
                <a:solidFill>
                  <a:srgbClr val="111111"/>
                </a:solidFill>
                <a:latin typeface="Arial"/>
                <a:ea typeface="Arial"/>
                <a:cs typeface="Arial"/>
              </a:rPr>
              <a:t>uniforme durante</a:t>
            </a:r>
          </a:p>
          <a:p>
            <a:pPr algn="l">
              <a:defRPr sz="2100" b="0">
                <a:solidFill>
                  <a:srgbClr val="111111"/>
                </a:solidFill>
                <a:latin typeface="Arial"/>
                <a:ea typeface="Arial"/>
                <a:cs typeface="Arial"/>
              </a:defRPr>
            </a:pPr>
            <a:r>
              <a:rPr sz="2100" b="0">
                <a:solidFill>
                  <a:srgbClr val="111111"/>
                </a:solidFill>
                <a:latin typeface="Arial"/>
                <a:ea typeface="Arial"/>
                <a:cs typeface="Arial"/>
              </a:rPr>
              <a:t>ese instante.</a:t>
            </a:r>
          </a:p>
        </p:txBody>
      </p:sp>
      <p:sp>
        <p:nvSpPr>
          <p:cNvPr id="9" name="contenido">
            <a:extLst>
              <a:ext uri="{FF2B5EF4-FFF2-40B4-BE49-F238E27FC236}">
                <a16:creationId xmlns:a16="http://schemas.microsoft.com/office/drawing/2014/main" id="{C6C80679-AAF4-469F-891D-0835ED0A7F6F}"/>
              </a:ext>
            </a:extLst>
          </p:cNvPr>
          <p:cNvSpPr>
            <a:spLocks noGrp="1"/>
          </p:cNvSpPr>
          <p:nvPr/>
        </p:nvSpPr>
        <p:spPr>
          <a:xfrm>
            <a:off x="3333750" y="542925"/>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Rotor: una vuelta cada 3 s</a:t>
            </a:r>
          </a:p>
        </p:txBody>
      </p:sp>
      <p:sp>
        <p:nvSpPr>
          <p:cNvPr id="10" name="contenido">
            <a:extLst>
              <a:ext uri="{FF2B5EF4-FFF2-40B4-BE49-F238E27FC236}">
                <a16:creationId xmlns:a16="http://schemas.microsoft.com/office/drawing/2014/main" id="{A598270F-3AD4-456C-B497-2F1BEB1DA788}"/>
              </a:ext>
            </a:extLst>
          </p:cNvPr>
          <p:cNvSpPr>
            <a:spLocks noGrp="1"/>
          </p:cNvSpPr>
          <p:nvPr/>
        </p:nvSpPr>
        <p:spPr>
          <a:xfrm>
            <a:off x="3333750" y="1057275"/>
            <a:ext cx="5143500" cy="857250"/>
          </a:xfrm>
          <a:prstGeom prst="rect">
            <a:avLst/>
          </a:prstGeom>
          <a:noFill/>
          <a:ln w="0">
            <a:noFill/>
          </a:ln>
        </p:spPr>
        <p:txBody>
          <a:bodyPr wrap="square" lIns="0" tIns="0" rIns="0" bIns="0" anchor="t">
            <a:noAutofit/>
          </a:bodyPr>
          <a:lstStyle>
            <a:defPPr algn="l">
              <a:defRPr sz="3000" b="1">
                <a:solidFill>
                  <a:srgbClr val="044247"/>
                </a:solidFill>
                <a:latin typeface="Arial"/>
                <a:ea typeface="Arial"/>
                <a:cs typeface="Arial"/>
              </a:defRPr>
            </a:defPPr>
            <a:lvl1pPr algn="l">
              <a:defRPr sz="3000" b="1">
                <a:solidFill>
                  <a:srgbClr val="044247"/>
                </a:solidFill>
                <a:latin typeface="Arial"/>
                <a:ea typeface="Arial"/>
                <a:cs typeface="Arial"/>
              </a:defRPr>
            </a:lvl1pPr>
            <a:lvl2pPr algn="l">
              <a:defRPr sz="3000" b="1">
                <a:solidFill>
                  <a:srgbClr val="044247"/>
                </a:solidFill>
                <a:latin typeface="Arial"/>
                <a:ea typeface="Arial"/>
                <a:cs typeface="Arial"/>
              </a:defRPr>
            </a:lvl2pPr>
            <a:lvl3pPr algn="l">
              <a:defRPr sz="3000" b="1">
                <a:solidFill>
                  <a:srgbClr val="044247"/>
                </a:solidFill>
                <a:latin typeface="Arial"/>
                <a:ea typeface="Arial"/>
                <a:cs typeface="Arial"/>
              </a:defRPr>
            </a:lvl3pPr>
            <a:lvl4pPr algn="l">
              <a:defRPr sz="3000" b="1">
                <a:solidFill>
                  <a:srgbClr val="044247"/>
                </a:solidFill>
                <a:latin typeface="Arial"/>
                <a:ea typeface="Arial"/>
                <a:cs typeface="Arial"/>
              </a:defRPr>
            </a:lvl4pPr>
            <a:lvl5pPr algn="l">
              <a:defRPr sz="3000" b="1">
                <a:solidFill>
                  <a:srgbClr val="044247"/>
                </a:solidFill>
                <a:latin typeface="Arial"/>
                <a:ea typeface="Arial"/>
                <a:cs typeface="Arial"/>
              </a:defRPr>
            </a:lvl5pPr>
            <a:lvl6pPr algn="l">
              <a:defRPr sz="3000" b="1">
                <a:solidFill>
                  <a:srgbClr val="044247"/>
                </a:solidFill>
                <a:latin typeface="Arial"/>
                <a:ea typeface="Arial"/>
                <a:cs typeface="Arial"/>
              </a:defRPr>
            </a:lvl6pPr>
            <a:lvl7pPr algn="l">
              <a:defRPr sz="3000" b="1">
                <a:solidFill>
                  <a:srgbClr val="044247"/>
                </a:solidFill>
                <a:latin typeface="Arial"/>
                <a:ea typeface="Arial"/>
                <a:cs typeface="Arial"/>
              </a:defRPr>
            </a:lvl7pPr>
            <a:lvl8pPr algn="l">
              <a:defRPr sz="3000" b="1">
                <a:solidFill>
                  <a:srgbClr val="044247"/>
                </a:solidFill>
                <a:latin typeface="Arial"/>
                <a:ea typeface="Arial"/>
                <a:cs typeface="Arial"/>
              </a:defRPr>
            </a:lvl8pPr>
            <a:lvl9pPr algn="l">
              <a:defRPr sz="3000" b="1">
                <a:solidFill>
                  <a:srgbClr val="044247"/>
                </a:solidFill>
                <a:latin typeface="Arial"/>
                <a:ea typeface="Arial"/>
                <a:cs typeface="Arial"/>
              </a:defRPr>
            </a:lvl9pPr>
          </a:lstStyle>
          <a:p>
            <a:pPr algn="l">
              <a:defRPr sz="3000" b="1">
                <a:solidFill>
                  <a:srgbClr val="044247"/>
                </a:solidFill>
                <a:latin typeface="Arial"/>
                <a:ea typeface="Arial"/>
                <a:cs typeface="Arial"/>
              </a:defRPr>
            </a:pPr>
            <a:r>
              <a:rPr sz="3000" b="1">
                <a:solidFill>
                  <a:srgbClr val="044247"/>
                </a:solidFill>
                <a:latin typeface="Arial"/>
                <a:ea typeface="Arial"/>
                <a:cs typeface="Arial"/>
              </a:rPr>
              <a:t>360° / 3 s = 120°/s</a:t>
            </a:r>
          </a:p>
        </p:txBody>
      </p:sp>
      <p:sp>
        <p:nvSpPr>
          <p:cNvPr id="11" name="contenido">
            <a:extLst>
              <a:ext uri="{FF2B5EF4-FFF2-40B4-BE49-F238E27FC236}">
                <a16:creationId xmlns:a16="http://schemas.microsoft.com/office/drawing/2014/main" id="{64C8BCBE-5AFF-43CF-9338-2CD1FE081DEA}"/>
              </a:ext>
            </a:extLst>
          </p:cNvPr>
          <p:cNvSpPr>
            <a:spLocks noGrp="1"/>
          </p:cNvSpPr>
          <p:nvPr/>
        </p:nvSpPr>
        <p:spPr>
          <a:xfrm>
            <a:off x="3333750" y="2133600"/>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Desfase temporal de 0,1 s:</a:t>
            </a:r>
          </a:p>
        </p:txBody>
      </p:sp>
      <p:sp>
        <p:nvSpPr>
          <p:cNvPr id="12" name="contenido">
            <a:extLst>
              <a:ext uri="{FF2B5EF4-FFF2-40B4-BE49-F238E27FC236}">
                <a16:creationId xmlns:a16="http://schemas.microsoft.com/office/drawing/2014/main" id="{766A4AE0-317D-4CF2-86E6-B385EBAFA072}"/>
              </a:ext>
            </a:extLst>
          </p:cNvPr>
          <p:cNvSpPr>
            <a:spLocks noGrp="1"/>
          </p:cNvSpPr>
          <p:nvPr/>
        </p:nvSpPr>
        <p:spPr>
          <a:xfrm>
            <a:off x="3333750" y="2647950"/>
            <a:ext cx="5143500" cy="8572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120°/s × 0,1 s = 12°</a:t>
            </a:r>
          </a:p>
        </p:txBody>
      </p:sp>
      <p:sp>
        <p:nvSpPr>
          <p:cNvPr id="13" name="contenido">
            <a:extLst>
              <a:ext uri="{FF2B5EF4-FFF2-40B4-BE49-F238E27FC236}">
                <a16:creationId xmlns:a16="http://schemas.microsoft.com/office/drawing/2014/main" id="{E3CFEBAD-39C9-4ED0-AEB6-1EFF14C07C3F}"/>
              </a:ext>
            </a:extLst>
          </p:cNvPr>
          <p:cNvSpPr>
            <a:spLocks noGrp="1"/>
          </p:cNvSpPr>
          <p:nvPr/>
        </p:nvSpPr>
        <p:spPr>
          <a:xfrm>
            <a:off x="3333750" y="3733800"/>
            <a:ext cx="5143500" cy="85725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Una casilla: 360° / 37 ≈ 9,73°</a:t>
            </a:r>
          </a:p>
        </p:txBody>
      </p:sp>
      <p:sp>
        <p:nvSpPr>
          <p:cNvPr id="14" name="fuente">
            <a:extLst>
              <a:ext uri="{FF2B5EF4-FFF2-40B4-BE49-F238E27FC236}">
                <a16:creationId xmlns:a16="http://schemas.microsoft.com/office/drawing/2014/main" id="{CA9888BB-DB2D-44E1-A361-0D82F2C87DE9}"/>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Ese desfase desplaza el rotor más de una casilla</a:t>
            </a:r>
          </a:p>
        </p:txBody>
      </p:sp>
    </p:spTree>
    <p:extLst>
      <p:ext uri="{BB962C8B-B14F-4D97-AF65-F5344CB8AC3E}">
        <p14:creationId xmlns:p14="http://schemas.microsoft.com/office/powerpoint/2010/main" val="2835153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FF8BC66A-5D99-46AA-A4FB-58D660345822}"/>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Velocidad</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y frenado</a:t>
            </a:r>
          </a:p>
        </p:txBody>
      </p:sp>
      <p:sp>
        <p:nvSpPr>
          <p:cNvPr id="7" name="subtitulo">
            <a:extLst>
              <a:ext uri="{FF2B5EF4-FFF2-40B4-BE49-F238E27FC236}">
                <a16:creationId xmlns:a16="http://schemas.microsoft.com/office/drawing/2014/main" id="{A63DC879-BB1F-429F-ACB5-28F991F97DAC}"/>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Entre medidas</a:t>
            </a:r>
          </a:p>
        </p:txBody>
      </p:sp>
      <p:sp>
        <p:nvSpPr>
          <p:cNvPr id="8" name="idea">
            <a:extLst>
              <a:ext uri="{FF2B5EF4-FFF2-40B4-BE49-F238E27FC236}">
                <a16:creationId xmlns:a16="http://schemas.microsoft.com/office/drawing/2014/main" id="{98C72855-60DE-4C7F-B5F2-15CD8467FEC4}"/>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También calculamos</a:t>
            </a:r>
          </a:p>
          <a:p>
            <a:pPr algn="l">
              <a:defRPr sz="2100" b="0">
                <a:solidFill>
                  <a:srgbClr val="111111"/>
                </a:solidFill>
                <a:latin typeface="Arial"/>
                <a:ea typeface="Arial"/>
                <a:cs typeface="Arial"/>
              </a:defRPr>
            </a:pPr>
            <a:r>
              <a:rPr sz="2100" b="0">
                <a:solidFill>
                  <a:srgbClr val="111111"/>
                </a:solidFill>
                <a:latin typeface="Arial"/>
                <a:ea typeface="Arial"/>
                <a:cs typeface="Arial"/>
              </a:rPr>
              <a:t>cómo cambia</a:t>
            </a:r>
          </a:p>
          <a:p>
            <a:pPr algn="l">
              <a:defRPr sz="2100" b="0">
                <a:solidFill>
                  <a:srgbClr val="111111"/>
                </a:solidFill>
                <a:latin typeface="Arial"/>
                <a:ea typeface="Arial"/>
                <a:cs typeface="Arial"/>
              </a:defRPr>
            </a:pPr>
            <a:r>
              <a:rPr sz="2100" b="0">
                <a:solidFill>
                  <a:srgbClr val="111111"/>
                </a:solidFill>
                <a:latin typeface="Arial"/>
                <a:ea typeface="Arial"/>
                <a:cs typeface="Arial"/>
              </a:rPr>
              <a:t>la velocidad.</a:t>
            </a:r>
          </a:p>
        </p:txBody>
      </p:sp>
      <p:sp>
        <p:nvSpPr>
          <p:cNvPr id="9" name="contenido">
            <a:extLst>
              <a:ext uri="{FF2B5EF4-FFF2-40B4-BE49-F238E27FC236}">
                <a16:creationId xmlns:a16="http://schemas.microsoft.com/office/drawing/2014/main" id="{CA3770D0-5B56-4047-B7EB-617E398898C4}"/>
              </a:ext>
            </a:extLst>
          </p:cNvPr>
          <p:cNvSpPr>
            <a:spLocks noGrp="1"/>
          </p:cNvSpPr>
          <p:nvPr/>
        </p:nvSpPr>
        <p:spPr>
          <a:xfrm>
            <a:off x="3333750" y="523875"/>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358° a 1° en el sentido positivo:</a:t>
            </a:r>
          </a:p>
        </p:txBody>
      </p:sp>
      <p:sp>
        <p:nvSpPr>
          <p:cNvPr id="10" name="contenido">
            <a:extLst>
              <a:ext uri="{FF2B5EF4-FFF2-40B4-BE49-F238E27FC236}">
                <a16:creationId xmlns:a16="http://schemas.microsoft.com/office/drawing/2014/main" id="{295C04D1-7F52-46FC-850D-7547131DE440}"/>
              </a:ext>
            </a:extLst>
          </p:cNvPr>
          <p:cNvSpPr>
            <a:spLocks noGrp="1"/>
          </p:cNvSpPr>
          <p:nvPr/>
        </p:nvSpPr>
        <p:spPr>
          <a:xfrm>
            <a:off x="3333750" y="1028700"/>
            <a:ext cx="5143500" cy="857250"/>
          </a:xfrm>
          <a:prstGeom prst="rect">
            <a:avLst/>
          </a:prstGeom>
          <a:noFill/>
          <a:ln w="0">
            <a:noFill/>
          </a:ln>
        </p:spPr>
        <p:txBody>
          <a:bodyPr wrap="square" lIns="0" tIns="0" rIns="0" bIns="0" anchor="t">
            <a:noAutofit/>
          </a:bodyPr>
          <a:lstStyle>
            <a:defPPr algn="l">
              <a:defRPr sz="2700" b="1">
                <a:solidFill>
                  <a:srgbClr val="044247"/>
                </a:solidFill>
                <a:latin typeface="Arial"/>
                <a:ea typeface="Arial"/>
                <a:cs typeface="Arial"/>
              </a:defRPr>
            </a:defPPr>
            <a:lvl1pPr algn="l">
              <a:defRPr sz="2700" b="1">
                <a:solidFill>
                  <a:srgbClr val="044247"/>
                </a:solidFill>
                <a:latin typeface="Arial"/>
                <a:ea typeface="Arial"/>
                <a:cs typeface="Arial"/>
              </a:defRPr>
            </a:lvl1pPr>
            <a:lvl2pPr algn="l">
              <a:defRPr sz="2700" b="1">
                <a:solidFill>
                  <a:srgbClr val="044247"/>
                </a:solidFill>
                <a:latin typeface="Arial"/>
                <a:ea typeface="Arial"/>
                <a:cs typeface="Arial"/>
              </a:defRPr>
            </a:lvl2pPr>
            <a:lvl3pPr algn="l">
              <a:defRPr sz="2700" b="1">
                <a:solidFill>
                  <a:srgbClr val="044247"/>
                </a:solidFill>
                <a:latin typeface="Arial"/>
                <a:ea typeface="Arial"/>
                <a:cs typeface="Arial"/>
              </a:defRPr>
            </a:lvl3pPr>
            <a:lvl4pPr algn="l">
              <a:defRPr sz="2700" b="1">
                <a:solidFill>
                  <a:srgbClr val="044247"/>
                </a:solidFill>
                <a:latin typeface="Arial"/>
                <a:ea typeface="Arial"/>
                <a:cs typeface="Arial"/>
              </a:defRPr>
            </a:lvl4pPr>
            <a:lvl5pPr algn="l">
              <a:defRPr sz="2700" b="1">
                <a:solidFill>
                  <a:srgbClr val="044247"/>
                </a:solidFill>
                <a:latin typeface="Arial"/>
                <a:ea typeface="Arial"/>
                <a:cs typeface="Arial"/>
              </a:defRPr>
            </a:lvl5pPr>
            <a:lvl6pPr algn="l">
              <a:defRPr sz="2700" b="1">
                <a:solidFill>
                  <a:srgbClr val="044247"/>
                </a:solidFill>
                <a:latin typeface="Arial"/>
                <a:ea typeface="Arial"/>
                <a:cs typeface="Arial"/>
              </a:defRPr>
            </a:lvl6pPr>
            <a:lvl7pPr algn="l">
              <a:defRPr sz="2700" b="1">
                <a:solidFill>
                  <a:srgbClr val="044247"/>
                </a:solidFill>
                <a:latin typeface="Arial"/>
                <a:ea typeface="Arial"/>
                <a:cs typeface="Arial"/>
              </a:defRPr>
            </a:lvl7pPr>
            <a:lvl8pPr algn="l">
              <a:defRPr sz="2700" b="1">
                <a:solidFill>
                  <a:srgbClr val="044247"/>
                </a:solidFill>
                <a:latin typeface="Arial"/>
                <a:ea typeface="Arial"/>
                <a:cs typeface="Arial"/>
              </a:defRPr>
            </a:lvl8pPr>
            <a:lvl9pPr algn="l">
              <a:defRPr sz="2700" b="1">
                <a:solidFill>
                  <a:srgbClr val="044247"/>
                </a:solidFill>
                <a:latin typeface="Arial"/>
                <a:ea typeface="Arial"/>
                <a:cs typeface="Arial"/>
              </a:defRPr>
            </a:lvl9pPr>
          </a:lstStyle>
          <a:p>
            <a:pPr algn="l">
              <a:defRPr sz="2700" b="1">
                <a:solidFill>
                  <a:srgbClr val="044247"/>
                </a:solidFill>
                <a:latin typeface="Arial"/>
                <a:ea typeface="Arial"/>
                <a:cs typeface="Arial"/>
              </a:defRPr>
            </a:pPr>
            <a:r>
              <a:rPr sz="2700" b="1">
                <a:solidFill>
                  <a:srgbClr val="044247"/>
                </a:solidFill>
                <a:latin typeface="Arial"/>
                <a:ea typeface="Arial"/>
                <a:cs typeface="Arial"/>
              </a:rPr>
              <a:t>Desplazamiento = 3°</a:t>
            </a:r>
          </a:p>
        </p:txBody>
      </p:sp>
      <p:sp>
        <p:nvSpPr>
          <p:cNvPr id="11" name="contenido">
            <a:extLst>
              <a:ext uri="{FF2B5EF4-FFF2-40B4-BE49-F238E27FC236}">
                <a16:creationId xmlns:a16="http://schemas.microsoft.com/office/drawing/2014/main" id="{F62D0704-22EE-4E11-9195-B5DA5653EC6B}"/>
              </a:ext>
            </a:extLst>
          </p:cNvPr>
          <p:cNvSpPr>
            <a:spLocks noGrp="1"/>
          </p:cNvSpPr>
          <p:nvPr/>
        </p:nvSpPr>
        <p:spPr>
          <a:xfrm>
            <a:off x="3333750" y="1962150"/>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Si transcurren 0,02 s:</a:t>
            </a:r>
          </a:p>
        </p:txBody>
      </p:sp>
      <p:sp>
        <p:nvSpPr>
          <p:cNvPr id="12" name="contenido">
            <a:extLst>
              <a:ext uri="{FF2B5EF4-FFF2-40B4-BE49-F238E27FC236}">
                <a16:creationId xmlns:a16="http://schemas.microsoft.com/office/drawing/2014/main" id="{5FEE194F-C213-47A0-9249-FF5201A30608}"/>
              </a:ext>
            </a:extLst>
          </p:cNvPr>
          <p:cNvSpPr>
            <a:spLocks noGrp="1"/>
          </p:cNvSpPr>
          <p:nvPr/>
        </p:nvSpPr>
        <p:spPr>
          <a:xfrm>
            <a:off x="3333750" y="2447925"/>
            <a:ext cx="5143500" cy="857250"/>
          </a:xfrm>
          <a:prstGeom prst="rect">
            <a:avLst/>
          </a:prstGeom>
          <a:noFill/>
          <a:ln w="0">
            <a:noFill/>
          </a:ln>
        </p:spPr>
        <p:txBody>
          <a:bodyPr wrap="square" lIns="0" tIns="0" rIns="0" bIns="0" anchor="t">
            <a:noAutofit/>
          </a:bodyPr>
          <a:lstStyle>
            <a:defPPr algn="l">
              <a:defRPr sz="2800" b="1">
                <a:solidFill>
                  <a:srgbClr val="044247"/>
                </a:solidFill>
                <a:latin typeface="Arial"/>
                <a:ea typeface="Arial"/>
                <a:cs typeface="Arial"/>
              </a:defRPr>
            </a:defPPr>
            <a:lvl1pPr algn="l">
              <a:defRPr sz="2800" b="1">
                <a:solidFill>
                  <a:srgbClr val="044247"/>
                </a:solidFill>
                <a:latin typeface="Arial"/>
                <a:ea typeface="Arial"/>
                <a:cs typeface="Arial"/>
              </a:defRPr>
            </a:lvl1pPr>
            <a:lvl2pPr algn="l">
              <a:defRPr sz="2800" b="1">
                <a:solidFill>
                  <a:srgbClr val="044247"/>
                </a:solidFill>
                <a:latin typeface="Arial"/>
                <a:ea typeface="Arial"/>
                <a:cs typeface="Arial"/>
              </a:defRPr>
            </a:lvl2pPr>
            <a:lvl3pPr algn="l">
              <a:defRPr sz="2800" b="1">
                <a:solidFill>
                  <a:srgbClr val="044247"/>
                </a:solidFill>
                <a:latin typeface="Arial"/>
                <a:ea typeface="Arial"/>
                <a:cs typeface="Arial"/>
              </a:defRPr>
            </a:lvl3pPr>
            <a:lvl4pPr algn="l">
              <a:defRPr sz="2800" b="1">
                <a:solidFill>
                  <a:srgbClr val="044247"/>
                </a:solidFill>
                <a:latin typeface="Arial"/>
                <a:ea typeface="Arial"/>
                <a:cs typeface="Arial"/>
              </a:defRPr>
            </a:lvl4pPr>
            <a:lvl5pPr algn="l">
              <a:defRPr sz="2800" b="1">
                <a:solidFill>
                  <a:srgbClr val="044247"/>
                </a:solidFill>
                <a:latin typeface="Arial"/>
                <a:ea typeface="Arial"/>
                <a:cs typeface="Arial"/>
              </a:defRPr>
            </a:lvl5pPr>
            <a:lvl6pPr algn="l">
              <a:defRPr sz="2800" b="1">
                <a:solidFill>
                  <a:srgbClr val="044247"/>
                </a:solidFill>
                <a:latin typeface="Arial"/>
                <a:ea typeface="Arial"/>
                <a:cs typeface="Arial"/>
              </a:defRPr>
            </a:lvl6pPr>
            <a:lvl7pPr algn="l">
              <a:defRPr sz="2800" b="1">
                <a:solidFill>
                  <a:srgbClr val="044247"/>
                </a:solidFill>
                <a:latin typeface="Arial"/>
                <a:ea typeface="Arial"/>
                <a:cs typeface="Arial"/>
              </a:defRPr>
            </a:lvl7pPr>
            <a:lvl8pPr algn="l">
              <a:defRPr sz="2800" b="1">
                <a:solidFill>
                  <a:srgbClr val="044247"/>
                </a:solidFill>
                <a:latin typeface="Arial"/>
                <a:ea typeface="Arial"/>
                <a:cs typeface="Arial"/>
              </a:defRPr>
            </a:lvl8pPr>
            <a:lvl9pPr algn="l">
              <a:defRPr sz="2800" b="1">
                <a:solidFill>
                  <a:srgbClr val="044247"/>
                </a:solidFill>
                <a:latin typeface="Arial"/>
                <a:ea typeface="Arial"/>
                <a:cs typeface="Arial"/>
              </a:defRPr>
            </a:lvl9pPr>
          </a:lstStyle>
          <a:p>
            <a:pPr algn="l">
              <a:defRPr sz="2800" b="1">
                <a:solidFill>
                  <a:srgbClr val="044247"/>
                </a:solidFill>
                <a:latin typeface="Arial"/>
                <a:ea typeface="Arial"/>
                <a:cs typeface="Arial"/>
              </a:defRPr>
            </a:pPr>
            <a:r>
              <a:rPr sz="2800" b="1">
                <a:solidFill>
                  <a:srgbClr val="044247"/>
                </a:solidFill>
                <a:latin typeface="Arial"/>
                <a:ea typeface="Arial"/>
                <a:cs typeface="Arial"/>
              </a:rPr>
              <a:t>3° / 0,02 s = 150°/s</a:t>
            </a:r>
          </a:p>
        </p:txBody>
      </p:sp>
      <p:sp>
        <p:nvSpPr>
          <p:cNvPr id="13" name="contenido">
            <a:extLst>
              <a:ext uri="{FF2B5EF4-FFF2-40B4-BE49-F238E27FC236}">
                <a16:creationId xmlns:a16="http://schemas.microsoft.com/office/drawing/2014/main" id="{28333CE4-BF79-4D65-8D0C-1B60941E2635}"/>
              </a:ext>
            </a:extLst>
          </p:cNvPr>
          <p:cNvSpPr>
            <a:spLocks noGrp="1"/>
          </p:cNvSpPr>
          <p:nvPr/>
        </p:nvSpPr>
        <p:spPr>
          <a:xfrm>
            <a:off x="3333750" y="3648075"/>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Repetimos el cálculo para</a:t>
            </a:r>
          </a:p>
          <a:p>
            <a:pPr algn="l">
              <a:defRPr sz="2100" b="0">
                <a:solidFill>
                  <a:srgbClr val="111111"/>
                </a:solidFill>
                <a:latin typeface="Arial"/>
                <a:ea typeface="Arial"/>
                <a:cs typeface="Arial"/>
              </a:defRPr>
            </a:pPr>
            <a:r>
              <a:rPr sz="2100" b="0">
                <a:solidFill>
                  <a:srgbClr val="111111"/>
                </a:solidFill>
                <a:latin typeface="Arial"/>
                <a:ea typeface="Arial"/>
                <a:cs typeface="Arial"/>
              </a:rPr>
              <a:t>la bola y para el rotor.</a:t>
            </a:r>
          </a:p>
        </p:txBody>
      </p:sp>
      <p:sp>
        <p:nvSpPr>
          <p:cNvPr id="14" name="fuente">
            <a:extLst>
              <a:ext uri="{FF2B5EF4-FFF2-40B4-BE49-F238E27FC236}">
                <a16:creationId xmlns:a16="http://schemas.microsoft.com/office/drawing/2014/main" id="{577BDCA8-D14D-430E-8E36-FA822372AB4B}"/>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Ejemplo inventado. El sentido y las vueltas deben conocerse</a:t>
            </a:r>
          </a:p>
        </p:txBody>
      </p:sp>
    </p:spTree>
    <p:extLst>
      <p:ext uri="{BB962C8B-B14F-4D97-AF65-F5344CB8AC3E}">
        <p14:creationId xmlns:p14="http://schemas.microsoft.com/office/powerpoint/2010/main" val="2651803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99F12798-B920-47F9-AF9F-7BBA276D1CE0}"/>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Hasta la</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casilla final</a:t>
            </a:r>
          </a:p>
        </p:txBody>
      </p:sp>
      <p:sp>
        <p:nvSpPr>
          <p:cNvPr id="7" name="subtitulo">
            <a:extLst>
              <a:ext uri="{FF2B5EF4-FFF2-40B4-BE49-F238E27FC236}">
                <a16:creationId xmlns:a16="http://schemas.microsoft.com/office/drawing/2014/main" id="{C5EE1BE7-350E-47D3-A10F-D65A9AF2BCF1}"/>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Dos fases</a:t>
            </a:r>
          </a:p>
        </p:txBody>
      </p:sp>
      <p:sp>
        <p:nvSpPr>
          <p:cNvPr id="8" name="idea">
            <a:extLst>
              <a:ext uri="{FF2B5EF4-FFF2-40B4-BE49-F238E27FC236}">
                <a16:creationId xmlns:a16="http://schemas.microsoft.com/office/drawing/2014/main" id="{D8DDB974-E58A-45F5-A2BC-6EAC9C0E286C}"/>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La posición del rotor</a:t>
            </a:r>
          </a:p>
          <a:p>
            <a:pPr algn="l">
              <a:defRPr sz="2100" b="0">
                <a:solidFill>
                  <a:srgbClr val="111111"/>
                </a:solidFill>
                <a:latin typeface="Arial"/>
                <a:ea typeface="Arial"/>
                <a:cs typeface="Arial"/>
              </a:defRPr>
            </a:pPr>
            <a:r>
              <a:rPr sz="2100" b="0">
                <a:solidFill>
                  <a:srgbClr val="111111"/>
                </a:solidFill>
                <a:latin typeface="Arial"/>
                <a:ea typeface="Arial"/>
                <a:cs typeface="Arial"/>
              </a:rPr>
              <a:t>debe estimarse</a:t>
            </a:r>
          </a:p>
          <a:p>
            <a:pPr algn="l">
              <a:defRPr sz="2100" b="0">
                <a:solidFill>
                  <a:srgbClr val="111111"/>
                </a:solidFill>
                <a:latin typeface="Arial"/>
                <a:ea typeface="Arial"/>
                <a:cs typeface="Arial"/>
              </a:defRPr>
            </a:pPr>
            <a:r>
              <a:rPr sz="2100" b="0">
                <a:solidFill>
                  <a:srgbClr val="111111"/>
                </a:solidFill>
                <a:latin typeface="Arial"/>
                <a:ea typeface="Arial"/>
                <a:cs typeface="Arial"/>
              </a:rPr>
              <a:t>en el mismo instante</a:t>
            </a:r>
          </a:p>
          <a:p>
            <a:pPr algn="l">
              <a:defRPr sz="2100" b="0">
                <a:solidFill>
                  <a:srgbClr val="111111"/>
                </a:solidFill>
                <a:latin typeface="Arial"/>
                <a:ea typeface="Arial"/>
                <a:cs typeface="Arial"/>
              </a:defRPr>
            </a:pPr>
            <a:r>
              <a:rPr sz="2100" b="0">
                <a:solidFill>
                  <a:srgbClr val="111111"/>
                </a:solidFill>
                <a:latin typeface="Arial"/>
                <a:ea typeface="Arial"/>
                <a:cs typeface="Arial"/>
              </a:rPr>
              <a:t>que la de la bola.</a:t>
            </a:r>
          </a:p>
        </p:txBody>
      </p:sp>
      <p:sp>
        <p:nvSpPr>
          <p:cNvPr id="9" name="contenido">
            <a:extLst>
              <a:ext uri="{FF2B5EF4-FFF2-40B4-BE49-F238E27FC236}">
                <a16:creationId xmlns:a16="http://schemas.microsoft.com/office/drawing/2014/main" id="{F4A4AE11-480C-411E-9070-AA8CF1876EC1}"/>
              </a:ext>
            </a:extLst>
          </p:cNvPr>
          <p:cNvSpPr>
            <a:spLocks noGrp="1"/>
          </p:cNvSpPr>
          <p:nvPr/>
        </p:nvSpPr>
        <p:spPr>
          <a:xfrm>
            <a:off x="3333750" y="523875"/>
            <a:ext cx="5143500" cy="857250"/>
          </a:xfrm>
          <a:prstGeom prst="rect">
            <a:avLst/>
          </a:prstGeom>
          <a:noFill/>
          <a:ln w="0">
            <a:noFill/>
          </a:ln>
        </p:spPr>
        <p:txBody>
          <a:bodyPr wrap="square" lIns="0" tIns="0" rIns="0" bIns="0" anchor="t">
            <a:noAutofit/>
          </a:bodyPr>
          <a:lstStyle>
            <a:defPPr algn="l">
              <a:defRPr sz="2400" b="1">
                <a:solidFill>
                  <a:srgbClr val="044247"/>
                </a:solidFill>
                <a:latin typeface="Arial"/>
                <a:ea typeface="Arial"/>
                <a:cs typeface="Arial"/>
              </a:defRPr>
            </a:defPPr>
            <a:lvl1pPr algn="l">
              <a:defRPr sz="2400" b="1">
                <a:solidFill>
                  <a:srgbClr val="044247"/>
                </a:solidFill>
                <a:latin typeface="Arial"/>
                <a:ea typeface="Arial"/>
                <a:cs typeface="Arial"/>
              </a:defRPr>
            </a:lvl1pPr>
            <a:lvl2pPr algn="l">
              <a:defRPr sz="2400" b="1">
                <a:solidFill>
                  <a:srgbClr val="044247"/>
                </a:solidFill>
                <a:latin typeface="Arial"/>
                <a:ea typeface="Arial"/>
                <a:cs typeface="Arial"/>
              </a:defRPr>
            </a:lvl2pPr>
            <a:lvl3pPr algn="l">
              <a:defRPr sz="2400" b="1">
                <a:solidFill>
                  <a:srgbClr val="044247"/>
                </a:solidFill>
                <a:latin typeface="Arial"/>
                <a:ea typeface="Arial"/>
                <a:cs typeface="Arial"/>
              </a:defRPr>
            </a:lvl3pPr>
            <a:lvl4pPr algn="l">
              <a:defRPr sz="2400" b="1">
                <a:solidFill>
                  <a:srgbClr val="044247"/>
                </a:solidFill>
                <a:latin typeface="Arial"/>
                <a:ea typeface="Arial"/>
                <a:cs typeface="Arial"/>
              </a:defRPr>
            </a:lvl4pPr>
            <a:lvl5pPr algn="l">
              <a:defRPr sz="2400" b="1">
                <a:solidFill>
                  <a:srgbClr val="044247"/>
                </a:solidFill>
                <a:latin typeface="Arial"/>
                <a:ea typeface="Arial"/>
                <a:cs typeface="Arial"/>
              </a:defRPr>
            </a:lvl5pPr>
            <a:lvl6pPr algn="l">
              <a:defRPr sz="2400" b="1">
                <a:solidFill>
                  <a:srgbClr val="044247"/>
                </a:solidFill>
                <a:latin typeface="Arial"/>
                <a:ea typeface="Arial"/>
                <a:cs typeface="Arial"/>
              </a:defRPr>
            </a:lvl6pPr>
            <a:lvl7pPr algn="l">
              <a:defRPr sz="2400" b="1">
                <a:solidFill>
                  <a:srgbClr val="044247"/>
                </a:solidFill>
                <a:latin typeface="Arial"/>
                <a:ea typeface="Arial"/>
                <a:cs typeface="Arial"/>
              </a:defRPr>
            </a:lvl7pPr>
            <a:lvl8pPr algn="l">
              <a:defRPr sz="2400" b="1">
                <a:solidFill>
                  <a:srgbClr val="044247"/>
                </a:solidFill>
                <a:latin typeface="Arial"/>
                <a:ea typeface="Arial"/>
                <a:cs typeface="Arial"/>
              </a:defRPr>
            </a:lvl8pPr>
            <a:lvl9pPr algn="l">
              <a:defRPr sz="2400" b="1">
                <a:solidFill>
                  <a:srgbClr val="044247"/>
                </a:solidFill>
                <a:latin typeface="Arial"/>
                <a:ea typeface="Arial"/>
                <a:cs typeface="Arial"/>
              </a:defRPr>
            </a:lvl9pPr>
          </a:lstStyle>
          <a:p>
            <a:pPr algn="l">
              <a:defRPr sz="2400" b="1">
                <a:solidFill>
                  <a:srgbClr val="044247"/>
                </a:solidFill>
                <a:latin typeface="Arial"/>
                <a:ea typeface="Arial"/>
                <a:cs typeface="Arial"/>
              </a:defRPr>
            </a:pPr>
            <a:r>
              <a:rPr sz="2400" b="1">
                <a:solidFill>
                  <a:srgbClr val="044247"/>
                </a:solidFill>
                <a:latin typeface="Arial"/>
                <a:ea typeface="Arial"/>
                <a:cs typeface="Arial"/>
              </a:rPr>
              <a:t>1. Trayectoria hasta la caída</a:t>
            </a:r>
          </a:p>
        </p:txBody>
      </p:sp>
      <p:sp>
        <p:nvSpPr>
          <p:cNvPr id="10" name="contenido">
            <a:extLst>
              <a:ext uri="{FF2B5EF4-FFF2-40B4-BE49-F238E27FC236}">
                <a16:creationId xmlns:a16="http://schemas.microsoft.com/office/drawing/2014/main" id="{C4DEA616-45BF-497D-A0DC-3A762F3C9636}"/>
              </a:ext>
            </a:extLst>
          </p:cNvPr>
          <p:cNvSpPr>
            <a:spLocks noGrp="1"/>
          </p:cNvSpPr>
          <p:nvPr/>
        </p:nvSpPr>
        <p:spPr>
          <a:xfrm>
            <a:off x="3333750" y="1123950"/>
            <a:ext cx="5143500" cy="857250"/>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algn="l">
              <a:defRPr sz="2200" b="0">
                <a:solidFill>
                  <a:srgbClr val="111111"/>
                </a:solidFill>
                <a:latin typeface="Arial"/>
                <a:ea typeface="Arial"/>
                <a:cs typeface="Arial"/>
              </a:defRPr>
            </a:pPr>
            <a:r>
              <a:rPr sz="2200" b="0">
                <a:solidFill>
                  <a:srgbClr val="111111"/>
                </a:solidFill>
                <a:latin typeface="Arial"/>
                <a:ea typeface="Arial"/>
                <a:cs typeface="Arial"/>
              </a:rPr>
              <a:t>Estimar cuándo sale del aro</a:t>
            </a:r>
          </a:p>
          <a:p>
            <a:pPr algn="l">
              <a:defRPr sz="2200" b="0">
                <a:solidFill>
                  <a:srgbClr val="111111"/>
                </a:solidFill>
                <a:latin typeface="Arial"/>
                <a:ea typeface="Arial"/>
                <a:cs typeface="Arial"/>
              </a:defRPr>
            </a:pPr>
            <a:r>
              <a:rPr sz="2200" b="0">
                <a:solidFill>
                  <a:srgbClr val="111111"/>
                </a:solidFill>
                <a:latin typeface="Arial"/>
                <a:ea typeface="Arial"/>
                <a:cs typeface="Arial"/>
              </a:rPr>
              <a:t>y dónde alcanza los obstáculos.</a:t>
            </a:r>
          </a:p>
        </p:txBody>
      </p:sp>
      <p:sp>
        <p:nvSpPr>
          <p:cNvPr id="11" name="contenido">
            <a:extLst>
              <a:ext uri="{FF2B5EF4-FFF2-40B4-BE49-F238E27FC236}">
                <a16:creationId xmlns:a16="http://schemas.microsoft.com/office/drawing/2014/main" id="{B1AE046C-B03B-4CE2-89AB-2F6F74F4500C}"/>
              </a:ext>
            </a:extLst>
          </p:cNvPr>
          <p:cNvSpPr>
            <a:spLocks noGrp="1"/>
          </p:cNvSpPr>
          <p:nvPr/>
        </p:nvSpPr>
        <p:spPr>
          <a:xfrm>
            <a:off x="3333750" y="2457450"/>
            <a:ext cx="5143500" cy="857250"/>
          </a:xfrm>
          <a:prstGeom prst="rect">
            <a:avLst/>
          </a:prstGeom>
          <a:noFill/>
          <a:ln w="0">
            <a:noFill/>
          </a:ln>
        </p:spPr>
        <p:txBody>
          <a:bodyPr wrap="square" lIns="0" tIns="0" rIns="0" bIns="0" anchor="t">
            <a:noAutofit/>
          </a:bodyPr>
          <a:lstStyle>
            <a:defPPr algn="l">
              <a:defRPr sz="2400" b="1">
                <a:solidFill>
                  <a:srgbClr val="044247"/>
                </a:solidFill>
                <a:latin typeface="Arial"/>
                <a:ea typeface="Arial"/>
                <a:cs typeface="Arial"/>
              </a:defRPr>
            </a:defPPr>
            <a:lvl1pPr algn="l">
              <a:defRPr sz="2400" b="1">
                <a:solidFill>
                  <a:srgbClr val="044247"/>
                </a:solidFill>
                <a:latin typeface="Arial"/>
                <a:ea typeface="Arial"/>
                <a:cs typeface="Arial"/>
              </a:defRPr>
            </a:lvl1pPr>
            <a:lvl2pPr algn="l">
              <a:defRPr sz="2400" b="1">
                <a:solidFill>
                  <a:srgbClr val="044247"/>
                </a:solidFill>
                <a:latin typeface="Arial"/>
                <a:ea typeface="Arial"/>
                <a:cs typeface="Arial"/>
              </a:defRPr>
            </a:lvl2pPr>
            <a:lvl3pPr algn="l">
              <a:defRPr sz="2400" b="1">
                <a:solidFill>
                  <a:srgbClr val="044247"/>
                </a:solidFill>
                <a:latin typeface="Arial"/>
                <a:ea typeface="Arial"/>
                <a:cs typeface="Arial"/>
              </a:defRPr>
            </a:lvl3pPr>
            <a:lvl4pPr algn="l">
              <a:defRPr sz="2400" b="1">
                <a:solidFill>
                  <a:srgbClr val="044247"/>
                </a:solidFill>
                <a:latin typeface="Arial"/>
                <a:ea typeface="Arial"/>
                <a:cs typeface="Arial"/>
              </a:defRPr>
            </a:lvl4pPr>
            <a:lvl5pPr algn="l">
              <a:defRPr sz="2400" b="1">
                <a:solidFill>
                  <a:srgbClr val="044247"/>
                </a:solidFill>
                <a:latin typeface="Arial"/>
                <a:ea typeface="Arial"/>
                <a:cs typeface="Arial"/>
              </a:defRPr>
            </a:lvl5pPr>
            <a:lvl6pPr algn="l">
              <a:defRPr sz="2400" b="1">
                <a:solidFill>
                  <a:srgbClr val="044247"/>
                </a:solidFill>
                <a:latin typeface="Arial"/>
                <a:ea typeface="Arial"/>
                <a:cs typeface="Arial"/>
              </a:defRPr>
            </a:lvl6pPr>
            <a:lvl7pPr algn="l">
              <a:defRPr sz="2400" b="1">
                <a:solidFill>
                  <a:srgbClr val="044247"/>
                </a:solidFill>
                <a:latin typeface="Arial"/>
                <a:ea typeface="Arial"/>
                <a:cs typeface="Arial"/>
              </a:defRPr>
            </a:lvl7pPr>
            <a:lvl8pPr algn="l">
              <a:defRPr sz="2400" b="1">
                <a:solidFill>
                  <a:srgbClr val="044247"/>
                </a:solidFill>
                <a:latin typeface="Arial"/>
                <a:ea typeface="Arial"/>
                <a:cs typeface="Arial"/>
              </a:defRPr>
            </a:lvl8pPr>
            <a:lvl9pPr algn="l">
              <a:defRPr sz="2400" b="1">
                <a:solidFill>
                  <a:srgbClr val="044247"/>
                </a:solidFill>
                <a:latin typeface="Arial"/>
                <a:ea typeface="Arial"/>
                <a:cs typeface="Arial"/>
              </a:defRPr>
            </a:lvl9pPr>
          </a:lstStyle>
          <a:p>
            <a:pPr algn="l">
              <a:defRPr sz="2400" b="1">
                <a:solidFill>
                  <a:srgbClr val="044247"/>
                </a:solidFill>
                <a:latin typeface="Arial"/>
                <a:ea typeface="Arial"/>
                <a:cs typeface="Arial"/>
              </a:defRPr>
            </a:pPr>
            <a:r>
              <a:rPr sz="2400" b="1">
                <a:solidFill>
                  <a:srgbClr val="044247"/>
                </a:solidFill>
                <a:latin typeface="Arial"/>
                <a:ea typeface="Arial"/>
                <a:cs typeface="Arial"/>
              </a:rPr>
              <a:t>2. Rebotes y entrada a casilla</a:t>
            </a:r>
          </a:p>
        </p:txBody>
      </p:sp>
      <p:sp>
        <p:nvSpPr>
          <p:cNvPr id="12" name="contenido">
            <a:extLst>
              <a:ext uri="{FF2B5EF4-FFF2-40B4-BE49-F238E27FC236}">
                <a16:creationId xmlns:a16="http://schemas.microsoft.com/office/drawing/2014/main" id="{730F46B2-38E5-4706-A42C-20D2F448A47D}"/>
              </a:ext>
            </a:extLst>
          </p:cNvPr>
          <p:cNvSpPr>
            <a:spLocks noGrp="1"/>
          </p:cNvSpPr>
          <p:nvPr/>
        </p:nvSpPr>
        <p:spPr>
          <a:xfrm>
            <a:off x="3333750" y="3076575"/>
            <a:ext cx="5143500" cy="857250"/>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algn="l">
              <a:defRPr sz="2200" b="0">
                <a:solidFill>
                  <a:srgbClr val="111111"/>
                </a:solidFill>
                <a:latin typeface="Arial"/>
                <a:ea typeface="Arial"/>
                <a:cs typeface="Arial"/>
              </a:defRPr>
            </a:pPr>
            <a:r>
              <a:rPr sz="2200" b="0">
                <a:solidFill>
                  <a:srgbClr val="111111"/>
                </a:solidFill>
                <a:latin typeface="Arial"/>
                <a:ea typeface="Arial"/>
                <a:cs typeface="Arial"/>
              </a:rPr>
              <a:t>Modelar la dispersión final</a:t>
            </a:r>
          </a:p>
          <a:p>
            <a:pPr algn="l">
              <a:defRPr sz="2200" b="0">
                <a:solidFill>
                  <a:srgbClr val="111111"/>
                </a:solidFill>
                <a:latin typeface="Arial"/>
                <a:ea typeface="Arial"/>
                <a:cs typeface="Arial"/>
              </a:defRPr>
            </a:pPr>
            <a:r>
              <a:rPr sz="2200" b="0">
                <a:solidFill>
                  <a:srgbClr val="111111"/>
                </a:solidFill>
                <a:latin typeface="Arial"/>
                <a:ea typeface="Arial"/>
                <a:cs typeface="Arial"/>
              </a:rPr>
              <a:t>y relacionarla con el rotor.</a:t>
            </a:r>
          </a:p>
        </p:txBody>
      </p:sp>
      <p:sp>
        <p:nvSpPr>
          <p:cNvPr id="13" name="fuente">
            <a:extLst>
              <a:ext uri="{FF2B5EF4-FFF2-40B4-BE49-F238E27FC236}">
                <a16:creationId xmlns:a16="http://schemas.microsoft.com/office/drawing/2014/main" id="{A797CC5F-A0CD-4A69-99AB-6AB6AEB25D2A}"/>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Faltan parámetros y ensayos para ajustar ambas fases</a:t>
            </a:r>
          </a:p>
        </p:txBody>
      </p:sp>
    </p:spTree>
    <p:extLst>
      <p:ext uri="{BB962C8B-B14F-4D97-AF65-F5344CB8AC3E}">
        <p14:creationId xmlns:p14="http://schemas.microsoft.com/office/powerpoint/2010/main" val="1989938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352EFD7C-54F3-4150-9AF4-E71596D5E41C}"/>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Sector y</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docena</a:t>
            </a:r>
          </a:p>
        </p:txBody>
      </p:sp>
      <p:sp>
        <p:nvSpPr>
          <p:cNvPr id="7" name="subtitulo">
            <a:extLst>
              <a:ext uri="{FF2B5EF4-FFF2-40B4-BE49-F238E27FC236}">
                <a16:creationId xmlns:a16="http://schemas.microsoft.com/office/drawing/2014/main" id="{680BCB8E-6157-4679-BE5D-36C6ADD5140C}"/>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Grupos distintos</a:t>
            </a:r>
          </a:p>
        </p:txBody>
      </p:sp>
      <p:sp>
        <p:nvSpPr>
          <p:cNvPr id="8" name="idea">
            <a:extLst>
              <a:ext uri="{FF2B5EF4-FFF2-40B4-BE49-F238E27FC236}">
                <a16:creationId xmlns:a16="http://schemas.microsoft.com/office/drawing/2014/main" id="{3278C4EC-2497-4D67-80F3-62AEB88C0AEF}"/>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Un sector agrupa</a:t>
            </a:r>
          </a:p>
          <a:p>
            <a:pPr algn="l">
              <a:defRPr sz="2100" b="0">
                <a:solidFill>
                  <a:srgbClr val="111111"/>
                </a:solidFill>
                <a:latin typeface="Arial"/>
                <a:ea typeface="Arial"/>
                <a:cs typeface="Arial"/>
              </a:defRPr>
            </a:pPr>
            <a:r>
              <a:rPr sz="2100" b="0">
                <a:solidFill>
                  <a:srgbClr val="111111"/>
                </a:solidFill>
                <a:latin typeface="Arial"/>
                <a:ea typeface="Arial"/>
                <a:cs typeface="Arial"/>
              </a:rPr>
              <a:t>casillas vecinas.</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Los rebotes añaden</a:t>
            </a:r>
          </a:p>
          <a:p>
            <a:pPr algn="l">
              <a:defRPr sz="2100" b="0">
                <a:solidFill>
                  <a:srgbClr val="111111"/>
                </a:solidFill>
                <a:latin typeface="Arial"/>
                <a:ea typeface="Arial"/>
                <a:cs typeface="Arial"/>
              </a:defRPr>
            </a:pPr>
            <a:r>
              <a:rPr sz="2100" b="0">
                <a:solidFill>
                  <a:srgbClr val="111111"/>
                </a:solidFill>
                <a:latin typeface="Arial"/>
                <a:ea typeface="Arial"/>
                <a:cs typeface="Arial"/>
              </a:rPr>
              <a:t>dispersión.</a:t>
            </a:r>
          </a:p>
        </p:txBody>
      </p:sp>
      <p:graphicFrame>
        <p:nvGraphicFramePr>
          <p:cNvPr id="9" name="Table 8">
            <a:extLst>
              <a:ext uri="{FF2B5EF4-FFF2-40B4-BE49-F238E27FC236}">
                <a16:creationId xmlns:a16="http://schemas.microsoft.com/office/drawing/2014/main" id="{4B39E621-BFCE-4269-93D2-14DFD45A7B87}"/>
              </a:ext>
            </a:extLst>
          </p:cNvPr>
          <p:cNvGraphicFramePr/>
          <p:nvPr/>
        </p:nvGraphicFramePr>
        <p:xfrm>
          <a:off x="3333750" y="428625"/>
          <a:ext cx="5143500" cy="33337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476250">
                <a:tc>
                  <a:txBody>
                    <a:bodyPr/>
                    <a:lstStyle/>
                    <a:p>
                      <a:pPr algn="l"/>
                      <a:r>
                        <a:rPr sz="1900" b="1">
                          <a:solidFill>
                            <a:srgbClr val="FFFFFF"/>
                          </a:solidFill>
                          <a:latin typeface="Arial"/>
                          <a:ea typeface="Arial"/>
                          <a:cs typeface="Arial"/>
                        </a:rPr>
                        <a:t>Casillas vecinas</a:t>
                      </a:r>
                    </a:p>
                  </a:txBody>
                  <a:tcPr marL="76200" marR="76200" marT="19050" marB="19050" anchor="ctr">
                    <a:lnL w="5715">
                      <a:solidFill>
                        <a:srgbClr val="C6D6D5"/>
                      </a:solidFill>
                      <a:prstDash val="soli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tc>
                  <a:txBody>
                    <a:bodyPr/>
                    <a:lstStyle/>
                    <a:p>
                      <a:pPr algn="l"/>
                      <a:r>
                        <a:rPr sz="1900" b="1">
                          <a:solidFill>
                            <a:srgbClr val="FFFFFF"/>
                          </a:solidFill>
                          <a:latin typeface="Arial"/>
                          <a:ea typeface="Arial"/>
                          <a:cs typeface="Arial"/>
                        </a:rPr>
                        <a:t>Docena</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a:solidFill>
                        <a:srgbClr val="C6D6D5"/>
                      </a:solidFill>
                      <a:prstDash val="solid"/>
                    </a:lnT>
                    <a:lnB w="5715">
                      <a:solidFill>
                        <a:srgbClr val="C6D6D5"/>
                      </a:solidFill>
                      <a:prstDash val="solid"/>
                    </a:lnB>
                    <a:solidFill>
                      <a:srgbClr val="044247"/>
                    </a:solidFill>
                  </a:tcPr>
                </a:tc>
                <a:extLst>
                  <a:ext uri="{0D108BD9-81ED-4DB2-BD59-A6C34878D82A}">
                    <a16:rowId xmlns:a16="http://schemas.microsoft.com/office/drawing/2014/main" val="10000"/>
                  </a:ext>
                </a:extLst>
              </a:tr>
              <a:tr h="476250">
                <a:tc>
                  <a:txBody>
                    <a:bodyPr/>
                    <a:lstStyle/>
                    <a:p>
                      <a:pPr algn="l"/>
                      <a:r>
                        <a:rPr sz="1900" b="0">
                          <a:solidFill>
                            <a:srgbClr val="111111"/>
                          </a:solidFill>
                          <a:latin typeface="Arial"/>
                          <a:ea typeface="Arial"/>
                          <a:cs typeface="Arial"/>
                        </a:rPr>
                        <a:t>0</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Fuera de docenas</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1"/>
                  </a:ext>
                </a:extLst>
              </a:tr>
              <a:tr h="476250">
                <a:tc>
                  <a:txBody>
                    <a:bodyPr/>
                    <a:lstStyle/>
                    <a:p>
                      <a:pPr algn="l"/>
                      <a:r>
                        <a:rPr sz="1900" b="0">
                          <a:solidFill>
                            <a:srgbClr val="111111"/>
                          </a:solidFill>
                          <a:latin typeface="Arial"/>
                          <a:ea typeface="Arial"/>
                          <a:cs typeface="Arial"/>
                        </a:rPr>
                        <a:t>32</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3.ª</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2"/>
                  </a:ext>
                </a:extLst>
              </a:tr>
              <a:tr h="476250">
                <a:tc>
                  <a:txBody>
                    <a:bodyPr/>
                    <a:lstStyle/>
                    <a:p>
                      <a:pPr algn="l"/>
                      <a:r>
                        <a:rPr sz="1900" b="0">
                          <a:solidFill>
                            <a:srgbClr val="111111"/>
                          </a:solidFill>
                          <a:latin typeface="Arial"/>
                          <a:ea typeface="Arial"/>
                          <a:cs typeface="Arial"/>
                        </a:rPr>
                        <a:t>15</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2.ª</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3"/>
                  </a:ext>
                </a:extLst>
              </a:tr>
              <a:tr h="476250">
                <a:tc>
                  <a:txBody>
                    <a:bodyPr/>
                    <a:lstStyle/>
                    <a:p>
                      <a:pPr algn="l"/>
                      <a:r>
                        <a:rPr sz="1900" b="0">
                          <a:solidFill>
                            <a:srgbClr val="111111"/>
                          </a:solidFill>
                          <a:latin typeface="Arial"/>
                          <a:ea typeface="Arial"/>
                          <a:cs typeface="Arial"/>
                        </a:rPr>
                        <a:t>19</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2.ª</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4"/>
                  </a:ext>
                </a:extLst>
              </a:tr>
              <a:tr h="476250">
                <a:tc>
                  <a:txBody>
                    <a:bodyPr/>
                    <a:lstStyle/>
                    <a:p>
                      <a:pPr algn="l"/>
                      <a:r>
                        <a:rPr sz="1900" b="0">
                          <a:solidFill>
                            <a:srgbClr val="111111"/>
                          </a:solidFill>
                          <a:latin typeface="Arial"/>
                          <a:ea typeface="Arial"/>
                          <a:cs typeface="Arial"/>
                        </a:rPr>
                        <a:t>4</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1.ª</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5"/>
                  </a:ext>
                </a:extLst>
              </a:tr>
              <a:tr h="476250">
                <a:tc>
                  <a:txBody>
                    <a:bodyPr/>
                    <a:lstStyle/>
                    <a:p>
                      <a:pPr algn="l"/>
                      <a:r>
                        <a:rPr sz="1900" b="0">
                          <a:solidFill>
                            <a:srgbClr val="111111"/>
                          </a:solidFill>
                          <a:latin typeface="Arial"/>
                          <a:ea typeface="Arial"/>
                          <a:cs typeface="Arial"/>
                        </a:rPr>
                        <a:t>21</a:t>
                      </a:r>
                    </a:p>
                  </a:txBody>
                  <a:tcPr marL="76200" marR="76200" marT="19050" marB="19050" anchor="ctr">
                    <a:lnL w="5715">
                      <a:solidFill>
                        <a:srgbClr val="C6D6D5"/>
                      </a:solidFill>
                      <a:prstDash val="soli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tc>
                  <a:txBody>
                    <a:bodyPr/>
                    <a:lstStyle/>
                    <a:p>
                      <a:pPr algn="l"/>
                      <a:r>
                        <a:rPr sz="1900" b="0">
                          <a:solidFill>
                            <a:srgbClr val="111111"/>
                          </a:solidFill>
                          <a:latin typeface="Arial"/>
                          <a:ea typeface="Arial"/>
                          <a:cs typeface="Arial"/>
                        </a:rPr>
                        <a:t>2.ª</a:t>
                      </a:r>
                    </a:p>
                  </a:txBody>
                  <a:tcPr marL="76200" marR="76200" marT="19050" marB="19050" anchor="ctr">
                    <a:lnL w="5715" cap="flat" cmpd="sng" algn="ctr">
                      <a:solidFill>
                        <a:srgbClr val="C6D6D5"/>
                      </a:solidFill>
                      <a:prstDash val="solid"/>
                      <a:round/>
                      <a:headEnd type="none" w="med" len="med"/>
                      <a:tailEnd type="none" w="med" len="med"/>
                    </a:lnL>
                    <a:lnR w="5715">
                      <a:solidFill>
                        <a:srgbClr val="C6D6D5"/>
                      </a:solidFill>
                      <a:prstDash val="solid"/>
                    </a:lnR>
                    <a:lnT w="5715" cap="flat" cmpd="sng" algn="ctr">
                      <a:solidFill>
                        <a:srgbClr val="C6D6D5"/>
                      </a:solidFill>
                      <a:prstDash val="solid"/>
                      <a:round/>
                      <a:headEnd type="none" w="med" len="med"/>
                      <a:tailEnd type="none" w="med" len="med"/>
                    </a:lnT>
                    <a:lnB w="5715">
                      <a:solidFill>
                        <a:srgbClr val="C6D6D5"/>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 name="contenido">
            <a:extLst>
              <a:ext uri="{FF2B5EF4-FFF2-40B4-BE49-F238E27FC236}">
                <a16:creationId xmlns:a16="http://schemas.microsoft.com/office/drawing/2014/main" id="{319F9F40-E65E-427A-AB3B-1ACAB0232CCE}"/>
              </a:ext>
            </a:extLst>
          </p:cNvPr>
          <p:cNvSpPr>
            <a:spLocks noGrp="1"/>
          </p:cNvSpPr>
          <p:nvPr/>
        </p:nvSpPr>
        <p:spPr>
          <a:xfrm>
            <a:off x="3333750" y="4000500"/>
            <a:ext cx="5143500" cy="8572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algn="l">
              <a:defRPr sz="2300" b="0">
                <a:solidFill>
                  <a:srgbClr val="111111"/>
                </a:solidFill>
                <a:latin typeface="Arial"/>
                <a:ea typeface="Arial"/>
                <a:cs typeface="Arial"/>
              </a:defRPr>
            </a:pPr>
            <a:r>
              <a:rPr sz="2300" b="0">
                <a:solidFill>
                  <a:srgbClr val="111111"/>
                </a:solidFill>
                <a:latin typeface="Arial"/>
                <a:ea typeface="Arial"/>
                <a:cs typeface="Arial"/>
              </a:rPr>
              <a:t>Un mismo sector puede</a:t>
            </a:r>
          </a:p>
          <a:p>
            <a:pPr algn="l">
              <a:defRPr sz="2300" b="0">
                <a:solidFill>
                  <a:srgbClr val="111111"/>
                </a:solidFill>
                <a:latin typeface="Arial"/>
                <a:ea typeface="Arial"/>
                <a:cs typeface="Arial"/>
              </a:defRPr>
            </a:pPr>
            <a:r>
              <a:rPr sz="2300" b="0">
                <a:solidFill>
                  <a:srgbClr val="111111"/>
                </a:solidFill>
                <a:latin typeface="Arial"/>
                <a:ea typeface="Arial"/>
                <a:cs typeface="Arial"/>
              </a:rPr>
              <a:t>mezclar las tres docenas.</a:t>
            </a:r>
          </a:p>
        </p:txBody>
      </p:sp>
    </p:spTree>
    <p:extLst>
      <p:ext uri="{BB962C8B-B14F-4D97-AF65-F5344CB8AC3E}">
        <p14:creationId xmlns:p14="http://schemas.microsoft.com/office/powerpoint/2010/main" val="180489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7E50C4FC-F57B-456A-8751-B503F99BD732}"/>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Muchos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escenarios</a:t>
            </a:r>
          </a:p>
        </p:txBody>
      </p:sp>
      <p:sp>
        <p:nvSpPr>
          <p:cNvPr id="7" name="subtitulo">
            <a:extLst>
              <a:ext uri="{FF2B5EF4-FFF2-40B4-BE49-F238E27FC236}">
                <a16:creationId xmlns:a16="http://schemas.microsoft.com/office/drawing/2014/main" id="{72FC69E3-6091-47B1-B167-FB74B3461203}"/>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Monte Carlo</a:t>
            </a:r>
          </a:p>
        </p:txBody>
      </p:sp>
      <p:sp>
        <p:nvSpPr>
          <p:cNvPr id="8" name="idea">
            <a:extLst>
              <a:ext uri="{FF2B5EF4-FFF2-40B4-BE49-F238E27FC236}">
                <a16:creationId xmlns:a16="http://schemas.microsoft.com/office/drawing/2014/main" id="{332E66F2-68CA-45DD-A61D-7B76E2FB51FD}"/>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Cada simulación</a:t>
            </a:r>
          </a:p>
          <a:p>
            <a:pPr algn="l">
              <a:defRPr sz="2100" b="0">
                <a:solidFill>
                  <a:srgbClr val="111111"/>
                </a:solidFill>
                <a:latin typeface="Arial"/>
                <a:ea typeface="Arial"/>
                <a:cs typeface="Arial"/>
              </a:defRPr>
            </a:pPr>
            <a:r>
              <a:rPr sz="2100" b="0">
                <a:solidFill>
                  <a:srgbClr val="111111"/>
                </a:solidFill>
                <a:latin typeface="Arial"/>
                <a:ea typeface="Arial"/>
                <a:cs typeface="Arial"/>
              </a:rPr>
              <a:t>usa pequeñas</a:t>
            </a:r>
          </a:p>
          <a:p>
            <a:pPr algn="l">
              <a:defRPr sz="2100" b="0">
                <a:solidFill>
                  <a:srgbClr val="111111"/>
                </a:solidFill>
                <a:latin typeface="Arial"/>
                <a:ea typeface="Arial"/>
                <a:cs typeface="Arial"/>
              </a:defRPr>
            </a:pPr>
            <a:r>
              <a:rPr sz="2100" b="0">
                <a:solidFill>
                  <a:srgbClr val="111111"/>
                </a:solidFill>
                <a:latin typeface="Arial"/>
                <a:ea typeface="Arial"/>
                <a:cs typeface="Arial"/>
              </a:rPr>
              <a:t>variaciones de</a:t>
            </a:r>
          </a:p>
          <a:p>
            <a:pPr algn="l">
              <a:defRPr sz="2100" b="0">
                <a:solidFill>
                  <a:srgbClr val="111111"/>
                </a:solidFill>
                <a:latin typeface="Arial"/>
                <a:ea typeface="Arial"/>
                <a:cs typeface="Arial"/>
              </a:defRPr>
            </a:pPr>
            <a:r>
              <a:rPr sz="2100" b="0">
                <a:solidFill>
                  <a:srgbClr val="111111"/>
                </a:solidFill>
                <a:latin typeface="Arial"/>
                <a:ea typeface="Arial"/>
                <a:cs typeface="Arial"/>
              </a:rPr>
              <a:t>las entradas.</a:t>
            </a:r>
          </a:p>
        </p:txBody>
      </p:sp>
      <p:sp>
        <p:nvSpPr>
          <p:cNvPr id="9" name="pasos">
            <a:extLst>
              <a:ext uri="{FF2B5EF4-FFF2-40B4-BE49-F238E27FC236}">
                <a16:creationId xmlns:a16="http://schemas.microsoft.com/office/drawing/2014/main" id="{BBA5B739-ADE0-4ACA-9661-448CFC712B65}"/>
              </a:ext>
            </a:extLst>
          </p:cNvPr>
          <p:cNvSpPr>
            <a:spLocks noGrp="1"/>
          </p:cNvSpPr>
          <p:nvPr/>
        </p:nvSpPr>
        <p:spPr>
          <a:xfrm>
            <a:off x="3333750" y="571500"/>
            <a:ext cx="5143500" cy="39814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marL="228600" indent="-114300" algn="l">
              <a:spcAft>
                <a:spcPts val="1500"/>
              </a:spcAft>
              <a:buChar char="■"/>
              <a:defRPr sz="2300" b="0">
                <a:solidFill>
                  <a:srgbClr val="111111"/>
                </a:solidFill>
                <a:latin typeface="Arial"/>
                <a:ea typeface="Arial"/>
                <a:cs typeface="Arial"/>
              </a:defRPr>
            </a:pPr>
            <a:r>
              <a:t>Estimar errores y parámetros con datos.</a:t>
            </a:r>
          </a:p>
          <a:p>
            <a:pPr marL="228600" indent="-114300" algn="l">
              <a:spcAft>
                <a:spcPts val="1500"/>
              </a:spcAft>
              <a:buChar char="■"/>
              <a:defRPr sz="2300" b="0">
                <a:solidFill>
                  <a:srgbClr val="111111"/>
                </a:solidFill>
                <a:latin typeface="Arial"/>
                <a:ea typeface="Arial"/>
                <a:cs typeface="Arial"/>
              </a:defRPr>
            </a:pPr>
            <a:r>
              <a:t>Variar sus valores según esa incertidumbre.</a:t>
            </a:r>
          </a:p>
          <a:p>
            <a:pPr marL="228600" indent="-114300" algn="l">
              <a:spcAft>
                <a:spcPts val="1500"/>
              </a:spcAft>
              <a:buChar char="■"/>
              <a:defRPr sz="2300" b="0">
                <a:solidFill>
                  <a:srgbClr val="111111"/>
                </a:solidFill>
                <a:latin typeface="Arial"/>
                <a:ea typeface="Arial"/>
                <a:cs typeface="Arial"/>
              </a:defRPr>
            </a:pPr>
            <a:r>
              <a:t>Simular trayectorias y rebotes posibles.</a:t>
            </a:r>
          </a:p>
          <a:p>
            <a:pPr marL="228600" indent="-114300" algn="l">
              <a:spcAft>
                <a:spcPts val="1500"/>
              </a:spcAft>
              <a:buChar char="■"/>
              <a:defRPr sz="2300" b="0">
                <a:solidFill>
                  <a:srgbClr val="111111"/>
                </a:solidFill>
                <a:latin typeface="Arial"/>
                <a:ea typeface="Arial"/>
                <a:cs typeface="Arial"/>
              </a:defRPr>
            </a:pPr>
            <a:r>
              <a:t>Contar en qué casillas terminan.</a:t>
            </a:r>
          </a:p>
        </p:txBody>
      </p:sp>
      <p:sp>
        <p:nvSpPr>
          <p:cNvPr id="10" name="fuente">
            <a:extLst>
              <a:ext uri="{FF2B5EF4-FFF2-40B4-BE49-F238E27FC236}">
                <a16:creationId xmlns:a16="http://schemas.microsoft.com/office/drawing/2014/main" id="{9BF688C5-B3FE-46B2-BADD-95838F70F52B}"/>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1.000 simulaciones no equivalen a 1.000 giros reales</a:t>
            </a:r>
          </a:p>
        </p:txBody>
      </p:sp>
    </p:spTree>
    <p:extLst>
      <p:ext uri="{BB962C8B-B14F-4D97-AF65-F5344CB8AC3E}">
        <p14:creationId xmlns:p14="http://schemas.microsoft.com/office/powerpoint/2010/main" val="3920841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6359A688-2966-4CD8-B387-0EC93E6FD860}"/>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De número</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a docena</a:t>
            </a:r>
          </a:p>
        </p:txBody>
      </p:sp>
      <p:sp>
        <p:nvSpPr>
          <p:cNvPr id="7" name="subtitulo">
            <a:extLst>
              <a:ext uri="{FF2B5EF4-FFF2-40B4-BE49-F238E27FC236}">
                <a16:creationId xmlns:a16="http://schemas.microsoft.com/office/drawing/2014/main" id="{B975C54B-CBB5-4EB5-90B4-F7EAA1A9061D}"/>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Agrupar</a:t>
            </a:r>
          </a:p>
        </p:txBody>
      </p:sp>
      <p:sp>
        <p:nvSpPr>
          <p:cNvPr id="8" name="idea">
            <a:extLst>
              <a:ext uri="{FF2B5EF4-FFF2-40B4-BE49-F238E27FC236}">
                <a16:creationId xmlns:a16="http://schemas.microsoft.com/office/drawing/2014/main" id="{90EBBC10-35C9-4195-AC47-3FF5ADDA4BF6}"/>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Ejemplo inventado</a:t>
            </a:r>
          </a:p>
          <a:p>
            <a:pPr algn="l">
              <a:defRPr sz="2100" b="0">
                <a:solidFill>
                  <a:srgbClr val="111111"/>
                </a:solidFill>
                <a:latin typeface="Arial"/>
                <a:ea typeface="Arial"/>
                <a:cs typeface="Arial"/>
              </a:defRPr>
            </a:pPr>
            <a:r>
              <a:rPr sz="2100" b="0">
                <a:solidFill>
                  <a:srgbClr val="111111"/>
                </a:solidFill>
                <a:latin typeface="Arial"/>
                <a:ea typeface="Arial"/>
                <a:cs typeface="Arial"/>
              </a:rPr>
              <a:t>para un giro.</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37 probabilidades</a:t>
            </a:r>
          </a:p>
          <a:p>
            <a:pPr algn="l">
              <a:defRPr sz="2100" b="0">
                <a:solidFill>
                  <a:srgbClr val="111111"/>
                </a:solidFill>
                <a:latin typeface="Arial"/>
                <a:ea typeface="Arial"/>
                <a:cs typeface="Arial"/>
              </a:defRPr>
            </a:pPr>
            <a:r>
              <a:rPr sz="2100" b="0">
                <a:solidFill>
                  <a:srgbClr val="111111"/>
                </a:solidFill>
                <a:latin typeface="Arial"/>
                <a:ea typeface="Arial"/>
                <a:cs typeface="Arial"/>
              </a:rPr>
              <a:t>que suman 100 %.</a:t>
            </a:r>
          </a:p>
        </p:txBody>
      </p:sp>
      <p:sp>
        <p:nvSpPr>
          <p:cNvPr id="9" name="contenido">
            <a:extLst>
              <a:ext uri="{FF2B5EF4-FFF2-40B4-BE49-F238E27FC236}">
                <a16:creationId xmlns:a16="http://schemas.microsoft.com/office/drawing/2014/main" id="{68C731B0-091C-4FE5-BA87-B1969A142E27}"/>
              </a:ext>
            </a:extLst>
          </p:cNvPr>
          <p:cNvSpPr>
            <a:spLocks noGrp="1"/>
          </p:cNvSpPr>
          <p:nvPr/>
        </p:nvSpPr>
        <p:spPr>
          <a:xfrm>
            <a:off x="3333750" y="523875"/>
            <a:ext cx="5143500" cy="714375"/>
          </a:xfrm>
          <a:prstGeom prst="rect">
            <a:avLst/>
          </a:prstGeom>
          <a:noFill/>
          <a:ln w="0">
            <a:noFill/>
          </a:ln>
        </p:spPr>
        <p:txBody>
          <a:bodyPr wrap="square" lIns="0" tIns="0" rIns="0" bIns="0" anchor="t">
            <a:noAutofit/>
          </a:bodyPr>
          <a:lstStyle>
            <a:defPPr algn="l">
              <a:defRPr sz="2050" b="1">
                <a:solidFill>
                  <a:srgbClr val="044247"/>
                </a:solidFill>
                <a:latin typeface="Arial"/>
                <a:ea typeface="Arial"/>
                <a:cs typeface="Arial"/>
              </a:defRPr>
            </a:defPPr>
            <a:lvl1pPr algn="l">
              <a:defRPr sz="2050" b="1">
                <a:solidFill>
                  <a:srgbClr val="044247"/>
                </a:solidFill>
                <a:latin typeface="Arial"/>
                <a:ea typeface="Arial"/>
                <a:cs typeface="Arial"/>
              </a:defRPr>
            </a:lvl1pPr>
            <a:lvl2pPr algn="l">
              <a:defRPr sz="2050" b="1">
                <a:solidFill>
                  <a:srgbClr val="044247"/>
                </a:solidFill>
                <a:latin typeface="Arial"/>
                <a:ea typeface="Arial"/>
                <a:cs typeface="Arial"/>
              </a:defRPr>
            </a:lvl2pPr>
            <a:lvl3pPr algn="l">
              <a:defRPr sz="2050" b="1">
                <a:solidFill>
                  <a:srgbClr val="044247"/>
                </a:solidFill>
                <a:latin typeface="Arial"/>
                <a:ea typeface="Arial"/>
                <a:cs typeface="Arial"/>
              </a:defRPr>
            </a:lvl3pPr>
            <a:lvl4pPr algn="l">
              <a:defRPr sz="2050" b="1">
                <a:solidFill>
                  <a:srgbClr val="044247"/>
                </a:solidFill>
                <a:latin typeface="Arial"/>
                <a:ea typeface="Arial"/>
                <a:cs typeface="Arial"/>
              </a:defRPr>
            </a:lvl4pPr>
            <a:lvl5pPr algn="l">
              <a:defRPr sz="2050" b="1">
                <a:solidFill>
                  <a:srgbClr val="044247"/>
                </a:solidFill>
                <a:latin typeface="Arial"/>
                <a:ea typeface="Arial"/>
                <a:cs typeface="Arial"/>
              </a:defRPr>
            </a:lvl5pPr>
            <a:lvl6pPr algn="l">
              <a:defRPr sz="2050" b="1">
                <a:solidFill>
                  <a:srgbClr val="044247"/>
                </a:solidFill>
                <a:latin typeface="Arial"/>
                <a:ea typeface="Arial"/>
                <a:cs typeface="Arial"/>
              </a:defRPr>
            </a:lvl6pPr>
            <a:lvl7pPr algn="l">
              <a:defRPr sz="2050" b="1">
                <a:solidFill>
                  <a:srgbClr val="044247"/>
                </a:solidFill>
                <a:latin typeface="Arial"/>
                <a:ea typeface="Arial"/>
                <a:cs typeface="Arial"/>
              </a:defRPr>
            </a:lvl7pPr>
            <a:lvl8pPr algn="l">
              <a:defRPr sz="2050" b="1">
                <a:solidFill>
                  <a:srgbClr val="044247"/>
                </a:solidFill>
                <a:latin typeface="Arial"/>
                <a:ea typeface="Arial"/>
                <a:cs typeface="Arial"/>
              </a:defRPr>
            </a:lvl8pPr>
            <a:lvl9pPr algn="l">
              <a:defRPr sz="2050" b="1">
                <a:solidFill>
                  <a:srgbClr val="044247"/>
                </a:solidFill>
                <a:latin typeface="Arial"/>
                <a:ea typeface="Arial"/>
                <a:cs typeface="Arial"/>
              </a:defRPr>
            </a:lvl9pPr>
          </a:lstStyle>
          <a:p>
            <a:pPr algn="l">
              <a:defRPr sz="2050" b="1">
                <a:solidFill>
                  <a:srgbClr val="044247"/>
                </a:solidFill>
                <a:latin typeface="Arial"/>
                <a:ea typeface="Arial"/>
                <a:cs typeface="Arial"/>
              </a:defRPr>
            </a:pPr>
            <a:r>
              <a:rPr sz="2050" b="1">
                <a:solidFill>
                  <a:srgbClr val="044247"/>
                </a:solidFill>
                <a:latin typeface="Arial"/>
                <a:ea typeface="Arial"/>
                <a:cs typeface="Arial"/>
              </a:rPr>
              <a:t>P(2.ª docena) = P(13) + … + P(24)</a:t>
            </a:r>
          </a:p>
        </p:txBody>
      </p:sp>
      <p:graphicFrame>
        <p:nvGraphicFramePr>
          <p:cNvPr id="10" name="Chart">
            <a:extLst>
              <a:ext uri="{FF2B5EF4-FFF2-40B4-BE49-F238E27FC236}">
                <a16:creationId xmlns:a16="http://schemas.microsoft.com/office/drawing/2014/main" id="{88F1FC91-4026-47AD-BF77-CC62DBBEE2B3}"/>
              </a:ext>
            </a:extLst>
          </p:cNvPr>
          <p:cNvGraphicFramePr/>
          <p:nvPr/>
        </p:nvGraphicFramePr>
        <p:xfrm>
          <a:off x="3333750" y="1457325"/>
          <a:ext cx="4762500" cy="2733675"/>
        </p:xfrm>
        <a:graphic>
          <a:graphicData uri="http://schemas.openxmlformats.org/drawingml/2006/chart">
            <c:chart xmlns:c="http://schemas.openxmlformats.org/drawingml/2006/chart" xmlns:r="http://schemas.openxmlformats.org/officeDocument/2006/relationships" r:id="rId3"/>
          </a:graphicData>
        </a:graphic>
      </p:graphicFrame>
      <p:sp>
        <p:nvSpPr>
          <p:cNvPr id="11" name="contenido">
            <a:extLst>
              <a:ext uri="{FF2B5EF4-FFF2-40B4-BE49-F238E27FC236}">
                <a16:creationId xmlns:a16="http://schemas.microsoft.com/office/drawing/2014/main" id="{9218E09A-2ED1-49FC-A5C1-96631933622D}"/>
              </a:ext>
            </a:extLst>
          </p:cNvPr>
          <p:cNvSpPr>
            <a:spLocks noGrp="1"/>
          </p:cNvSpPr>
          <p:nvPr/>
        </p:nvSpPr>
        <p:spPr>
          <a:xfrm>
            <a:off x="3333750" y="4391025"/>
            <a:ext cx="5143500" cy="38100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El cero se mantiene aparte.</a:t>
            </a:r>
          </a:p>
        </p:txBody>
      </p:sp>
      <p:sp>
        <p:nvSpPr>
          <p:cNvPr id="12" name="fuente">
            <a:extLst>
              <a:ext uri="{FF2B5EF4-FFF2-40B4-BE49-F238E27FC236}">
                <a16:creationId xmlns:a16="http://schemas.microsoft.com/office/drawing/2014/main" id="{E1659D52-F09E-4C0F-B80A-6C30CCDAA09F}"/>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Probabilidades didácticas. Ningún predictor las ha obtenido</a:t>
            </a:r>
          </a:p>
        </p:txBody>
      </p:sp>
    </p:spTree>
    <p:extLst>
      <p:ext uri="{BB962C8B-B14F-4D97-AF65-F5344CB8AC3E}">
        <p14:creationId xmlns:p14="http://schemas.microsoft.com/office/powerpoint/2010/main" val="2078531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22C606B4-2827-4371-9795-8A0677B85CF0}"/>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Giros</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nuevos</a:t>
            </a:r>
          </a:p>
        </p:txBody>
      </p:sp>
      <p:sp>
        <p:nvSpPr>
          <p:cNvPr id="7" name="subtitulo">
            <a:extLst>
              <a:ext uri="{FF2B5EF4-FFF2-40B4-BE49-F238E27FC236}">
                <a16:creationId xmlns:a16="http://schemas.microsoft.com/office/drawing/2014/main" id="{A3142FA5-B8B4-4F8B-91DC-751E8B1C670B}"/>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Prueba separada</a:t>
            </a:r>
          </a:p>
        </p:txBody>
      </p:sp>
      <p:sp>
        <p:nvSpPr>
          <p:cNvPr id="8" name="idea">
            <a:extLst>
              <a:ext uri="{FF2B5EF4-FFF2-40B4-BE49-F238E27FC236}">
                <a16:creationId xmlns:a16="http://schemas.microsoft.com/office/drawing/2014/main" id="{56A41FA5-EAE8-4C40-8BF7-B9763A33B3F5}"/>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Se separan giros</a:t>
            </a:r>
          </a:p>
          <a:p>
            <a:pPr algn="l">
              <a:defRPr sz="2100" b="0">
                <a:solidFill>
                  <a:srgbClr val="111111"/>
                </a:solidFill>
                <a:latin typeface="Arial"/>
                <a:ea typeface="Arial"/>
                <a:cs typeface="Arial"/>
              </a:defRPr>
            </a:pPr>
            <a:r>
              <a:rPr sz="2100" b="0">
                <a:solidFill>
                  <a:srgbClr val="111111"/>
                </a:solidFill>
                <a:latin typeface="Arial"/>
                <a:ea typeface="Arial"/>
                <a:cs typeface="Arial"/>
              </a:rPr>
              <a:t>completos.</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Todas sus medidas</a:t>
            </a:r>
          </a:p>
          <a:p>
            <a:pPr algn="l">
              <a:defRPr sz="2100" b="0">
                <a:solidFill>
                  <a:srgbClr val="111111"/>
                </a:solidFill>
                <a:latin typeface="Arial"/>
                <a:ea typeface="Arial"/>
                <a:cs typeface="Arial"/>
              </a:defRPr>
            </a:pPr>
            <a:r>
              <a:rPr sz="2100" b="0">
                <a:solidFill>
                  <a:srgbClr val="111111"/>
                </a:solidFill>
                <a:latin typeface="Arial"/>
                <a:ea typeface="Arial"/>
                <a:cs typeface="Arial"/>
              </a:rPr>
              <a:t>van al mismo grupo.</a:t>
            </a:r>
          </a:p>
        </p:txBody>
      </p:sp>
      <p:sp>
        <p:nvSpPr>
          <p:cNvPr id="9" name="contenido">
            <a:extLst>
              <a:ext uri="{FF2B5EF4-FFF2-40B4-BE49-F238E27FC236}">
                <a16:creationId xmlns:a16="http://schemas.microsoft.com/office/drawing/2014/main" id="{4FDB3DDD-B180-4111-8791-A6B6E979AF48}"/>
              </a:ext>
            </a:extLst>
          </p:cNvPr>
          <p:cNvSpPr>
            <a:spLocks noGrp="1"/>
          </p:cNvSpPr>
          <p:nvPr/>
        </p:nvSpPr>
        <p:spPr>
          <a:xfrm>
            <a:off x="3333750" y="523875"/>
            <a:ext cx="5143500" cy="857250"/>
          </a:xfrm>
          <a:prstGeom prst="rect">
            <a:avLst/>
          </a:prstGeom>
          <a:noFill/>
          <a:ln w="0">
            <a:noFill/>
          </a:ln>
        </p:spPr>
        <p:txBody>
          <a:bodyPr wrap="square" lIns="0" tIns="0" rIns="0" bIns="0" anchor="t">
            <a:noAutofit/>
          </a:bodyPr>
          <a:lstStyle>
            <a:defPPr algn="l">
              <a:defRPr sz="2600" b="1">
                <a:solidFill>
                  <a:srgbClr val="044247"/>
                </a:solidFill>
                <a:latin typeface="Arial"/>
                <a:ea typeface="Arial"/>
                <a:cs typeface="Arial"/>
              </a:defRPr>
            </a:defPPr>
            <a:lvl1pPr algn="l">
              <a:defRPr sz="2600" b="1">
                <a:solidFill>
                  <a:srgbClr val="044247"/>
                </a:solidFill>
                <a:latin typeface="Arial"/>
                <a:ea typeface="Arial"/>
                <a:cs typeface="Arial"/>
              </a:defRPr>
            </a:lvl1pPr>
            <a:lvl2pPr algn="l">
              <a:defRPr sz="2600" b="1">
                <a:solidFill>
                  <a:srgbClr val="044247"/>
                </a:solidFill>
                <a:latin typeface="Arial"/>
                <a:ea typeface="Arial"/>
                <a:cs typeface="Arial"/>
              </a:defRPr>
            </a:lvl2pPr>
            <a:lvl3pPr algn="l">
              <a:defRPr sz="2600" b="1">
                <a:solidFill>
                  <a:srgbClr val="044247"/>
                </a:solidFill>
                <a:latin typeface="Arial"/>
                <a:ea typeface="Arial"/>
                <a:cs typeface="Arial"/>
              </a:defRPr>
            </a:lvl3pPr>
            <a:lvl4pPr algn="l">
              <a:defRPr sz="2600" b="1">
                <a:solidFill>
                  <a:srgbClr val="044247"/>
                </a:solidFill>
                <a:latin typeface="Arial"/>
                <a:ea typeface="Arial"/>
                <a:cs typeface="Arial"/>
              </a:defRPr>
            </a:lvl4pPr>
            <a:lvl5pPr algn="l">
              <a:defRPr sz="2600" b="1">
                <a:solidFill>
                  <a:srgbClr val="044247"/>
                </a:solidFill>
                <a:latin typeface="Arial"/>
                <a:ea typeface="Arial"/>
                <a:cs typeface="Arial"/>
              </a:defRPr>
            </a:lvl5pPr>
            <a:lvl6pPr algn="l">
              <a:defRPr sz="2600" b="1">
                <a:solidFill>
                  <a:srgbClr val="044247"/>
                </a:solidFill>
                <a:latin typeface="Arial"/>
                <a:ea typeface="Arial"/>
                <a:cs typeface="Arial"/>
              </a:defRPr>
            </a:lvl6pPr>
            <a:lvl7pPr algn="l">
              <a:defRPr sz="2600" b="1">
                <a:solidFill>
                  <a:srgbClr val="044247"/>
                </a:solidFill>
                <a:latin typeface="Arial"/>
                <a:ea typeface="Arial"/>
                <a:cs typeface="Arial"/>
              </a:defRPr>
            </a:lvl7pPr>
            <a:lvl8pPr algn="l">
              <a:defRPr sz="2600" b="1">
                <a:solidFill>
                  <a:srgbClr val="044247"/>
                </a:solidFill>
                <a:latin typeface="Arial"/>
                <a:ea typeface="Arial"/>
                <a:cs typeface="Arial"/>
              </a:defRPr>
            </a:lvl8pPr>
            <a:lvl9pPr algn="l">
              <a:defRPr sz="2600" b="1">
                <a:solidFill>
                  <a:srgbClr val="044247"/>
                </a:solidFill>
                <a:latin typeface="Arial"/>
                <a:ea typeface="Arial"/>
                <a:cs typeface="Arial"/>
              </a:defRPr>
            </a:lvl9pPr>
          </a:lstStyle>
          <a:p>
            <a:pPr algn="l">
              <a:defRPr sz="2600" b="1">
                <a:solidFill>
                  <a:srgbClr val="044247"/>
                </a:solidFill>
                <a:latin typeface="Arial"/>
                <a:ea typeface="Arial"/>
                <a:cs typeface="Arial"/>
              </a:defRPr>
            </a:pPr>
            <a:r>
              <a:rPr sz="2600" b="1">
                <a:solidFill>
                  <a:srgbClr val="044247"/>
                </a:solidFill>
                <a:latin typeface="Arial"/>
                <a:ea typeface="Arial"/>
                <a:cs typeface="Arial"/>
              </a:rPr>
              <a:t>Desarrollo</a:t>
            </a:r>
          </a:p>
        </p:txBody>
      </p:sp>
      <p:sp>
        <p:nvSpPr>
          <p:cNvPr id="10" name="contenido">
            <a:extLst>
              <a:ext uri="{FF2B5EF4-FFF2-40B4-BE49-F238E27FC236}">
                <a16:creationId xmlns:a16="http://schemas.microsoft.com/office/drawing/2014/main" id="{3F2F47CD-99A8-4C12-933B-D5F2C41747BA}"/>
              </a:ext>
            </a:extLst>
          </p:cNvPr>
          <p:cNvSpPr>
            <a:spLocks noGrp="1"/>
          </p:cNvSpPr>
          <p:nvPr/>
        </p:nvSpPr>
        <p:spPr>
          <a:xfrm>
            <a:off x="3333750" y="1066800"/>
            <a:ext cx="5143500" cy="857250"/>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algn="l">
              <a:defRPr sz="2200" b="0">
                <a:solidFill>
                  <a:srgbClr val="111111"/>
                </a:solidFill>
                <a:latin typeface="Arial"/>
                <a:ea typeface="Arial"/>
                <a:cs typeface="Arial"/>
              </a:defRPr>
            </a:pPr>
            <a:r>
              <a:rPr sz="2200" b="0">
                <a:solidFill>
                  <a:srgbClr val="111111"/>
                </a:solidFill>
                <a:latin typeface="Arial"/>
                <a:ea typeface="Arial"/>
                <a:cs typeface="Arial"/>
              </a:rPr>
              <a:t>Primeros giros: estimar parámetros</a:t>
            </a:r>
          </a:p>
          <a:p>
            <a:pPr algn="l">
              <a:defRPr sz="2200" b="0">
                <a:solidFill>
                  <a:srgbClr val="111111"/>
                </a:solidFill>
                <a:latin typeface="Arial"/>
                <a:ea typeface="Arial"/>
                <a:cs typeface="Arial"/>
              </a:defRPr>
            </a:pPr>
            <a:r>
              <a:rPr sz="2200" b="0">
                <a:solidFill>
                  <a:srgbClr val="111111"/>
                </a:solidFill>
                <a:latin typeface="Arial"/>
                <a:ea typeface="Arial"/>
                <a:cs typeface="Arial"/>
              </a:rPr>
              <a:t>y elegir el modelo.</a:t>
            </a:r>
          </a:p>
        </p:txBody>
      </p:sp>
      <p:sp>
        <p:nvSpPr>
          <p:cNvPr id="11" name="contenido">
            <a:extLst>
              <a:ext uri="{FF2B5EF4-FFF2-40B4-BE49-F238E27FC236}">
                <a16:creationId xmlns:a16="http://schemas.microsoft.com/office/drawing/2014/main" id="{8AA48C55-E943-4D01-AA44-064E7C25F653}"/>
              </a:ext>
            </a:extLst>
          </p:cNvPr>
          <p:cNvSpPr>
            <a:spLocks noGrp="1"/>
          </p:cNvSpPr>
          <p:nvPr/>
        </p:nvSpPr>
        <p:spPr>
          <a:xfrm>
            <a:off x="3333750" y="2486025"/>
            <a:ext cx="5143500" cy="857250"/>
          </a:xfrm>
          <a:prstGeom prst="rect">
            <a:avLst/>
          </a:prstGeom>
          <a:noFill/>
          <a:ln w="0">
            <a:noFill/>
          </a:ln>
        </p:spPr>
        <p:txBody>
          <a:bodyPr wrap="square" lIns="0" tIns="0" rIns="0" bIns="0" anchor="t">
            <a:noAutofit/>
          </a:bodyPr>
          <a:lstStyle>
            <a:defPPr algn="l">
              <a:defRPr sz="2600" b="1">
                <a:solidFill>
                  <a:srgbClr val="044247"/>
                </a:solidFill>
                <a:latin typeface="Arial"/>
                <a:ea typeface="Arial"/>
                <a:cs typeface="Arial"/>
              </a:defRPr>
            </a:defPPr>
            <a:lvl1pPr algn="l">
              <a:defRPr sz="2600" b="1">
                <a:solidFill>
                  <a:srgbClr val="044247"/>
                </a:solidFill>
                <a:latin typeface="Arial"/>
                <a:ea typeface="Arial"/>
                <a:cs typeface="Arial"/>
              </a:defRPr>
            </a:lvl1pPr>
            <a:lvl2pPr algn="l">
              <a:defRPr sz="2600" b="1">
                <a:solidFill>
                  <a:srgbClr val="044247"/>
                </a:solidFill>
                <a:latin typeface="Arial"/>
                <a:ea typeface="Arial"/>
                <a:cs typeface="Arial"/>
              </a:defRPr>
            </a:lvl2pPr>
            <a:lvl3pPr algn="l">
              <a:defRPr sz="2600" b="1">
                <a:solidFill>
                  <a:srgbClr val="044247"/>
                </a:solidFill>
                <a:latin typeface="Arial"/>
                <a:ea typeface="Arial"/>
                <a:cs typeface="Arial"/>
              </a:defRPr>
            </a:lvl3pPr>
            <a:lvl4pPr algn="l">
              <a:defRPr sz="2600" b="1">
                <a:solidFill>
                  <a:srgbClr val="044247"/>
                </a:solidFill>
                <a:latin typeface="Arial"/>
                <a:ea typeface="Arial"/>
                <a:cs typeface="Arial"/>
              </a:defRPr>
            </a:lvl4pPr>
            <a:lvl5pPr algn="l">
              <a:defRPr sz="2600" b="1">
                <a:solidFill>
                  <a:srgbClr val="044247"/>
                </a:solidFill>
                <a:latin typeface="Arial"/>
                <a:ea typeface="Arial"/>
                <a:cs typeface="Arial"/>
              </a:defRPr>
            </a:lvl5pPr>
            <a:lvl6pPr algn="l">
              <a:defRPr sz="2600" b="1">
                <a:solidFill>
                  <a:srgbClr val="044247"/>
                </a:solidFill>
                <a:latin typeface="Arial"/>
                <a:ea typeface="Arial"/>
                <a:cs typeface="Arial"/>
              </a:defRPr>
            </a:lvl6pPr>
            <a:lvl7pPr algn="l">
              <a:defRPr sz="2600" b="1">
                <a:solidFill>
                  <a:srgbClr val="044247"/>
                </a:solidFill>
                <a:latin typeface="Arial"/>
                <a:ea typeface="Arial"/>
                <a:cs typeface="Arial"/>
              </a:defRPr>
            </a:lvl7pPr>
            <a:lvl8pPr algn="l">
              <a:defRPr sz="2600" b="1">
                <a:solidFill>
                  <a:srgbClr val="044247"/>
                </a:solidFill>
                <a:latin typeface="Arial"/>
                <a:ea typeface="Arial"/>
                <a:cs typeface="Arial"/>
              </a:defRPr>
            </a:lvl8pPr>
            <a:lvl9pPr algn="l">
              <a:defRPr sz="2600" b="1">
                <a:solidFill>
                  <a:srgbClr val="044247"/>
                </a:solidFill>
                <a:latin typeface="Arial"/>
                <a:ea typeface="Arial"/>
                <a:cs typeface="Arial"/>
              </a:defRPr>
            </a:lvl9pPr>
          </a:lstStyle>
          <a:p>
            <a:pPr algn="l">
              <a:defRPr sz="2600" b="1">
                <a:solidFill>
                  <a:srgbClr val="044247"/>
                </a:solidFill>
                <a:latin typeface="Arial"/>
                <a:ea typeface="Arial"/>
                <a:cs typeface="Arial"/>
              </a:defRPr>
            </a:pPr>
            <a:r>
              <a:rPr sz="2600" b="1">
                <a:solidFill>
                  <a:srgbClr val="044247"/>
                </a:solidFill>
                <a:latin typeface="Arial"/>
                <a:ea typeface="Arial"/>
                <a:cs typeface="Arial"/>
              </a:rPr>
              <a:t>Evaluación final</a:t>
            </a:r>
          </a:p>
        </p:txBody>
      </p:sp>
      <p:sp>
        <p:nvSpPr>
          <p:cNvPr id="12" name="contenido">
            <a:extLst>
              <a:ext uri="{FF2B5EF4-FFF2-40B4-BE49-F238E27FC236}">
                <a16:creationId xmlns:a16="http://schemas.microsoft.com/office/drawing/2014/main" id="{FB3B561B-2D3B-43D0-B99B-9BF4D9C52164}"/>
              </a:ext>
            </a:extLst>
          </p:cNvPr>
          <p:cNvSpPr>
            <a:spLocks noGrp="1"/>
          </p:cNvSpPr>
          <p:nvPr/>
        </p:nvSpPr>
        <p:spPr>
          <a:xfrm>
            <a:off x="3333750" y="3038475"/>
            <a:ext cx="5143500" cy="857250"/>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algn="l">
              <a:defRPr sz="2200" b="0">
                <a:solidFill>
                  <a:srgbClr val="111111"/>
                </a:solidFill>
                <a:latin typeface="Arial"/>
                <a:ea typeface="Arial"/>
                <a:cs typeface="Arial"/>
              </a:defRPr>
            </a:pPr>
            <a:r>
              <a:rPr sz="2200" b="0">
                <a:solidFill>
                  <a:srgbClr val="111111"/>
                </a:solidFill>
                <a:latin typeface="Arial"/>
                <a:ea typeface="Arial"/>
                <a:cs typeface="Arial"/>
              </a:rPr>
              <a:t>Giros posteriores: predecir con</a:t>
            </a:r>
          </a:p>
          <a:p>
            <a:pPr algn="l">
              <a:defRPr sz="2200" b="0">
                <a:solidFill>
                  <a:srgbClr val="111111"/>
                </a:solidFill>
                <a:latin typeface="Arial"/>
                <a:ea typeface="Arial"/>
                <a:cs typeface="Arial"/>
              </a:defRPr>
            </a:pPr>
            <a:r>
              <a:rPr sz="2200" b="0">
                <a:solidFill>
                  <a:srgbClr val="111111"/>
                </a:solidFill>
                <a:latin typeface="Arial"/>
                <a:ea typeface="Arial"/>
                <a:cs typeface="Arial"/>
              </a:rPr>
              <a:t>el modelo ya fijado.</a:t>
            </a:r>
          </a:p>
        </p:txBody>
      </p:sp>
      <p:sp>
        <p:nvSpPr>
          <p:cNvPr id="13" name="fuente">
            <a:extLst>
              <a:ext uri="{FF2B5EF4-FFF2-40B4-BE49-F238E27FC236}">
                <a16:creationId xmlns:a16="http://schemas.microsoft.com/office/drawing/2014/main" id="{C2CDD90E-F1EF-4155-BC6F-32EC4712E64B}"/>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Solo entran medidas disponibles antes del instante fijado</a:t>
            </a:r>
          </a:p>
        </p:txBody>
      </p:sp>
    </p:spTree>
    <p:extLst>
      <p:ext uri="{BB962C8B-B14F-4D97-AF65-F5344CB8AC3E}">
        <p14:creationId xmlns:p14="http://schemas.microsoft.com/office/powerpoint/2010/main" val="1496141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433DD951-CF16-4CE7-9B99-DFA134E90CDE}"/>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Probabilidad</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y realidad</a:t>
            </a:r>
          </a:p>
        </p:txBody>
      </p:sp>
      <p:sp>
        <p:nvSpPr>
          <p:cNvPr id="7" name="subtitulo">
            <a:extLst>
              <a:ext uri="{FF2B5EF4-FFF2-40B4-BE49-F238E27FC236}">
                <a16:creationId xmlns:a16="http://schemas.microsoft.com/office/drawing/2014/main" id="{B2E2E6C4-B50D-43CB-A6EE-95D4263394BF}"/>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Calibración</a:t>
            </a:r>
          </a:p>
        </p:txBody>
      </p:sp>
      <p:sp>
        <p:nvSpPr>
          <p:cNvPr id="8" name="idea">
            <a:extLst>
              <a:ext uri="{FF2B5EF4-FFF2-40B4-BE49-F238E27FC236}">
                <a16:creationId xmlns:a16="http://schemas.microsoft.com/office/drawing/2014/main" id="{8F4E00C6-286C-4E12-9EE9-7D01F62BD0F2}"/>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dirty="0">
                <a:solidFill>
                  <a:srgbClr val="111111"/>
                </a:solidFill>
                <a:latin typeface="Arial"/>
                <a:ea typeface="Arial"/>
                <a:cs typeface="Arial"/>
              </a:rPr>
              <a:t>Una </a:t>
            </a:r>
            <a:r>
              <a:rPr sz="2100" b="0" dirty="0" err="1">
                <a:solidFill>
                  <a:srgbClr val="111111"/>
                </a:solidFill>
                <a:latin typeface="Arial"/>
                <a:ea typeface="Arial"/>
                <a:cs typeface="Arial"/>
              </a:rPr>
              <a:t>probabilidad</a:t>
            </a:r>
            <a:endParaRPr sz="2100" b="0" dirty="0">
              <a:solidFill>
                <a:srgbClr val="111111"/>
              </a:solidFill>
              <a:latin typeface="Arial"/>
              <a:ea typeface="Arial"/>
              <a:cs typeface="Arial"/>
            </a:endParaRPr>
          </a:p>
          <a:p>
            <a:pPr algn="l">
              <a:defRPr sz="2100" b="0">
                <a:solidFill>
                  <a:srgbClr val="111111"/>
                </a:solidFill>
                <a:latin typeface="Arial"/>
                <a:ea typeface="Arial"/>
                <a:cs typeface="Arial"/>
              </a:defRPr>
            </a:pPr>
            <a:r>
              <a:rPr sz="2100" b="0" dirty="0" err="1">
                <a:solidFill>
                  <a:srgbClr val="111111"/>
                </a:solidFill>
                <a:latin typeface="Arial"/>
                <a:ea typeface="Arial"/>
                <a:cs typeface="Arial"/>
              </a:rPr>
              <a:t>requiere</a:t>
            </a:r>
            <a:r>
              <a:rPr sz="2100" b="0" dirty="0">
                <a:solidFill>
                  <a:srgbClr val="111111"/>
                </a:solidFill>
                <a:latin typeface="Arial"/>
                <a:ea typeface="Arial"/>
                <a:cs typeface="Arial"/>
              </a:rPr>
              <a:t> </a:t>
            </a:r>
            <a:r>
              <a:rPr sz="2100" b="0" dirty="0" err="1">
                <a:solidFill>
                  <a:srgbClr val="111111"/>
                </a:solidFill>
                <a:latin typeface="Arial"/>
                <a:ea typeface="Arial"/>
                <a:cs typeface="Arial"/>
              </a:rPr>
              <a:t>muchas</a:t>
            </a:r>
            <a:endParaRPr sz="2100" b="0" dirty="0">
              <a:solidFill>
                <a:srgbClr val="111111"/>
              </a:solidFill>
              <a:latin typeface="Arial"/>
              <a:ea typeface="Arial"/>
              <a:cs typeface="Arial"/>
            </a:endParaRPr>
          </a:p>
          <a:p>
            <a:pPr algn="l">
              <a:defRPr sz="2100" b="0">
                <a:solidFill>
                  <a:srgbClr val="111111"/>
                </a:solidFill>
                <a:latin typeface="Arial"/>
                <a:ea typeface="Arial"/>
                <a:cs typeface="Arial"/>
              </a:defRPr>
            </a:pPr>
            <a:r>
              <a:rPr sz="2100" b="0" dirty="0" err="1">
                <a:solidFill>
                  <a:srgbClr val="111111"/>
                </a:solidFill>
                <a:latin typeface="Arial"/>
                <a:ea typeface="Arial"/>
                <a:cs typeface="Arial"/>
              </a:rPr>
              <a:t>predicciones</a:t>
            </a:r>
            <a:endParaRPr sz="2100" b="0" dirty="0">
              <a:solidFill>
                <a:srgbClr val="111111"/>
              </a:solidFill>
              <a:latin typeface="Arial"/>
              <a:ea typeface="Arial"/>
              <a:cs typeface="Arial"/>
            </a:endParaRPr>
          </a:p>
          <a:p>
            <a:pPr algn="l">
              <a:defRPr sz="2100" b="0">
                <a:solidFill>
                  <a:srgbClr val="111111"/>
                </a:solidFill>
                <a:latin typeface="Arial"/>
                <a:ea typeface="Arial"/>
                <a:cs typeface="Arial"/>
              </a:defRPr>
            </a:pPr>
            <a:r>
              <a:rPr sz="2100" b="0" dirty="0">
                <a:solidFill>
                  <a:srgbClr val="111111"/>
                </a:solidFill>
                <a:latin typeface="Arial"/>
                <a:ea typeface="Arial"/>
                <a:cs typeface="Arial"/>
              </a:rPr>
              <a:t>para </a:t>
            </a:r>
            <a:r>
              <a:rPr sz="2100" b="0" dirty="0" err="1">
                <a:solidFill>
                  <a:srgbClr val="111111"/>
                </a:solidFill>
                <a:latin typeface="Arial"/>
                <a:ea typeface="Arial"/>
                <a:cs typeface="Arial"/>
              </a:rPr>
              <a:t>contrastarse</a:t>
            </a:r>
            <a:r>
              <a:rPr sz="2100" b="0" dirty="0">
                <a:solidFill>
                  <a:srgbClr val="111111"/>
                </a:solidFill>
                <a:latin typeface="Arial"/>
                <a:ea typeface="Arial"/>
                <a:cs typeface="Arial"/>
              </a:rPr>
              <a:t>.</a:t>
            </a:r>
          </a:p>
        </p:txBody>
      </p:sp>
      <p:sp>
        <p:nvSpPr>
          <p:cNvPr id="9" name="contenido">
            <a:extLst>
              <a:ext uri="{FF2B5EF4-FFF2-40B4-BE49-F238E27FC236}">
                <a16:creationId xmlns:a16="http://schemas.microsoft.com/office/drawing/2014/main" id="{5013AD89-476F-48AC-9C44-BC2E5BB19816}"/>
              </a:ext>
            </a:extLst>
          </p:cNvPr>
          <p:cNvSpPr>
            <a:spLocks noGrp="1"/>
          </p:cNvSpPr>
          <p:nvPr/>
        </p:nvSpPr>
        <p:spPr>
          <a:xfrm>
            <a:off x="3333750" y="523875"/>
            <a:ext cx="5143500" cy="857250"/>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Si el modelo anuncia cerca del 60 %:</a:t>
            </a:r>
          </a:p>
        </p:txBody>
      </p:sp>
      <p:sp>
        <p:nvSpPr>
          <p:cNvPr id="10" name="contenido">
            <a:extLst>
              <a:ext uri="{FF2B5EF4-FFF2-40B4-BE49-F238E27FC236}">
                <a16:creationId xmlns:a16="http://schemas.microsoft.com/office/drawing/2014/main" id="{0311590F-9844-4AA8-A23C-032007214F2F}"/>
              </a:ext>
            </a:extLst>
          </p:cNvPr>
          <p:cNvSpPr>
            <a:spLocks noGrp="1"/>
          </p:cNvSpPr>
          <p:nvPr/>
        </p:nvSpPr>
        <p:spPr>
          <a:xfrm>
            <a:off x="3333750" y="1114425"/>
            <a:ext cx="5143500" cy="1000125"/>
          </a:xfrm>
          <a:prstGeom prst="rect">
            <a:avLst/>
          </a:prstGeom>
          <a:noFill/>
          <a:ln w="0">
            <a:noFill/>
          </a:ln>
        </p:spPr>
        <p:txBody>
          <a:bodyPr wrap="square" lIns="0" tIns="0" rIns="0" bIns="0" anchor="t">
            <a:noAutofit/>
          </a:bodyPr>
          <a:lstStyle>
            <a:defPPr algn="l">
              <a:defRPr sz="2400" b="1">
                <a:solidFill>
                  <a:srgbClr val="044247"/>
                </a:solidFill>
                <a:latin typeface="Arial"/>
                <a:ea typeface="Arial"/>
                <a:cs typeface="Arial"/>
              </a:defRPr>
            </a:defPPr>
            <a:lvl1pPr algn="l">
              <a:defRPr sz="2400" b="1">
                <a:solidFill>
                  <a:srgbClr val="044247"/>
                </a:solidFill>
                <a:latin typeface="Arial"/>
                <a:ea typeface="Arial"/>
                <a:cs typeface="Arial"/>
              </a:defRPr>
            </a:lvl1pPr>
            <a:lvl2pPr algn="l">
              <a:defRPr sz="2400" b="1">
                <a:solidFill>
                  <a:srgbClr val="044247"/>
                </a:solidFill>
                <a:latin typeface="Arial"/>
                <a:ea typeface="Arial"/>
                <a:cs typeface="Arial"/>
              </a:defRPr>
            </a:lvl2pPr>
            <a:lvl3pPr algn="l">
              <a:defRPr sz="2400" b="1">
                <a:solidFill>
                  <a:srgbClr val="044247"/>
                </a:solidFill>
                <a:latin typeface="Arial"/>
                <a:ea typeface="Arial"/>
                <a:cs typeface="Arial"/>
              </a:defRPr>
            </a:lvl3pPr>
            <a:lvl4pPr algn="l">
              <a:defRPr sz="2400" b="1">
                <a:solidFill>
                  <a:srgbClr val="044247"/>
                </a:solidFill>
                <a:latin typeface="Arial"/>
                <a:ea typeface="Arial"/>
                <a:cs typeface="Arial"/>
              </a:defRPr>
            </a:lvl4pPr>
            <a:lvl5pPr algn="l">
              <a:defRPr sz="2400" b="1">
                <a:solidFill>
                  <a:srgbClr val="044247"/>
                </a:solidFill>
                <a:latin typeface="Arial"/>
                <a:ea typeface="Arial"/>
                <a:cs typeface="Arial"/>
              </a:defRPr>
            </a:lvl5pPr>
            <a:lvl6pPr algn="l">
              <a:defRPr sz="2400" b="1">
                <a:solidFill>
                  <a:srgbClr val="044247"/>
                </a:solidFill>
                <a:latin typeface="Arial"/>
                <a:ea typeface="Arial"/>
                <a:cs typeface="Arial"/>
              </a:defRPr>
            </a:lvl6pPr>
            <a:lvl7pPr algn="l">
              <a:defRPr sz="2400" b="1">
                <a:solidFill>
                  <a:srgbClr val="044247"/>
                </a:solidFill>
                <a:latin typeface="Arial"/>
                <a:ea typeface="Arial"/>
                <a:cs typeface="Arial"/>
              </a:defRPr>
            </a:lvl7pPr>
            <a:lvl8pPr algn="l">
              <a:defRPr sz="2400" b="1">
                <a:solidFill>
                  <a:srgbClr val="044247"/>
                </a:solidFill>
                <a:latin typeface="Arial"/>
                <a:ea typeface="Arial"/>
                <a:cs typeface="Arial"/>
              </a:defRPr>
            </a:lvl8pPr>
            <a:lvl9pPr algn="l">
              <a:defRPr sz="2400" b="1">
                <a:solidFill>
                  <a:srgbClr val="044247"/>
                </a:solidFill>
                <a:latin typeface="Arial"/>
                <a:ea typeface="Arial"/>
                <a:cs typeface="Arial"/>
              </a:defRPr>
            </a:lvl9pPr>
          </a:lstStyle>
          <a:p>
            <a:pPr algn="l">
              <a:defRPr sz="2400" b="1">
                <a:solidFill>
                  <a:srgbClr val="044247"/>
                </a:solidFill>
                <a:latin typeface="Arial"/>
                <a:ea typeface="Arial"/>
                <a:cs typeface="Arial"/>
              </a:defRPr>
            </a:pPr>
            <a:r>
              <a:rPr sz="2400" b="1">
                <a:solidFill>
                  <a:srgbClr val="044247"/>
                </a:solidFill>
                <a:latin typeface="Arial"/>
                <a:ea typeface="Arial"/>
                <a:cs typeface="Arial"/>
              </a:rPr>
              <a:t>En muchos casos comparables,</a:t>
            </a:r>
          </a:p>
          <a:p>
            <a:pPr algn="l">
              <a:defRPr sz="2400" b="1">
                <a:solidFill>
                  <a:srgbClr val="044247"/>
                </a:solidFill>
                <a:latin typeface="Arial"/>
                <a:ea typeface="Arial"/>
                <a:cs typeface="Arial"/>
              </a:defRPr>
            </a:pPr>
            <a:r>
              <a:rPr sz="2400" b="1">
                <a:solidFill>
                  <a:srgbClr val="044247"/>
                </a:solidFill>
                <a:latin typeface="Arial"/>
                <a:ea typeface="Arial"/>
                <a:cs typeface="Arial"/>
              </a:rPr>
              <a:t>debería acertar cerca del 60 %.</a:t>
            </a:r>
          </a:p>
        </p:txBody>
      </p:sp>
      <p:sp>
        <p:nvSpPr>
          <p:cNvPr id="11" name="contenido">
            <a:extLst>
              <a:ext uri="{FF2B5EF4-FFF2-40B4-BE49-F238E27FC236}">
                <a16:creationId xmlns:a16="http://schemas.microsoft.com/office/drawing/2014/main" id="{7B412A8F-0C5A-402A-82C5-657EA36B9D4D}"/>
              </a:ext>
            </a:extLst>
          </p:cNvPr>
          <p:cNvSpPr>
            <a:spLocks noGrp="1"/>
          </p:cNvSpPr>
          <p:nvPr/>
        </p:nvSpPr>
        <p:spPr>
          <a:xfrm>
            <a:off x="3333750" y="2571750"/>
            <a:ext cx="5143500" cy="1000125"/>
          </a:xfrm>
          <a:prstGeom prst="rect">
            <a:avLst/>
          </a:prstGeom>
          <a:noFill/>
          <a:ln w="0">
            <a:noFill/>
          </a:ln>
        </p:spPr>
        <p:txBody>
          <a:bodyPr wrap="square" lIns="0" tIns="0" rIns="0" bIns="0" anchor="t">
            <a:noAutofit/>
          </a:bodyPr>
          <a:lstStyle>
            <a:defPPr algn="l">
              <a:defRPr sz="2200" b="0">
                <a:solidFill>
                  <a:srgbClr val="111111"/>
                </a:solidFill>
                <a:latin typeface="Arial"/>
                <a:ea typeface="Arial"/>
                <a:cs typeface="Arial"/>
              </a:defRPr>
            </a:defPPr>
            <a:lvl1pPr algn="l">
              <a:defRPr sz="2200" b="0">
                <a:solidFill>
                  <a:srgbClr val="111111"/>
                </a:solidFill>
                <a:latin typeface="Arial"/>
                <a:ea typeface="Arial"/>
                <a:cs typeface="Arial"/>
              </a:defRPr>
            </a:lvl1pPr>
            <a:lvl2pPr algn="l">
              <a:defRPr sz="2200" b="0">
                <a:solidFill>
                  <a:srgbClr val="111111"/>
                </a:solidFill>
                <a:latin typeface="Arial"/>
                <a:ea typeface="Arial"/>
                <a:cs typeface="Arial"/>
              </a:defRPr>
            </a:lvl2pPr>
            <a:lvl3pPr algn="l">
              <a:defRPr sz="2200" b="0">
                <a:solidFill>
                  <a:srgbClr val="111111"/>
                </a:solidFill>
                <a:latin typeface="Arial"/>
                <a:ea typeface="Arial"/>
                <a:cs typeface="Arial"/>
              </a:defRPr>
            </a:lvl3pPr>
            <a:lvl4pPr algn="l">
              <a:defRPr sz="2200" b="0">
                <a:solidFill>
                  <a:srgbClr val="111111"/>
                </a:solidFill>
                <a:latin typeface="Arial"/>
                <a:ea typeface="Arial"/>
                <a:cs typeface="Arial"/>
              </a:defRPr>
            </a:lvl4pPr>
            <a:lvl5pPr algn="l">
              <a:defRPr sz="2200" b="0">
                <a:solidFill>
                  <a:srgbClr val="111111"/>
                </a:solidFill>
                <a:latin typeface="Arial"/>
                <a:ea typeface="Arial"/>
                <a:cs typeface="Arial"/>
              </a:defRPr>
            </a:lvl5pPr>
            <a:lvl6pPr algn="l">
              <a:defRPr sz="2200" b="0">
                <a:solidFill>
                  <a:srgbClr val="111111"/>
                </a:solidFill>
                <a:latin typeface="Arial"/>
                <a:ea typeface="Arial"/>
                <a:cs typeface="Arial"/>
              </a:defRPr>
            </a:lvl6pPr>
            <a:lvl7pPr algn="l">
              <a:defRPr sz="2200" b="0">
                <a:solidFill>
                  <a:srgbClr val="111111"/>
                </a:solidFill>
                <a:latin typeface="Arial"/>
                <a:ea typeface="Arial"/>
                <a:cs typeface="Arial"/>
              </a:defRPr>
            </a:lvl7pPr>
            <a:lvl8pPr algn="l">
              <a:defRPr sz="2200" b="0">
                <a:solidFill>
                  <a:srgbClr val="111111"/>
                </a:solidFill>
                <a:latin typeface="Arial"/>
                <a:ea typeface="Arial"/>
                <a:cs typeface="Arial"/>
              </a:defRPr>
            </a:lvl8pPr>
            <a:lvl9pPr algn="l">
              <a:defRPr sz="2200" b="0">
                <a:solidFill>
                  <a:srgbClr val="111111"/>
                </a:solidFill>
                <a:latin typeface="Arial"/>
                <a:ea typeface="Arial"/>
                <a:cs typeface="Arial"/>
              </a:defRPr>
            </a:lvl9pPr>
          </a:lstStyle>
          <a:p>
            <a:pPr algn="l">
              <a:defRPr sz="2200" b="0">
                <a:solidFill>
                  <a:srgbClr val="111111"/>
                </a:solidFill>
                <a:latin typeface="Arial"/>
                <a:ea typeface="Arial"/>
                <a:cs typeface="Arial"/>
              </a:defRPr>
            </a:pPr>
            <a:r>
              <a:rPr sz="2200" b="0" dirty="0" err="1">
                <a:solidFill>
                  <a:srgbClr val="111111"/>
                </a:solidFill>
                <a:latin typeface="Arial"/>
                <a:ea typeface="Arial"/>
                <a:cs typeface="Arial"/>
              </a:rPr>
              <a:t>También</a:t>
            </a:r>
            <a:r>
              <a:rPr sz="2200" b="0" dirty="0">
                <a:solidFill>
                  <a:srgbClr val="111111"/>
                </a:solidFill>
                <a:latin typeface="Arial"/>
                <a:ea typeface="Arial"/>
                <a:cs typeface="Arial"/>
              </a:rPr>
              <a:t> se </a:t>
            </a:r>
            <a:r>
              <a:rPr sz="2200" b="0" dirty="0" err="1">
                <a:solidFill>
                  <a:srgbClr val="111111"/>
                </a:solidFill>
                <a:latin typeface="Arial"/>
                <a:ea typeface="Arial"/>
                <a:cs typeface="Arial"/>
              </a:rPr>
              <a:t>comprueba</a:t>
            </a:r>
            <a:r>
              <a:rPr sz="2200" b="0" dirty="0">
                <a:solidFill>
                  <a:srgbClr val="111111"/>
                </a:solidFill>
                <a:latin typeface="Arial"/>
                <a:ea typeface="Arial"/>
                <a:cs typeface="Arial"/>
              </a:rPr>
              <a:t> </a:t>
            </a:r>
            <a:r>
              <a:rPr sz="2200" b="0" dirty="0" err="1">
                <a:solidFill>
                  <a:srgbClr val="111111"/>
                </a:solidFill>
                <a:latin typeface="Arial"/>
                <a:ea typeface="Arial"/>
                <a:cs typeface="Arial"/>
              </a:rPr>
              <a:t>su</a:t>
            </a:r>
            <a:r>
              <a:rPr sz="2200" b="0" dirty="0">
                <a:solidFill>
                  <a:srgbClr val="111111"/>
                </a:solidFill>
                <a:latin typeface="Arial"/>
                <a:ea typeface="Arial"/>
                <a:cs typeface="Arial"/>
              </a:rPr>
              <a:t> </a:t>
            </a:r>
            <a:r>
              <a:rPr sz="2200" b="0" dirty="0" err="1">
                <a:solidFill>
                  <a:srgbClr val="111111"/>
                </a:solidFill>
                <a:latin typeface="Arial"/>
                <a:ea typeface="Arial"/>
                <a:cs typeface="Arial"/>
              </a:rPr>
              <a:t>estabilidad</a:t>
            </a:r>
            <a:endParaRPr sz="2200" b="0" dirty="0">
              <a:solidFill>
                <a:srgbClr val="111111"/>
              </a:solidFill>
              <a:latin typeface="Arial"/>
              <a:ea typeface="Arial"/>
              <a:cs typeface="Arial"/>
            </a:endParaRPr>
          </a:p>
          <a:p>
            <a:pPr algn="l">
              <a:defRPr sz="2200" b="0">
                <a:solidFill>
                  <a:srgbClr val="111111"/>
                </a:solidFill>
                <a:latin typeface="Arial"/>
                <a:ea typeface="Arial"/>
                <a:cs typeface="Arial"/>
              </a:defRPr>
            </a:pPr>
            <a:r>
              <a:rPr sz="2200" b="0" dirty="0" err="1">
                <a:solidFill>
                  <a:srgbClr val="111111"/>
                </a:solidFill>
                <a:latin typeface="Arial"/>
                <a:ea typeface="Arial"/>
                <a:cs typeface="Arial"/>
              </a:rPr>
              <a:t>en</a:t>
            </a:r>
            <a:r>
              <a:rPr sz="2200" b="0" dirty="0">
                <a:solidFill>
                  <a:srgbClr val="111111"/>
                </a:solidFill>
                <a:latin typeface="Arial"/>
                <a:ea typeface="Arial"/>
                <a:cs typeface="Arial"/>
              </a:rPr>
              <a:t> </a:t>
            </a:r>
            <a:r>
              <a:rPr sz="2200" b="0" dirty="0" err="1">
                <a:solidFill>
                  <a:srgbClr val="111111"/>
                </a:solidFill>
                <a:latin typeface="Arial"/>
                <a:ea typeface="Arial"/>
                <a:cs typeface="Arial"/>
              </a:rPr>
              <a:t>otras</a:t>
            </a:r>
            <a:r>
              <a:rPr sz="2200" b="0" dirty="0">
                <a:solidFill>
                  <a:srgbClr val="111111"/>
                </a:solidFill>
                <a:latin typeface="Arial"/>
                <a:ea typeface="Arial"/>
                <a:cs typeface="Arial"/>
              </a:rPr>
              <a:t> </a:t>
            </a:r>
            <a:r>
              <a:rPr sz="2200" b="0" dirty="0" err="1">
                <a:solidFill>
                  <a:srgbClr val="111111"/>
                </a:solidFill>
                <a:latin typeface="Arial"/>
                <a:ea typeface="Arial"/>
                <a:cs typeface="Arial"/>
              </a:rPr>
              <a:t>sesiones</a:t>
            </a:r>
            <a:r>
              <a:rPr sz="2200" b="0" dirty="0">
                <a:solidFill>
                  <a:srgbClr val="111111"/>
                </a:solidFill>
                <a:latin typeface="Arial"/>
                <a:ea typeface="Arial"/>
                <a:cs typeface="Arial"/>
              </a:rPr>
              <a:t> y </a:t>
            </a:r>
            <a:r>
              <a:rPr sz="2200" b="0" dirty="0" err="1">
                <a:solidFill>
                  <a:srgbClr val="111111"/>
                </a:solidFill>
                <a:latin typeface="Arial"/>
                <a:ea typeface="Arial"/>
                <a:cs typeface="Arial"/>
              </a:rPr>
              <a:t>condiciones</a:t>
            </a:r>
            <a:r>
              <a:rPr sz="2200" b="0" dirty="0">
                <a:solidFill>
                  <a:srgbClr val="111111"/>
                </a:solidFill>
                <a:latin typeface="Arial"/>
                <a:ea typeface="Arial"/>
                <a:cs typeface="Arial"/>
              </a:rPr>
              <a:t>.</a:t>
            </a:r>
          </a:p>
        </p:txBody>
      </p:sp>
      <p:sp>
        <p:nvSpPr>
          <p:cNvPr id="12" name="contenido">
            <a:extLst>
              <a:ext uri="{FF2B5EF4-FFF2-40B4-BE49-F238E27FC236}">
                <a16:creationId xmlns:a16="http://schemas.microsoft.com/office/drawing/2014/main" id="{56831B64-6F88-46E5-9930-E93A1A8886C0}"/>
              </a:ext>
            </a:extLst>
          </p:cNvPr>
          <p:cNvSpPr>
            <a:spLocks noGrp="1"/>
          </p:cNvSpPr>
          <p:nvPr/>
        </p:nvSpPr>
        <p:spPr>
          <a:xfrm>
            <a:off x="3333750" y="3905250"/>
            <a:ext cx="5143500" cy="742950"/>
          </a:xfrm>
          <a:prstGeom prst="rect">
            <a:avLst/>
          </a:prstGeom>
          <a:noFill/>
          <a:ln w="0">
            <a:noFill/>
          </a:ln>
        </p:spPr>
        <p:txBody>
          <a:bodyPr wrap="square" lIns="0" tIns="0" rIns="0" bIns="0" anchor="t">
            <a:noAutofit/>
          </a:bodyPr>
          <a:lstStyle>
            <a:defPPr algn="l">
              <a:defRPr sz="2000" b="0">
                <a:solidFill>
                  <a:srgbClr val="111111"/>
                </a:solidFill>
                <a:latin typeface="Arial"/>
                <a:ea typeface="Arial"/>
                <a:cs typeface="Arial"/>
              </a:defRPr>
            </a:defPPr>
            <a:lvl1pPr algn="l">
              <a:defRPr sz="2000" b="0">
                <a:solidFill>
                  <a:srgbClr val="111111"/>
                </a:solidFill>
                <a:latin typeface="Arial"/>
                <a:ea typeface="Arial"/>
                <a:cs typeface="Arial"/>
              </a:defRPr>
            </a:lvl1pPr>
            <a:lvl2pPr algn="l">
              <a:defRPr sz="2000" b="0">
                <a:solidFill>
                  <a:srgbClr val="111111"/>
                </a:solidFill>
                <a:latin typeface="Arial"/>
                <a:ea typeface="Arial"/>
                <a:cs typeface="Arial"/>
              </a:defRPr>
            </a:lvl2pPr>
            <a:lvl3pPr algn="l">
              <a:defRPr sz="2000" b="0">
                <a:solidFill>
                  <a:srgbClr val="111111"/>
                </a:solidFill>
                <a:latin typeface="Arial"/>
                <a:ea typeface="Arial"/>
                <a:cs typeface="Arial"/>
              </a:defRPr>
            </a:lvl3pPr>
            <a:lvl4pPr algn="l">
              <a:defRPr sz="2000" b="0">
                <a:solidFill>
                  <a:srgbClr val="111111"/>
                </a:solidFill>
                <a:latin typeface="Arial"/>
                <a:ea typeface="Arial"/>
                <a:cs typeface="Arial"/>
              </a:defRPr>
            </a:lvl4pPr>
            <a:lvl5pPr algn="l">
              <a:defRPr sz="2000" b="0">
                <a:solidFill>
                  <a:srgbClr val="111111"/>
                </a:solidFill>
                <a:latin typeface="Arial"/>
                <a:ea typeface="Arial"/>
                <a:cs typeface="Arial"/>
              </a:defRPr>
            </a:lvl5pPr>
            <a:lvl6pPr algn="l">
              <a:defRPr sz="2000" b="0">
                <a:solidFill>
                  <a:srgbClr val="111111"/>
                </a:solidFill>
                <a:latin typeface="Arial"/>
                <a:ea typeface="Arial"/>
                <a:cs typeface="Arial"/>
              </a:defRPr>
            </a:lvl6pPr>
            <a:lvl7pPr algn="l">
              <a:defRPr sz="2000" b="0">
                <a:solidFill>
                  <a:srgbClr val="111111"/>
                </a:solidFill>
                <a:latin typeface="Arial"/>
                <a:ea typeface="Arial"/>
                <a:cs typeface="Arial"/>
              </a:defRPr>
            </a:lvl7pPr>
            <a:lvl8pPr algn="l">
              <a:defRPr sz="2000" b="0">
                <a:solidFill>
                  <a:srgbClr val="111111"/>
                </a:solidFill>
                <a:latin typeface="Arial"/>
                <a:ea typeface="Arial"/>
                <a:cs typeface="Arial"/>
              </a:defRPr>
            </a:lvl8pPr>
            <a:lvl9pPr algn="l">
              <a:defRPr sz="2000" b="0">
                <a:solidFill>
                  <a:srgbClr val="111111"/>
                </a:solidFill>
                <a:latin typeface="Arial"/>
                <a:ea typeface="Arial"/>
                <a:cs typeface="Arial"/>
              </a:defRPr>
            </a:lvl9pPr>
          </a:lstStyle>
          <a:p>
            <a:pPr algn="l">
              <a:defRPr sz="2000" b="0">
                <a:solidFill>
                  <a:srgbClr val="111111"/>
                </a:solidFill>
                <a:latin typeface="Arial"/>
                <a:ea typeface="Arial"/>
                <a:cs typeface="Arial"/>
              </a:defRPr>
            </a:pPr>
            <a:r>
              <a:rPr sz="2000" b="0">
                <a:solidFill>
                  <a:srgbClr val="111111"/>
                </a:solidFill>
                <a:latin typeface="Arial"/>
                <a:ea typeface="Arial"/>
                <a:cs typeface="Arial"/>
              </a:rPr>
              <a:t>Si se abstiene, se informa cuántas</a:t>
            </a:r>
          </a:p>
          <a:p>
            <a:pPr algn="l">
              <a:defRPr sz="2000" b="0">
                <a:solidFill>
                  <a:srgbClr val="111111"/>
                </a:solidFill>
                <a:latin typeface="Arial"/>
                <a:ea typeface="Arial"/>
                <a:cs typeface="Arial"/>
              </a:defRPr>
            </a:pPr>
            <a:r>
              <a:rPr sz="2000" b="0">
                <a:solidFill>
                  <a:srgbClr val="111111"/>
                </a:solidFill>
                <a:latin typeface="Arial"/>
                <a:ea typeface="Arial"/>
                <a:cs typeface="Arial"/>
              </a:rPr>
              <a:t>veces predice y cuántas descarta.</a:t>
            </a:r>
          </a:p>
        </p:txBody>
      </p:sp>
    </p:spTree>
    <p:extLst>
      <p:ext uri="{BB962C8B-B14F-4D97-AF65-F5344CB8AC3E}">
        <p14:creationId xmlns:p14="http://schemas.microsoft.com/office/powerpoint/2010/main" val="1588550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411E7EA-AB78-452D-A225-019270418CEB}"/>
              </a:ext>
            </a:extLst>
          </p:cNvPr>
          <p:cNvSpPr>
            <a:spLocks noGrp="1"/>
          </p:cNvSpPr>
          <p:nvPr/>
        </p:nvSpPr>
        <p:spPr>
          <a:xfrm>
            <a:off x="8254885" y="3943583"/>
            <a:ext cx="889635" cy="1200150"/>
          </a:xfrm>
          <a:custGeom>
            <a:avLst/>
            <a:gdLst/>
            <a:ahLst/>
            <a:cxnLst/>
            <a:rect l="l" t="t" r="r" b="b"/>
            <a:pathLst>
              <a:path w="889634" h="1200150">
                <a:moveTo>
                  <a:pt x="421571" y="860414"/>
                </a:moveTo>
                <a:lnTo>
                  <a:pt x="373441" y="863065"/>
                </a:lnTo>
                <a:lnTo>
                  <a:pt x="326852" y="870829"/>
                </a:lnTo>
                <a:lnTo>
                  <a:pt x="282088" y="883425"/>
                </a:lnTo>
                <a:lnTo>
                  <a:pt x="239430" y="900570"/>
                </a:lnTo>
                <a:lnTo>
                  <a:pt x="199160" y="921983"/>
                </a:lnTo>
                <a:lnTo>
                  <a:pt x="161560" y="947381"/>
                </a:lnTo>
                <a:lnTo>
                  <a:pt x="126911" y="976484"/>
                </a:lnTo>
                <a:lnTo>
                  <a:pt x="95497" y="1009008"/>
                </a:lnTo>
                <a:lnTo>
                  <a:pt x="67598" y="1044671"/>
                </a:lnTo>
                <a:lnTo>
                  <a:pt x="43497" y="1083193"/>
                </a:lnTo>
                <a:lnTo>
                  <a:pt x="23475" y="1124290"/>
                </a:lnTo>
                <a:lnTo>
                  <a:pt x="0" y="1199915"/>
                </a:lnTo>
                <a:lnTo>
                  <a:pt x="843141" y="1199915"/>
                </a:lnTo>
                <a:lnTo>
                  <a:pt x="819666" y="1124290"/>
                </a:lnTo>
                <a:lnTo>
                  <a:pt x="799645" y="1083193"/>
                </a:lnTo>
                <a:lnTo>
                  <a:pt x="775543" y="1044671"/>
                </a:lnTo>
                <a:lnTo>
                  <a:pt x="747644" y="1009008"/>
                </a:lnTo>
                <a:lnTo>
                  <a:pt x="716230" y="976484"/>
                </a:lnTo>
                <a:lnTo>
                  <a:pt x="681581" y="947381"/>
                </a:lnTo>
                <a:lnTo>
                  <a:pt x="643981" y="921983"/>
                </a:lnTo>
                <a:lnTo>
                  <a:pt x="603711" y="900570"/>
                </a:lnTo>
                <a:lnTo>
                  <a:pt x="561053" y="883425"/>
                </a:lnTo>
                <a:lnTo>
                  <a:pt x="516289" y="870829"/>
                </a:lnTo>
                <a:lnTo>
                  <a:pt x="469701" y="863065"/>
                </a:lnTo>
                <a:lnTo>
                  <a:pt x="421571" y="860414"/>
                </a:lnTo>
                <a:close/>
              </a:path>
              <a:path w="889634" h="1200150">
                <a:moveTo>
                  <a:pt x="889115" y="0"/>
                </a:moveTo>
                <a:lnTo>
                  <a:pt x="838554" y="5097"/>
                </a:lnTo>
                <a:lnTo>
                  <a:pt x="794032" y="16725"/>
                </a:lnTo>
                <a:lnTo>
                  <a:pt x="751512" y="32837"/>
                </a:lnTo>
                <a:lnTo>
                  <a:pt x="711268" y="53161"/>
                </a:lnTo>
                <a:lnTo>
                  <a:pt x="673568" y="77425"/>
                </a:lnTo>
                <a:lnTo>
                  <a:pt x="638686" y="105358"/>
                </a:lnTo>
                <a:lnTo>
                  <a:pt x="606891" y="136689"/>
                </a:lnTo>
                <a:lnTo>
                  <a:pt x="578456" y="171147"/>
                </a:lnTo>
                <a:lnTo>
                  <a:pt x="553652" y="208460"/>
                </a:lnTo>
                <a:lnTo>
                  <a:pt x="532749" y="248358"/>
                </a:lnTo>
                <a:lnTo>
                  <a:pt x="516019" y="290569"/>
                </a:lnTo>
                <a:lnTo>
                  <a:pt x="503733" y="334821"/>
                </a:lnTo>
                <a:lnTo>
                  <a:pt x="496162" y="380844"/>
                </a:lnTo>
                <a:lnTo>
                  <a:pt x="493579" y="428366"/>
                </a:lnTo>
                <a:lnTo>
                  <a:pt x="496162" y="475889"/>
                </a:lnTo>
                <a:lnTo>
                  <a:pt x="503733" y="521912"/>
                </a:lnTo>
                <a:lnTo>
                  <a:pt x="516019" y="566165"/>
                </a:lnTo>
                <a:lnTo>
                  <a:pt x="532749" y="608376"/>
                </a:lnTo>
                <a:lnTo>
                  <a:pt x="553652" y="648273"/>
                </a:lnTo>
                <a:lnTo>
                  <a:pt x="578456" y="685587"/>
                </a:lnTo>
                <a:lnTo>
                  <a:pt x="606891" y="720045"/>
                </a:lnTo>
                <a:lnTo>
                  <a:pt x="638686" y="751376"/>
                </a:lnTo>
                <a:lnTo>
                  <a:pt x="673568" y="779309"/>
                </a:lnTo>
                <a:lnTo>
                  <a:pt x="711268" y="803573"/>
                </a:lnTo>
                <a:lnTo>
                  <a:pt x="751512" y="823897"/>
                </a:lnTo>
                <a:lnTo>
                  <a:pt x="794032" y="840009"/>
                </a:lnTo>
                <a:lnTo>
                  <a:pt x="838554" y="851637"/>
                </a:lnTo>
                <a:lnTo>
                  <a:pt x="889115" y="856735"/>
                </a:lnTo>
                <a:lnTo>
                  <a:pt x="889115" y="0"/>
                </a:lnTo>
                <a:close/>
              </a:path>
            </a:pathLst>
          </a:custGeom>
          <a:solidFill>
            <a:srgbClr val="00DEA4"/>
          </a:solidFill>
        </p:spPr>
        <p:txBody>
          <a:bodyPr wrap="square" lIns="0" tIns="0" rIns="0" bIns="0"/>
          <a:lstStyle/>
          <a:p>
            <a:endParaRPr/>
          </a:p>
        </p:txBody>
      </p:sp>
      <p:sp>
        <p:nvSpPr>
          <p:cNvPr id="6" name="titulo">
            <a:extLst>
              <a:ext uri="{FF2B5EF4-FFF2-40B4-BE49-F238E27FC236}">
                <a16:creationId xmlns:a16="http://schemas.microsoft.com/office/drawing/2014/main" id="{64223200-7CF4-4335-978A-8CC55AE1C581}"/>
              </a:ext>
            </a:extLst>
          </p:cNvPr>
          <p:cNvSpPr>
            <a:spLocks noGrp="1"/>
          </p:cNvSpPr>
          <p:nvPr/>
        </p:nvSpPr>
        <p:spPr>
          <a:xfrm>
            <a:off x="546259" y="323850"/>
            <a:ext cx="2714625" cy="1714500"/>
          </a:xfrm>
          <a:prstGeom prst="rect">
            <a:avLst/>
          </a:prstGeom>
          <a:noFill/>
          <a:ln w="0">
            <a:noFill/>
          </a:ln>
        </p:spPr>
        <p:txBody>
          <a:bodyPr wrap="square" lIns="0" tIns="0" rIns="0" bIns="0" anchor="t">
            <a:noAutofit/>
          </a:bodyPr>
          <a:lstStyle>
            <a:defPPr algn="l">
              <a:defRPr sz="4000" b="1">
                <a:solidFill>
                  <a:srgbClr val="044247"/>
                </a:solidFill>
                <a:latin typeface="Arial Narrow"/>
                <a:ea typeface="Arial Narrow"/>
                <a:cs typeface="Arial Narrow"/>
              </a:defRPr>
            </a:defPPr>
            <a:lvl1pPr algn="l">
              <a:defRPr sz="4000" b="1">
                <a:solidFill>
                  <a:srgbClr val="044247"/>
                </a:solidFill>
                <a:latin typeface="Arial Narrow"/>
                <a:ea typeface="Arial Narrow"/>
                <a:cs typeface="Arial Narrow"/>
              </a:defRPr>
            </a:lvl1pPr>
            <a:lvl2pPr algn="l">
              <a:defRPr sz="4000" b="1">
                <a:solidFill>
                  <a:srgbClr val="044247"/>
                </a:solidFill>
                <a:latin typeface="Arial Narrow"/>
                <a:ea typeface="Arial Narrow"/>
                <a:cs typeface="Arial Narrow"/>
              </a:defRPr>
            </a:lvl2pPr>
            <a:lvl3pPr algn="l">
              <a:defRPr sz="4000" b="1">
                <a:solidFill>
                  <a:srgbClr val="044247"/>
                </a:solidFill>
                <a:latin typeface="Arial Narrow"/>
                <a:ea typeface="Arial Narrow"/>
                <a:cs typeface="Arial Narrow"/>
              </a:defRPr>
            </a:lvl3pPr>
            <a:lvl4pPr algn="l">
              <a:defRPr sz="4000" b="1">
                <a:solidFill>
                  <a:srgbClr val="044247"/>
                </a:solidFill>
                <a:latin typeface="Arial Narrow"/>
                <a:ea typeface="Arial Narrow"/>
                <a:cs typeface="Arial Narrow"/>
              </a:defRPr>
            </a:lvl4pPr>
            <a:lvl5pPr algn="l">
              <a:defRPr sz="4000" b="1">
                <a:solidFill>
                  <a:srgbClr val="044247"/>
                </a:solidFill>
                <a:latin typeface="Arial Narrow"/>
                <a:ea typeface="Arial Narrow"/>
                <a:cs typeface="Arial Narrow"/>
              </a:defRPr>
            </a:lvl5pPr>
            <a:lvl6pPr algn="l">
              <a:defRPr sz="4000" b="1">
                <a:solidFill>
                  <a:srgbClr val="044247"/>
                </a:solidFill>
                <a:latin typeface="Arial Narrow"/>
                <a:ea typeface="Arial Narrow"/>
                <a:cs typeface="Arial Narrow"/>
              </a:defRPr>
            </a:lvl6pPr>
            <a:lvl7pPr algn="l">
              <a:defRPr sz="4000" b="1">
                <a:solidFill>
                  <a:srgbClr val="044247"/>
                </a:solidFill>
                <a:latin typeface="Arial Narrow"/>
                <a:ea typeface="Arial Narrow"/>
                <a:cs typeface="Arial Narrow"/>
              </a:defRPr>
            </a:lvl7pPr>
            <a:lvl8pPr algn="l">
              <a:defRPr sz="4000" b="1">
                <a:solidFill>
                  <a:srgbClr val="044247"/>
                </a:solidFill>
                <a:latin typeface="Arial Narrow"/>
                <a:ea typeface="Arial Narrow"/>
                <a:cs typeface="Arial Narrow"/>
              </a:defRPr>
            </a:lvl8pPr>
            <a:lvl9pPr algn="l">
              <a:defRPr sz="4000" b="1">
                <a:solidFill>
                  <a:srgbClr val="044247"/>
                </a:solidFill>
                <a:latin typeface="Arial Narrow"/>
                <a:ea typeface="Arial Narrow"/>
                <a:cs typeface="Arial Narrow"/>
              </a:defRPr>
            </a:lvl9pPr>
          </a:lstStyle>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Prueba de</a:t>
            </a:r>
          </a:p>
          <a:p>
            <a:pPr algn="l">
              <a:defRPr sz="4000" b="1">
                <a:solidFill>
                  <a:srgbClr val="044247"/>
                </a:solidFill>
                <a:latin typeface="Arial Narrow"/>
                <a:ea typeface="Arial Narrow"/>
                <a:cs typeface="Arial Narrow"/>
              </a:defRPr>
            </a:pPr>
            <a:r>
              <a:rPr sz="4000" b="1">
                <a:solidFill>
                  <a:srgbClr val="044247"/>
                </a:solidFill>
                <a:latin typeface="Arial Narrow"/>
                <a:ea typeface="Arial Narrow"/>
                <a:cs typeface="Arial Narrow"/>
              </a:rPr>
              <a:t>la hipótesis</a:t>
            </a:r>
          </a:p>
        </p:txBody>
      </p:sp>
      <p:sp>
        <p:nvSpPr>
          <p:cNvPr id="7" name="subtitulo">
            <a:extLst>
              <a:ext uri="{FF2B5EF4-FFF2-40B4-BE49-F238E27FC236}">
                <a16:creationId xmlns:a16="http://schemas.microsoft.com/office/drawing/2014/main" id="{55BE8DED-5512-46DE-BCFD-BAFB5D795B24}"/>
              </a:ext>
            </a:extLst>
          </p:cNvPr>
          <p:cNvSpPr>
            <a:spLocks noGrp="1"/>
          </p:cNvSpPr>
          <p:nvPr/>
        </p:nvSpPr>
        <p:spPr>
          <a:xfrm>
            <a:off x="546259" y="2066925"/>
            <a:ext cx="2714625" cy="495300"/>
          </a:xfrm>
          <a:prstGeom prst="rect">
            <a:avLst/>
          </a:prstGeom>
          <a:noFill/>
          <a:ln w="0">
            <a:noFill/>
          </a:ln>
        </p:spPr>
        <p:txBody>
          <a:bodyPr wrap="square" lIns="0" tIns="0" rIns="0" bIns="0" anchor="t">
            <a:noAutofit/>
          </a:bodyPr>
          <a:lstStyle>
            <a:defPPr algn="l">
              <a:defRPr sz="2800" b="1">
                <a:solidFill>
                  <a:srgbClr val="FF0000"/>
                </a:solidFill>
                <a:latin typeface="Arial Narrow"/>
                <a:ea typeface="Arial Narrow"/>
                <a:cs typeface="Arial Narrow"/>
              </a:defRPr>
            </a:defPPr>
            <a:lvl1pPr algn="l">
              <a:defRPr sz="2800" b="1">
                <a:solidFill>
                  <a:srgbClr val="FF0000"/>
                </a:solidFill>
                <a:latin typeface="Arial Narrow"/>
                <a:ea typeface="Arial Narrow"/>
                <a:cs typeface="Arial Narrow"/>
              </a:defRPr>
            </a:lvl1pPr>
            <a:lvl2pPr algn="l">
              <a:defRPr sz="2800" b="1">
                <a:solidFill>
                  <a:srgbClr val="FF0000"/>
                </a:solidFill>
                <a:latin typeface="Arial Narrow"/>
                <a:ea typeface="Arial Narrow"/>
                <a:cs typeface="Arial Narrow"/>
              </a:defRPr>
            </a:lvl2pPr>
            <a:lvl3pPr algn="l">
              <a:defRPr sz="2800" b="1">
                <a:solidFill>
                  <a:srgbClr val="FF0000"/>
                </a:solidFill>
                <a:latin typeface="Arial Narrow"/>
                <a:ea typeface="Arial Narrow"/>
                <a:cs typeface="Arial Narrow"/>
              </a:defRPr>
            </a:lvl3pPr>
            <a:lvl4pPr algn="l">
              <a:defRPr sz="2800" b="1">
                <a:solidFill>
                  <a:srgbClr val="FF0000"/>
                </a:solidFill>
                <a:latin typeface="Arial Narrow"/>
                <a:ea typeface="Arial Narrow"/>
                <a:cs typeface="Arial Narrow"/>
              </a:defRPr>
            </a:lvl4pPr>
            <a:lvl5pPr algn="l">
              <a:defRPr sz="2800" b="1">
                <a:solidFill>
                  <a:srgbClr val="FF0000"/>
                </a:solidFill>
                <a:latin typeface="Arial Narrow"/>
                <a:ea typeface="Arial Narrow"/>
                <a:cs typeface="Arial Narrow"/>
              </a:defRPr>
            </a:lvl5pPr>
            <a:lvl6pPr algn="l">
              <a:defRPr sz="2800" b="1">
                <a:solidFill>
                  <a:srgbClr val="FF0000"/>
                </a:solidFill>
                <a:latin typeface="Arial Narrow"/>
                <a:ea typeface="Arial Narrow"/>
                <a:cs typeface="Arial Narrow"/>
              </a:defRPr>
            </a:lvl6pPr>
            <a:lvl7pPr algn="l">
              <a:defRPr sz="2800" b="1">
                <a:solidFill>
                  <a:srgbClr val="FF0000"/>
                </a:solidFill>
                <a:latin typeface="Arial Narrow"/>
                <a:ea typeface="Arial Narrow"/>
                <a:cs typeface="Arial Narrow"/>
              </a:defRPr>
            </a:lvl7pPr>
            <a:lvl8pPr algn="l">
              <a:defRPr sz="2800" b="1">
                <a:solidFill>
                  <a:srgbClr val="FF0000"/>
                </a:solidFill>
                <a:latin typeface="Arial Narrow"/>
                <a:ea typeface="Arial Narrow"/>
                <a:cs typeface="Arial Narrow"/>
              </a:defRPr>
            </a:lvl8pPr>
            <a:lvl9pPr algn="l">
              <a:defRPr sz="2800" b="1">
                <a:solidFill>
                  <a:srgbClr val="FF0000"/>
                </a:solidFill>
                <a:latin typeface="Arial Narrow"/>
                <a:ea typeface="Arial Narrow"/>
                <a:cs typeface="Arial Narrow"/>
              </a:defRPr>
            </a:lvl9pPr>
          </a:lstStyle>
          <a:p>
            <a:pPr algn="l">
              <a:defRPr sz="2800" b="1">
                <a:solidFill>
                  <a:srgbClr val="FF0000"/>
                </a:solidFill>
                <a:latin typeface="Arial Narrow"/>
                <a:ea typeface="Arial Narrow"/>
                <a:cs typeface="Arial Narrow"/>
              </a:defRPr>
            </a:pPr>
            <a:r>
              <a:rPr sz="2800" b="1">
                <a:solidFill>
                  <a:srgbClr val="FF0000"/>
                </a:solidFill>
                <a:latin typeface="Arial Narrow"/>
                <a:ea typeface="Arial Narrow"/>
                <a:cs typeface="Arial Narrow"/>
              </a:rPr>
              <a:t>Con giros nuevos</a:t>
            </a:r>
          </a:p>
        </p:txBody>
      </p:sp>
      <p:sp>
        <p:nvSpPr>
          <p:cNvPr id="8" name="idea">
            <a:extLst>
              <a:ext uri="{FF2B5EF4-FFF2-40B4-BE49-F238E27FC236}">
                <a16:creationId xmlns:a16="http://schemas.microsoft.com/office/drawing/2014/main" id="{F48F9726-149C-4412-A3A3-67F1EDF7D2CC}"/>
              </a:ext>
            </a:extLst>
          </p:cNvPr>
          <p:cNvSpPr>
            <a:spLocks noGrp="1"/>
          </p:cNvSpPr>
          <p:nvPr/>
        </p:nvSpPr>
        <p:spPr>
          <a:xfrm>
            <a:off x="546259" y="2724150"/>
            <a:ext cx="2419350" cy="1952625"/>
          </a:xfrm>
          <a:prstGeom prst="rect">
            <a:avLst/>
          </a:prstGeom>
          <a:noFill/>
          <a:ln w="0">
            <a:noFill/>
          </a:ln>
        </p:spPr>
        <p:txBody>
          <a:bodyPr wrap="square" lIns="0" tIns="0" rIns="0" bIns="0" anchor="t">
            <a:noAutofit/>
          </a:bodyPr>
          <a:lstStyle>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a:pPr algn="l">
              <a:defRPr sz="2100" b="0">
                <a:solidFill>
                  <a:srgbClr val="111111"/>
                </a:solidFill>
                <a:latin typeface="Arial"/>
                <a:ea typeface="Arial"/>
                <a:cs typeface="Arial"/>
              </a:defRPr>
            </a:pPr>
            <a:r>
              <a:rPr sz="2100" b="0">
                <a:solidFill>
                  <a:srgbClr val="111111"/>
                </a:solidFill>
                <a:latin typeface="Arial"/>
                <a:ea typeface="Arial"/>
                <a:cs typeface="Arial"/>
              </a:rPr>
              <a:t>El CSV describe</a:t>
            </a:r>
          </a:p>
          <a:p>
            <a:pPr algn="l">
              <a:defRPr sz="2100" b="0">
                <a:solidFill>
                  <a:srgbClr val="111111"/>
                </a:solidFill>
                <a:latin typeface="Arial"/>
                <a:ea typeface="Arial"/>
                <a:cs typeface="Arial"/>
              </a:defRPr>
            </a:pPr>
            <a:r>
              <a:rPr sz="2100" b="0">
                <a:solidFill>
                  <a:srgbClr val="111111"/>
                </a:solidFill>
                <a:latin typeface="Arial"/>
                <a:ea typeface="Arial"/>
                <a:cs typeface="Arial"/>
              </a:rPr>
              <a:t>resultados.</a:t>
            </a:r>
          </a:p>
          <a:p>
            <a:endParaRPr sz="2100" b="0">
              <a:solidFill>
                <a:srgbClr val="111111"/>
              </a:solidFill>
              <a:latin typeface="Arial"/>
              <a:ea typeface="Arial"/>
              <a:cs typeface="Arial"/>
            </a:endParaRPr>
          </a:p>
          <a:p>
            <a:pPr algn="l">
              <a:defRPr sz="2100" b="0">
                <a:solidFill>
                  <a:srgbClr val="111111"/>
                </a:solidFill>
                <a:latin typeface="Arial"/>
                <a:ea typeface="Arial"/>
                <a:cs typeface="Arial"/>
              </a:defRPr>
            </a:pPr>
            <a:r>
              <a:rPr sz="2100" b="0">
                <a:solidFill>
                  <a:srgbClr val="111111"/>
                </a:solidFill>
                <a:latin typeface="Arial"/>
                <a:ea typeface="Arial"/>
                <a:cs typeface="Arial"/>
              </a:rPr>
              <a:t>Faltan trayectorias</a:t>
            </a:r>
          </a:p>
          <a:p>
            <a:pPr algn="l">
              <a:defRPr sz="2100" b="0">
                <a:solidFill>
                  <a:srgbClr val="111111"/>
                </a:solidFill>
                <a:latin typeface="Arial"/>
                <a:ea typeface="Arial"/>
                <a:cs typeface="Arial"/>
              </a:defRPr>
            </a:pPr>
            <a:r>
              <a:rPr sz="2100" b="0">
                <a:solidFill>
                  <a:srgbClr val="111111"/>
                </a:solidFill>
                <a:latin typeface="Arial"/>
                <a:ea typeface="Arial"/>
                <a:cs typeface="Arial"/>
              </a:rPr>
              <a:t>reales del giro.</a:t>
            </a:r>
          </a:p>
        </p:txBody>
      </p:sp>
      <p:sp>
        <p:nvSpPr>
          <p:cNvPr id="9" name="pasos">
            <a:extLst>
              <a:ext uri="{FF2B5EF4-FFF2-40B4-BE49-F238E27FC236}">
                <a16:creationId xmlns:a16="http://schemas.microsoft.com/office/drawing/2014/main" id="{2BFD3B48-6C0B-4957-898F-A7DB95014C1D}"/>
              </a:ext>
            </a:extLst>
          </p:cNvPr>
          <p:cNvSpPr>
            <a:spLocks noGrp="1"/>
          </p:cNvSpPr>
          <p:nvPr/>
        </p:nvSpPr>
        <p:spPr>
          <a:xfrm>
            <a:off x="3333750" y="571500"/>
            <a:ext cx="5143500" cy="3981450"/>
          </a:xfrm>
          <a:prstGeom prst="rect">
            <a:avLst/>
          </a:prstGeom>
          <a:noFill/>
          <a:ln w="0">
            <a:noFill/>
          </a:ln>
        </p:spPr>
        <p:txBody>
          <a:bodyPr wrap="square" lIns="0" tIns="0" rIns="0" bIns="0" anchor="t">
            <a:noAutofit/>
          </a:bodyPr>
          <a:lstStyle>
            <a:defPPr algn="l">
              <a:defRPr sz="2300" b="0">
                <a:solidFill>
                  <a:srgbClr val="111111"/>
                </a:solidFill>
                <a:latin typeface="Arial"/>
                <a:ea typeface="Arial"/>
                <a:cs typeface="Arial"/>
              </a:defRPr>
            </a:defPPr>
            <a:lvl1pPr algn="l">
              <a:defRPr sz="2300" b="0">
                <a:solidFill>
                  <a:srgbClr val="111111"/>
                </a:solidFill>
                <a:latin typeface="Arial"/>
                <a:ea typeface="Arial"/>
                <a:cs typeface="Arial"/>
              </a:defRPr>
            </a:lvl1pPr>
            <a:lvl2pPr algn="l">
              <a:defRPr sz="2300" b="0">
                <a:solidFill>
                  <a:srgbClr val="111111"/>
                </a:solidFill>
                <a:latin typeface="Arial"/>
                <a:ea typeface="Arial"/>
                <a:cs typeface="Arial"/>
              </a:defRPr>
            </a:lvl2pPr>
            <a:lvl3pPr algn="l">
              <a:defRPr sz="2300" b="0">
                <a:solidFill>
                  <a:srgbClr val="111111"/>
                </a:solidFill>
                <a:latin typeface="Arial"/>
                <a:ea typeface="Arial"/>
                <a:cs typeface="Arial"/>
              </a:defRPr>
            </a:lvl3pPr>
            <a:lvl4pPr algn="l">
              <a:defRPr sz="2300" b="0">
                <a:solidFill>
                  <a:srgbClr val="111111"/>
                </a:solidFill>
                <a:latin typeface="Arial"/>
                <a:ea typeface="Arial"/>
                <a:cs typeface="Arial"/>
              </a:defRPr>
            </a:lvl4pPr>
            <a:lvl5pPr algn="l">
              <a:defRPr sz="2300" b="0">
                <a:solidFill>
                  <a:srgbClr val="111111"/>
                </a:solidFill>
                <a:latin typeface="Arial"/>
                <a:ea typeface="Arial"/>
                <a:cs typeface="Arial"/>
              </a:defRPr>
            </a:lvl5pPr>
            <a:lvl6pPr algn="l">
              <a:defRPr sz="2300" b="0">
                <a:solidFill>
                  <a:srgbClr val="111111"/>
                </a:solidFill>
                <a:latin typeface="Arial"/>
                <a:ea typeface="Arial"/>
                <a:cs typeface="Arial"/>
              </a:defRPr>
            </a:lvl6pPr>
            <a:lvl7pPr algn="l">
              <a:defRPr sz="2300" b="0">
                <a:solidFill>
                  <a:srgbClr val="111111"/>
                </a:solidFill>
                <a:latin typeface="Arial"/>
                <a:ea typeface="Arial"/>
                <a:cs typeface="Arial"/>
              </a:defRPr>
            </a:lvl7pPr>
            <a:lvl8pPr algn="l">
              <a:defRPr sz="2300" b="0">
                <a:solidFill>
                  <a:srgbClr val="111111"/>
                </a:solidFill>
                <a:latin typeface="Arial"/>
                <a:ea typeface="Arial"/>
                <a:cs typeface="Arial"/>
              </a:defRPr>
            </a:lvl8pPr>
            <a:lvl9pPr algn="l">
              <a:defRPr sz="2300" b="0">
                <a:solidFill>
                  <a:srgbClr val="111111"/>
                </a:solidFill>
                <a:latin typeface="Arial"/>
                <a:ea typeface="Arial"/>
                <a:cs typeface="Arial"/>
              </a:defRPr>
            </a:lvl9pPr>
          </a:lstStyle>
          <a:p>
            <a:pPr marL="228600" indent="-114300" algn="l">
              <a:spcAft>
                <a:spcPts val="1500"/>
              </a:spcAft>
              <a:buChar char="■"/>
              <a:defRPr sz="2300" b="0">
                <a:solidFill>
                  <a:srgbClr val="111111"/>
                </a:solidFill>
                <a:latin typeface="Arial"/>
                <a:ea typeface="Arial"/>
                <a:cs typeface="Arial"/>
              </a:defRPr>
            </a:pPr>
            <a:r>
              <a:t>Elegir objetivo y momento de predicción.</a:t>
            </a:r>
          </a:p>
          <a:p>
            <a:pPr marL="228600" indent="-114300" algn="l">
              <a:spcAft>
                <a:spcPts val="1500"/>
              </a:spcAft>
              <a:buChar char="■"/>
              <a:defRPr sz="2300" b="0">
                <a:solidFill>
                  <a:srgbClr val="111111"/>
                </a:solidFill>
                <a:latin typeface="Arial"/>
                <a:ea typeface="Arial"/>
                <a:cs typeface="Arial"/>
              </a:defRPr>
            </a:pPr>
            <a:r>
              <a:t>Medir trayectorias y ajustar el modelo.</a:t>
            </a:r>
          </a:p>
          <a:p>
            <a:pPr marL="228600" indent="-114300" algn="l">
              <a:spcAft>
                <a:spcPts val="1500"/>
              </a:spcAft>
              <a:buChar char="■"/>
              <a:defRPr sz="2300" b="0">
                <a:solidFill>
                  <a:srgbClr val="111111"/>
                </a:solidFill>
                <a:latin typeface="Arial"/>
                <a:ea typeface="Arial"/>
                <a:cs typeface="Arial"/>
              </a:defRPr>
            </a:pPr>
            <a:r>
              <a:t>Guardar predicciones de giros nuevos.</a:t>
            </a:r>
          </a:p>
          <a:p>
            <a:pPr marL="228600" indent="-114300" algn="l">
              <a:spcAft>
                <a:spcPts val="1500"/>
              </a:spcAft>
              <a:buChar char="■"/>
              <a:defRPr sz="2300" b="0">
                <a:solidFill>
                  <a:srgbClr val="111111"/>
                </a:solidFill>
                <a:latin typeface="Arial"/>
                <a:ea typeface="Arial"/>
                <a:cs typeface="Arial"/>
              </a:defRPr>
            </a:pPr>
            <a:r>
              <a:t>Comparar con referencias e incertidumbre.</a:t>
            </a:r>
          </a:p>
        </p:txBody>
      </p:sp>
      <p:sp>
        <p:nvSpPr>
          <p:cNvPr id="10" name="fuente">
            <a:extLst>
              <a:ext uri="{FF2B5EF4-FFF2-40B4-BE49-F238E27FC236}">
                <a16:creationId xmlns:a16="http://schemas.microsoft.com/office/drawing/2014/main" id="{12D74A0C-EEAD-46D7-BD4C-7B1F9AAF7F8B}"/>
              </a:ext>
            </a:extLst>
          </p:cNvPr>
          <p:cNvSpPr>
            <a:spLocks noGrp="1"/>
          </p:cNvSpPr>
          <p:nvPr/>
        </p:nvSpPr>
        <p:spPr>
          <a:xfrm>
            <a:off x="546259" y="4810125"/>
            <a:ext cx="7143750" cy="238125"/>
          </a:xfrm>
          <a:prstGeom prst="rect">
            <a:avLst/>
          </a:prstGeom>
          <a:noFill/>
          <a:ln w="0">
            <a:noFill/>
          </a:ln>
        </p:spPr>
        <p:txBody>
          <a:bodyPr wrap="square" lIns="0" tIns="0" rIns="0" bIns="0" anchor="t">
            <a:noAutofit/>
          </a:bodyPr>
          <a:lstStyle>
            <a:defPPr algn="l">
              <a:defRPr sz="1400" b="0">
                <a:solidFill>
                  <a:srgbClr val="536369"/>
                </a:solidFill>
                <a:latin typeface="Arial"/>
                <a:ea typeface="Arial"/>
                <a:cs typeface="Arial"/>
              </a:defRPr>
            </a:defPPr>
            <a:lvl1pPr algn="l">
              <a:defRPr sz="1400" b="0">
                <a:solidFill>
                  <a:srgbClr val="536369"/>
                </a:solidFill>
                <a:latin typeface="Arial"/>
                <a:ea typeface="Arial"/>
                <a:cs typeface="Arial"/>
              </a:defRPr>
            </a:lvl1pPr>
            <a:lvl2pPr algn="l">
              <a:defRPr sz="1400" b="0">
                <a:solidFill>
                  <a:srgbClr val="536369"/>
                </a:solidFill>
                <a:latin typeface="Arial"/>
                <a:ea typeface="Arial"/>
                <a:cs typeface="Arial"/>
              </a:defRPr>
            </a:lvl2pPr>
            <a:lvl3pPr algn="l">
              <a:defRPr sz="1400" b="0">
                <a:solidFill>
                  <a:srgbClr val="536369"/>
                </a:solidFill>
                <a:latin typeface="Arial"/>
                <a:ea typeface="Arial"/>
                <a:cs typeface="Arial"/>
              </a:defRPr>
            </a:lvl3pPr>
            <a:lvl4pPr algn="l">
              <a:defRPr sz="1400" b="0">
                <a:solidFill>
                  <a:srgbClr val="536369"/>
                </a:solidFill>
                <a:latin typeface="Arial"/>
                <a:ea typeface="Arial"/>
                <a:cs typeface="Arial"/>
              </a:defRPr>
            </a:lvl4pPr>
            <a:lvl5pPr algn="l">
              <a:defRPr sz="1400" b="0">
                <a:solidFill>
                  <a:srgbClr val="536369"/>
                </a:solidFill>
                <a:latin typeface="Arial"/>
                <a:ea typeface="Arial"/>
                <a:cs typeface="Arial"/>
              </a:defRPr>
            </a:lvl5pPr>
            <a:lvl6pPr algn="l">
              <a:defRPr sz="1400" b="0">
                <a:solidFill>
                  <a:srgbClr val="536369"/>
                </a:solidFill>
                <a:latin typeface="Arial"/>
                <a:ea typeface="Arial"/>
                <a:cs typeface="Arial"/>
              </a:defRPr>
            </a:lvl6pPr>
            <a:lvl7pPr algn="l">
              <a:defRPr sz="1400" b="0">
                <a:solidFill>
                  <a:srgbClr val="536369"/>
                </a:solidFill>
                <a:latin typeface="Arial"/>
                <a:ea typeface="Arial"/>
                <a:cs typeface="Arial"/>
              </a:defRPr>
            </a:lvl7pPr>
            <a:lvl8pPr algn="l">
              <a:defRPr sz="1400" b="0">
                <a:solidFill>
                  <a:srgbClr val="536369"/>
                </a:solidFill>
                <a:latin typeface="Arial"/>
                <a:ea typeface="Arial"/>
                <a:cs typeface="Arial"/>
              </a:defRPr>
            </a:lvl8pPr>
            <a:lvl9pPr algn="l">
              <a:defRPr sz="1400" b="0">
                <a:solidFill>
                  <a:srgbClr val="536369"/>
                </a:solidFill>
                <a:latin typeface="Arial"/>
                <a:ea typeface="Arial"/>
                <a:cs typeface="Arial"/>
              </a:defRPr>
            </a:lvl9pPr>
          </a:lstStyle>
          <a:p>
            <a:pPr algn="l">
              <a:defRPr sz="1400" b="0">
                <a:solidFill>
                  <a:srgbClr val="536369"/>
                </a:solidFill>
                <a:latin typeface="Arial"/>
                <a:ea typeface="Arial"/>
                <a:cs typeface="Arial"/>
              </a:defRPr>
            </a:pPr>
            <a:r>
              <a:rPr sz="1400" b="0">
                <a:solidFill>
                  <a:srgbClr val="536369"/>
                </a:solidFill>
                <a:latin typeface="Arial"/>
                <a:ea typeface="Arial"/>
                <a:cs typeface="Arial"/>
              </a:rPr>
              <a:t>La viabilidad y la precisión se determinan con ensayos</a:t>
            </a:r>
          </a:p>
        </p:txBody>
      </p:sp>
    </p:spTree>
    <p:extLst>
      <p:ext uri="{BB962C8B-B14F-4D97-AF65-F5344CB8AC3E}">
        <p14:creationId xmlns:p14="http://schemas.microsoft.com/office/powerpoint/2010/main" val="13913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6199</Words>
  <Application>Microsoft Macintosh PowerPoint</Application>
  <DocSecurity>0</DocSecurity>
  <PresentationFormat>On-screen Show (16:9)</PresentationFormat>
  <Paragraphs>716</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Arial Narrow</vt:lpstr>
      <vt:lpstr>Courier New</vt:lpstr>
      <vt:lpstr>Office Theme</vt:lpstr>
      <vt:lpstr>Estadística con una ruleta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juan jose sanchez sanchez</cp:lastModifiedBy>
  <cp:revision>1</cp:revision>
  <dcterms:created xsi:type="dcterms:W3CDTF">2026-10-29T17:13:26Z</dcterms:created>
  <dcterms:modified xsi:type="dcterms:W3CDTF">2026-10-29T17:48:12Z</dcterms:modified>
</cp:coreProperties>
</file>