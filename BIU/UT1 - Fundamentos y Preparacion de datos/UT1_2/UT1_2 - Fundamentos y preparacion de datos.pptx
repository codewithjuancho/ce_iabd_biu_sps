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3" r:id="rId53"/>
    <p:sldId id="314" r:id="rId54"/>
    <p:sldId id="315" r:id="rId55"/>
    <p:sldId id="316" r:id="rId56"/>
    <p:sldId id="317" r:id="rId57"/>
    <p:sldId id="318" r:id="rId58"/>
    <p:sldId id="319" r:id="rId59"/>
    <p:sldId id="320" r:id="rId60"/>
    <p:sldId id="322" r:id="rId61"/>
    <p:sldId id="323" r:id="rId62"/>
    <p:sldId id="324" r:id="rId63"/>
    <p:sldId id="325" r:id="rId64"/>
    <p:sldId id="326" r:id="rId65"/>
    <p:sldId id="327" r:id="rId66"/>
    <p:sldId id="328" r:id="rId67"/>
    <p:sldId id="329" r:id="rId68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>
      <p:cViewPr varScale="1">
        <p:scale>
          <a:sx n="161" d="100"/>
          <a:sy n="161" d="100"/>
        </p:scale>
        <p:origin x="784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jose sanchez sanchez" userId="bf9c9b758c35a626" providerId="LiveId" clId="{8F378EED-A49D-C343-857E-2ACA67227371}"/>
    <pc:docChg chg="delSld modSld">
      <pc:chgData name="juan jose sanchez sanchez" userId="bf9c9b758c35a626" providerId="LiveId" clId="{8F378EED-A49D-C343-857E-2ACA67227371}" dt="2026-10-26T16:07:09.924" v="18" actId="2696"/>
      <pc:docMkLst>
        <pc:docMk/>
      </pc:docMkLst>
      <pc:sldChg chg="modSp mod">
        <pc:chgData name="juan jose sanchez sanchez" userId="bf9c9b758c35a626" providerId="LiveId" clId="{8F378EED-A49D-C343-857E-2ACA67227371}" dt="2026-10-26T16:05:51.177" v="2" actId="20577"/>
        <pc:sldMkLst>
          <pc:docMk/>
          <pc:sldMk cId="0" sldId="256"/>
        </pc:sldMkLst>
        <pc:spChg chg="mod">
          <ac:chgData name="juan jose sanchez sanchez" userId="bf9c9b758c35a626" providerId="LiveId" clId="{8F378EED-A49D-C343-857E-2ACA67227371}" dt="2026-10-26T16:05:51.177" v="2" actId="20577"/>
          <ac:spMkLst>
            <pc:docMk/>
            <pc:sldMk cId="0" sldId="256"/>
            <ac:spMk id="3" creationId="{00000000-0000-0000-0000-000000000000}"/>
          </ac:spMkLst>
        </pc:spChg>
      </pc:sldChg>
      <pc:sldChg chg="del">
        <pc:chgData name="juan jose sanchez sanchez" userId="bf9c9b758c35a626" providerId="LiveId" clId="{8F378EED-A49D-C343-857E-2ACA67227371}" dt="2026-10-26T16:05:41.196" v="0" actId="2696"/>
        <pc:sldMkLst>
          <pc:docMk/>
          <pc:sldMk cId="0" sldId="263"/>
        </pc:sldMkLst>
      </pc:sldChg>
      <pc:sldChg chg="modSp mod">
        <pc:chgData name="juan jose sanchez sanchez" userId="bf9c9b758c35a626" providerId="LiveId" clId="{8F378EED-A49D-C343-857E-2ACA67227371}" dt="2026-10-26T16:05:46.396" v="1" actId="20577"/>
        <pc:sldMkLst>
          <pc:docMk/>
          <pc:sldMk cId="0" sldId="264"/>
        </pc:sldMkLst>
        <pc:spChg chg="mod">
          <ac:chgData name="juan jose sanchez sanchez" userId="bf9c9b758c35a626" providerId="LiveId" clId="{8F378EED-A49D-C343-857E-2ACA67227371}" dt="2026-10-26T16:05:46.396" v="1" actId="20577"/>
          <ac:spMkLst>
            <pc:docMk/>
            <pc:sldMk cId="0" sldId="264"/>
            <ac:spMk id="3" creationId="{00000000-0000-0000-0000-000000000000}"/>
          </ac:spMkLst>
        </pc:spChg>
      </pc:sldChg>
      <pc:sldChg chg="del">
        <pc:chgData name="juan jose sanchez sanchez" userId="bf9c9b758c35a626" providerId="LiveId" clId="{8F378EED-A49D-C343-857E-2ACA67227371}" dt="2026-10-26T16:06:08.424" v="3" actId="2696"/>
        <pc:sldMkLst>
          <pc:docMk/>
          <pc:sldMk cId="0" sldId="273"/>
        </pc:sldMkLst>
      </pc:sldChg>
      <pc:sldChg chg="modSp mod">
        <pc:chgData name="juan jose sanchez sanchez" userId="bf9c9b758c35a626" providerId="LiveId" clId="{8F378EED-A49D-C343-857E-2ACA67227371}" dt="2026-10-26T16:06:10.868" v="4" actId="20577"/>
        <pc:sldMkLst>
          <pc:docMk/>
          <pc:sldMk cId="0" sldId="274"/>
        </pc:sldMkLst>
        <pc:spChg chg="mod">
          <ac:chgData name="juan jose sanchez sanchez" userId="bf9c9b758c35a626" providerId="LiveId" clId="{8F378EED-A49D-C343-857E-2ACA67227371}" dt="2026-10-26T16:06:10.868" v="4" actId="20577"/>
          <ac:spMkLst>
            <pc:docMk/>
            <pc:sldMk cId="0" sldId="274"/>
            <ac:spMk id="3" creationId="{00000000-0000-0000-0000-000000000000}"/>
          </ac:spMkLst>
        </pc:spChg>
      </pc:sldChg>
      <pc:sldChg chg="modSp del mod">
        <pc:chgData name="juan jose sanchez sanchez" userId="bf9c9b758c35a626" providerId="LiveId" clId="{8F378EED-A49D-C343-857E-2ACA67227371}" dt="2026-10-26T16:06:22.191" v="7" actId="2696"/>
        <pc:sldMkLst>
          <pc:docMk/>
          <pc:sldMk cId="0" sldId="281"/>
        </pc:sldMkLst>
        <pc:spChg chg="mod">
          <ac:chgData name="juan jose sanchez sanchez" userId="bf9c9b758c35a626" providerId="LiveId" clId="{8F378EED-A49D-C343-857E-2ACA67227371}" dt="2026-10-26T16:06:17.096" v="5" actId="20577"/>
          <ac:spMkLst>
            <pc:docMk/>
            <pc:sldMk cId="0" sldId="281"/>
            <ac:spMk id="3" creationId="{00000000-0000-0000-0000-000000000000}"/>
          </ac:spMkLst>
        </pc:spChg>
      </pc:sldChg>
      <pc:sldChg chg="modSp mod">
        <pc:chgData name="juan jose sanchez sanchez" userId="bf9c9b758c35a626" providerId="LiveId" clId="{8F378EED-A49D-C343-857E-2ACA67227371}" dt="2026-10-26T16:06:20.430" v="6" actId="20577"/>
        <pc:sldMkLst>
          <pc:docMk/>
          <pc:sldMk cId="0" sldId="282"/>
        </pc:sldMkLst>
        <pc:spChg chg="mod">
          <ac:chgData name="juan jose sanchez sanchez" userId="bf9c9b758c35a626" providerId="LiveId" clId="{8F378EED-A49D-C343-857E-2ACA67227371}" dt="2026-10-26T16:06:20.430" v="6" actId="20577"/>
          <ac:spMkLst>
            <pc:docMk/>
            <pc:sldMk cId="0" sldId="282"/>
            <ac:spMk id="3" creationId="{00000000-0000-0000-0000-000000000000}"/>
          </ac:spMkLst>
        </pc:spChg>
      </pc:sldChg>
      <pc:sldChg chg="del">
        <pc:chgData name="juan jose sanchez sanchez" userId="bf9c9b758c35a626" providerId="LiveId" clId="{8F378EED-A49D-C343-857E-2ACA67227371}" dt="2026-10-26T16:06:36.224" v="8" actId="2696"/>
        <pc:sldMkLst>
          <pc:docMk/>
          <pc:sldMk cId="0" sldId="294"/>
        </pc:sldMkLst>
      </pc:sldChg>
      <pc:sldChg chg="modSp mod">
        <pc:chgData name="juan jose sanchez sanchez" userId="bf9c9b758c35a626" providerId="LiveId" clId="{8F378EED-A49D-C343-857E-2ACA67227371}" dt="2026-10-26T16:06:39.217" v="9" actId="20577"/>
        <pc:sldMkLst>
          <pc:docMk/>
          <pc:sldMk cId="0" sldId="295"/>
        </pc:sldMkLst>
        <pc:spChg chg="mod">
          <ac:chgData name="juan jose sanchez sanchez" userId="bf9c9b758c35a626" providerId="LiveId" clId="{8F378EED-A49D-C343-857E-2ACA67227371}" dt="2026-10-26T16:06:39.217" v="9" actId="20577"/>
          <ac:spMkLst>
            <pc:docMk/>
            <pc:sldMk cId="0" sldId="295"/>
            <ac:spMk id="3" creationId="{00000000-0000-0000-0000-000000000000}"/>
          </ac:spMkLst>
        </pc:spChg>
      </pc:sldChg>
      <pc:sldChg chg="modSp del mod">
        <pc:chgData name="juan jose sanchez sanchez" userId="bf9c9b758c35a626" providerId="LiveId" clId="{8F378EED-A49D-C343-857E-2ACA67227371}" dt="2026-10-26T16:06:44.981" v="11" actId="2696"/>
        <pc:sldMkLst>
          <pc:docMk/>
          <pc:sldMk cId="0" sldId="304"/>
        </pc:sldMkLst>
        <pc:spChg chg="mod">
          <ac:chgData name="juan jose sanchez sanchez" userId="bf9c9b758c35a626" providerId="LiveId" clId="{8F378EED-A49D-C343-857E-2ACA67227371}" dt="2026-10-26T16:06:44.064" v="10" actId="20577"/>
          <ac:spMkLst>
            <pc:docMk/>
            <pc:sldMk cId="0" sldId="304"/>
            <ac:spMk id="3" creationId="{00000000-0000-0000-0000-000000000000}"/>
          </ac:spMkLst>
        </pc:spChg>
      </pc:sldChg>
      <pc:sldChg chg="modSp mod">
        <pc:chgData name="juan jose sanchez sanchez" userId="bf9c9b758c35a626" providerId="LiveId" clId="{8F378EED-A49D-C343-857E-2ACA67227371}" dt="2026-10-26T16:06:47.359" v="12" actId="20577"/>
        <pc:sldMkLst>
          <pc:docMk/>
          <pc:sldMk cId="0" sldId="305"/>
        </pc:sldMkLst>
        <pc:spChg chg="mod">
          <ac:chgData name="juan jose sanchez sanchez" userId="bf9c9b758c35a626" providerId="LiveId" clId="{8F378EED-A49D-C343-857E-2ACA67227371}" dt="2026-10-26T16:06:47.359" v="12" actId="20577"/>
          <ac:spMkLst>
            <pc:docMk/>
            <pc:sldMk cId="0" sldId="305"/>
            <ac:spMk id="3" creationId="{00000000-0000-0000-0000-000000000000}"/>
          </ac:spMkLst>
        </pc:spChg>
      </pc:sldChg>
      <pc:sldChg chg="del">
        <pc:chgData name="juan jose sanchez sanchez" userId="bf9c9b758c35a626" providerId="LiveId" clId="{8F378EED-A49D-C343-857E-2ACA67227371}" dt="2026-10-26T16:06:50.257" v="13" actId="2696"/>
        <pc:sldMkLst>
          <pc:docMk/>
          <pc:sldMk cId="0" sldId="312"/>
        </pc:sldMkLst>
      </pc:sldChg>
      <pc:sldChg chg="modSp mod">
        <pc:chgData name="juan jose sanchez sanchez" userId="bf9c9b758c35a626" providerId="LiveId" clId="{8F378EED-A49D-C343-857E-2ACA67227371}" dt="2026-10-26T16:06:52.939" v="14" actId="20577"/>
        <pc:sldMkLst>
          <pc:docMk/>
          <pc:sldMk cId="0" sldId="313"/>
        </pc:sldMkLst>
        <pc:spChg chg="mod">
          <ac:chgData name="juan jose sanchez sanchez" userId="bf9c9b758c35a626" providerId="LiveId" clId="{8F378EED-A49D-C343-857E-2ACA67227371}" dt="2026-10-26T16:06:52.939" v="14" actId="20577"/>
          <ac:spMkLst>
            <pc:docMk/>
            <pc:sldMk cId="0" sldId="313"/>
            <ac:spMk id="3" creationId="{00000000-0000-0000-0000-000000000000}"/>
          </ac:spMkLst>
        </pc:spChg>
      </pc:sldChg>
      <pc:sldChg chg="modSp del mod">
        <pc:chgData name="juan jose sanchez sanchez" userId="bf9c9b758c35a626" providerId="LiveId" clId="{8F378EED-A49D-C343-857E-2ACA67227371}" dt="2026-10-26T16:07:03.940" v="16" actId="2696"/>
        <pc:sldMkLst>
          <pc:docMk/>
          <pc:sldMk cId="0" sldId="321"/>
        </pc:sldMkLst>
        <pc:spChg chg="mod">
          <ac:chgData name="juan jose sanchez sanchez" userId="bf9c9b758c35a626" providerId="LiveId" clId="{8F378EED-A49D-C343-857E-2ACA67227371}" dt="2026-10-26T16:07:01.843" v="15" actId="20577"/>
          <ac:spMkLst>
            <pc:docMk/>
            <pc:sldMk cId="0" sldId="321"/>
            <ac:spMk id="3" creationId="{00000000-0000-0000-0000-000000000000}"/>
          </ac:spMkLst>
        </pc:spChg>
      </pc:sldChg>
      <pc:sldChg chg="modSp mod">
        <pc:chgData name="juan jose sanchez sanchez" userId="bf9c9b758c35a626" providerId="LiveId" clId="{8F378EED-A49D-C343-857E-2ACA67227371}" dt="2026-10-26T16:07:05.818" v="17" actId="20577"/>
        <pc:sldMkLst>
          <pc:docMk/>
          <pc:sldMk cId="0" sldId="322"/>
        </pc:sldMkLst>
        <pc:spChg chg="mod">
          <ac:chgData name="juan jose sanchez sanchez" userId="bf9c9b758c35a626" providerId="LiveId" clId="{8F378EED-A49D-C343-857E-2ACA67227371}" dt="2026-10-26T16:07:05.818" v="17" actId="20577"/>
          <ac:spMkLst>
            <pc:docMk/>
            <pc:sldMk cId="0" sldId="322"/>
            <ac:spMk id="3" creationId="{00000000-0000-0000-0000-000000000000}"/>
          </ac:spMkLst>
        </pc:spChg>
      </pc:sldChg>
      <pc:sldChg chg="del">
        <pc:chgData name="juan jose sanchez sanchez" userId="bf9c9b758c35a626" providerId="LiveId" clId="{8F378EED-A49D-C343-857E-2ACA67227371}" dt="2026-10-26T16:07:09.924" v="18" actId="2696"/>
        <pc:sldMkLst>
          <pc:docMk/>
          <pc:sldMk cId="0" sldId="33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46284" y="253491"/>
            <a:ext cx="2942590" cy="1525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44247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44247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44247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44247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6771" y="118509"/>
            <a:ext cx="3148329" cy="1291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44247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6643" y="2014220"/>
            <a:ext cx="4864100" cy="2943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hyperlink" Target="http://archive.ics.uci.edu/ml/inde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://www.kaggle.com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rstudio.com/prod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jp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0"/>
            <a:ext cx="5002530" cy="3938270"/>
          </a:xfrm>
          <a:custGeom>
            <a:avLst/>
            <a:gdLst/>
            <a:ahLst/>
            <a:cxnLst/>
            <a:rect l="l" t="t" r="r" b="b"/>
            <a:pathLst>
              <a:path w="5002530" h="3938270">
                <a:moveTo>
                  <a:pt x="0" y="1704928"/>
                </a:moveTo>
                <a:lnTo>
                  <a:pt x="0" y="3856309"/>
                </a:lnTo>
                <a:lnTo>
                  <a:pt x="579720" y="3937783"/>
                </a:lnTo>
                <a:lnTo>
                  <a:pt x="1255398" y="2957054"/>
                </a:lnTo>
                <a:lnTo>
                  <a:pt x="876220" y="1828073"/>
                </a:lnTo>
                <a:lnTo>
                  <a:pt x="0" y="1704928"/>
                </a:lnTo>
                <a:close/>
              </a:path>
              <a:path w="5002530" h="3938270">
                <a:moveTo>
                  <a:pt x="1716059" y="768286"/>
                </a:moveTo>
                <a:lnTo>
                  <a:pt x="1040381" y="1749016"/>
                </a:lnTo>
                <a:lnTo>
                  <a:pt x="1419558" y="2877996"/>
                </a:lnTo>
                <a:lnTo>
                  <a:pt x="2811966" y="3073687"/>
                </a:lnTo>
                <a:lnTo>
                  <a:pt x="3487644" y="2092957"/>
                </a:lnTo>
                <a:lnTo>
                  <a:pt x="3108467" y="963976"/>
                </a:lnTo>
                <a:lnTo>
                  <a:pt x="1716059" y="768286"/>
                </a:lnTo>
                <a:close/>
              </a:path>
              <a:path w="5002530" h="3938270">
                <a:moveTo>
                  <a:pt x="1331643" y="0"/>
                </a:moveTo>
                <a:lnTo>
                  <a:pt x="0" y="0"/>
                </a:lnTo>
                <a:lnTo>
                  <a:pt x="0" y="1510524"/>
                </a:lnTo>
                <a:lnTo>
                  <a:pt x="875213" y="1633527"/>
                </a:lnTo>
                <a:lnTo>
                  <a:pt x="1550890" y="652797"/>
                </a:lnTo>
                <a:lnTo>
                  <a:pt x="1331643" y="0"/>
                </a:lnTo>
                <a:close/>
              </a:path>
              <a:path w="5002530" h="3938270">
                <a:moveTo>
                  <a:pt x="3995936" y="267493"/>
                </a:moveTo>
                <a:lnTo>
                  <a:pt x="3948860" y="270028"/>
                </a:lnTo>
                <a:lnTo>
                  <a:pt x="3903251" y="277458"/>
                </a:lnTo>
                <a:lnTo>
                  <a:pt x="3859375" y="289519"/>
                </a:lnTo>
                <a:lnTo>
                  <a:pt x="3817494" y="305948"/>
                </a:lnTo>
                <a:lnTo>
                  <a:pt x="3777872" y="326480"/>
                </a:lnTo>
                <a:lnTo>
                  <a:pt x="3740773" y="350853"/>
                </a:lnTo>
                <a:lnTo>
                  <a:pt x="3706460" y="378803"/>
                </a:lnTo>
                <a:lnTo>
                  <a:pt x="3675197" y="410066"/>
                </a:lnTo>
                <a:lnTo>
                  <a:pt x="3647247" y="444379"/>
                </a:lnTo>
                <a:lnTo>
                  <a:pt x="3622874" y="481478"/>
                </a:lnTo>
                <a:lnTo>
                  <a:pt x="3602342" y="521100"/>
                </a:lnTo>
                <a:lnTo>
                  <a:pt x="3585913" y="562980"/>
                </a:lnTo>
                <a:lnTo>
                  <a:pt x="3573852" y="606856"/>
                </a:lnTo>
                <a:lnTo>
                  <a:pt x="3566423" y="652464"/>
                </a:lnTo>
                <a:lnTo>
                  <a:pt x="3563887" y="699541"/>
                </a:lnTo>
                <a:lnTo>
                  <a:pt x="3566423" y="746617"/>
                </a:lnTo>
                <a:lnTo>
                  <a:pt x="3573852" y="792225"/>
                </a:lnTo>
                <a:lnTo>
                  <a:pt x="3585913" y="836102"/>
                </a:lnTo>
                <a:lnTo>
                  <a:pt x="3602342" y="877982"/>
                </a:lnTo>
                <a:lnTo>
                  <a:pt x="3622874" y="917604"/>
                </a:lnTo>
                <a:lnTo>
                  <a:pt x="3647247" y="954703"/>
                </a:lnTo>
                <a:lnTo>
                  <a:pt x="3675197" y="989016"/>
                </a:lnTo>
                <a:lnTo>
                  <a:pt x="3706460" y="1020279"/>
                </a:lnTo>
                <a:lnTo>
                  <a:pt x="3740773" y="1048229"/>
                </a:lnTo>
                <a:lnTo>
                  <a:pt x="3777872" y="1072602"/>
                </a:lnTo>
                <a:lnTo>
                  <a:pt x="3817494" y="1093134"/>
                </a:lnTo>
                <a:lnTo>
                  <a:pt x="3859375" y="1109563"/>
                </a:lnTo>
                <a:lnTo>
                  <a:pt x="3903251" y="1121624"/>
                </a:lnTo>
                <a:lnTo>
                  <a:pt x="3948860" y="1129053"/>
                </a:lnTo>
                <a:lnTo>
                  <a:pt x="3995936" y="1131589"/>
                </a:lnTo>
                <a:lnTo>
                  <a:pt x="4043013" y="1129053"/>
                </a:lnTo>
                <a:lnTo>
                  <a:pt x="4088620" y="1121624"/>
                </a:lnTo>
                <a:lnTo>
                  <a:pt x="4132496" y="1109563"/>
                </a:lnTo>
                <a:lnTo>
                  <a:pt x="4174377" y="1093134"/>
                </a:lnTo>
                <a:lnTo>
                  <a:pt x="4213998" y="1072602"/>
                </a:lnTo>
                <a:lnTo>
                  <a:pt x="4251097" y="1048229"/>
                </a:lnTo>
                <a:lnTo>
                  <a:pt x="4285410" y="1020279"/>
                </a:lnTo>
                <a:lnTo>
                  <a:pt x="4316673" y="989016"/>
                </a:lnTo>
                <a:lnTo>
                  <a:pt x="4344623" y="954703"/>
                </a:lnTo>
                <a:lnTo>
                  <a:pt x="4368996" y="917604"/>
                </a:lnTo>
                <a:lnTo>
                  <a:pt x="4389528" y="877982"/>
                </a:lnTo>
                <a:lnTo>
                  <a:pt x="4405957" y="836102"/>
                </a:lnTo>
                <a:lnTo>
                  <a:pt x="4418018" y="792225"/>
                </a:lnTo>
                <a:lnTo>
                  <a:pt x="4425447" y="746617"/>
                </a:lnTo>
                <a:lnTo>
                  <a:pt x="4427983" y="699541"/>
                </a:lnTo>
                <a:lnTo>
                  <a:pt x="4425466" y="652797"/>
                </a:lnTo>
                <a:lnTo>
                  <a:pt x="4418018" y="606856"/>
                </a:lnTo>
                <a:lnTo>
                  <a:pt x="4405957" y="562980"/>
                </a:lnTo>
                <a:lnTo>
                  <a:pt x="4389529" y="521100"/>
                </a:lnTo>
                <a:lnTo>
                  <a:pt x="4368996" y="481478"/>
                </a:lnTo>
                <a:lnTo>
                  <a:pt x="4344624" y="444379"/>
                </a:lnTo>
                <a:lnTo>
                  <a:pt x="4316674" y="410066"/>
                </a:lnTo>
                <a:lnTo>
                  <a:pt x="4285411" y="378803"/>
                </a:lnTo>
                <a:lnTo>
                  <a:pt x="4251098" y="350853"/>
                </a:lnTo>
                <a:lnTo>
                  <a:pt x="4214000" y="326480"/>
                </a:lnTo>
                <a:lnTo>
                  <a:pt x="4174378" y="305948"/>
                </a:lnTo>
                <a:lnTo>
                  <a:pt x="4132498" y="289519"/>
                </a:lnTo>
                <a:lnTo>
                  <a:pt x="4088622" y="277458"/>
                </a:lnTo>
                <a:lnTo>
                  <a:pt x="4043014" y="270028"/>
                </a:lnTo>
                <a:lnTo>
                  <a:pt x="3995936" y="267493"/>
                </a:lnTo>
                <a:close/>
              </a:path>
              <a:path w="5002530" h="3938270">
                <a:moveTo>
                  <a:pt x="3641270" y="0"/>
                </a:moveTo>
                <a:lnTo>
                  <a:pt x="1520549" y="0"/>
                </a:lnTo>
                <a:lnTo>
                  <a:pt x="1715051" y="579121"/>
                </a:lnTo>
                <a:lnTo>
                  <a:pt x="3107460" y="774811"/>
                </a:lnTo>
                <a:lnTo>
                  <a:pt x="3641270" y="0"/>
                </a:lnTo>
                <a:close/>
              </a:path>
              <a:path w="5002530" h="3938270">
                <a:moveTo>
                  <a:pt x="5001954" y="0"/>
                </a:moveTo>
                <a:lnTo>
                  <a:pt x="4158813" y="0"/>
                </a:lnTo>
                <a:lnTo>
                  <a:pt x="4182288" y="75625"/>
                </a:lnTo>
                <a:lnTo>
                  <a:pt x="4202310" y="116723"/>
                </a:lnTo>
                <a:lnTo>
                  <a:pt x="4226411" y="155244"/>
                </a:lnTo>
                <a:lnTo>
                  <a:pt x="4254310" y="190908"/>
                </a:lnTo>
                <a:lnTo>
                  <a:pt x="4285724" y="223432"/>
                </a:lnTo>
                <a:lnTo>
                  <a:pt x="4320373" y="252534"/>
                </a:lnTo>
                <a:lnTo>
                  <a:pt x="4357973" y="277932"/>
                </a:lnTo>
                <a:lnTo>
                  <a:pt x="4398243" y="299345"/>
                </a:lnTo>
                <a:lnTo>
                  <a:pt x="4440901" y="316490"/>
                </a:lnTo>
                <a:lnTo>
                  <a:pt x="4485665" y="329086"/>
                </a:lnTo>
                <a:lnTo>
                  <a:pt x="4532253" y="336850"/>
                </a:lnTo>
                <a:lnTo>
                  <a:pt x="4580383" y="339501"/>
                </a:lnTo>
                <a:lnTo>
                  <a:pt x="4628513" y="336850"/>
                </a:lnTo>
                <a:lnTo>
                  <a:pt x="4675101" y="329086"/>
                </a:lnTo>
                <a:lnTo>
                  <a:pt x="4719866" y="316490"/>
                </a:lnTo>
                <a:lnTo>
                  <a:pt x="4762524" y="299345"/>
                </a:lnTo>
                <a:lnTo>
                  <a:pt x="4802794" y="277932"/>
                </a:lnTo>
                <a:lnTo>
                  <a:pt x="4840394" y="252534"/>
                </a:lnTo>
                <a:lnTo>
                  <a:pt x="4875043" y="223432"/>
                </a:lnTo>
                <a:lnTo>
                  <a:pt x="4906457" y="190908"/>
                </a:lnTo>
                <a:lnTo>
                  <a:pt x="4934356" y="155244"/>
                </a:lnTo>
                <a:lnTo>
                  <a:pt x="4958458" y="116723"/>
                </a:lnTo>
                <a:lnTo>
                  <a:pt x="4978479" y="75625"/>
                </a:lnTo>
                <a:lnTo>
                  <a:pt x="5001954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46683" y="3165348"/>
            <a:ext cx="245300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Big</a:t>
            </a:r>
            <a:r>
              <a:rPr sz="2000" b="1" spc="-40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Data</a:t>
            </a:r>
            <a:r>
              <a:rPr sz="2000" b="1" spc="-105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spc="-10" dirty="0" err="1">
                <a:solidFill>
                  <a:srgbClr val="00DEA4"/>
                </a:solidFill>
                <a:latin typeface="Arial"/>
                <a:cs typeface="Arial"/>
              </a:rPr>
              <a:t>Aplicado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84084" y="1475739"/>
            <a:ext cx="2825750" cy="160147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 marR="5080">
              <a:lnSpc>
                <a:spcPct val="79300"/>
              </a:lnSpc>
              <a:spcBef>
                <a:spcPts val="1090"/>
              </a:spcBef>
            </a:pPr>
            <a:r>
              <a:rPr dirty="0"/>
              <a:t>Almacenes</a:t>
            </a:r>
            <a:r>
              <a:rPr spc="-85" dirty="0"/>
              <a:t> </a:t>
            </a:r>
            <a:r>
              <a:rPr spc="-25" dirty="0"/>
              <a:t>de </a:t>
            </a:r>
            <a:r>
              <a:rPr spc="-10" dirty="0"/>
              <a:t>Datos/Data Warehouses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797040" y="3943584"/>
            <a:ext cx="2346960" cy="1200150"/>
            <a:chOff x="6797040" y="3943584"/>
            <a:chExt cx="2346960" cy="1200150"/>
          </a:xfrm>
        </p:grpSpPr>
        <p:sp>
          <p:nvSpPr>
            <p:cNvPr id="6" name="object 6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97040" y="4373880"/>
              <a:ext cx="1459992" cy="344423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46790" y="4373843"/>
            <a:ext cx="749345" cy="36530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210564" y="4381676"/>
            <a:ext cx="653415" cy="325755"/>
            <a:chOff x="4210564" y="4381676"/>
            <a:chExt cx="653415" cy="325755"/>
          </a:xfrm>
        </p:grpSpPr>
        <p:sp>
          <p:nvSpPr>
            <p:cNvPr id="10" name="object 10"/>
            <p:cNvSpPr/>
            <p:nvPr/>
          </p:nvSpPr>
          <p:spPr>
            <a:xfrm>
              <a:off x="4372655" y="4519010"/>
              <a:ext cx="109220" cy="46990"/>
            </a:xfrm>
            <a:custGeom>
              <a:avLst/>
              <a:gdLst/>
              <a:ahLst/>
              <a:cxnLst/>
              <a:rect l="l" t="t" r="r" b="b"/>
              <a:pathLst>
                <a:path w="109220" h="46989">
                  <a:moveTo>
                    <a:pt x="109052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109052" y="46456"/>
                  </a:lnTo>
                  <a:lnTo>
                    <a:pt x="109052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09590" y="4502793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7682" y="0"/>
                  </a:moveTo>
                  <a:lnTo>
                    <a:pt x="2554" y="23467"/>
                  </a:lnTo>
                  <a:lnTo>
                    <a:pt x="0" y="38074"/>
                  </a:lnTo>
                  <a:lnTo>
                    <a:pt x="535" y="45564"/>
                  </a:lnTo>
                  <a:lnTo>
                    <a:pt x="30171" y="75625"/>
                  </a:lnTo>
                  <a:lnTo>
                    <a:pt x="37682" y="76227"/>
                  </a:lnTo>
                  <a:lnTo>
                    <a:pt x="53179" y="73081"/>
                  </a:lnTo>
                  <a:lnTo>
                    <a:pt x="65054" y="64856"/>
                  </a:lnTo>
                  <a:lnTo>
                    <a:pt x="72979" y="52778"/>
                  </a:lnTo>
                  <a:lnTo>
                    <a:pt x="75756" y="38074"/>
                  </a:lnTo>
                  <a:lnTo>
                    <a:pt x="72642" y="22651"/>
                  </a:lnTo>
                  <a:lnTo>
                    <a:pt x="64442" y="10758"/>
                  </a:lnTo>
                  <a:lnTo>
                    <a:pt x="52380" y="2808"/>
                  </a:lnTo>
                  <a:lnTo>
                    <a:pt x="37682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45192" y="4397737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613"/>
                  </a:lnTo>
                  <a:lnTo>
                    <a:pt x="236515" y="46613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10564" y="43816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918" y="0"/>
                  </a:moveTo>
                  <a:lnTo>
                    <a:pt x="2654" y="23243"/>
                  </a:lnTo>
                  <a:lnTo>
                    <a:pt x="0" y="37917"/>
                  </a:lnTo>
                  <a:lnTo>
                    <a:pt x="588" y="45409"/>
                  </a:lnTo>
                  <a:lnTo>
                    <a:pt x="30407" y="75390"/>
                  </a:lnTo>
                  <a:lnTo>
                    <a:pt x="37918" y="75992"/>
                  </a:lnTo>
                  <a:lnTo>
                    <a:pt x="45429" y="75390"/>
                  </a:lnTo>
                  <a:lnTo>
                    <a:pt x="75380" y="45425"/>
                  </a:lnTo>
                  <a:lnTo>
                    <a:pt x="75992" y="37917"/>
                  </a:lnTo>
                  <a:lnTo>
                    <a:pt x="75382" y="30391"/>
                  </a:lnTo>
                  <a:lnTo>
                    <a:pt x="45408" y="551"/>
                  </a:lnTo>
                  <a:lnTo>
                    <a:pt x="37918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45192" y="4647022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236515" y="46456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10558" y="4390377"/>
              <a:ext cx="653415" cy="316865"/>
            </a:xfrm>
            <a:custGeom>
              <a:avLst/>
              <a:gdLst/>
              <a:ahLst/>
              <a:cxnLst/>
              <a:rect l="l" t="t" r="r" b="b"/>
              <a:pathLst>
                <a:path w="653414" h="316864">
                  <a:moveTo>
                    <a:pt x="75984" y="278549"/>
                  </a:moveTo>
                  <a:lnTo>
                    <a:pt x="52590" y="243141"/>
                  </a:lnTo>
                  <a:lnTo>
                    <a:pt x="37553" y="240423"/>
                  </a:lnTo>
                  <a:lnTo>
                    <a:pt x="22288" y="243624"/>
                  </a:lnTo>
                  <a:lnTo>
                    <a:pt x="10515" y="251853"/>
                  </a:lnTo>
                  <a:lnTo>
                    <a:pt x="2692" y="263880"/>
                  </a:lnTo>
                  <a:lnTo>
                    <a:pt x="0" y="278511"/>
                  </a:lnTo>
                  <a:lnTo>
                    <a:pt x="584" y="286016"/>
                  </a:lnTo>
                  <a:lnTo>
                    <a:pt x="30403" y="316064"/>
                  </a:lnTo>
                  <a:lnTo>
                    <a:pt x="37922" y="316661"/>
                  </a:lnTo>
                  <a:lnTo>
                    <a:pt x="45427" y="316064"/>
                  </a:lnTo>
                  <a:lnTo>
                    <a:pt x="75984" y="278549"/>
                  </a:lnTo>
                  <a:close/>
                </a:path>
                <a:path w="653414" h="316864">
                  <a:moveTo>
                    <a:pt x="653376" y="150495"/>
                  </a:moveTo>
                  <a:lnTo>
                    <a:pt x="566496" y="0"/>
                  </a:lnTo>
                  <a:lnTo>
                    <a:pt x="392734" y="0"/>
                  </a:lnTo>
                  <a:lnTo>
                    <a:pt x="305854" y="150495"/>
                  </a:lnTo>
                  <a:lnTo>
                    <a:pt x="392734" y="301066"/>
                  </a:lnTo>
                  <a:lnTo>
                    <a:pt x="566496" y="301066"/>
                  </a:lnTo>
                  <a:lnTo>
                    <a:pt x="653376" y="150495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71120">
              <a:lnSpc>
                <a:spcPct val="71000"/>
              </a:lnSpc>
              <a:spcBef>
                <a:spcPts val="149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Almacenes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de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 Datos</a:t>
            </a:r>
            <a:endParaRPr sz="4000">
              <a:latin typeface="Arial Narrow"/>
              <a:cs typeface="Arial Narrow"/>
            </a:endParaRPr>
          </a:p>
          <a:p>
            <a:pPr marL="610870">
              <a:lnSpc>
                <a:spcPct val="100000"/>
              </a:lnSpc>
              <a:spcBef>
                <a:spcPts val="24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Un</a:t>
            </a:r>
            <a:r>
              <a:rPr sz="2800" b="1" spc="-4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ejemplo: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44302" y="390651"/>
            <a:ext cx="4163060" cy="1351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85" dirty="0">
                <a:latin typeface="Arial"/>
                <a:cs typeface="Arial"/>
              </a:rPr>
              <a:t>Identificación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fraude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2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55" dirty="0">
                <a:latin typeface="Arial"/>
                <a:cs typeface="Arial"/>
              </a:rPr>
              <a:t>Caracterización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de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65" dirty="0">
                <a:latin typeface="Arial"/>
                <a:cs typeface="Arial"/>
              </a:rPr>
              <a:t>clientes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2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60" dirty="0">
                <a:latin typeface="Arial"/>
                <a:cs typeface="Arial"/>
              </a:rPr>
              <a:t>Clientes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155" dirty="0">
                <a:latin typeface="Arial"/>
                <a:cs typeface="Arial"/>
              </a:rPr>
              <a:t>con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riesgo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fuga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624071" y="2209799"/>
            <a:ext cx="5520055" cy="2933700"/>
            <a:chOff x="3624071" y="2209799"/>
            <a:chExt cx="5520055" cy="2933700"/>
          </a:xfrm>
        </p:grpSpPr>
        <p:sp>
          <p:nvSpPr>
            <p:cNvPr id="5" name="object 5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24071" y="2209799"/>
              <a:ext cx="4684776" cy="271881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71120">
              <a:lnSpc>
                <a:spcPct val="71000"/>
              </a:lnSpc>
              <a:spcBef>
                <a:spcPts val="149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Almacenes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de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 Datos:</a:t>
            </a:r>
            <a:endParaRPr sz="4000">
              <a:latin typeface="Arial Narrow"/>
              <a:cs typeface="Arial Narrow"/>
            </a:endParaRPr>
          </a:p>
          <a:p>
            <a:pPr marL="838200">
              <a:lnSpc>
                <a:spcPct val="100000"/>
              </a:lnSpc>
              <a:spcBef>
                <a:spcPts val="24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¿Por</a:t>
            </a:r>
            <a:r>
              <a:rPr sz="2800" b="1" spc="-4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Arial Narrow"/>
                <a:cs typeface="Arial Narrow"/>
              </a:rPr>
              <a:t>qué?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44302" y="390651"/>
            <a:ext cx="3125470" cy="2253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60" dirty="0">
                <a:latin typeface="Arial"/>
                <a:cs typeface="Arial"/>
              </a:rPr>
              <a:t>Accesibilidad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2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25" dirty="0">
                <a:latin typeface="Arial"/>
                <a:cs typeface="Arial"/>
              </a:rPr>
              <a:t>Integración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2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60" dirty="0">
                <a:latin typeface="Arial"/>
                <a:cs typeface="Arial"/>
              </a:rPr>
              <a:t>Análisis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complejos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45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0" dirty="0">
                <a:latin typeface="Arial"/>
                <a:cs typeface="Arial"/>
              </a:rPr>
              <a:t>Multidimensional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2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270" dirty="0">
                <a:latin typeface="Arial"/>
                <a:cs typeface="Arial"/>
              </a:rPr>
              <a:t>Toma</a:t>
            </a:r>
            <a:r>
              <a:rPr sz="2800" spc="-140" dirty="0">
                <a:latin typeface="Arial"/>
                <a:cs typeface="Arial"/>
              </a:rPr>
              <a:t> de </a:t>
            </a:r>
            <a:r>
              <a:rPr sz="2800" spc="-135" dirty="0">
                <a:latin typeface="Arial"/>
                <a:cs typeface="Arial"/>
              </a:rPr>
              <a:t>decisiones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9831" y="2923398"/>
            <a:ext cx="2235337" cy="127165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298934" y="4203700"/>
            <a:ext cx="1545590" cy="882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1" spc="-395" dirty="0">
                <a:latin typeface="Arial"/>
                <a:cs typeface="Arial"/>
              </a:rPr>
              <a:t>BBDD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2800" b="1" spc="-200" dirty="0">
                <a:latin typeface="Arial"/>
                <a:cs typeface="Arial"/>
              </a:rPr>
              <a:t>Relacional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53148" y="4215891"/>
            <a:ext cx="1706245" cy="8820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493395">
              <a:lnSpc>
                <a:spcPct val="100699"/>
              </a:lnSpc>
              <a:spcBef>
                <a:spcPts val="75"/>
              </a:spcBef>
            </a:pPr>
            <a:r>
              <a:rPr sz="2800" b="1" spc="-20" dirty="0">
                <a:latin typeface="Arial"/>
                <a:cs typeface="Arial"/>
              </a:rPr>
              <a:t>Data </a:t>
            </a:r>
            <a:r>
              <a:rPr sz="2800" b="1" spc="-220" dirty="0">
                <a:latin typeface="Arial"/>
                <a:cs typeface="Arial"/>
              </a:rPr>
              <a:t>Warehouse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60231" y="2853474"/>
            <a:ext cx="1448577" cy="145048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89504" y="2923397"/>
            <a:ext cx="939192" cy="16806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4" y="253491"/>
            <a:ext cx="229235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72390">
              <a:lnSpc>
                <a:spcPct val="71000"/>
              </a:lnSpc>
              <a:spcBef>
                <a:spcPts val="1490"/>
              </a:spcBef>
            </a:pPr>
            <a:r>
              <a:rPr spc="-10" dirty="0"/>
              <a:t>Almacenes </a:t>
            </a:r>
            <a:r>
              <a:rPr dirty="0"/>
              <a:t>de</a:t>
            </a:r>
            <a:r>
              <a:rPr spc="-10" dirty="0"/>
              <a:t> Datos:</a:t>
            </a:r>
          </a:p>
          <a:p>
            <a:pPr marL="93345">
              <a:lnSpc>
                <a:spcPct val="100000"/>
              </a:lnSpc>
              <a:spcBef>
                <a:spcPts val="240"/>
              </a:spcBef>
            </a:pPr>
            <a:r>
              <a:rPr sz="2800" spc="-10" dirty="0">
                <a:solidFill>
                  <a:srgbClr val="FF0000"/>
                </a:solidFill>
              </a:rPr>
              <a:t>Características: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3405583" y="469230"/>
            <a:ext cx="5738495" cy="4674870"/>
            <a:chOff x="3405583" y="469230"/>
            <a:chExt cx="5738495" cy="4674870"/>
          </a:xfrm>
        </p:grpSpPr>
        <p:sp>
          <p:nvSpPr>
            <p:cNvPr id="4" name="object 4"/>
            <p:cNvSpPr/>
            <p:nvPr/>
          </p:nvSpPr>
          <p:spPr>
            <a:xfrm>
              <a:off x="3419868" y="483526"/>
              <a:ext cx="5724525" cy="4660265"/>
            </a:xfrm>
            <a:custGeom>
              <a:avLst/>
              <a:gdLst/>
              <a:ahLst/>
              <a:cxnLst/>
              <a:rect l="l" t="t" r="r" b="b"/>
              <a:pathLst>
                <a:path w="5724525" h="4660265">
                  <a:moveTo>
                    <a:pt x="2628290" y="0"/>
                  </a:moveTo>
                  <a:lnTo>
                    <a:pt x="336042" y="0"/>
                  </a:lnTo>
                  <a:lnTo>
                    <a:pt x="286385" y="3644"/>
                  </a:lnTo>
                  <a:lnTo>
                    <a:pt x="238988" y="14224"/>
                  </a:lnTo>
                  <a:lnTo>
                    <a:pt x="194373" y="31229"/>
                  </a:lnTo>
                  <a:lnTo>
                    <a:pt x="153060" y="54140"/>
                  </a:lnTo>
                  <a:lnTo>
                    <a:pt x="115570" y="82423"/>
                  </a:lnTo>
                  <a:lnTo>
                    <a:pt x="82423" y="115570"/>
                  </a:lnTo>
                  <a:lnTo>
                    <a:pt x="54140" y="153060"/>
                  </a:lnTo>
                  <a:lnTo>
                    <a:pt x="31229" y="194373"/>
                  </a:lnTo>
                  <a:lnTo>
                    <a:pt x="14224" y="238988"/>
                  </a:lnTo>
                  <a:lnTo>
                    <a:pt x="3644" y="286385"/>
                  </a:lnTo>
                  <a:lnTo>
                    <a:pt x="0" y="336042"/>
                  </a:lnTo>
                  <a:lnTo>
                    <a:pt x="0" y="2016226"/>
                  </a:lnTo>
                  <a:lnTo>
                    <a:pt x="2628290" y="2016226"/>
                  </a:lnTo>
                  <a:lnTo>
                    <a:pt x="2628290" y="0"/>
                  </a:lnTo>
                  <a:close/>
                </a:path>
                <a:path w="5724525" h="4660265">
                  <a:moveTo>
                    <a:pt x="5678157" y="4659973"/>
                  </a:moveTo>
                  <a:lnTo>
                    <a:pt x="5654675" y="4584357"/>
                  </a:lnTo>
                  <a:lnTo>
                    <a:pt x="5634660" y="4543260"/>
                  </a:lnTo>
                  <a:lnTo>
                    <a:pt x="5610555" y="4504741"/>
                  </a:lnTo>
                  <a:lnTo>
                    <a:pt x="5582653" y="4469066"/>
                  </a:lnTo>
                  <a:lnTo>
                    <a:pt x="5551246" y="4436542"/>
                  </a:lnTo>
                  <a:lnTo>
                    <a:pt x="5516588" y="4407446"/>
                  </a:lnTo>
                  <a:lnTo>
                    <a:pt x="5478996" y="4382046"/>
                  </a:lnTo>
                  <a:lnTo>
                    <a:pt x="5438724" y="4360634"/>
                  </a:lnTo>
                  <a:lnTo>
                    <a:pt x="5396065" y="4343489"/>
                  </a:lnTo>
                  <a:lnTo>
                    <a:pt x="5351297" y="4330890"/>
                  </a:lnTo>
                  <a:lnTo>
                    <a:pt x="5304714" y="4323131"/>
                  </a:lnTo>
                  <a:lnTo>
                    <a:pt x="5256581" y="4320476"/>
                  </a:lnTo>
                  <a:lnTo>
                    <a:pt x="5208448" y="4323131"/>
                  </a:lnTo>
                  <a:lnTo>
                    <a:pt x="5161864" y="4330890"/>
                  </a:lnTo>
                  <a:lnTo>
                    <a:pt x="5117096" y="4343489"/>
                  </a:lnTo>
                  <a:lnTo>
                    <a:pt x="5074437" y="4360634"/>
                  </a:lnTo>
                  <a:lnTo>
                    <a:pt x="5034165" y="4382046"/>
                  </a:lnTo>
                  <a:lnTo>
                    <a:pt x="4996573" y="4407446"/>
                  </a:lnTo>
                  <a:lnTo>
                    <a:pt x="4961928" y="4436542"/>
                  </a:lnTo>
                  <a:lnTo>
                    <a:pt x="4930508" y="4469066"/>
                  </a:lnTo>
                  <a:lnTo>
                    <a:pt x="4902606" y="4504741"/>
                  </a:lnTo>
                  <a:lnTo>
                    <a:pt x="4878502" y="4543260"/>
                  </a:lnTo>
                  <a:lnTo>
                    <a:pt x="4858486" y="4584357"/>
                  </a:lnTo>
                  <a:lnTo>
                    <a:pt x="4835017" y="4659973"/>
                  </a:lnTo>
                  <a:lnTo>
                    <a:pt x="5678157" y="4659973"/>
                  </a:lnTo>
                  <a:close/>
                </a:path>
                <a:path w="5724525" h="4660265">
                  <a:moveTo>
                    <a:pt x="5724131" y="3460064"/>
                  </a:moveTo>
                  <a:lnTo>
                    <a:pt x="5673560" y="3465157"/>
                  </a:lnTo>
                  <a:lnTo>
                    <a:pt x="5629046" y="3476790"/>
                  </a:lnTo>
                  <a:lnTo>
                    <a:pt x="5586527" y="3492906"/>
                  </a:lnTo>
                  <a:lnTo>
                    <a:pt x="5546280" y="3513226"/>
                  </a:lnTo>
                  <a:lnTo>
                    <a:pt x="5508574" y="3537483"/>
                  </a:lnTo>
                  <a:lnTo>
                    <a:pt x="5473700" y="3565423"/>
                  </a:lnTo>
                  <a:lnTo>
                    <a:pt x="5441899" y="3596754"/>
                  </a:lnTo>
                  <a:lnTo>
                    <a:pt x="5413464" y="3631209"/>
                  </a:lnTo>
                  <a:lnTo>
                    <a:pt x="5388661" y="3668522"/>
                  </a:lnTo>
                  <a:lnTo>
                    <a:pt x="5367756" y="3708425"/>
                  </a:lnTo>
                  <a:lnTo>
                    <a:pt x="5351030" y="3750627"/>
                  </a:lnTo>
                  <a:lnTo>
                    <a:pt x="5338750" y="3794887"/>
                  </a:lnTo>
                  <a:lnTo>
                    <a:pt x="5331168" y="3840911"/>
                  </a:lnTo>
                  <a:lnTo>
                    <a:pt x="5328590" y="3888435"/>
                  </a:lnTo>
                  <a:lnTo>
                    <a:pt x="5331168" y="3935958"/>
                  </a:lnTo>
                  <a:lnTo>
                    <a:pt x="5338750" y="3981970"/>
                  </a:lnTo>
                  <a:lnTo>
                    <a:pt x="5351030" y="4026230"/>
                  </a:lnTo>
                  <a:lnTo>
                    <a:pt x="5367756" y="4068445"/>
                  </a:lnTo>
                  <a:lnTo>
                    <a:pt x="5388661" y="4108335"/>
                  </a:lnTo>
                  <a:lnTo>
                    <a:pt x="5413464" y="4145648"/>
                  </a:lnTo>
                  <a:lnTo>
                    <a:pt x="5441899" y="4180103"/>
                  </a:lnTo>
                  <a:lnTo>
                    <a:pt x="5473700" y="4211434"/>
                  </a:lnTo>
                  <a:lnTo>
                    <a:pt x="5508574" y="4239374"/>
                  </a:lnTo>
                  <a:lnTo>
                    <a:pt x="5546280" y="4263631"/>
                  </a:lnTo>
                  <a:lnTo>
                    <a:pt x="5586527" y="4283964"/>
                  </a:lnTo>
                  <a:lnTo>
                    <a:pt x="5629046" y="4300067"/>
                  </a:lnTo>
                  <a:lnTo>
                    <a:pt x="5673560" y="4311701"/>
                  </a:lnTo>
                  <a:lnTo>
                    <a:pt x="5724131" y="4316793"/>
                  </a:lnTo>
                  <a:lnTo>
                    <a:pt x="5724131" y="3460064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19871" y="483518"/>
              <a:ext cx="2628900" cy="2016760"/>
            </a:xfrm>
            <a:custGeom>
              <a:avLst/>
              <a:gdLst/>
              <a:ahLst/>
              <a:cxnLst/>
              <a:rect l="l" t="t" r="r" b="b"/>
              <a:pathLst>
                <a:path w="2628900" h="2016760">
                  <a:moveTo>
                    <a:pt x="0" y="2016224"/>
                  </a:moveTo>
                  <a:lnTo>
                    <a:pt x="0" y="336045"/>
                  </a:lnTo>
                  <a:lnTo>
                    <a:pt x="3643" y="286386"/>
                  </a:lnTo>
                  <a:lnTo>
                    <a:pt x="14227" y="238990"/>
                  </a:lnTo>
                  <a:lnTo>
                    <a:pt x="31232" y="194376"/>
                  </a:lnTo>
                  <a:lnTo>
                    <a:pt x="54138" y="153064"/>
                  </a:lnTo>
                  <a:lnTo>
                    <a:pt x="82425" y="115574"/>
                  </a:lnTo>
                  <a:lnTo>
                    <a:pt x="115574" y="82426"/>
                  </a:lnTo>
                  <a:lnTo>
                    <a:pt x="153064" y="54138"/>
                  </a:lnTo>
                  <a:lnTo>
                    <a:pt x="194376" y="31232"/>
                  </a:lnTo>
                  <a:lnTo>
                    <a:pt x="238990" y="14227"/>
                  </a:lnTo>
                  <a:lnTo>
                    <a:pt x="286385" y="3643"/>
                  </a:lnTo>
                  <a:lnTo>
                    <a:pt x="336044" y="0"/>
                  </a:lnTo>
                  <a:lnTo>
                    <a:pt x="2628291" y="0"/>
                  </a:lnTo>
                  <a:lnTo>
                    <a:pt x="2628291" y="2016224"/>
                  </a:lnTo>
                  <a:lnTo>
                    <a:pt x="0" y="2016224"/>
                  </a:lnTo>
                  <a:close/>
                </a:path>
              </a:pathLst>
            </a:custGeom>
            <a:ln w="28575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664868" y="537463"/>
            <a:ext cx="2138680" cy="1257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26699"/>
              </a:lnSpc>
              <a:spcBef>
                <a:spcPts val="100"/>
              </a:spcBef>
            </a:pPr>
            <a:r>
              <a:rPr sz="2100" spc="-90" dirty="0">
                <a:solidFill>
                  <a:srgbClr val="044247"/>
                </a:solidFill>
                <a:latin typeface="Arial"/>
                <a:cs typeface="Arial"/>
              </a:rPr>
              <a:t>Orientados</a:t>
            </a:r>
            <a:r>
              <a:rPr sz="2100" spc="-100" dirty="0">
                <a:solidFill>
                  <a:srgbClr val="044247"/>
                </a:solidFill>
                <a:latin typeface="Arial"/>
                <a:cs typeface="Arial"/>
              </a:rPr>
              <a:t> </a:t>
            </a:r>
            <a:r>
              <a:rPr sz="2100" spc="-170" dirty="0">
                <a:solidFill>
                  <a:srgbClr val="044247"/>
                </a:solidFill>
                <a:latin typeface="Arial"/>
                <a:cs typeface="Arial"/>
              </a:rPr>
              <a:t>a</a:t>
            </a:r>
            <a:r>
              <a:rPr sz="2100" spc="-100" dirty="0">
                <a:solidFill>
                  <a:srgbClr val="044247"/>
                </a:solidFill>
                <a:latin typeface="Arial"/>
                <a:cs typeface="Arial"/>
              </a:rPr>
              <a:t> </a:t>
            </a:r>
            <a:r>
              <a:rPr sz="2100" spc="-95" dirty="0">
                <a:solidFill>
                  <a:srgbClr val="044247"/>
                </a:solidFill>
                <a:latin typeface="Arial"/>
                <a:cs typeface="Arial"/>
              </a:rPr>
              <a:t>temas </a:t>
            </a:r>
            <a:r>
              <a:rPr sz="2100" spc="-345" dirty="0">
                <a:solidFill>
                  <a:srgbClr val="044247"/>
                </a:solidFill>
                <a:latin typeface="Arial"/>
                <a:cs typeface="Arial"/>
              </a:rPr>
              <a:t>Vs</a:t>
            </a:r>
            <a:endParaRPr sz="2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90"/>
              </a:spcBef>
            </a:pPr>
            <a:r>
              <a:rPr sz="2100" spc="-70" dirty="0">
                <a:solidFill>
                  <a:srgbClr val="044247"/>
                </a:solidFill>
                <a:latin typeface="Arial"/>
                <a:cs typeface="Arial"/>
              </a:rPr>
              <a:t>Transacciones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035462" y="470818"/>
            <a:ext cx="2654300" cy="2042160"/>
            <a:chOff x="6035462" y="470818"/>
            <a:chExt cx="2654300" cy="2042160"/>
          </a:xfrm>
        </p:grpSpPr>
        <p:sp>
          <p:nvSpPr>
            <p:cNvPr id="8" name="object 8"/>
            <p:cNvSpPr/>
            <p:nvPr/>
          </p:nvSpPr>
          <p:spPr>
            <a:xfrm>
              <a:off x="6048162" y="483518"/>
              <a:ext cx="2628900" cy="2016760"/>
            </a:xfrm>
            <a:custGeom>
              <a:avLst/>
              <a:gdLst/>
              <a:ahLst/>
              <a:cxnLst/>
              <a:rect l="l" t="t" r="r" b="b"/>
              <a:pathLst>
                <a:path w="2628900" h="2016760">
                  <a:moveTo>
                    <a:pt x="2292247" y="0"/>
                  </a:moveTo>
                  <a:lnTo>
                    <a:pt x="0" y="0"/>
                  </a:lnTo>
                  <a:lnTo>
                    <a:pt x="0" y="2016224"/>
                  </a:lnTo>
                  <a:lnTo>
                    <a:pt x="2628290" y="2016224"/>
                  </a:lnTo>
                  <a:lnTo>
                    <a:pt x="2628290" y="336044"/>
                  </a:lnTo>
                  <a:lnTo>
                    <a:pt x="2624646" y="286386"/>
                  </a:lnTo>
                  <a:lnTo>
                    <a:pt x="2614062" y="238990"/>
                  </a:lnTo>
                  <a:lnTo>
                    <a:pt x="2597057" y="194376"/>
                  </a:lnTo>
                  <a:lnTo>
                    <a:pt x="2574151" y="153064"/>
                  </a:lnTo>
                  <a:lnTo>
                    <a:pt x="2545864" y="115574"/>
                  </a:lnTo>
                  <a:lnTo>
                    <a:pt x="2512716" y="82425"/>
                  </a:lnTo>
                  <a:lnTo>
                    <a:pt x="2475226" y="54138"/>
                  </a:lnTo>
                  <a:lnTo>
                    <a:pt x="2433914" y="31232"/>
                  </a:lnTo>
                  <a:lnTo>
                    <a:pt x="2389300" y="14227"/>
                  </a:lnTo>
                  <a:lnTo>
                    <a:pt x="2341905" y="3643"/>
                  </a:lnTo>
                  <a:lnTo>
                    <a:pt x="2292247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48162" y="483518"/>
              <a:ext cx="2628900" cy="2016760"/>
            </a:xfrm>
            <a:custGeom>
              <a:avLst/>
              <a:gdLst/>
              <a:ahLst/>
              <a:cxnLst/>
              <a:rect l="l" t="t" r="r" b="b"/>
              <a:pathLst>
                <a:path w="2628900" h="2016760">
                  <a:moveTo>
                    <a:pt x="0" y="0"/>
                  </a:moveTo>
                  <a:lnTo>
                    <a:pt x="2292247" y="0"/>
                  </a:lnTo>
                  <a:lnTo>
                    <a:pt x="2341905" y="3643"/>
                  </a:lnTo>
                  <a:lnTo>
                    <a:pt x="2389300" y="14227"/>
                  </a:lnTo>
                  <a:lnTo>
                    <a:pt x="2433914" y="31232"/>
                  </a:lnTo>
                  <a:lnTo>
                    <a:pt x="2475226" y="54138"/>
                  </a:lnTo>
                  <a:lnTo>
                    <a:pt x="2512716" y="82426"/>
                  </a:lnTo>
                  <a:lnTo>
                    <a:pt x="2545865" y="115574"/>
                  </a:lnTo>
                  <a:lnTo>
                    <a:pt x="2574152" y="153064"/>
                  </a:lnTo>
                  <a:lnTo>
                    <a:pt x="2597058" y="194376"/>
                  </a:lnTo>
                  <a:lnTo>
                    <a:pt x="2614063" y="238990"/>
                  </a:lnTo>
                  <a:lnTo>
                    <a:pt x="2624647" y="286386"/>
                  </a:lnTo>
                  <a:lnTo>
                    <a:pt x="2628291" y="336044"/>
                  </a:lnTo>
                  <a:lnTo>
                    <a:pt x="2628291" y="2016224"/>
                  </a:lnTo>
                  <a:lnTo>
                    <a:pt x="0" y="2016224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774615" y="537463"/>
            <a:ext cx="1175385" cy="125730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algn="ctr">
              <a:lnSpc>
                <a:spcPct val="129000"/>
              </a:lnSpc>
              <a:spcBef>
                <a:spcPts val="40"/>
              </a:spcBef>
            </a:pPr>
            <a:r>
              <a:rPr sz="2100" spc="-95" dirty="0">
                <a:solidFill>
                  <a:srgbClr val="044247"/>
                </a:solidFill>
                <a:latin typeface="Arial"/>
                <a:cs typeface="Arial"/>
              </a:rPr>
              <a:t>Integrados </a:t>
            </a:r>
            <a:r>
              <a:rPr sz="2100" spc="-345" dirty="0">
                <a:solidFill>
                  <a:srgbClr val="044247"/>
                </a:solidFill>
                <a:latin typeface="Arial"/>
                <a:cs typeface="Arial"/>
              </a:rPr>
              <a:t>Vs </a:t>
            </a:r>
            <a:r>
              <a:rPr sz="2100" spc="-25" dirty="0">
                <a:solidFill>
                  <a:srgbClr val="044247"/>
                </a:solidFill>
                <a:latin typeface="Arial"/>
                <a:cs typeface="Arial"/>
              </a:rPr>
              <a:t>Registros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405584" y="2485454"/>
            <a:ext cx="2657475" cy="2045335"/>
            <a:chOff x="3405584" y="2485454"/>
            <a:chExt cx="2657475" cy="2045335"/>
          </a:xfrm>
        </p:grpSpPr>
        <p:sp>
          <p:nvSpPr>
            <p:cNvPr id="12" name="object 12"/>
            <p:cNvSpPr/>
            <p:nvPr/>
          </p:nvSpPr>
          <p:spPr>
            <a:xfrm>
              <a:off x="3419871" y="2499742"/>
              <a:ext cx="2628900" cy="2016760"/>
            </a:xfrm>
            <a:custGeom>
              <a:avLst/>
              <a:gdLst/>
              <a:ahLst/>
              <a:cxnLst/>
              <a:rect l="l" t="t" r="r" b="b"/>
              <a:pathLst>
                <a:path w="2628900" h="2016760">
                  <a:moveTo>
                    <a:pt x="2628291" y="0"/>
                  </a:moveTo>
                  <a:lnTo>
                    <a:pt x="0" y="0"/>
                  </a:lnTo>
                  <a:lnTo>
                    <a:pt x="0" y="1680179"/>
                  </a:lnTo>
                  <a:lnTo>
                    <a:pt x="3643" y="1729837"/>
                  </a:lnTo>
                  <a:lnTo>
                    <a:pt x="14227" y="1777233"/>
                  </a:lnTo>
                  <a:lnTo>
                    <a:pt x="31232" y="1821846"/>
                  </a:lnTo>
                  <a:lnTo>
                    <a:pt x="54139" y="1863158"/>
                  </a:lnTo>
                  <a:lnTo>
                    <a:pt x="82426" y="1900648"/>
                  </a:lnTo>
                  <a:lnTo>
                    <a:pt x="115574" y="1933797"/>
                  </a:lnTo>
                  <a:lnTo>
                    <a:pt x="153065" y="1962084"/>
                  </a:lnTo>
                  <a:lnTo>
                    <a:pt x="194376" y="1984990"/>
                  </a:lnTo>
                  <a:lnTo>
                    <a:pt x="238990" y="2001995"/>
                  </a:lnTo>
                  <a:lnTo>
                    <a:pt x="286386" y="2012579"/>
                  </a:lnTo>
                  <a:lnTo>
                    <a:pt x="336044" y="2016223"/>
                  </a:lnTo>
                  <a:lnTo>
                    <a:pt x="2628291" y="2016223"/>
                  </a:lnTo>
                  <a:lnTo>
                    <a:pt x="2628291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19871" y="2499741"/>
              <a:ext cx="2628900" cy="2016760"/>
            </a:xfrm>
            <a:custGeom>
              <a:avLst/>
              <a:gdLst/>
              <a:ahLst/>
              <a:cxnLst/>
              <a:rect l="l" t="t" r="r" b="b"/>
              <a:pathLst>
                <a:path w="2628900" h="2016760">
                  <a:moveTo>
                    <a:pt x="2628291" y="2016224"/>
                  </a:moveTo>
                  <a:lnTo>
                    <a:pt x="336044" y="2016224"/>
                  </a:lnTo>
                  <a:lnTo>
                    <a:pt x="286385" y="2012580"/>
                  </a:lnTo>
                  <a:lnTo>
                    <a:pt x="238990" y="2001996"/>
                  </a:lnTo>
                  <a:lnTo>
                    <a:pt x="194376" y="1984991"/>
                  </a:lnTo>
                  <a:lnTo>
                    <a:pt x="153064" y="1962085"/>
                  </a:lnTo>
                  <a:lnTo>
                    <a:pt x="115574" y="1933797"/>
                  </a:lnTo>
                  <a:lnTo>
                    <a:pt x="82425" y="1900649"/>
                  </a:lnTo>
                  <a:lnTo>
                    <a:pt x="54138" y="1863159"/>
                  </a:lnTo>
                  <a:lnTo>
                    <a:pt x="31232" y="1821847"/>
                  </a:lnTo>
                  <a:lnTo>
                    <a:pt x="14227" y="1777233"/>
                  </a:lnTo>
                  <a:lnTo>
                    <a:pt x="3643" y="1729837"/>
                  </a:lnTo>
                  <a:lnTo>
                    <a:pt x="0" y="1680179"/>
                  </a:lnTo>
                  <a:lnTo>
                    <a:pt x="0" y="0"/>
                  </a:lnTo>
                  <a:lnTo>
                    <a:pt x="2628291" y="0"/>
                  </a:lnTo>
                  <a:lnTo>
                    <a:pt x="2628291" y="2016224"/>
                  </a:lnTo>
                  <a:close/>
                </a:path>
              </a:pathLst>
            </a:custGeom>
            <a:ln w="28575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557361" y="3058160"/>
            <a:ext cx="2353310" cy="1257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26699"/>
              </a:lnSpc>
              <a:spcBef>
                <a:spcPts val="100"/>
              </a:spcBef>
            </a:pPr>
            <a:r>
              <a:rPr sz="2100" spc="-95" dirty="0">
                <a:solidFill>
                  <a:srgbClr val="044247"/>
                </a:solidFill>
                <a:latin typeface="Arial"/>
                <a:cs typeface="Arial"/>
              </a:rPr>
              <a:t>Variante</a:t>
            </a:r>
            <a:r>
              <a:rPr sz="2100" spc="-100" dirty="0">
                <a:solidFill>
                  <a:srgbClr val="044247"/>
                </a:solidFill>
                <a:latin typeface="Arial"/>
                <a:cs typeface="Arial"/>
              </a:rPr>
              <a:t> </a:t>
            </a:r>
            <a:r>
              <a:rPr sz="2100" spc="-105" dirty="0">
                <a:solidFill>
                  <a:srgbClr val="044247"/>
                </a:solidFill>
                <a:latin typeface="Arial"/>
                <a:cs typeface="Arial"/>
              </a:rPr>
              <a:t>en</a:t>
            </a:r>
            <a:r>
              <a:rPr sz="2100" spc="-100" dirty="0">
                <a:solidFill>
                  <a:srgbClr val="044247"/>
                </a:solidFill>
                <a:latin typeface="Arial"/>
                <a:cs typeface="Arial"/>
              </a:rPr>
              <a:t> </a:t>
            </a:r>
            <a:r>
              <a:rPr sz="2100" spc="-60" dirty="0">
                <a:solidFill>
                  <a:srgbClr val="044247"/>
                </a:solidFill>
                <a:latin typeface="Arial"/>
                <a:cs typeface="Arial"/>
              </a:rPr>
              <a:t>el</a:t>
            </a:r>
            <a:r>
              <a:rPr sz="2100" spc="-100" dirty="0">
                <a:solidFill>
                  <a:srgbClr val="044247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044247"/>
                </a:solidFill>
                <a:latin typeface="Arial"/>
                <a:cs typeface="Arial"/>
              </a:rPr>
              <a:t>tiempo </a:t>
            </a:r>
            <a:r>
              <a:rPr sz="2100" spc="-345" dirty="0">
                <a:solidFill>
                  <a:srgbClr val="044247"/>
                </a:solidFill>
                <a:latin typeface="Arial"/>
                <a:cs typeface="Arial"/>
              </a:rPr>
              <a:t>Vs</a:t>
            </a:r>
            <a:endParaRPr sz="2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90"/>
              </a:spcBef>
            </a:pPr>
            <a:r>
              <a:rPr sz="2100" spc="-10" dirty="0">
                <a:solidFill>
                  <a:srgbClr val="044247"/>
                </a:solidFill>
                <a:latin typeface="Arial"/>
                <a:cs typeface="Arial"/>
              </a:rPr>
              <a:t>Estático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033875" y="2485453"/>
            <a:ext cx="2657475" cy="2045335"/>
            <a:chOff x="6033875" y="2485453"/>
            <a:chExt cx="2657475" cy="2045335"/>
          </a:xfrm>
        </p:grpSpPr>
        <p:sp>
          <p:nvSpPr>
            <p:cNvPr id="16" name="object 16"/>
            <p:cNvSpPr/>
            <p:nvPr/>
          </p:nvSpPr>
          <p:spPr>
            <a:xfrm>
              <a:off x="6048162" y="2499741"/>
              <a:ext cx="2628900" cy="2016760"/>
            </a:xfrm>
            <a:custGeom>
              <a:avLst/>
              <a:gdLst/>
              <a:ahLst/>
              <a:cxnLst/>
              <a:rect l="l" t="t" r="r" b="b"/>
              <a:pathLst>
                <a:path w="2628900" h="2016760">
                  <a:moveTo>
                    <a:pt x="2628291" y="0"/>
                  </a:moveTo>
                  <a:lnTo>
                    <a:pt x="0" y="0"/>
                  </a:lnTo>
                  <a:lnTo>
                    <a:pt x="0" y="2016224"/>
                  </a:lnTo>
                  <a:lnTo>
                    <a:pt x="2292247" y="2016224"/>
                  </a:lnTo>
                  <a:lnTo>
                    <a:pt x="2341905" y="2012580"/>
                  </a:lnTo>
                  <a:lnTo>
                    <a:pt x="2389300" y="2001996"/>
                  </a:lnTo>
                  <a:lnTo>
                    <a:pt x="2433914" y="1984991"/>
                  </a:lnTo>
                  <a:lnTo>
                    <a:pt x="2475226" y="1962085"/>
                  </a:lnTo>
                  <a:lnTo>
                    <a:pt x="2512716" y="1933798"/>
                  </a:lnTo>
                  <a:lnTo>
                    <a:pt x="2545865" y="1900649"/>
                  </a:lnTo>
                  <a:lnTo>
                    <a:pt x="2574152" y="1863159"/>
                  </a:lnTo>
                  <a:lnTo>
                    <a:pt x="2597058" y="1821847"/>
                  </a:lnTo>
                  <a:lnTo>
                    <a:pt x="2614063" y="1777233"/>
                  </a:lnTo>
                  <a:lnTo>
                    <a:pt x="2624648" y="1729838"/>
                  </a:lnTo>
                  <a:lnTo>
                    <a:pt x="2628291" y="1680179"/>
                  </a:lnTo>
                  <a:lnTo>
                    <a:pt x="2628291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48163" y="2499741"/>
              <a:ext cx="2628900" cy="2016760"/>
            </a:xfrm>
            <a:custGeom>
              <a:avLst/>
              <a:gdLst/>
              <a:ahLst/>
              <a:cxnLst/>
              <a:rect l="l" t="t" r="r" b="b"/>
              <a:pathLst>
                <a:path w="2628900" h="2016760">
                  <a:moveTo>
                    <a:pt x="2628291" y="0"/>
                  </a:moveTo>
                  <a:lnTo>
                    <a:pt x="2628291" y="1680179"/>
                  </a:lnTo>
                  <a:lnTo>
                    <a:pt x="2624647" y="1729837"/>
                  </a:lnTo>
                  <a:lnTo>
                    <a:pt x="2614063" y="1777233"/>
                  </a:lnTo>
                  <a:lnTo>
                    <a:pt x="2597058" y="1821847"/>
                  </a:lnTo>
                  <a:lnTo>
                    <a:pt x="2574152" y="1863159"/>
                  </a:lnTo>
                  <a:lnTo>
                    <a:pt x="2545865" y="1900649"/>
                  </a:lnTo>
                  <a:lnTo>
                    <a:pt x="2512716" y="1933798"/>
                  </a:lnTo>
                  <a:lnTo>
                    <a:pt x="2475226" y="1962085"/>
                  </a:lnTo>
                  <a:lnTo>
                    <a:pt x="2433914" y="1984991"/>
                  </a:lnTo>
                  <a:lnTo>
                    <a:pt x="2389300" y="2001996"/>
                  </a:lnTo>
                  <a:lnTo>
                    <a:pt x="2341905" y="2012580"/>
                  </a:lnTo>
                  <a:lnTo>
                    <a:pt x="2292246" y="2016224"/>
                  </a:lnTo>
                  <a:lnTo>
                    <a:pt x="0" y="2016224"/>
                  </a:lnTo>
                  <a:lnTo>
                    <a:pt x="0" y="0"/>
                  </a:lnTo>
                  <a:lnTo>
                    <a:pt x="2628291" y="0"/>
                  </a:lnTo>
                  <a:close/>
                </a:path>
              </a:pathLst>
            </a:custGeom>
            <a:ln w="28575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716069" y="3058160"/>
            <a:ext cx="1292860" cy="1257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26699"/>
              </a:lnSpc>
              <a:spcBef>
                <a:spcPts val="100"/>
              </a:spcBef>
            </a:pPr>
            <a:r>
              <a:rPr sz="2100" spc="-120" dirty="0">
                <a:solidFill>
                  <a:srgbClr val="044247"/>
                </a:solidFill>
                <a:latin typeface="Arial"/>
                <a:cs typeface="Arial"/>
              </a:rPr>
              <a:t>No</a:t>
            </a:r>
            <a:r>
              <a:rPr sz="2100" spc="-95" dirty="0">
                <a:solidFill>
                  <a:srgbClr val="044247"/>
                </a:solidFill>
                <a:latin typeface="Arial"/>
                <a:cs typeface="Arial"/>
              </a:rPr>
              <a:t> </a:t>
            </a:r>
            <a:r>
              <a:rPr sz="2100" spc="-70" dirty="0">
                <a:solidFill>
                  <a:srgbClr val="044247"/>
                </a:solidFill>
                <a:latin typeface="Arial"/>
                <a:cs typeface="Arial"/>
              </a:rPr>
              <a:t>volátiles </a:t>
            </a:r>
            <a:r>
              <a:rPr sz="2100" spc="-345" dirty="0">
                <a:solidFill>
                  <a:srgbClr val="044247"/>
                </a:solidFill>
                <a:latin typeface="Arial"/>
                <a:cs typeface="Arial"/>
              </a:rPr>
              <a:t>Vs</a:t>
            </a:r>
            <a:endParaRPr sz="2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90"/>
              </a:spcBef>
            </a:pPr>
            <a:r>
              <a:rPr sz="2100" spc="-10" dirty="0">
                <a:solidFill>
                  <a:srgbClr val="044247"/>
                </a:solidFill>
                <a:latin typeface="Arial"/>
                <a:cs typeface="Arial"/>
              </a:rPr>
              <a:t>Efímeros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245388" y="1981398"/>
            <a:ext cx="1605915" cy="1036955"/>
            <a:chOff x="5245388" y="1981398"/>
            <a:chExt cx="1605915" cy="1036955"/>
          </a:xfrm>
        </p:grpSpPr>
        <p:sp>
          <p:nvSpPr>
            <p:cNvPr id="20" name="object 20"/>
            <p:cNvSpPr/>
            <p:nvPr/>
          </p:nvSpPr>
          <p:spPr>
            <a:xfrm>
              <a:off x="5259675" y="1995685"/>
              <a:ext cx="1577340" cy="1008380"/>
            </a:xfrm>
            <a:custGeom>
              <a:avLst/>
              <a:gdLst/>
              <a:ahLst/>
              <a:cxnLst/>
              <a:rect l="l" t="t" r="r" b="b"/>
              <a:pathLst>
                <a:path w="1577340" h="1008380">
                  <a:moveTo>
                    <a:pt x="1408951" y="0"/>
                  </a:moveTo>
                  <a:lnTo>
                    <a:pt x="168022" y="0"/>
                  </a:lnTo>
                  <a:lnTo>
                    <a:pt x="123355" y="6001"/>
                  </a:lnTo>
                  <a:lnTo>
                    <a:pt x="83218" y="22940"/>
                  </a:lnTo>
                  <a:lnTo>
                    <a:pt x="49212" y="49213"/>
                  </a:lnTo>
                  <a:lnTo>
                    <a:pt x="22939" y="83219"/>
                  </a:lnTo>
                  <a:lnTo>
                    <a:pt x="6001" y="123356"/>
                  </a:lnTo>
                  <a:lnTo>
                    <a:pt x="0" y="168023"/>
                  </a:lnTo>
                  <a:lnTo>
                    <a:pt x="0" y="840089"/>
                  </a:lnTo>
                  <a:lnTo>
                    <a:pt x="6001" y="884756"/>
                  </a:lnTo>
                  <a:lnTo>
                    <a:pt x="22939" y="924893"/>
                  </a:lnTo>
                  <a:lnTo>
                    <a:pt x="49212" y="958899"/>
                  </a:lnTo>
                  <a:lnTo>
                    <a:pt x="83218" y="985172"/>
                  </a:lnTo>
                  <a:lnTo>
                    <a:pt x="123355" y="1002110"/>
                  </a:lnTo>
                  <a:lnTo>
                    <a:pt x="168022" y="1008112"/>
                  </a:lnTo>
                  <a:lnTo>
                    <a:pt x="1408951" y="1008112"/>
                  </a:lnTo>
                  <a:lnTo>
                    <a:pt x="1453619" y="1002110"/>
                  </a:lnTo>
                  <a:lnTo>
                    <a:pt x="1493756" y="985172"/>
                  </a:lnTo>
                  <a:lnTo>
                    <a:pt x="1527762" y="958899"/>
                  </a:lnTo>
                  <a:lnTo>
                    <a:pt x="1554035" y="924893"/>
                  </a:lnTo>
                  <a:lnTo>
                    <a:pt x="1570973" y="884756"/>
                  </a:lnTo>
                  <a:lnTo>
                    <a:pt x="1576975" y="840089"/>
                  </a:lnTo>
                  <a:lnTo>
                    <a:pt x="1576975" y="168023"/>
                  </a:lnTo>
                  <a:lnTo>
                    <a:pt x="1570973" y="123356"/>
                  </a:lnTo>
                  <a:lnTo>
                    <a:pt x="1554035" y="83219"/>
                  </a:lnTo>
                  <a:lnTo>
                    <a:pt x="1527762" y="49213"/>
                  </a:lnTo>
                  <a:lnTo>
                    <a:pt x="1493756" y="22940"/>
                  </a:lnTo>
                  <a:lnTo>
                    <a:pt x="1453619" y="6001"/>
                  </a:lnTo>
                  <a:lnTo>
                    <a:pt x="1408951" y="0"/>
                  </a:lnTo>
                  <a:close/>
                </a:path>
              </a:pathLst>
            </a:custGeom>
            <a:solidFill>
              <a:srgbClr val="B2C1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259675" y="1995685"/>
              <a:ext cx="1577340" cy="1008380"/>
            </a:xfrm>
            <a:custGeom>
              <a:avLst/>
              <a:gdLst/>
              <a:ahLst/>
              <a:cxnLst/>
              <a:rect l="l" t="t" r="r" b="b"/>
              <a:pathLst>
                <a:path w="1577340" h="1008380">
                  <a:moveTo>
                    <a:pt x="0" y="168022"/>
                  </a:moveTo>
                  <a:lnTo>
                    <a:pt x="6001" y="123355"/>
                  </a:lnTo>
                  <a:lnTo>
                    <a:pt x="22940" y="83218"/>
                  </a:lnTo>
                  <a:lnTo>
                    <a:pt x="49212" y="49212"/>
                  </a:lnTo>
                  <a:lnTo>
                    <a:pt x="83218" y="22940"/>
                  </a:lnTo>
                  <a:lnTo>
                    <a:pt x="123355" y="6001"/>
                  </a:lnTo>
                  <a:lnTo>
                    <a:pt x="168022" y="0"/>
                  </a:lnTo>
                  <a:lnTo>
                    <a:pt x="1408952" y="0"/>
                  </a:lnTo>
                  <a:lnTo>
                    <a:pt x="1453619" y="6001"/>
                  </a:lnTo>
                  <a:lnTo>
                    <a:pt x="1493756" y="22940"/>
                  </a:lnTo>
                  <a:lnTo>
                    <a:pt x="1527762" y="49212"/>
                  </a:lnTo>
                  <a:lnTo>
                    <a:pt x="1554035" y="83218"/>
                  </a:lnTo>
                  <a:lnTo>
                    <a:pt x="1570973" y="123355"/>
                  </a:lnTo>
                  <a:lnTo>
                    <a:pt x="1576975" y="168022"/>
                  </a:lnTo>
                  <a:lnTo>
                    <a:pt x="1576975" y="840089"/>
                  </a:lnTo>
                  <a:lnTo>
                    <a:pt x="1570973" y="884756"/>
                  </a:lnTo>
                  <a:lnTo>
                    <a:pt x="1554035" y="924893"/>
                  </a:lnTo>
                  <a:lnTo>
                    <a:pt x="1527762" y="958899"/>
                  </a:lnTo>
                  <a:lnTo>
                    <a:pt x="1493756" y="985171"/>
                  </a:lnTo>
                  <a:lnTo>
                    <a:pt x="1453619" y="1002110"/>
                  </a:lnTo>
                  <a:lnTo>
                    <a:pt x="1408952" y="1008112"/>
                  </a:lnTo>
                  <a:lnTo>
                    <a:pt x="168022" y="1008112"/>
                  </a:lnTo>
                  <a:lnTo>
                    <a:pt x="123355" y="1002110"/>
                  </a:lnTo>
                  <a:lnTo>
                    <a:pt x="83218" y="985171"/>
                  </a:lnTo>
                  <a:lnTo>
                    <a:pt x="49212" y="958899"/>
                  </a:lnTo>
                  <a:lnTo>
                    <a:pt x="22940" y="924893"/>
                  </a:lnTo>
                  <a:lnTo>
                    <a:pt x="6001" y="884756"/>
                  </a:lnTo>
                  <a:lnTo>
                    <a:pt x="0" y="840089"/>
                  </a:lnTo>
                  <a:lnTo>
                    <a:pt x="0" y="168022"/>
                  </a:lnTo>
                  <a:close/>
                </a:path>
              </a:pathLst>
            </a:custGeom>
            <a:ln w="28575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432784" y="2143760"/>
            <a:ext cx="1231265" cy="638175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27635" marR="5080" indent="-115570">
              <a:lnSpc>
                <a:spcPts val="2300"/>
              </a:lnSpc>
              <a:spcBef>
                <a:spcPts val="359"/>
              </a:spcBef>
            </a:pPr>
            <a:r>
              <a:rPr sz="2100" b="1" spc="-185" dirty="0">
                <a:solidFill>
                  <a:srgbClr val="044247"/>
                </a:solidFill>
                <a:latin typeface="Arial"/>
                <a:cs typeface="Arial"/>
              </a:rPr>
              <a:t>Almacenes </a:t>
            </a:r>
            <a:r>
              <a:rPr sz="2100" b="1" spc="-145" dirty="0">
                <a:solidFill>
                  <a:srgbClr val="044247"/>
                </a:solidFill>
                <a:latin typeface="Arial"/>
                <a:cs typeface="Arial"/>
              </a:rPr>
              <a:t>de</a:t>
            </a:r>
            <a:r>
              <a:rPr sz="2100" b="1" spc="-95" dirty="0">
                <a:solidFill>
                  <a:srgbClr val="044247"/>
                </a:solidFill>
                <a:latin typeface="Arial"/>
                <a:cs typeface="Arial"/>
              </a:rPr>
              <a:t> </a:t>
            </a:r>
            <a:r>
              <a:rPr sz="2100" b="1" spc="-10" dirty="0">
                <a:solidFill>
                  <a:srgbClr val="044247"/>
                </a:solidFill>
                <a:latin typeface="Arial"/>
                <a:cs typeface="Arial"/>
              </a:rPr>
              <a:t>Datos</a:t>
            </a:r>
            <a:endParaRPr sz="21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439928" y="4562347"/>
            <a:ext cx="1360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25" dirty="0">
                <a:latin typeface="Arial"/>
                <a:cs typeface="Arial"/>
              </a:rPr>
              <a:t>Immon</a:t>
            </a:r>
            <a:r>
              <a:rPr sz="1800" b="1" spc="-95" dirty="0">
                <a:latin typeface="Arial"/>
                <a:cs typeface="Arial"/>
              </a:rPr>
              <a:t> </a:t>
            </a:r>
            <a:r>
              <a:rPr sz="1800" b="1" spc="-60" dirty="0">
                <a:latin typeface="Arial"/>
                <a:cs typeface="Arial"/>
              </a:rPr>
              <a:t>(2002)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4" y="253491"/>
            <a:ext cx="229235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72390">
              <a:lnSpc>
                <a:spcPct val="71000"/>
              </a:lnSpc>
              <a:spcBef>
                <a:spcPts val="1490"/>
              </a:spcBef>
            </a:pPr>
            <a:r>
              <a:rPr spc="-10" dirty="0"/>
              <a:t>Almacenes </a:t>
            </a:r>
            <a:r>
              <a:rPr dirty="0"/>
              <a:t>de</a:t>
            </a:r>
            <a:r>
              <a:rPr spc="-10" dirty="0"/>
              <a:t> Datos:</a:t>
            </a:r>
          </a:p>
          <a:p>
            <a:pPr marL="93345">
              <a:lnSpc>
                <a:spcPct val="100000"/>
              </a:lnSpc>
              <a:spcBef>
                <a:spcPts val="240"/>
              </a:spcBef>
            </a:pPr>
            <a:r>
              <a:rPr sz="2800" spc="-10" dirty="0">
                <a:solidFill>
                  <a:srgbClr val="FF0000"/>
                </a:solidFill>
              </a:rPr>
              <a:t>Características: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3405583" y="469230"/>
            <a:ext cx="5738495" cy="4674870"/>
            <a:chOff x="3405583" y="469230"/>
            <a:chExt cx="5738495" cy="4674870"/>
          </a:xfrm>
        </p:grpSpPr>
        <p:sp>
          <p:nvSpPr>
            <p:cNvPr id="4" name="object 4"/>
            <p:cNvSpPr/>
            <p:nvPr/>
          </p:nvSpPr>
          <p:spPr>
            <a:xfrm>
              <a:off x="3419868" y="483526"/>
              <a:ext cx="5724525" cy="4660265"/>
            </a:xfrm>
            <a:custGeom>
              <a:avLst/>
              <a:gdLst/>
              <a:ahLst/>
              <a:cxnLst/>
              <a:rect l="l" t="t" r="r" b="b"/>
              <a:pathLst>
                <a:path w="5724525" h="4660265">
                  <a:moveTo>
                    <a:pt x="2628290" y="0"/>
                  </a:moveTo>
                  <a:lnTo>
                    <a:pt x="336042" y="0"/>
                  </a:lnTo>
                  <a:lnTo>
                    <a:pt x="286385" y="3644"/>
                  </a:lnTo>
                  <a:lnTo>
                    <a:pt x="238988" y="14224"/>
                  </a:lnTo>
                  <a:lnTo>
                    <a:pt x="194373" y="31229"/>
                  </a:lnTo>
                  <a:lnTo>
                    <a:pt x="153060" y="54140"/>
                  </a:lnTo>
                  <a:lnTo>
                    <a:pt x="115570" y="82423"/>
                  </a:lnTo>
                  <a:lnTo>
                    <a:pt x="82423" y="115570"/>
                  </a:lnTo>
                  <a:lnTo>
                    <a:pt x="54140" y="153060"/>
                  </a:lnTo>
                  <a:lnTo>
                    <a:pt x="31229" y="194373"/>
                  </a:lnTo>
                  <a:lnTo>
                    <a:pt x="14224" y="238988"/>
                  </a:lnTo>
                  <a:lnTo>
                    <a:pt x="3644" y="286385"/>
                  </a:lnTo>
                  <a:lnTo>
                    <a:pt x="0" y="336042"/>
                  </a:lnTo>
                  <a:lnTo>
                    <a:pt x="0" y="2016226"/>
                  </a:lnTo>
                  <a:lnTo>
                    <a:pt x="2628290" y="2016226"/>
                  </a:lnTo>
                  <a:lnTo>
                    <a:pt x="2628290" y="0"/>
                  </a:lnTo>
                  <a:close/>
                </a:path>
                <a:path w="5724525" h="4660265">
                  <a:moveTo>
                    <a:pt x="5678157" y="4659973"/>
                  </a:moveTo>
                  <a:lnTo>
                    <a:pt x="5654675" y="4584357"/>
                  </a:lnTo>
                  <a:lnTo>
                    <a:pt x="5634660" y="4543260"/>
                  </a:lnTo>
                  <a:lnTo>
                    <a:pt x="5610555" y="4504741"/>
                  </a:lnTo>
                  <a:lnTo>
                    <a:pt x="5582653" y="4469066"/>
                  </a:lnTo>
                  <a:lnTo>
                    <a:pt x="5551246" y="4436542"/>
                  </a:lnTo>
                  <a:lnTo>
                    <a:pt x="5516588" y="4407446"/>
                  </a:lnTo>
                  <a:lnTo>
                    <a:pt x="5478996" y="4382046"/>
                  </a:lnTo>
                  <a:lnTo>
                    <a:pt x="5438724" y="4360634"/>
                  </a:lnTo>
                  <a:lnTo>
                    <a:pt x="5396065" y="4343489"/>
                  </a:lnTo>
                  <a:lnTo>
                    <a:pt x="5351297" y="4330890"/>
                  </a:lnTo>
                  <a:lnTo>
                    <a:pt x="5304714" y="4323131"/>
                  </a:lnTo>
                  <a:lnTo>
                    <a:pt x="5256581" y="4320476"/>
                  </a:lnTo>
                  <a:lnTo>
                    <a:pt x="5208448" y="4323131"/>
                  </a:lnTo>
                  <a:lnTo>
                    <a:pt x="5161864" y="4330890"/>
                  </a:lnTo>
                  <a:lnTo>
                    <a:pt x="5117096" y="4343489"/>
                  </a:lnTo>
                  <a:lnTo>
                    <a:pt x="5074437" y="4360634"/>
                  </a:lnTo>
                  <a:lnTo>
                    <a:pt x="5034165" y="4382046"/>
                  </a:lnTo>
                  <a:lnTo>
                    <a:pt x="4996573" y="4407446"/>
                  </a:lnTo>
                  <a:lnTo>
                    <a:pt x="4961928" y="4436542"/>
                  </a:lnTo>
                  <a:lnTo>
                    <a:pt x="4930508" y="4469066"/>
                  </a:lnTo>
                  <a:lnTo>
                    <a:pt x="4902606" y="4504741"/>
                  </a:lnTo>
                  <a:lnTo>
                    <a:pt x="4878502" y="4543260"/>
                  </a:lnTo>
                  <a:lnTo>
                    <a:pt x="4858486" y="4584357"/>
                  </a:lnTo>
                  <a:lnTo>
                    <a:pt x="4835017" y="4659973"/>
                  </a:lnTo>
                  <a:lnTo>
                    <a:pt x="5678157" y="4659973"/>
                  </a:lnTo>
                  <a:close/>
                </a:path>
                <a:path w="5724525" h="4660265">
                  <a:moveTo>
                    <a:pt x="5724131" y="3460064"/>
                  </a:moveTo>
                  <a:lnTo>
                    <a:pt x="5673560" y="3465157"/>
                  </a:lnTo>
                  <a:lnTo>
                    <a:pt x="5629046" y="3476790"/>
                  </a:lnTo>
                  <a:lnTo>
                    <a:pt x="5586527" y="3492906"/>
                  </a:lnTo>
                  <a:lnTo>
                    <a:pt x="5546280" y="3513226"/>
                  </a:lnTo>
                  <a:lnTo>
                    <a:pt x="5508574" y="3537483"/>
                  </a:lnTo>
                  <a:lnTo>
                    <a:pt x="5473700" y="3565423"/>
                  </a:lnTo>
                  <a:lnTo>
                    <a:pt x="5441899" y="3596754"/>
                  </a:lnTo>
                  <a:lnTo>
                    <a:pt x="5413464" y="3631209"/>
                  </a:lnTo>
                  <a:lnTo>
                    <a:pt x="5388661" y="3668522"/>
                  </a:lnTo>
                  <a:lnTo>
                    <a:pt x="5367756" y="3708425"/>
                  </a:lnTo>
                  <a:lnTo>
                    <a:pt x="5351030" y="3750627"/>
                  </a:lnTo>
                  <a:lnTo>
                    <a:pt x="5338750" y="3794887"/>
                  </a:lnTo>
                  <a:lnTo>
                    <a:pt x="5331168" y="3840911"/>
                  </a:lnTo>
                  <a:lnTo>
                    <a:pt x="5328590" y="3888435"/>
                  </a:lnTo>
                  <a:lnTo>
                    <a:pt x="5331168" y="3935958"/>
                  </a:lnTo>
                  <a:lnTo>
                    <a:pt x="5338750" y="3981970"/>
                  </a:lnTo>
                  <a:lnTo>
                    <a:pt x="5351030" y="4026230"/>
                  </a:lnTo>
                  <a:lnTo>
                    <a:pt x="5367756" y="4068445"/>
                  </a:lnTo>
                  <a:lnTo>
                    <a:pt x="5388661" y="4108335"/>
                  </a:lnTo>
                  <a:lnTo>
                    <a:pt x="5413464" y="4145648"/>
                  </a:lnTo>
                  <a:lnTo>
                    <a:pt x="5441899" y="4180103"/>
                  </a:lnTo>
                  <a:lnTo>
                    <a:pt x="5473700" y="4211434"/>
                  </a:lnTo>
                  <a:lnTo>
                    <a:pt x="5508574" y="4239374"/>
                  </a:lnTo>
                  <a:lnTo>
                    <a:pt x="5546280" y="4263631"/>
                  </a:lnTo>
                  <a:lnTo>
                    <a:pt x="5586527" y="4283964"/>
                  </a:lnTo>
                  <a:lnTo>
                    <a:pt x="5629046" y="4300067"/>
                  </a:lnTo>
                  <a:lnTo>
                    <a:pt x="5673560" y="4311701"/>
                  </a:lnTo>
                  <a:lnTo>
                    <a:pt x="5724131" y="4316793"/>
                  </a:lnTo>
                  <a:lnTo>
                    <a:pt x="5724131" y="3460064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19871" y="483518"/>
              <a:ext cx="2628900" cy="2016760"/>
            </a:xfrm>
            <a:custGeom>
              <a:avLst/>
              <a:gdLst/>
              <a:ahLst/>
              <a:cxnLst/>
              <a:rect l="l" t="t" r="r" b="b"/>
              <a:pathLst>
                <a:path w="2628900" h="2016760">
                  <a:moveTo>
                    <a:pt x="0" y="2016224"/>
                  </a:moveTo>
                  <a:lnTo>
                    <a:pt x="0" y="336045"/>
                  </a:lnTo>
                  <a:lnTo>
                    <a:pt x="3643" y="286386"/>
                  </a:lnTo>
                  <a:lnTo>
                    <a:pt x="14227" y="238990"/>
                  </a:lnTo>
                  <a:lnTo>
                    <a:pt x="31232" y="194376"/>
                  </a:lnTo>
                  <a:lnTo>
                    <a:pt x="54138" y="153064"/>
                  </a:lnTo>
                  <a:lnTo>
                    <a:pt x="82425" y="115574"/>
                  </a:lnTo>
                  <a:lnTo>
                    <a:pt x="115574" y="82426"/>
                  </a:lnTo>
                  <a:lnTo>
                    <a:pt x="153064" y="54138"/>
                  </a:lnTo>
                  <a:lnTo>
                    <a:pt x="194376" y="31232"/>
                  </a:lnTo>
                  <a:lnTo>
                    <a:pt x="238990" y="14227"/>
                  </a:lnTo>
                  <a:lnTo>
                    <a:pt x="286385" y="3643"/>
                  </a:lnTo>
                  <a:lnTo>
                    <a:pt x="336044" y="0"/>
                  </a:lnTo>
                  <a:lnTo>
                    <a:pt x="2628291" y="0"/>
                  </a:lnTo>
                  <a:lnTo>
                    <a:pt x="2628291" y="2016224"/>
                  </a:lnTo>
                  <a:lnTo>
                    <a:pt x="0" y="2016224"/>
                  </a:lnTo>
                  <a:close/>
                </a:path>
              </a:pathLst>
            </a:custGeom>
            <a:ln w="28575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682108" y="869188"/>
            <a:ext cx="2103755" cy="66548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507365" marR="5080" indent="-495300">
              <a:lnSpc>
                <a:spcPts val="2400"/>
              </a:lnSpc>
              <a:spcBef>
                <a:spcPts val="380"/>
              </a:spcBef>
            </a:pPr>
            <a:r>
              <a:rPr sz="2200" spc="-130" dirty="0">
                <a:solidFill>
                  <a:srgbClr val="044247"/>
                </a:solidFill>
                <a:latin typeface="Arial"/>
                <a:cs typeface="Arial"/>
              </a:rPr>
              <a:t>Cuenta,</a:t>
            </a:r>
            <a:r>
              <a:rPr sz="2200" spc="-105" dirty="0">
                <a:solidFill>
                  <a:srgbClr val="044247"/>
                </a:solidFill>
                <a:latin typeface="Arial"/>
                <a:cs typeface="Arial"/>
              </a:rPr>
              <a:t> </a:t>
            </a:r>
            <a:r>
              <a:rPr sz="2200" spc="-120" dirty="0">
                <a:solidFill>
                  <a:srgbClr val="044247"/>
                </a:solidFill>
                <a:latin typeface="Arial"/>
                <a:cs typeface="Arial"/>
              </a:rPr>
              <a:t>Préstamo, </a:t>
            </a:r>
            <a:r>
              <a:rPr sz="2200" spc="-45" dirty="0">
                <a:solidFill>
                  <a:srgbClr val="044247"/>
                </a:solidFill>
                <a:latin typeface="Arial"/>
                <a:cs typeface="Arial"/>
              </a:rPr>
              <a:t>Nómina…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035462" y="470818"/>
            <a:ext cx="2654300" cy="2042160"/>
            <a:chOff x="6035462" y="470818"/>
            <a:chExt cx="2654300" cy="2042160"/>
          </a:xfrm>
        </p:grpSpPr>
        <p:sp>
          <p:nvSpPr>
            <p:cNvPr id="8" name="object 8"/>
            <p:cNvSpPr/>
            <p:nvPr/>
          </p:nvSpPr>
          <p:spPr>
            <a:xfrm>
              <a:off x="6048162" y="483518"/>
              <a:ext cx="2628900" cy="2016760"/>
            </a:xfrm>
            <a:custGeom>
              <a:avLst/>
              <a:gdLst/>
              <a:ahLst/>
              <a:cxnLst/>
              <a:rect l="l" t="t" r="r" b="b"/>
              <a:pathLst>
                <a:path w="2628900" h="2016760">
                  <a:moveTo>
                    <a:pt x="2292247" y="0"/>
                  </a:moveTo>
                  <a:lnTo>
                    <a:pt x="0" y="0"/>
                  </a:lnTo>
                  <a:lnTo>
                    <a:pt x="0" y="2016224"/>
                  </a:lnTo>
                  <a:lnTo>
                    <a:pt x="2628290" y="2016224"/>
                  </a:lnTo>
                  <a:lnTo>
                    <a:pt x="2628290" y="336044"/>
                  </a:lnTo>
                  <a:lnTo>
                    <a:pt x="2624646" y="286386"/>
                  </a:lnTo>
                  <a:lnTo>
                    <a:pt x="2614062" y="238990"/>
                  </a:lnTo>
                  <a:lnTo>
                    <a:pt x="2597057" y="194376"/>
                  </a:lnTo>
                  <a:lnTo>
                    <a:pt x="2574151" y="153064"/>
                  </a:lnTo>
                  <a:lnTo>
                    <a:pt x="2545864" y="115574"/>
                  </a:lnTo>
                  <a:lnTo>
                    <a:pt x="2512716" y="82425"/>
                  </a:lnTo>
                  <a:lnTo>
                    <a:pt x="2475226" y="54138"/>
                  </a:lnTo>
                  <a:lnTo>
                    <a:pt x="2433914" y="31232"/>
                  </a:lnTo>
                  <a:lnTo>
                    <a:pt x="2389300" y="14227"/>
                  </a:lnTo>
                  <a:lnTo>
                    <a:pt x="2341905" y="3643"/>
                  </a:lnTo>
                  <a:lnTo>
                    <a:pt x="2292247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48162" y="483518"/>
              <a:ext cx="2628900" cy="2016760"/>
            </a:xfrm>
            <a:custGeom>
              <a:avLst/>
              <a:gdLst/>
              <a:ahLst/>
              <a:cxnLst/>
              <a:rect l="l" t="t" r="r" b="b"/>
              <a:pathLst>
                <a:path w="2628900" h="2016760">
                  <a:moveTo>
                    <a:pt x="0" y="0"/>
                  </a:moveTo>
                  <a:lnTo>
                    <a:pt x="2292247" y="0"/>
                  </a:lnTo>
                  <a:lnTo>
                    <a:pt x="2341905" y="3643"/>
                  </a:lnTo>
                  <a:lnTo>
                    <a:pt x="2389300" y="14227"/>
                  </a:lnTo>
                  <a:lnTo>
                    <a:pt x="2433914" y="31232"/>
                  </a:lnTo>
                  <a:lnTo>
                    <a:pt x="2475226" y="54138"/>
                  </a:lnTo>
                  <a:lnTo>
                    <a:pt x="2512716" y="82426"/>
                  </a:lnTo>
                  <a:lnTo>
                    <a:pt x="2545865" y="115574"/>
                  </a:lnTo>
                  <a:lnTo>
                    <a:pt x="2574152" y="153064"/>
                  </a:lnTo>
                  <a:lnTo>
                    <a:pt x="2597058" y="194376"/>
                  </a:lnTo>
                  <a:lnTo>
                    <a:pt x="2614063" y="238990"/>
                  </a:lnTo>
                  <a:lnTo>
                    <a:pt x="2624647" y="286386"/>
                  </a:lnTo>
                  <a:lnTo>
                    <a:pt x="2628291" y="336044"/>
                  </a:lnTo>
                  <a:lnTo>
                    <a:pt x="2628291" y="2016224"/>
                  </a:lnTo>
                  <a:lnTo>
                    <a:pt x="0" y="2016224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251438" y="869188"/>
            <a:ext cx="2221865" cy="66548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56210" marR="5080" indent="-144145">
              <a:lnSpc>
                <a:spcPts val="2400"/>
              </a:lnSpc>
              <a:spcBef>
                <a:spcPts val="380"/>
              </a:spcBef>
            </a:pPr>
            <a:r>
              <a:rPr sz="2200" spc="-180" dirty="0">
                <a:solidFill>
                  <a:srgbClr val="044247"/>
                </a:solidFill>
                <a:latin typeface="Arial"/>
                <a:cs typeface="Arial"/>
              </a:rPr>
              <a:t>Recursos</a:t>
            </a:r>
            <a:r>
              <a:rPr sz="2200" spc="-95" dirty="0">
                <a:solidFill>
                  <a:srgbClr val="044247"/>
                </a:solidFill>
                <a:latin typeface="Arial"/>
                <a:cs typeface="Arial"/>
              </a:rPr>
              <a:t> </a:t>
            </a:r>
            <a:r>
              <a:rPr sz="2200" spc="-105" dirty="0">
                <a:solidFill>
                  <a:srgbClr val="044247"/>
                </a:solidFill>
                <a:latin typeface="Arial"/>
                <a:cs typeface="Arial"/>
              </a:rPr>
              <a:t>humanos, </a:t>
            </a:r>
            <a:r>
              <a:rPr sz="2200" spc="-125" dirty="0">
                <a:solidFill>
                  <a:srgbClr val="044247"/>
                </a:solidFill>
                <a:latin typeface="Arial"/>
                <a:cs typeface="Arial"/>
              </a:rPr>
              <a:t>socios,</a:t>
            </a:r>
            <a:r>
              <a:rPr sz="2200" spc="-114" dirty="0">
                <a:solidFill>
                  <a:srgbClr val="044247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044247"/>
                </a:solidFill>
                <a:latin typeface="Arial"/>
                <a:cs typeface="Arial"/>
              </a:rPr>
              <a:t>clientes...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405584" y="2485454"/>
            <a:ext cx="2657475" cy="2045335"/>
            <a:chOff x="3405584" y="2485454"/>
            <a:chExt cx="2657475" cy="2045335"/>
          </a:xfrm>
        </p:grpSpPr>
        <p:sp>
          <p:nvSpPr>
            <p:cNvPr id="12" name="object 12"/>
            <p:cNvSpPr/>
            <p:nvPr/>
          </p:nvSpPr>
          <p:spPr>
            <a:xfrm>
              <a:off x="3419871" y="2499742"/>
              <a:ext cx="2628900" cy="2016760"/>
            </a:xfrm>
            <a:custGeom>
              <a:avLst/>
              <a:gdLst/>
              <a:ahLst/>
              <a:cxnLst/>
              <a:rect l="l" t="t" r="r" b="b"/>
              <a:pathLst>
                <a:path w="2628900" h="2016760">
                  <a:moveTo>
                    <a:pt x="2628291" y="0"/>
                  </a:moveTo>
                  <a:lnTo>
                    <a:pt x="0" y="0"/>
                  </a:lnTo>
                  <a:lnTo>
                    <a:pt x="0" y="1680179"/>
                  </a:lnTo>
                  <a:lnTo>
                    <a:pt x="3643" y="1729837"/>
                  </a:lnTo>
                  <a:lnTo>
                    <a:pt x="14227" y="1777233"/>
                  </a:lnTo>
                  <a:lnTo>
                    <a:pt x="31232" y="1821846"/>
                  </a:lnTo>
                  <a:lnTo>
                    <a:pt x="54139" y="1863158"/>
                  </a:lnTo>
                  <a:lnTo>
                    <a:pt x="82426" y="1900648"/>
                  </a:lnTo>
                  <a:lnTo>
                    <a:pt x="115574" y="1933797"/>
                  </a:lnTo>
                  <a:lnTo>
                    <a:pt x="153065" y="1962084"/>
                  </a:lnTo>
                  <a:lnTo>
                    <a:pt x="194376" y="1984990"/>
                  </a:lnTo>
                  <a:lnTo>
                    <a:pt x="238990" y="2001995"/>
                  </a:lnTo>
                  <a:lnTo>
                    <a:pt x="286386" y="2012579"/>
                  </a:lnTo>
                  <a:lnTo>
                    <a:pt x="336044" y="2016223"/>
                  </a:lnTo>
                  <a:lnTo>
                    <a:pt x="2628291" y="2016223"/>
                  </a:lnTo>
                  <a:lnTo>
                    <a:pt x="2628291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19871" y="2499741"/>
              <a:ext cx="2628900" cy="2016760"/>
            </a:xfrm>
            <a:custGeom>
              <a:avLst/>
              <a:gdLst/>
              <a:ahLst/>
              <a:cxnLst/>
              <a:rect l="l" t="t" r="r" b="b"/>
              <a:pathLst>
                <a:path w="2628900" h="2016760">
                  <a:moveTo>
                    <a:pt x="2628291" y="2016224"/>
                  </a:moveTo>
                  <a:lnTo>
                    <a:pt x="336044" y="2016224"/>
                  </a:lnTo>
                  <a:lnTo>
                    <a:pt x="286385" y="2012580"/>
                  </a:lnTo>
                  <a:lnTo>
                    <a:pt x="238990" y="2001996"/>
                  </a:lnTo>
                  <a:lnTo>
                    <a:pt x="194376" y="1984991"/>
                  </a:lnTo>
                  <a:lnTo>
                    <a:pt x="153064" y="1962085"/>
                  </a:lnTo>
                  <a:lnTo>
                    <a:pt x="115574" y="1933797"/>
                  </a:lnTo>
                  <a:lnTo>
                    <a:pt x="82425" y="1900649"/>
                  </a:lnTo>
                  <a:lnTo>
                    <a:pt x="54138" y="1863159"/>
                  </a:lnTo>
                  <a:lnTo>
                    <a:pt x="31232" y="1821847"/>
                  </a:lnTo>
                  <a:lnTo>
                    <a:pt x="14227" y="1777233"/>
                  </a:lnTo>
                  <a:lnTo>
                    <a:pt x="3643" y="1729837"/>
                  </a:lnTo>
                  <a:lnTo>
                    <a:pt x="0" y="1680179"/>
                  </a:lnTo>
                  <a:lnTo>
                    <a:pt x="0" y="0"/>
                  </a:lnTo>
                  <a:lnTo>
                    <a:pt x="2628291" y="0"/>
                  </a:lnTo>
                  <a:lnTo>
                    <a:pt x="2628291" y="2016224"/>
                  </a:lnTo>
                  <a:close/>
                </a:path>
              </a:pathLst>
            </a:custGeom>
            <a:ln w="28575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715572" y="3389884"/>
            <a:ext cx="2037080" cy="66548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 indent="183515">
              <a:lnSpc>
                <a:spcPts val="2400"/>
              </a:lnSpc>
              <a:spcBef>
                <a:spcPts val="380"/>
              </a:spcBef>
            </a:pPr>
            <a:r>
              <a:rPr sz="2200" spc="-155" dirty="0">
                <a:solidFill>
                  <a:srgbClr val="044247"/>
                </a:solidFill>
                <a:latin typeface="Arial"/>
                <a:cs typeface="Arial"/>
              </a:rPr>
              <a:t>Agregados</a:t>
            </a:r>
            <a:r>
              <a:rPr sz="2200" spc="-95" dirty="0">
                <a:solidFill>
                  <a:srgbClr val="044247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044247"/>
                </a:solidFill>
                <a:latin typeface="Arial"/>
                <a:cs typeface="Arial"/>
              </a:rPr>
              <a:t>por </a:t>
            </a:r>
            <a:r>
              <a:rPr sz="2200" spc="-85" dirty="0">
                <a:solidFill>
                  <a:srgbClr val="044247"/>
                </a:solidFill>
                <a:latin typeface="Arial"/>
                <a:cs typeface="Arial"/>
              </a:rPr>
              <a:t>unidad</a:t>
            </a:r>
            <a:r>
              <a:rPr sz="2200" spc="-80" dirty="0">
                <a:solidFill>
                  <a:srgbClr val="044247"/>
                </a:solidFill>
                <a:latin typeface="Arial"/>
                <a:cs typeface="Arial"/>
              </a:rPr>
              <a:t> </a:t>
            </a:r>
            <a:r>
              <a:rPr sz="2200" spc="-110" dirty="0">
                <a:solidFill>
                  <a:srgbClr val="044247"/>
                </a:solidFill>
                <a:latin typeface="Arial"/>
                <a:cs typeface="Arial"/>
              </a:rPr>
              <a:t>de</a:t>
            </a:r>
            <a:r>
              <a:rPr sz="2200" spc="-80" dirty="0">
                <a:solidFill>
                  <a:srgbClr val="044247"/>
                </a:solidFill>
                <a:latin typeface="Arial"/>
                <a:cs typeface="Arial"/>
              </a:rPr>
              <a:t> </a:t>
            </a:r>
            <a:r>
              <a:rPr sz="2200" spc="-45" dirty="0">
                <a:solidFill>
                  <a:srgbClr val="044247"/>
                </a:solidFill>
                <a:latin typeface="Arial"/>
                <a:cs typeface="Arial"/>
              </a:rPr>
              <a:t>tiempo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033875" y="2485453"/>
            <a:ext cx="2657475" cy="2045335"/>
            <a:chOff x="6033875" y="2485453"/>
            <a:chExt cx="2657475" cy="2045335"/>
          </a:xfrm>
        </p:grpSpPr>
        <p:sp>
          <p:nvSpPr>
            <p:cNvPr id="16" name="object 16"/>
            <p:cNvSpPr/>
            <p:nvPr/>
          </p:nvSpPr>
          <p:spPr>
            <a:xfrm>
              <a:off x="6048162" y="2499741"/>
              <a:ext cx="2628900" cy="2016760"/>
            </a:xfrm>
            <a:custGeom>
              <a:avLst/>
              <a:gdLst/>
              <a:ahLst/>
              <a:cxnLst/>
              <a:rect l="l" t="t" r="r" b="b"/>
              <a:pathLst>
                <a:path w="2628900" h="2016760">
                  <a:moveTo>
                    <a:pt x="2628291" y="0"/>
                  </a:moveTo>
                  <a:lnTo>
                    <a:pt x="0" y="0"/>
                  </a:lnTo>
                  <a:lnTo>
                    <a:pt x="0" y="2016224"/>
                  </a:lnTo>
                  <a:lnTo>
                    <a:pt x="2292247" y="2016224"/>
                  </a:lnTo>
                  <a:lnTo>
                    <a:pt x="2341905" y="2012580"/>
                  </a:lnTo>
                  <a:lnTo>
                    <a:pt x="2389300" y="2001996"/>
                  </a:lnTo>
                  <a:lnTo>
                    <a:pt x="2433914" y="1984991"/>
                  </a:lnTo>
                  <a:lnTo>
                    <a:pt x="2475226" y="1962085"/>
                  </a:lnTo>
                  <a:lnTo>
                    <a:pt x="2512716" y="1933798"/>
                  </a:lnTo>
                  <a:lnTo>
                    <a:pt x="2545865" y="1900649"/>
                  </a:lnTo>
                  <a:lnTo>
                    <a:pt x="2574152" y="1863159"/>
                  </a:lnTo>
                  <a:lnTo>
                    <a:pt x="2597058" y="1821847"/>
                  </a:lnTo>
                  <a:lnTo>
                    <a:pt x="2614063" y="1777233"/>
                  </a:lnTo>
                  <a:lnTo>
                    <a:pt x="2624648" y="1729838"/>
                  </a:lnTo>
                  <a:lnTo>
                    <a:pt x="2628291" y="1680179"/>
                  </a:lnTo>
                  <a:lnTo>
                    <a:pt x="2628291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48163" y="2499741"/>
              <a:ext cx="2628900" cy="2016760"/>
            </a:xfrm>
            <a:custGeom>
              <a:avLst/>
              <a:gdLst/>
              <a:ahLst/>
              <a:cxnLst/>
              <a:rect l="l" t="t" r="r" b="b"/>
              <a:pathLst>
                <a:path w="2628900" h="2016760">
                  <a:moveTo>
                    <a:pt x="2628291" y="0"/>
                  </a:moveTo>
                  <a:lnTo>
                    <a:pt x="2628291" y="1680179"/>
                  </a:lnTo>
                  <a:lnTo>
                    <a:pt x="2624647" y="1729837"/>
                  </a:lnTo>
                  <a:lnTo>
                    <a:pt x="2614063" y="1777233"/>
                  </a:lnTo>
                  <a:lnTo>
                    <a:pt x="2597058" y="1821847"/>
                  </a:lnTo>
                  <a:lnTo>
                    <a:pt x="2574152" y="1863159"/>
                  </a:lnTo>
                  <a:lnTo>
                    <a:pt x="2545865" y="1900649"/>
                  </a:lnTo>
                  <a:lnTo>
                    <a:pt x="2512716" y="1933798"/>
                  </a:lnTo>
                  <a:lnTo>
                    <a:pt x="2475226" y="1962085"/>
                  </a:lnTo>
                  <a:lnTo>
                    <a:pt x="2433914" y="1984991"/>
                  </a:lnTo>
                  <a:lnTo>
                    <a:pt x="2389300" y="2001996"/>
                  </a:lnTo>
                  <a:lnTo>
                    <a:pt x="2341905" y="2012580"/>
                  </a:lnTo>
                  <a:lnTo>
                    <a:pt x="2292246" y="2016224"/>
                  </a:lnTo>
                  <a:lnTo>
                    <a:pt x="0" y="2016224"/>
                  </a:lnTo>
                  <a:lnTo>
                    <a:pt x="0" y="0"/>
                  </a:lnTo>
                  <a:lnTo>
                    <a:pt x="2628291" y="0"/>
                  </a:lnTo>
                  <a:close/>
                </a:path>
              </a:pathLst>
            </a:custGeom>
            <a:ln w="28575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456132" y="3389884"/>
            <a:ext cx="1812289" cy="66548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80670" marR="5080" indent="-268605">
              <a:lnSpc>
                <a:spcPts val="2400"/>
              </a:lnSpc>
              <a:spcBef>
                <a:spcPts val="380"/>
              </a:spcBef>
            </a:pPr>
            <a:r>
              <a:rPr sz="2200" spc="-95" dirty="0">
                <a:solidFill>
                  <a:srgbClr val="044247"/>
                </a:solidFill>
                <a:latin typeface="Arial"/>
                <a:cs typeface="Arial"/>
              </a:rPr>
              <a:t>Históricos,</a:t>
            </a:r>
            <a:r>
              <a:rPr sz="2200" spc="-85" dirty="0">
                <a:solidFill>
                  <a:srgbClr val="044247"/>
                </a:solidFill>
                <a:latin typeface="Arial"/>
                <a:cs typeface="Arial"/>
              </a:rPr>
              <a:t> </a:t>
            </a:r>
            <a:r>
              <a:rPr sz="2200" spc="-50" dirty="0">
                <a:solidFill>
                  <a:srgbClr val="044247"/>
                </a:solidFill>
                <a:latin typeface="Arial"/>
                <a:cs typeface="Arial"/>
              </a:rPr>
              <a:t>nivel </a:t>
            </a:r>
            <a:r>
              <a:rPr sz="2200" spc="-10" dirty="0">
                <a:solidFill>
                  <a:srgbClr val="044247"/>
                </a:solidFill>
                <a:latin typeface="Arial"/>
                <a:cs typeface="Arial"/>
              </a:rPr>
              <a:t>estratégico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245388" y="1981398"/>
            <a:ext cx="1605915" cy="1036955"/>
            <a:chOff x="5245388" y="1981398"/>
            <a:chExt cx="1605915" cy="1036955"/>
          </a:xfrm>
        </p:grpSpPr>
        <p:sp>
          <p:nvSpPr>
            <p:cNvPr id="20" name="object 20"/>
            <p:cNvSpPr/>
            <p:nvPr/>
          </p:nvSpPr>
          <p:spPr>
            <a:xfrm>
              <a:off x="5259675" y="1995685"/>
              <a:ext cx="1577340" cy="1008380"/>
            </a:xfrm>
            <a:custGeom>
              <a:avLst/>
              <a:gdLst/>
              <a:ahLst/>
              <a:cxnLst/>
              <a:rect l="l" t="t" r="r" b="b"/>
              <a:pathLst>
                <a:path w="1577340" h="1008380">
                  <a:moveTo>
                    <a:pt x="1408951" y="0"/>
                  </a:moveTo>
                  <a:lnTo>
                    <a:pt x="168022" y="0"/>
                  </a:lnTo>
                  <a:lnTo>
                    <a:pt x="123355" y="6001"/>
                  </a:lnTo>
                  <a:lnTo>
                    <a:pt x="83218" y="22940"/>
                  </a:lnTo>
                  <a:lnTo>
                    <a:pt x="49212" y="49213"/>
                  </a:lnTo>
                  <a:lnTo>
                    <a:pt x="22939" y="83219"/>
                  </a:lnTo>
                  <a:lnTo>
                    <a:pt x="6001" y="123356"/>
                  </a:lnTo>
                  <a:lnTo>
                    <a:pt x="0" y="168023"/>
                  </a:lnTo>
                  <a:lnTo>
                    <a:pt x="0" y="840089"/>
                  </a:lnTo>
                  <a:lnTo>
                    <a:pt x="6001" y="884756"/>
                  </a:lnTo>
                  <a:lnTo>
                    <a:pt x="22939" y="924893"/>
                  </a:lnTo>
                  <a:lnTo>
                    <a:pt x="49212" y="958899"/>
                  </a:lnTo>
                  <a:lnTo>
                    <a:pt x="83218" y="985172"/>
                  </a:lnTo>
                  <a:lnTo>
                    <a:pt x="123355" y="1002110"/>
                  </a:lnTo>
                  <a:lnTo>
                    <a:pt x="168022" y="1008112"/>
                  </a:lnTo>
                  <a:lnTo>
                    <a:pt x="1408951" y="1008112"/>
                  </a:lnTo>
                  <a:lnTo>
                    <a:pt x="1453619" y="1002110"/>
                  </a:lnTo>
                  <a:lnTo>
                    <a:pt x="1493756" y="985172"/>
                  </a:lnTo>
                  <a:lnTo>
                    <a:pt x="1527762" y="958899"/>
                  </a:lnTo>
                  <a:lnTo>
                    <a:pt x="1554035" y="924893"/>
                  </a:lnTo>
                  <a:lnTo>
                    <a:pt x="1570973" y="884756"/>
                  </a:lnTo>
                  <a:lnTo>
                    <a:pt x="1576975" y="840089"/>
                  </a:lnTo>
                  <a:lnTo>
                    <a:pt x="1576975" y="168023"/>
                  </a:lnTo>
                  <a:lnTo>
                    <a:pt x="1570973" y="123356"/>
                  </a:lnTo>
                  <a:lnTo>
                    <a:pt x="1554035" y="83219"/>
                  </a:lnTo>
                  <a:lnTo>
                    <a:pt x="1527762" y="49213"/>
                  </a:lnTo>
                  <a:lnTo>
                    <a:pt x="1493756" y="22940"/>
                  </a:lnTo>
                  <a:lnTo>
                    <a:pt x="1453619" y="6001"/>
                  </a:lnTo>
                  <a:lnTo>
                    <a:pt x="1408951" y="0"/>
                  </a:lnTo>
                  <a:close/>
                </a:path>
              </a:pathLst>
            </a:custGeom>
            <a:solidFill>
              <a:srgbClr val="B2C1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259675" y="1995685"/>
              <a:ext cx="1577340" cy="1008380"/>
            </a:xfrm>
            <a:custGeom>
              <a:avLst/>
              <a:gdLst/>
              <a:ahLst/>
              <a:cxnLst/>
              <a:rect l="l" t="t" r="r" b="b"/>
              <a:pathLst>
                <a:path w="1577340" h="1008380">
                  <a:moveTo>
                    <a:pt x="0" y="168022"/>
                  </a:moveTo>
                  <a:lnTo>
                    <a:pt x="6001" y="123355"/>
                  </a:lnTo>
                  <a:lnTo>
                    <a:pt x="22940" y="83218"/>
                  </a:lnTo>
                  <a:lnTo>
                    <a:pt x="49212" y="49212"/>
                  </a:lnTo>
                  <a:lnTo>
                    <a:pt x="83218" y="22940"/>
                  </a:lnTo>
                  <a:lnTo>
                    <a:pt x="123355" y="6001"/>
                  </a:lnTo>
                  <a:lnTo>
                    <a:pt x="168022" y="0"/>
                  </a:lnTo>
                  <a:lnTo>
                    <a:pt x="1408952" y="0"/>
                  </a:lnTo>
                  <a:lnTo>
                    <a:pt x="1453619" y="6001"/>
                  </a:lnTo>
                  <a:lnTo>
                    <a:pt x="1493756" y="22940"/>
                  </a:lnTo>
                  <a:lnTo>
                    <a:pt x="1527762" y="49212"/>
                  </a:lnTo>
                  <a:lnTo>
                    <a:pt x="1554035" y="83218"/>
                  </a:lnTo>
                  <a:lnTo>
                    <a:pt x="1570973" y="123355"/>
                  </a:lnTo>
                  <a:lnTo>
                    <a:pt x="1576975" y="168022"/>
                  </a:lnTo>
                  <a:lnTo>
                    <a:pt x="1576975" y="840089"/>
                  </a:lnTo>
                  <a:lnTo>
                    <a:pt x="1570973" y="884756"/>
                  </a:lnTo>
                  <a:lnTo>
                    <a:pt x="1554035" y="924893"/>
                  </a:lnTo>
                  <a:lnTo>
                    <a:pt x="1527762" y="958899"/>
                  </a:lnTo>
                  <a:lnTo>
                    <a:pt x="1493756" y="985171"/>
                  </a:lnTo>
                  <a:lnTo>
                    <a:pt x="1453619" y="1002110"/>
                  </a:lnTo>
                  <a:lnTo>
                    <a:pt x="1408952" y="1008112"/>
                  </a:lnTo>
                  <a:lnTo>
                    <a:pt x="168022" y="1008112"/>
                  </a:lnTo>
                  <a:lnTo>
                    <a:pt x="123355" y="1002110"/>
                  </a:lnTo>
                  <a:lnTo>
                    <a:pt x="83218" y="985171"/>
                  </a:lnTo>
                  <a:lnTo>
                    <a:pt x="49212" y="958899"/>
                  </a:lnTo>
                  <a:lnTo>
                    <a:pt x="22940" y="924893"/>
                  </a:lnTo>
                  <a:lnTo>
                    <a:pt x="6001" y="884756"/>
                  </a:lnTo>
                  <a:lnTo>
                    <a:pt x="0" y="840089"/>
                  </a:lnTo>
                  <a:lnTo>
                    <a:pt x="0" y="168022"/>
                  </a:lnTo>
                  <a:close/>
                </a:path>
              </a:pathLst>
            </a:custGeom>
            <a:ln w="28575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404114" y="2128011"/>
            <a:ext cx="1288415" cy="66548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33350" marR="5080" indent="-121285">
              <a:lnSpc>
                <a:spcPts val="2400"/>
              </a:lnSpc>
              <a:spcBef>
                <a:spcPts val="380"/>
              </a:spcBef>
            </a:pPr>
            <a:r>
              <a:rPr sz="2200" b="1" spc="-200" dirty="0">
                <a:solidFill>
                  <a:srgbClr val="044247"/>
                </a:solidFill>
                <a:latin typeface="Arial"/>
                <a:cs typeface="Arial"/>
              </a:rPr>
              <a:t>Almacenes </a:t>
            </a:r>
            <a:r>
              <a:rPr sz="2200" b="1" spc="-165" dirty="0">
                <a:solidFill>
                  <a:srgbClr val="044247"/>
                </a:solidFill>
                <a:latin typeface="Arial"/>
                <a:cs typeface="Arial"/>
              </a:rPr>
              <a:t>de</a:t>
            </a:r>
            <a:r>
              <a:rPr sz="2200" b="1" spc="-100" dirty="0">
                <a:solidFill>
                  <a:srgbClr val="044247"/>
                </a:solidFill>
                <a:latin typeface="Arial"/>
                <a:cs typeface="Arial"/>
              </a:rPr>
              <a:t> </a:t>
            </a:r>
            <a:r>
              <a:rPr sz="2200" b="1" spc="-20" dirty="0">
                <a:solidFill>
                  <a:srgbClr val="044247"/>
                </a:solidFill>
                <a:latin typeface="Arial"/>
                <a:cs typeface="Arial"/>
              </a:rPr>
              <a:t>Datos</a:t>
            </a:r>
            <a:endParaRPr sz="2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439928" y="4562347"/>
            <a:ext cx="1360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25" dirty="0">
                <a:latin typeface="Arial"/>
                <a:cs typeface="Arial"/>
              </a:rPr>
              <a:t>Immon</a:t>
            </a:r>
            <a:r>
              <a:rPr sz="1800" b="1" spc="-95" dirty="0">
                <a:latin typeface="Arial"/>
                <a:cs typeface="Arial"/>
              </a:rPr>
              <a:t> </a:t>
            </a:r>
            <a:r>
              <a:rPr sz="1800" b="1" spc="-60" dirty="0">
                <a:latin typeface="Arial"/>
                <a:cs typeface="Arial"/>
              </a:rPr>
              <a:t>(2002)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64087" y="2143490"/>
            <a:ext cx="1368151" cy="7517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71755">
              <a:lnSpc>
                <a:spcPct val="71000"/>
              </a:lnSpc>
              <a:spcBef>
                <a:spcPts val="1490"/>
              </a:spcBef>
            </a:pPr>
            <a:r>
              <a:rPr spc="-10" dirty="0"/>
              <a:t>Almacenes </a:t>
            </a:r>
            <a:r>
              <a:rPr dirty="0"/>
              <a:t>de</a:t>
            </a:r>
            <a:r>
              <a:rPr spc="-10" dirty="0"/>
              <a:t> Datos:</a:t>
            </a:r>
          </a:p>
          <a:p>
            <a:pPr marL="450215">
              <a:lnSpc>
                <a:spcPct val="100000"/>
              </a:lnSpc>
              <a:spcBef>
                <a:spcPts val="240"/>
              </a:spcBef>
            </a:pPr>
            <a:r>
              <a:rPr sz="2800" spc="-10" dirty="0">
                <a:solidFill>
                  <a:srgbClr val="FF0000"/>
                </a:solidFill>
              </a:rPr>
              <a:t>Arquitectura: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3405583" y="469230"/>
            <a:ext cx="5738495" cy="4674870"/>
            <a:chOff x="3405583" y="469230"/>
            <a:chExt cx="5738495" cy="4674870"/>
          </a:xfrm>
        </p:grpSpPr>
        <p:sp>
          <p:nvSpPr>
            <p:cNvPr id="4" name="object 4"/>
            <p:cNvSpPr/>
            <p:nvPr/>
          </p:nvSpPr>
          <p:spPr>
            <a:xfrm>
              <a:off x="3419868" y="483526"/>
              <a:ext cx="5724525" cy="4660265"/>
            </a:xfrm>
            <a:custGeom>
              <a:avLst/>
              <a:gdLst/>
              <a:ahLst/>
              <a:cxnLst/>
              <a:rect l="l" t="t" r="r" b="b"/>
              <a:pathLst>
                <a:path w="5724525" h="4660265">
                  <a:moveTo>
                    <a:pt x="2628290" y="0"/>
                  </a:moveTo>
                  <a:lnTo>
                    <a:pt x="336042" y="0"/>
                  </a:lnTo>
                  <a:lnTo>
                    <a:pt x="286385" y="3644"/>
                  </a:lnTo>
                  <a:lnTo>
                    <a:pt x="238988" y="14224"/>
                  </a:lnTo>
                  <a:lnTo>
                    <a:pt x="194373" y="31229"/>
                  </a:lnTo>
                  <a:lnTo>
                    <a:pt x="153060" y="54140"/>
                  </a:lnTo>
                  <a:lnTo>
                    <a:pt x="115570" y="82423"/>
                  </a:lnTo>
                  <a:lnTo>
                    <a:pt x="82423" y="115570"/>
                  </a:lnTo>
                  <a:lnTo>
                    <a:pt x="54140" y="153060"/>
                  </a:lnTo>
                  <a:lnTo>
                    <a:pt x="31229" y="194373"/>
                  </a:lnTo>
                  <a:lnTo>
                    <a:pt x="14224" y="238988"/>
                  </a:lnTo>
                  <a:lnTo>
                    <a:pt x="3644" y="286385"/>
                  </a:lnTo>
                  <a:lnTo>
                    <a:pt x="0" y="336042"/>
                  </a:lnTo>
                  <a:lnTo>
                    <a:pt x="0" y="2016226"/>
                  </a:lnTo>
                  <a:lnTo>
                    <a:pt x="2628290" y="2016226"/>
                  </a:lnTo>
                  <a:lnTo>
                    <a:pt x="2628290" y="0"/>
                  </a:lnTo>
                  <a:close/>
                </a:path>
                <a:path w="5724525" h="4660265">
                  <a:moveTo>
                    <a:pt x="5678157" y="4659973"/>
                  </a:moveTo>
                  <a:lnTo>
                    <a:pt x="5654675" y="4584357"/>
                  </a:lnTo>
                  <a:lnTo>
                    <a:pt x="5634660" y="4543260"/>
                  </a:lnTo>
                  <a:lnTo>
                    <a:pt x="5610555" y="4504741"/>
                  </a:lnTo>
                  <a:lnTo>
                    <a:pt x="5582653" y="4469066"/>
                  </a:lnTo>
                  <a:lnTo>
                    <a:pt x="5551246" y="4436542"/>
                  </a:lnTo>
                  <a:lnTo>
                    <a:pt x="5516588" y="4407446"/>
                  </a:lnTo>
                  <a:lnTo>
                    <a:pt x="5478996" y="4382046"/>
                  </a:lnTo>
                  <a:lnTo>
                    <a:pt x="5438724" y="4360634"/>
                  </a:lnTo>
                  <a:lnTo>
                    <a:pt x="5396065" y="4343489"/>
                  </a:lnTo>
                  <a:lnTo>
                    <a:pt x="5351297" y="4330890"/>
                  </a:lnTo>
                  <a:lnTo>
                    <a:pt x="5304714" y="4323131"/>
                  </a:lnTo>
                  <a:lnTo>
                    <a:pt x="5256581" y="4320476"/>
                  </a:lnTo>
                  <a:lnTo>
                    <a:pt x="5208448" y="4323131"/>
                  </a:lnTo>
                  <a:lnTo>
                    <a:pt x="5161864" y="4330890"/>
                  </a:lnTo>
                  <a:lnTo>
                    <a:pt x="5117096" y="4343489"/>
                  </a:lnTo>
                  <a:lnTo>
                    <a:pt x="5074437" y="4360634"/>
                  </a:lnTo>
                  <a:lnTo>
                    <a:pt x="5034165" y="4382046"/>
                  </a:lnTo>
                  <a:lnTo>
                    <a:pt x="4996573" y="4407446"/>
                  </a:lnTo>
                  <a:lnTo>
                    <a:pt x="4961928" y="4436542"/>
                  </a:lnTo>
                  <a:lnTo>
                    <a:pt x="4930508" y="4469066"/>
                  </a:lnTo>
                  <a:lnTo>
                    <a:pt x="4902606" y="4504741"/>
                  </a:lnTo>
                  <a:lnTo>
                    <a:pt x="4878502" y="4543260"/>
                  </a:lnTo>
                  <a:lnTo>
                    <a:pt x="4858486" y="4584357"/>
                  </a:lnTo>
                  <a:lnTo>
                    <a:pt x="4835017" y="4659973"/>
                  </a:lnTo>
                  <a:lnTo>
                    <a:pt x="5678157" y="4659973"/>
                  </a:lnTo>
                  <a:close/>
                </a:path>
                <a:path w="5724525" h="4660265">
                  <a:moveTo>
                    <a:pt x="5724131" y="3460064"/>
                  </a:moveTo>
                  <a:lnTo>
                    <a:pt x="5673560" y="3465157"/>
                  </a:lnTo>
                  <a:lnTo>
                    <a:pt x="5629046" y="3476790"/>
                  </a:lnTo>
                  <a:lnTo>
                    <a:pt x="5586527" y="3492906"/>
                  </a:lnTo>
                  <a:lnTo>
                    <a:pt x="5546280" y="3513226"/>
                  </a:lnTo>
                  <a:lnTo>
                    <a:pt x="5508574" y="3537483"/>
                  </a:lnTo>
                  <a:lnTo>
                    <a:pt x="5473700" y="3565423"/>
                  </a:lnTo>
                  <a:lnTo>
                    <a:pt x="5441899" y="3596754"/>
                  </a:lnTo>
                  <a:lnTo>
                    <a:pt x="5413464" y="3631209"/>
                  </a:lnTo>
                  <a:lnTo>
                    <a:pt x="5388661" y="3668522"/>
                  </a:lnTo>
                  <a:lnTo>
                    <a:pt x="5367756" y="3708425"/>
                  </a:lnTo>
                  <a:lnTo>
                    <a:pt x="5351030" y="3750627"/>
                  </a:lnTo>
                  <a:lnTo>
                    <a:pt x="5338750" y="3794887"/>
                  </a:lnTo>
                  <a:lnTo>
                    <a:pt x="5331168" y="3840911"/>
                  </a:lnTo>
                  <a:lnTo>
                    <a:pt x="5328590" y="3888435"/>
                  </a:lnTo>
                  <a:lnTo>
                    <a:pt x="5331168" y="3935958"/>
                  </a:lnTo>
                  <a:lnTo>
                    <a:pt x="5338750" y="3981970"/>
                  </a:lnTo>
                  <a:lnTo>
                    <a:pt x="5351030" y="4026230"/>
                  </a:lnTo>
                  <a:lnTo>
                    <a:pt x="5367756" y="4068445"/>
                  </a:lnTo>
                  <a:lnTo>
                    <a:pt x="5388661" y="4108335"/>
                  </a:lnTo>
                  <a:lnTo>
                    <a:pt x="5413464" y="4145648"/>
                  </a:lnTo>
                  <a:lnTo>
                    <a:pt x="5441899" y="4180103"/>
                  </a:lnTo>
                  <a:lnTo>
                    <a:pt x="5473700" y="4211434"/>
                  </a:lnTo>
                  <a:lnTo>
                    <a:pt x="5508574" y="4239374"/>
                  </a:lnTo>
                  <a:lnTo>
                    <a:pt x="5546280" y="4263631"/>
                  </a:lnTo>
                  <a:lnTo>
                    <a:pt x="5586527" y="4283964"/>
                  </a:lnTo>
                  <a:lnTo>
                    <a:pt x="5629046" y="4300067"/>
                  </a:lnTo>
                  <a:lnTo>
                    <a:pt x="5673560" y="4311701"/>
                  </a:lnTo>
                  <a:lnTo>
                    <a:pt x="5724131" y="4316793"/>
                  </a:lnTo>
                  <a:lnTo>
                    <a:pt x="5724131" y="3460064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19871" y="483518"/>
              <a:ext cx="2628900" cy="2016760"/>
            </a:xfrm>
            <a:custGeom>
              <a:avLst/>
              <a:gdLst/>
              <a:ahLst/>
              <a:cxnLst/>
              <a:rect l="l" t="t" r="r" b="b"/>
              <a:pathLst>
                <a:path w="2628900" h="2016760">
                  <a:moveTo>
                    <a:pt x="0" y="2016224"/>
                  </a:moveTo>
                  <a:lnTo>
                    <a:pt x="0" y="336045"/>
                  </a:lnTo>
                  <a:lnTo>
                    <a:pt x="3643" y="286386"/>
                  </a:lnTo>
                  <a:lnTo>
                    <a:pt x="14227" y="238990"/>
                  </a:lnTo>
                  <a:lnTo>
                    <a:pt x="31232" y="194376"/>
                  </a:lnTo>
                  <a:lnTo>
                    <a:pt x="54138" y="153064"/>
                  </a:lnTo>
                  <a:lnTo>
                    <a:pt x="82425" y="115574"/>
                  </a:lnTo>
                  <a:lnTo>
                    <a:pt x="115574" y="82426"/>
                  </a:lnTo>
                  <a:lnTo>
                    <a:pt x="153064" y="54138"/>
                  </a:lnTo>
                  <a:lnTo>
                    <a:pt x="194376" y="31232"/>
                  </a:lnTo>
                  <a:lnTo>
                    <a:pt x="238990" y="14227"/>
                  </a:lnTo>
                  <a:lnTo>
                    <a:pt x="286385" y="3643"/>
                  </a:lnTo>
                  <a:lnTo>
                    <a:pt x="336044" y="0"/>
                  </a:lnTo>
                  <a:lnTo>
                    <a:pt x="2628291" y="0"/>
                  </a:lnTo>
                  <a:lnTo>
                    <a:pt x="2628291" y="2016224"/>
                  </a:lnTo>
                  <a:lnTo>
                    <a:pt x="0" y="2016224"/>
                  </a:lnTo>
                  <a:close/>
                </a:path>
              </a:pathLst>
            </a:custGeom>
            <a:ln w="28575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096287" y="1021588"/>
            <a:ext cx="127571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30" dirty="0">
                <a:solidFill>
                  <a:srgbClr val="044247"/>
                </a:solidFill>
                <a:latin typeface="Arial"/>
                <a:cs typeface="Arial"/>
              </a:rPr>
              <a:t>Separación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035462" y="470818"/>
            <a:ext cx="2654300" cy="2042160"/>
            <a:chOff x="6035462" y="470818"/>
            <a:chExt cx="2654300" cy="2042160"/>
          </a:xfrm>
        </p:grpSpPr>
        <p:sp>
          <p:nvSpPr>
            <p:cNvPr id="8" name="object 8"/>
            <p:cNvSpPr/>
            <p:nvPr/>
          </p:nvSpPr>
          <p:spPr>
            <a:xfrm>
              <a:off x="6048162" y="483518"/>
              <a:ext cx="2628900" cy="2016760"/>
            </a:xfrm>
            <a:custGeom>
              <a:avLst/>
              <a:gdLst/>
              <a:ahLst/>
              <a:cxnLst/>
              <a:rect l="l" t="t" r="r" b="b"/>
              <a:pathLst>
                <a:path w="2628900" h="2016760">
                  <a:moveTo>
                    <a:pt x="2292247" y="0"/>
                  </a:moveTo>
                  <a:lnTo>
                    <a:pt x="0" y="0"/>
                  </a:lnTo>
                  <a:lnTo>
                    <a:pt x="0" y="2016224"/>
                  </a:lnTo>
                  <a:lnTo>
                    <a:pt x="2628290" y="2016224"/>
                  </a:lnTo>
                  <a:lnTo>
                    <a:pt x="2628290" y="336044"/>
                  </a:lnTo>
                  <a:lnTo>
                    <a:pt x="2624646" y="286386"/>
                  </a:lnTo>
                  <a:lnTo>
                    <a:pt x="2614062" y="238990"/>
                  </a:lnTo>
                  <a:lnTo>
                    <a:pt x="2597057" y="194376"/>
                  </a:lnTo>
                  <a:lnTo>
                    <a:pt x="2574151" y="153064"/>
                  </a:lnTo>
                  <a:lnTo>
                    <a:pt x="2545864" y="115574"/>
                  </a:lnTo>
                  <a:lnTo>
                    <a:pt x="2512716" y="82425"/>
                  </a:lnTo>
                  <a:lnTo>
                    <a:pt x="2475226" y="54138"/>
                  </a:lnTo>
                  <a:lnTo>
                    <a:pt x="2433914" y="31232"/>
                  </a:lnTo>
                  <a:lnTo>
                    <a:pt x="2389300" y="14227"/>
                  </a:lnTo>
                  <a:lnTo>
                    <a:pt x="2341905" y="3643"/>
                  </a:lnTo>
                  <a:lnTo>
                    <a:pt x="2292247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48162" y="483518"/>
              <a:ext cx="2628900" cy="2016760"/>
            </a:xfrm>
            <a:custGeom>
              <a:avLst/>
              <a:gdLst/>
              <a:ahLst/>
              <a:cxnLst/>
              <a:rect l="l" t="t" r="r" b="b"/>
              <a:pathLst>
                <a:path w="2628900" h="2016760">
                  <a:moveTo>
                    <a:pt x="0" y="0"/>
                  </a:moveTo>
                  <a:lnTo>
                    <a:pt x="2292247" y="0"/>
                  </a:lnTo>
                  <a:lnTo>
                    <a:pt x="2341905" y="3643"/>
                  </a:lnTo>
                  <a:lnTo>
                    <a:pt x="2389300" y="14227"/>
                  </a:lnTo>
                  <a:lnTo>
                    <a:pt x="2433914" y="31232"/>
                  </a:lnTo>
                  <a:lnTo>
                    <a:pt x="2475226" y="54138"/>
                  </a:lnTo>
                  <a:lnTo>
                    <a:pt x="2512716" y="82426"/>
                  </a:lnTo>
                  <a:lnTo>
                    <a:pt x="2545865" y="115574"/>
                  </a:lnTo>
                  <a:lnTo>
                    <a:pt x="2574152" y="153064"/>
                  </a:lnTo>
                  <a:lnTo>
                    <a:pt x="2597058" y="194376"/>
                  </a:lnTo>
                  <a:lnTo>
                    <a:pt x="2614063" y="238990"/>
                  </a:lnTo>
                  <a:lnTo>
                    <a:pt x="2624647" y="286386"/>
                  </a:lnTo>
                  <a:lnTo>
                    <a:pt x="2628291" y="336044"/>
                  </a:lnTo>
                  <a:lnTo>
                    <a:pt x="2628291" y="2016224"/>
                  </a:lnTo>
                  <a:lnTo>
                    <a:pt x="0" y="2016224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619580" y="1021588"/>
            <a:ext cx="148526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14" dirty="0">
                <a:solidFill>
                  <a:srgbClr val="044247"/>
                </a:solidFill>
                <a:latin typeface="Arial"/>
                <a:cs typeface="Arial"/>
              </a:rPr>
              <a:t>Escalabilidad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405584" y="2485454"/>
            <a:ext cx="2657475" cy="2045335"/>
            <a:chOff x="3405584" y="2485454"/>
            <a:chExt cx="2657475" cy="2045335"/>
          </a:xfrm>
        </p:grpSpPr>
        <p:sp>
          <p:nvSpPr>
            <p:cNvPr id="12" name="object 12"/>
            <p:cNvSpPr/>
            <p:nvPr/>
          </p:nvSpPr>
          <p:spPr>
            <a:xfrm>
              <a:off x="3419871" y="2499742"/>
              <a:ext cx="2628900" cy="2016760"/>
            </a:xfrm>
            <a:custGeom>
              <a:avLst/>
              <a:gdLst/>
              <a:ahLst/>
              <a:cxnLst/>
              <a:rect l="l" t="t" r="r" b="b"/>
              <a:pathLst>
                <a:path w="2628900" h="2016760">
                  <a:moveTo>
                    <a:pt x="2628291" y="0"/>
                  </a:moveTo>
                  <a:lnTo>
                    <a:pt x="0" y="0"/>
                  </a:lnTo>
                  <a:lnTo>
                    <a:pt x="0" y="1680179"/>
                  </a:lnTo>
                  <a:lnTo>
                    <a:pt x="3643" y="1729837"/>
                  </a:lnTo>
                  <a:lnTo>
                    <a:pt x="14227" y="1777233"/>
                  </a:lnTo>
                  <a:lnTo>
                    <a:pt x="31232" y="1821846"/>
                  </a:lnTo>
                  <a:lnTo>
                    <a:pt x="54139" y="1863158"/>
                  </a:lnTo>
                  <a:lnTo>
                    <a:pt x="82426" y="1900648"/>
                  </a:lnTo>
                  <a:lnTo>
                    <a:pt x="115574" y="1933797"/>
                  </a:lnTo>
                  <a:lnTo>
                    <a:pt x="153065" y="1962084"/>
                  </a:lnTo>
                  <a:lnTo>
                    <a:pt x="194376" y="1984990"/>
                  </a:lnTo>
                  <a:lnTo>
                    <a:pt x="238990" y="2001995"/>
                  </a:lnTo>
                  <a:lnTo>
                    <a:pt x="286386" y="2012579"/>
                  </a:lnTo>
                  <a:lnTo>
                    <a:pt x="336044" y="2016223"/>
                  </a:lnTo>
                  <a:lnTo>
                    <a:pt x="2628291" y="2016223"/>
                  </a:lnTo>
                  <a:lnTo>
                    <a:pt x="2628291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19871" y="2499741"/>
              <a:ext cx="2628900" cy="2016760"/>
            </a:xfrm>
            <a:custGeom>
              <a:avLst/>
              <a:gdLst/>
              <a:ahLst/>
              <a:cxnLst/>
              <a:rect l="l" t="t" r="r" b="b"/>
              <a:pathLst>
                <a:path w="2628900" h="2016760">
                  <a:moveTo>
                    <a:pt x="2628291" y="2016224"/>
                  </a:moveTo>
                  <a:lnTo>
                    <a:pt x="336044" y="2016224"/>
                  </a:lnTo>
                  <a:lnTo>
                    <a:pt x="286385" y="2012580"/>
                  </a:lnTo>
                  <a:lnTo>
                    <a:pt x="238990" y="2001996"/>
                  </a:lnTo>
                  <a:lnTo>
                    <a:pt x="194376" y="1984991"/>
                  </a:lnTo>
                  <a:lnTo>
                    <a:pt x="153064" y="1962085"/>
                  </a:lnTo>
                  <a:lnTo>
                    <a:pt x="115574" y="1933797"/>
                  </a:lnTo>
                  <a:lnTo>
                    <a:pt x="82425" y="1900649"/>
                  </a:lnTo>
                  <a:lnTo>
                    <a:pt x="54138" y="1863159"/>
                  </a:lnTo>
                  <a:lnTo>
                    <a:pt x="31232" y="1821847"/>
                  </a:lnTo>
                  <a:lnTo>
                    <a:pt x="14227" y="1777233"/>
                  </a:lnTo>
                  <a:lnTo>
                    <a:pt x="3643" y="1729837"/>
                  </a:lnTo>
                  <a:lnTo>
                    <a:pt x="0" y="1680179"/>
                  </a:lnTo>
                  <a:lnTo>
                    <a:pt x="0" y="0"/>
                  </a:lnTo>
                  <a:lnTo>
                    <a:pt x="2628291" y="0"/>
                  </a:lnTo>
                  <a:lnTo>
                    <a:pt x="2628291" y="2016224"/>
                  </a:lnTo>
                  <a:close/>
                </a:path>
              </a:pathLst>
            </a:custGeom>
            <a:ln w="28575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046057" y="3542284"/>
            <a:ext cx="137668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25" dirty="0">
                <a:solidFill>
                  <a:srgbClr val="044247"/>
                </a:solidFill>
                <a:latin typeface="Arial"/>
                <a:cs typeface="Arial"/>
              </a:rPr>
              <a:t>Extensiones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033875" y="2485453"/>
            <a:ext cx="2657475" cy="2045335"/>
            <a:chOff x="6033875" y="2485453"/>
            <a:chExt cx="2657475" cy="2045335"/>
          </a:xfrm>
        </p:grpSpPr>
        <p:sp>
          <p:nvSpPr>
            <p:cNvPr id="16" name="object 16"/>
            <p:cNvSpPr/>
            <p:nvPr/>
          </p:nvSpPr>
          <p:spPr>
            <a:xfrm>
              <a:off x="6048162" y="2499741"/>
              <a:ext cx="2628900" cy="2016760"/>
            </a:xfrm>
            <a:custGeom>
              <a:avLst/>
              <a:gdLst/>
              <a:ahLst/>
              <a:cxnLst/>
              <a:rect l="l" t="t" r="r" b="b"/>
              <a:pathLst>
                <a:path w="2628900" h="2016760">
                  <a:moveTo>
                    <a:pt x="2628291" y="0"/>
                  </a:moveTo>
                  <a:lnTo>
                    <a:pt x="0" y="0"/>
                  </a:lnTo>
                  <a:lnTo>
                    <a:pt x="0" y="2016224"/>
                  </a:lnTo>
                  <a:lnTo>
                    <a:pt x="2292247" y="2016224"/>
                  </a:lnTo>
                  <a:lnTo>
                    <a:pt x="2341905" y="2012580"/>
                  </a:lnTo>
                  <a:lnTo>
                    <a:pt x="2389300" y="2001996"/>
                  </a:lnTo>
                  <a:lnTo>
                    <a:pt x="2433914" y="1984991"/>
                  </a:lnTo>
                  <a:lnTo>
                    <a:pt x="2475226" y="1962085"/>
                  </a:lnTo>
                  <a:lnTo>
                    <a:pt x="2512716" y="1933798"/>
                  </a:lnTo>
                  <a:lnTo>
                    <a:pt x="2545865" y="1900649"/>
                  </a:lnTo>
                  <a:lnTo>
                    <a:pt x="2574152" y="1863159"/>
                  </a:lnTo>
                  <a:lnTo>
                    <a:pt x="2597058" y="1821847"/>
                  </a:lnTo>
                  <a:lnTo>
                    <a:pt x="2614063" y="1777233"/>
                  </a:lnTo>
                  <a:lnTo>
                    <a:pt x="2624648" y="1729838"/>
                  </a:lnTo>
                  <a:lnTo>
                    <a:pt x="2628291" y="1680179"/>
                  </a:lnTo>
                  <a:lnTo>
                    <a:pt x="2628291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48163" y="2499741"/>
              <a:ext cx="2628900" cy="2016760"/>
            </a:xfrm>
            <a:custGeom>
              <a:avLst/>
              <a:gdLst/>
              <a:ahLst/>
              <a:cxnLst/>
              <a:rect l="l" t="t" r="r" b="b"/>
              <a:pathLst>
                <a:path w="2628900" h="2016760">
                  <a:moveTo>
                    <a:pt x="2628291" y="0"/>
                  </a:moveTo>
                  <a:lnTo>
                    <a:pt x="2628291" y="1680179"/>
                  </a:lnTo>
                  <a:lnTo>
                    <a:pt x="2624647" y="1729837"/>
                  </a:lnTo>
                  <a:lnTo>
                    <a:pt x="2614063" y="1777233"/>
                  </a:lnTo>
                  <a:lnTo>
                    <a:pt x="2597058" y="1821847"/>
                  </a:lnTo>
                  <a:lnTo>
                    <a:pt x="2574152" y="1863159"/>
                  </a:lnTo>
                  <a:lnTo>
                    <a:pt x="2545865" y="1900649"/>
                  </a:lnTo>
                  <a:lnTo>
                    <a:pt x="2512716" y="1933798"/>
                  </a:lnTo>
                  <a:lnTo>
                    <a:pt x="2475226" y="1962085"/>
                  </a:lnTo>
                  <a:lnTo>
                    <a:pt x="2433914" y="1984991"/>
                  </a:lnTo>
                  <a:lnTo>
                    <a:pt x="2389300" y="2001996"/>
                  </a:lnTo>
                  <a:lnTo>
                    <a:pt x="2341905" y="2012580"/>
                  </a:lnTo>
                  <a:lnTo>
                    <a:pt x="2292246" y="2016224"/>
                  </a:lnTo>
                  <a:lnTo>
                    <a:pt x="0" y="2016224"/>
                  </a:lnTo>
                  <a:lnTo>
                    <a:pt x="0" y="0"/>
                  </a:lnTo>
                  <a:lnTo>
                    <a:pt x="2628291" y="0"/>
                  </a:lnTo>
                  <a:close/>
                </a:path>
              </a:pathLst>
            </a:custGeom>
            <a:ln w="28575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782237" y="3542284"/>
            <a:ext cx="116078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25" dirty="0">
                <a:solidFill>
                  <a:srgbClr val="044247"/>
                </a:solidFill>
                <a:latin typeface="Arial"/>
                <a:cs typeface="Arial"/>
              </a:rPr>
              <a:t>Seguridad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245388" y="1981398"/>
            <a:ext cx="1605915" cy="1036955"/>
            <a:chOff x="5245388" y="1981398"/>
            <a:chExt cx="1605915" cy="1036955"/>
          </a:xfrm>
        </p:grpSpPr>
        <p:sp>
          <p:nvSpPr>
            <p:cNvPr id="20" name="object 20"/>
            <p:cNvSpPr/>
            <p:nvPr/>
          </p:nvSpPr>
          <p:spPr>
            <a:xfrm>
              <a:off x="5259675" y="1995685"/>
              <a:ext cx="1577340" cy="1008380"/>
            </a:xfrm>
            <a:custGeom>
              <a:avLst/>
              <a:gdLst/>
              <a:ahLst/>
              <a:cxnLst/>
              <a:rect l="l" t="t" r="r" b="b"/>
              <a:pathLst>
                <a:path w="1577340" h="1008380">
                  <a:moveTo>
                    <a:pt x="1408951" y="0"/>
                  </a:moveTo>
                  <a:lnTo>
                    <a:pt x="168022" y="0"/>
                  </a:lnTo>
                  <a:lnTo>
                    <a:pt x="123355" y="6001"/>
                  </a:lnTo>
                  <a:lnTo>
                    <a:pt x="83218" y="22940"/>
                  </a:lnTo>
                  <a:lnTo>
                    <a:pt x="49212" y="49213"/>
                  </a:lnTo>
                  <a:lnTo>
                    <a:pt x="22939" y="83219"/>
                  </a:lnTo>
                  <a:lnTo>
                    <a:pt x="6001" y="123356"/>
                  </a:lnTo>
                  <a:lnTo>
                    <a:pt x="0" y="168023"/>
                  </a:lnTo>
                  <a:lnTo>
                    <a:pt x="0" y="840089"/>
                  </a:lnTo>
                  <a:lnTo>
                    <a:pt x="6001" y="884756"/>
                  </a:lnTo>
                  <a:lnTo>
                    <a:pt x="22939" y="924893"/>
                  </a:lnTo>
                  <a:lnTo>
                    <a:pt x="49212" y="958899"/>
                  </a:lnTo>
                  <a:lnTo>
                    <a:pt x="83218" y="985172"/>
                  </a:lnTo>
                  <a:lnTo>
                    <a:pt x="123355" y="1002110"/>
                  </a:lnTo>
                  <a:lnTo>
                    <a:pt x="168022" y="1008112"/>
                  </a:lnTo>
                  <a:lnTo>
                    <a:pt x="1408951" y="1008112"/>
                  </a:lnTo>
                  <a:lnTo>
                    <a:pt x="1453619" y="1002110"/>
                  </a:lnTo>
                  <a:lnTo>
                    <a:pt x="1493756" y="985172"/>
                  </a:lnTo>
                  <a:lnTo>
                    <a:pt x="1527762" y="958899"/>
                  </a:lnTo>
                  <a:lnTo>
                    <a:pt x="1554035" y="924893"/>
                  </a:lnTo>
                  <a:lnTo>
                    <a:pt x="1570973" y="884756"/>
                  </a:lnTo>
                  <a:lnTo>
                    <a:pt x="1576975" y="840089"/>
                  </a:lnTo>
                  <a:lnTo>
                    <a:pt x="1576975" y="168023"/>
                  </a:lnTo>
                  <a:lnTo>
                    <a:pt x="1570973" y="123356"/>
                  </a:lnTo>
                  <a:lnTo>
                    <a:pt x="1554035" y="83219"/>
                  </a:lnTo>
                  <a:lnTo>
                    <a:pt x="1527762" y="49213"/>
                  </a:lnTo>
                  <a:lnTo>
                    <a:pt x="1493756" y="22940"/>
                  </a:lnTo>
                  <a:lnTo>
                    <a:pt x="1453619" y="6001"/>
                  </a:lnTo>
                  <a:lnTo>
                    <a:pt x="1408951" y="0"/>
                  </a:lnTo>
                  <a:close/>
                </a:path>
              </a:pathLst>
            </a:custGeom>
            <a:solidFill>
              <a:srgbClr val="B2C1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259675" y="1995685"/>
              <a:ext cx="1577340" cy="1008380"/>
            </a:xfrm>
            <a:custGeom>
              <a:avLst/>
              <a:gdLst/>
              <a:ahLst/>
              <a:cxnLst/>
              <a:rect l="l" t="t" r="r" b="b"/>
              <a:pathLst>
                <a:path w="1577340" h="1008380">
                  <a:moveTo>
                    <a:pt x="0" y="168022"/>
                  </a:moveTo>
                  <a:lnTo>
                    <a:pt x="6001" y="123355"/>
                  </a:lnTo>
                  <a:lnTo>
                    <a:pt x="22940" y="83218"/>
                  </a:lnTo>
                  <a:lnTo>
                    <a:pt x="49212" y="49212"/>
                  </a:lnTo>
                  <a:lnTo>
                    <a:pt x="83218" y="22940"/>
                  </a:lnTo>
                  <a:lnTo>
                    <a:pt x="123355" y="6001"/>
                  </a:lnTo>
                  <a:lnTo>
                    <a:pt x="168022" y="0"/>
                  </a:lnTo>
                  <a:lnTo>
                    <a:pt x="1408952" y="0"/>
                  </a:lnTo>
                  <a:lnTo>
                    <a:pt x="1453619" y="6001"/>
                  </a:lnTo>
                  <a:lnTo>
                    <a:pt x="1493756" y="22940"/>
                  </a:lnTo>
                  <a:lnTo>
                    <a:pt x="1527762" y="49212"/>
                  </a:lnTo>
                  <a:lnTo>
                    <a:pt x="1554035" y="83218"/>
                  </a:lnTo>
                  <a:lnTo>
                    <a:pt x="1570973" y="123355"/>
                  </a:lnTo>
                  <a:lnTo>
                    <a:pt x="1576975" y="168022"/>
                  </a:lnTo>
                  <a:lnTo>
                    <a:pt x="1576975" y="840089"/>
                  </a:lnTo>
                  <a:lnTo>
                    <a:pt x="1570973" y="884756"/>
                  </a:lnTo>
                  <a:lnTo>
                    <a:pt x="1554035" y="924893"/>
                  </a:lnTo>
                  <a:lnTo>
                    <a:pt x="1527762" y="958899"/>
                  </a:lnTo>
                  <a:lnTo>
                    <a:pt x="1493756" y="985171"/>
                  </a:lnTo>
                  <a:lnTo>
                    <a:pt x="1453619" y="1002110"/>
                  </a:lnTo>
                  <a:lnTo>
                    <a:pt x="1408952" y="1008112"/>
                  </a:lnTo>
                  <a:lnTo>
                    <a:pt x="168022" y="1008112"/>
                  </a:lnTo>
                  <a:lnTo>
                    <a:pt x="123355" y="1002110"/>
                  </a:lnTo>
                  <a:lnTo>
                    <a:pt x="83218" y="985171"/>
                  </a:lnTo>
                  <a:lnTo>
                    <a:pt x="49212" y="958899"/>
                  </a:lnTo>
                  <a:lnTo>
                    <a:pt x="22940" y="924893"/>
                  </a:lnTo>
                  <a:lnTo>
                    <a:pt x="6001" y="884756"/>
                  </a:lnTo>
                  <a:lnTo>
                    <a:pt x="0" y="840089"/>
                  </a:lnTo>
                  <a:lnTo>
                    <a:pt x="0" y="168022"/>
                  </a:lnTo>
                  <a:close/>
                </a:path>
              </a:pathLst>
            </a:custGeom>
            <a:ln w="28575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404114" y="2128011"/>
            <a:ext cx="1288415" cy="66548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33350" marR="5080" indent="-121285">
              <a:lnSpc>
                <a:spcPts val="2400"/>
              </a:lnSpc>
              <a:spcBef>
                <a:spcPts val="380"/>
              </a:spcBef>
            </a:pPr>
            <a:r>
              <a:rPr sz="2200" b="1" spc="-200" dirty="0">
                <a:solidFill>
                  <a:srgbClr val="044247"/>
                </a:solidFill>
                <a:latin typeface="Arial"/>
                <a:cs typeface="Arial"/>
              </a:rPr>
              <a:t>Almacenes </a:t>
            </a:r>
            <a:r>
              <a:rPr sz="2200" b="1" spc="-165" dirty="0">
                <a:solidFill>
                  <a:srgbClr val="044247"/>
                </a:solidFill>
                <a:latin typeface="Arial"/>
                <a:cs typeface="Arial"/>
              </a:rPr>
              <a:t>de</a:t>
            </a:r>
            <a:r>
              <a:rPr sz="2200" b="1" spc="-100" dirty="0">
                <a:solidFill>
                  <a:srgbClr val="044247"/>
                </a:solidFill>
                <a:latin typeface="Arial"/>
                <a:cs typeface="Arial"/>
              </a:rPr>
              <a:t> </a:t>
            </a:r>
            <a:r>
              <a:rPr sz="2200" b="1" spc="-20" dirty="0">
                <a:solidFill>
                  <a:srgbClr val="044247"/>
                </a:solidFill>
                <a:latin typeface="Arial"/>
                <a:cs typeface="Arial"/>
              </a:rPr>
              <a:t>Datos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71755">
              <a:lnSpc>
                <a:spcPct val="71000"/>
              </a:lnSpc>
              <a:spcBef>
                <a:spcPts val="1490"/>
              </a:spcBef>
            </a:pPr>
            <a:r>
              <a:rPr spc="-10" dirty="0"/>
              <a:t>Almacenes </a:t>
            </a:r>
            <a:r>
              <a:rPr dirty="0"/>
              <a:t>de</a:t>
            </a:r>
            <a:r>
              <a:rPr spc="-10" dirty="0"/>
              <a:t> Datos:</a:t>
            </a:r>
          </a:p>
          <a:p>
            <a:pPr marL="450215">
              <a:lnSpc>
                <a:spcPct val="100000"/>
              </a:lnSpc>
              <a:spcBef>
                <a:spcPts val="240"/>
              </a:spcBef>
            </a:pPr>
            <a:r>
              <a:rPr sz="2800" spc="-10" dirty="0">
                <a:solidFill>
                  <a:srgbClr val="FF0000"/>
                </a:solidFill>
              </a:rPr>
              <a:t>Arquitectura: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3405583" y="469230"/>
            <a:ext cx="5738495" cy="4674870"/>
            <a:chOff x="3405583" y="469230"/>
            <a:chExt cx="5738495" cy="4674870"/>
          </a:xfrm>
        </p:grpSpPr>
        <p:sp>
          <p:nvSpPr>
            <p:cNvPr id="4" name="object 4"/>
            <p:cNvSpPr/>
            <p:nvPr/>
          </p:nvSpPr>
          <p:spPr>
            <a:xfrm>
              <a:off x="3419868" y="483526"/>
              <a:ext cx="5724525" cy="4660265"/>
            </a:xfrm>
            <a:custGeom>
              <a:avLst/>
              <a:gdLst/>
              <a:ahLst/>
              <a:cxnLst/>
              <a:rect l="l" t="t" r="r" b="b"/>
              <a:pathLst>
                <a:path w="5724525" h="4660265">
                  <a:moveTo>
                    <a:pt x="2628290" y="0"/>
                  </a:moveTo>
                  <a:lnTo>
                    <a:pt x="336042" y="0"/>
                  </a:lnTo>
                  <a:lnTo>
                    <a:pt x="286385" y="3644"/>
                  </a:lnTo>
                  <a:lnTo>
                    <a:pt x="238988" y="14224"/>
                  </a:lnTo>
                  <a:lnTo>
                    <a:pt x="194373" y="31229"/>
                  </a:lnTo>
                  <a:lnTo>
                    <a:pt x="153060" y="54140"/>
                  </a:lnTo>
                  <a:lnTo>
                    <a:pt x="115570" y="82423"/>
                  </a:lnTo>
                  <a:lnTo>
                    <a:pt x="82423" y="115570"/>
                  </a:lnTo>
                  <a:lnTo>
                    <a:pt x="54140" y="153060"/>
                  </a:lnTo>
                  <a:lnTo>
                    <a:pt x="31229" y="194373"/>
                  </a:lnTo>
                  <a:lnTo>
                    <a:pt x="14224" y="238988"/>
                  </a:lnTo>
                  <a:lnTo>
                    <a:pt x="3644" y="286385"/>
                  </a:lnTo>
                  <a:lnTo>
                    <a:pt x="0" y="336042"/>
                  </a:lnTo>
                  <a:lnTo>
                    <a:pt x="0" y="2016226"/>
                  </a:lnTo>
                  <a:lnTo>
                    <a:pt x="2628290" y="2016226"/>
                  </a:lnTo>
                  <a:lnTo>
                    <a:pt x="2628290" y="0"/>
                  </a:lnTo>
                  <a:close/>
                </a:path>
                <a:path w="5724525" h="4660265">
                  <a:moveTo>
                    <a:pt x="5678157" y="4659973"/>
                  </a:moveTo>
                  <a:lnTo>
                    <a:pt x="5654675" y="4584357"/>
                  </a:lnTo>
                  <a:lnTo>
                    <a:pt x="5634660" y="4543260"/>
                  </a:lnTo>
                  <a:lnTo>
                    <a:pt x="5610555" y="4504741"/>
                  </a:lnTo>
                  <a:lnTo>
                    <a:pt x="5582653" y="4469066"/>
                  </a:lnTo>
                  <a:lnTo>
                    <a:pt x="5551246" y="4436542"/>
                  </a:lnTo>
                  <a:lnTo>
                    <a:pt x="5516588" y="4407446"/>
                  </a:lnTo>
                  <a:lnTo>
                    <a:pt x="5478996" y="4382046"/>
                  </a:lnTo>
                  <a:lnTo>
                    <a:pt x="5438724" y="4360634"/>
                  </a:lnTo>
                  <a:lnTo>
                    <a:pt x="5396065" y="4343489"/>
                  </a:lnTo>
                  <a:lnTo>
                    <a:pt x="5351297" y="4330890"/>
                  </a:lnTo>
                  <a:lnTo>
                    <a:pt x="5304714" y="4323131"/>
                  </a:lnTo>
                  <a:lnTo>
                    <a:pt x="5256581" y="4320476"/>
                  </a:lnTo>
                  <a:lnTo>
                    <a:pt x="5208448" y="4323131"/>
                  </a:lnTo>
                  <a:lnTo>
                    <a:pt x="5161864" y="4330890"/>
                  </a:lnTo>
                  <a:lnTo>
                    <a:pt x="5117096" y="4343489"/>
                  </a:lnTo>
                  <a:lnTo>
                    <a:pt x="5074437" y="4360634"/>
                  </a:lnTo>
                  <a:lnTo>
                    <a:pt x="5034165" y="4382046"/>
                  </a:lnTo>
                  <a:lnTo>
                    <a:pt x="4996573" y="4407446"/>
                  </a:lnTo>
                  <a:lnTo>
                    <a:pt x="4961928" y="4436542"/>
                  </a:lnTo>
                  <a:lnTo>
                    <a:pt x="4930508" y="4469066"/>
                  </a:lnTo>
                  <a:lnTo>
                    <a:pt x="4902606" y="4504741"/>
                  </a:lnTo>
                  <a:lnTo>
                    <a:pt x="4878502" y="4543260"/>
                  </a:lnTo>
                  <a:lnTo>
                    <a:pt x="4858486" y="4584357"/>
                  </a:lnTo>
                  <a:lnTo>
                    <a:pt x="4835017" y="4659973"/>
                  </a:lnTo>
                  <a:lnTo>
                    <a:pt x="5678157" y="4659973"/>
                  </a:lnTo>
                  <a:close/>
                </a:path>
                <a:path w="5724525" h="4660265">
                  <a:moveTo>
                    <a:pt x="5724131" y="3460064"/>
                  </a:moveTo>
                  <a:lnTo>
                    <a:pt x="5673560" y="3465157"/>
                  </a:lnTo>
                  <a:lnTo>
                    <a:pt x="5629046" y="3476790"/>
                  </a:lnTo>
                  <a:lnTo>
                    <a:pt x="5586527" y="3492906"/>
                  </a:lnTo>
                  <a:lnTo>
                    <a:pt x="5546280" y="3513226"/>
                  </a:lnTo>
                  <a:lnTo>
                    <a:pt x="5508574" y="3537483"/>
                  </a:lnTo>
                  <a:lnTo>
                    <a:pt x="5473700" y="3565423"/>
                  </a:lnTo>
                  <a:lnTo>
                    <a:pt x="5441899" y="3596754"/>
                  </a:lnTo>
                  <a:lnTo>
                    <a:pt x="5413464" y="3631209"/>
                  </a:lnTo>
                  <a:lnTo>
                    <a:pt x="5388661" y="3668522"/>
                  </a:lnTo>
                  <a:lnTo>
                    <a:pt x="5367756" y="3708425"/>
                  </a:lnTo>
                  <a:lnTo>
                    <a:pt x="5351030" y="3750627"/>
                  </a:lnTo>
                  <a:lnTo>
                    <a:pt x="5338750" y="3794887"/>
                  </a:lnTo>
                  <a:lnTo>
                    <a:pt x="5331168" y="3840911"/>
                  </a:lnTo>
                  <a:lnTo>
                    <a:pt x="5328590" y="3888435"/>
                  </a:lnTo>
                  <a:lnTo>
                    <a:pt x="5331168" y="3935958"/>
                  </a:lnTo>
                  <a:lnTo>
                    <a:pt x="5338750" y="3981970"/>
                  </a:lnTo>
                  <a:lnTo>
                    <a:pt x="5351030" y="4026230"/>
                  </a:lnTo>
                  <a:lnTo>
                    <a:pt x="5367756" y="4068445"/>
                  </a:lnTo>
                  <a:lnTo>
                    <a:pt x="5388661" y="4108335"/>
                  </a:lnTo>
                  <a:lnTo>
                    <a:pt x="5413464" y="4145648"/>
                  </a:lnTo>
                  <a:lnTo>
                    <a:pt x="5441899" y="4180103"/>
                  </a:lnTo>
                  <a:lnTo>
                    <a:pt x="5473700" y="4211434"/>
                  </a:lnTo>
                  <a:lnTo>
                    <a:pt x="5508574" y="4239374"/>
                  </a:lnTo>
                  <a:lnTo>
                    <a:pt x="5546280" y="4263631"/>
                  </a:lnTo>
                  <a:lnTo>
                    <a:pt x="5586527" y="4283964"/>
                  </a:lnTo>
                  <a:lnTo>
                    <a:pt x="5629046" y="4300067"/>
                  </a:lnTo>
                  <a:lnTo>
                    <a:pt x="5673560" y="4311701"/>
                  </a:lnTo>
                  <a:lnTo>
                    <a:pt x="5724131" y="4316793"/>
                  </a:lnTo>
                  <a:lnTo>
                    <a:pt x="5724131" y="3460064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19871" y="483518"/>
              <a:ext cx="2628900" cy="2016760"/>
            </a:xfrm>
            <a:custGeom>
              <a:avLst/>
              <a:gdLst/>
              <a:ahLst/>
              <a:cxnLst/>
              <a:rect l="l" t="t" r="r" b="b"/>
              <a:pathLst>
                <a:path w="2628900" h="2016760">
                  <a:moveTo>
                    <a:pt x="0" y="2016224"/>
                  </a:moveTo>
                  <a:lnTo>
                    <a:pt x="0" y="336045"/>
                  </a:lnTo>
                  <a:lnTo>
                    <a:pt x="3643" y="286386"/>
                  </a:lnTo>
                  <a:lnTo>
                    <a:pt x="14227" y="238990"/>
                  </a:lnTo>
                  <a:lnTo>
                    <a:pt x="31232" y="194376"/>
                  </a:lnTo>
                  <a:lnTo>
                    <a:pt x="54138" y="153064"/>
                  </a:lnTo>
                  <a:lnTo>
                    <a:pt x="82425" y="115574"/>
                  </a:lnTo>
                  <a:lnTo>
                    <a:pt x="115574" y="82426"/>
                  </a:lnTo>
                  <a:lnTo>
                    <a:pt x="153064" y="54138"/>
                  </a:lnTo>
                  <a:lnTo>
                    <a:pt x="194376" y="31232"/>
                  </a:lnTo>
                  <a:lnTo>
                    <a:pt x="238990" y="14227"/>
                  </a:lnTo>
                  <a:lnTo>
                    <a:pt x="286385" y="3643"/>
                  </a:lnTo>
                  <a:lnTo>
                    <a:pt x="336044" y="0"/>
                  </a:lnTo>
                  <a:lnTo>
                    <a:pt x="2628291" y="0"/>
                  </a:lnTo>
                  <a:lnTo>
                    <a:pt x="2628291" y="2016224"/>
                  </a:lnTo>
                  <a:lnTo>
                    <a:pt x="0" y="2016224"/>
                  </a:lnTo>
                  <a:close/>
                </a:path>
              </a:pathLst>
            </a:custGeom>
            <a:ln w="28575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939791" y="716788"/>
            <a:ext cx="1588770" cy="98298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 algn="ctr">
              <a:lnSpc>
                <a:spcPct val="92700"/>
              </a:lnSpc>
              <a:spcBef>
                <a:spcPts val="290"/>
              </a:spcBef>
            </a:pPr>
            <a:r>
              <a:rPr sz="2200" spc="-40" dirty="0">
                <a:solidFill>
                  <a:srgbClr val="044247"/>
                </a:solidFill>
                <a:latin typeface="Arial"/>
                <a:cs typeface="Arial"/>
              </a:rPr>
              <a:t>Préstamos, </a:t>
            </a:r>
            <a:r>
              <a:rPr sz="2200" spc="-65" dirty="0">
                <a:solidFill>
                  <a:srgbClr val="044247"/>
                </a:solidFill>
                <a:latin typeface="Arial"/>
                <a:cs typeface="Arial"/>
              </a:rPr>
              <a:t>Movimientos, </a:t>
            </a:r>
            <a:r>
              <a:rPr sz="2200" spc="-105" dirty="0">
                <a:solidFill>
                  <a:srgbClr val="044247"/>
                </a:solidFill>
                <a:latin typeface="Arial"/>
                <a:cs typeface="Arial"/>
              </a:rPr>
              <a:t>Inversiones…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035462" y="470818"/>
            <a:ext cx="2654300" cy="2042160"/>
            <a:chOff x="6035462" y="470818"/>
            <a:chExt cx="2654300" cy="2042160"/>
          </a:xfrm>
        </p:grpSpPr>
        <p:sp>
          <p:nvSpPr>
            <p:cNvPr id="8" name="object 8"/>
            <p:cNvSpPr/>
            <p:nvPr/>
          </p:nvSpPr>
          <p:spPr>
            <a:xfrm>
              <a:off x="6048162" y="483518"/>
              <a:ext cx="2628900" cy="2016760"/>
            </a:xfrm>
            <a:custGeom>
              <a:avLst/>
              <a:gdLst/>
              <a:ahLst/>
              <a:cxnLst/>
              <a:rect l="l" t="t" r="r" b="b"/>
              <a:pathLst>
                <a:path w="2628900" h="2016760">
                  <a:moveTo>
                    <a:pt x="2292247" y="0"/>
                  </a:moveTo>
                  <a:lnTo>
                    <a:pt x="0" y="0"/>
                  </a:lnTo>
                  <a:lnTo>
                    <a:pt x="0" y="2016224"/>
                  </a:lnTo>
                  <a:lnTo>
                    <a:pt x="2628290" y="2016224"/>
                  </a:lnTo>
                  <a:lnTo>
                    <a:pt x="2628290" y="336044"/>
                  </a:lnTo>
                  <a:lnTo>
                    <a:pt x="2624646" y="286386"/>
                  </a:lnTo>
                  <a:lnTo>
                    <a:pt x="2614062" y="238990"/>
                  </a:lnTo>
                  <a:lnTo>
                    <a:pt x="2597057" y="194376"/>
                  </a:lnTo>
                  <a:lnTo>
                    <a:pt x="2574151" y="153064"/>
                  </a:lnTo>
                  <a:lnTo>
                    <a:pt x="2545864" y="115574"/>
                  </a:lnTo>
                  <a:lnTo>
                    <a:pt x="2512716" y="82425"/>
                  </a:lnTo>
                  <a:lnTo>
                    <a:pt x="2475226" y="54138"/>
                  </a:lnTo>
                  <a:lnTo>
                    <a:pt x="2433914" y="31232"/>
                  </a:lnTo>
                  <a:lnTo>
                    <a:pt x="2389300" y="14227"/>
                  </a:lnTo>
                  <a:lnTo>
                    <a:pt x="2341905" y="3643"/>
                  </a:lnTo>
                  <a:lnTo>
                    <a:pt x="2292247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48162" y="483518"/>
              <a:ext cx="2628900" cy="2016760"/>
            </a:xfrm>
            <a:custGeom>
              <a:avLst/>
              <a:gdLst/>
              <a:ahLst/>
              <a:cxnLst/>
              <a:rect l="l" t="t" r="r" b="b"/>
              <a:pathLst>
                <a:path w="2628900" h="2016760">
                  <a:moveTo>
                    <a:pt x="0" y="0"/>
                  </a:moveTo>
                  <a:lnTo>
                    <a:pt x="2292247" y="0"/>
                  </a:lnTo>
                  <a:lnTo>
                    <a:pt x="2341905" y="3643"/>
                  </a:lnTo>
                  <a:lnTo>
                    <a:pt x="2389300" y="14227"/>
                  </a:lnTo>
                  <a:lnTo>
                    <a:pt x="2433914" y="31232"/>
                  </a:lnTo>
                  <a:lnTo>
                    <a:pt x="2475226" y="54138"/>
                  </a:lnTo>
                  <a:lnTo>
                    <a:pt x="2512716" y="82426"/>
                  </a:lnTo>
                  <a:lnTo>
                    <a:pt x="2545865" y="115574"/>
                  </a:lnTo>
                  <a:lnTo>
                    <a:pt x="2574152" y="153064"/>
                  </a:lnTo>
                  <a:lnTo>
                    <a:pt x="2597058" y="194376"/>
                  </a:lnTo>
                  <a:lnTo>
                    <a:pt x="2614063" y="238990"/>
                  </a:lnTo>
                  <a:lnTo>
                    <a:pt x="2624647" y="286386"/>
                  </a:lnTo>
                  <a:lnTo>
                    <a:pt x="2628291" y="336044"/>
                  </a:lnTo>
                  <a:lnTo>
                    <a:pt x="2628291" y="2016224"/>
                  </a:lnTo>
                  <a:lnTo>
                    <a:pt x="0" y="2016224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323479" y="869188"/>
            <a:ext cx="2077720" cy="66548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40640" marR="5080" indent="-28575">
              <a:lnSpc>
                <a:spcPts val="2400"/>
              </a:lnSpc>
              <a:spcBef>
                <a:spcPts val="380"/>
              </a:spcBef>
            </a:pPr>
            <a:r>
              <a:rPr sz="2200" spc="-75" dirty="0">
                <a:solidFill>
                  <a:srgbClr val="044247"/>
                </a:solidFill>
                <a:latin typeface="Arial"/>
                <a:cs typeface="Arial"/>
              </a:rPr>
              <a:t>Miles</a:t>
            </a:r>
            <a:r>
              <a:rPr sz="2200" spc="-85" dirty="0">
                <a:solidFill>
                  <a:srgbClr val="044247"/>
                </a:solidFill>
                <a:latin typeface="Arial"/>
                <a:cs typeface="Arial"/>
              </a:rPr>
              <a:t> </a:t>
            </a:r>
            <a:r>
              <a:rPr sz="2200" spc="-110" dirty="0">
                <a:solidFill>
                  <a:srgbClr val="044247"/>
                </a:solidFill>
                <a:latin typeface="Arial"/>
                <a:cs typeface="Arial"/>
              </a:rPr>
              <a:t>de</a:t>
            </a:r>
            <a:r>
              <a:rPr sz="2200" spc="-85" dirty="0">
                <a:solidFill>
                  <a:srgbClr val="044247"/>
                </a:solidFill>
                <a:latin typeface="Arial"/>
                <a:cs typeface="Arial"/>
              </a:rPr>
              <a:t> </a:t>
            </a:r>
            <a:r>
              <a:rPr sz="2200" spc="-105" dirty="0">
                <a:solidFill>
                  <a:srgbClr val="044247"/>
                </a:solidFill>
                <a:latin typeface="Arial"/>
                <a:cs typeface="Arial"/>
              </a:rPr>
              <a:t>usuarios, </a:t>
            </a:r>
            <a:r>
              <a:rPr sz="2200" spc="-75" dirty="0">
                <a:solidFill>
                  <a:srgbClr val="044247"/>
                </a:solidFill>
                <a:latin typeface="Arial"/>
                <a:cs typeface="Arial"/>
              </a:rPr>
              <a:t>millones</a:t>
            </a:r>
            <a:r>
              <a:rPr sz="2200" spc="-100" dirty="0">
                <a:solidFill>
                  <a:srgbClr val="044247"/>
                </a:solidFill>
                <a:latin typeface="Arial"/>
                <a:cs typeface="Arial"/>
              </a:rPr>
              <a:t> </a:t>
            </a:r>
            <a:r>
              <a:rPr sz="2200" spc="-110" dirty="0">
                <a:solidFill>
                  <a:srgbClr val="044247"/>
                </a:solidFill>
                <a:latin typeface="Arial"/>
                <a:cs typeface="Arial"/>
              </a:rPr>
              <a:t>de</a:t>
            </a:r>
            <a:r>
              <a:rPr sz="2200" spc="-95" dirty="0">
                <a:solidFill>
                  <a:srgbClr val="044247"/>
                </a:solidFill>
                <a:latin typeface="Arial"/>
                <a:cs typeface="Arial"/>
              </a:rPr>
              <a:t> </a:t>
            </a:r>
            <a:r>
              <a:rPr sz="2200" spc="-45" dirty="0">
                <a:solidFill>
                  <a:srgbClr val="044247"/>
                </a:solidFill>
                <a:latin typeface="Arial"/>
                <a:cs typeface="Arial"/>
              </a:rPr>
              <a:t>datos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405584" y="2485454"/>
            <a:ext cx="2657475" cy="2045335"/>
            <a:chOff x="3405584" y="2485454"/>
            <a:chExt cx="2657475" cy="2045335"/>
          </a:xfrm>
        </p:grpSpPr>
        <p:sp>
          <p:nvSpPr>
            <p:cNvPr id="12" name="object 12"/>
            <p:cNvSpPr/>
            <p:nvPr/>
          </p:nvSpPr>
          <p:spPr>
            <a:xfrm>
              <a:off x="3419871" y="2499742"/>
              <a:ext cx="2628900" cy="2016760"/>
            </a:xfrm>
            <a:custGeom>
              <a:avLst/>
              <a:gdLst/>
              <a:ahLst/>
              <a:cxnLst/>
              <a:rect l="l" t="t" r="r" b="b"/>
              <a:pathLst>
                <a:path w="2628900" h="2016760">
                  <a:moveTo>
                    <a:pt x="2628291" y="0"/>
                  </a:moveTo>
                  <a:lnTo>
                    <a:pt x="0" y="0"/>
                  </a:lnTo>
                  <a:lnTo>
                    <a:pt x="0" y="1680179"/>
                  </a:lnTo>
                  <a:lnTo>
                    <a:pt x="3643" y="1729837"/>
                  </a:lnTo>
                  <a:lnTo>
                    <a:pt x="14227" y="1777233"/>
                  </a:lnTo>
                  <a:lnTo>
                    <a:pt x="31232" y="1821846"/>
                  </a:lnTo>
                  <a:lnTo>
                    <a:pt x="54139" y="1863158"/>
                  </a:lnTo>
                  <a:lnTo>
                    <a:pt x="82426" y="1900648"/>
                  </a:lnTo>
                  <a:lnTo>
                    <a:pt x="115574" y="1933797"/>
                  </a:lnTo>
                  <a:lnTo>
                    <a:pt x="153065" y="1962084"/>
                  </a:lnTo>
                  <a:lnTo>
                    <a:pt x="194376" y="1984990"/>
                  </a:lnTo>
                  <a:lnTo>
                    <a:pt x="238990" y="2001995"/>
                  </a:lnTo>
                  <a:lnTo>
                    <a:pt x="286386" y="2012579"/>
                  </a:lnTo>
                  <a:lnTo>
                    <a:pt x="336044" y="2016223"/>
                  </a:lnTo>
                  <a:lnTo>
                    <a:pt x="2628291" y="2016223"/>
                  </a:lnTo>
                  <a:lnTo>
                    <a:pt x="2628291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19871" y="2499741"/>
              <a:ext cx="2628900" cy="2016760"/>
            </a:xfrm>
            <a:custGeom>
              <a:avLst/>
              <a:gdLst/>
              <a:ahLst/>
              <a:cxnLst/>
              <a:rect l="l" t="t" r="r" b="b"/>
              <a:pathLst>
                <a:path w="2628900" h="2016760">
                  <a:moveTo>
                    <a:pt x="2628291" y="2016224"/>
                  </a:moveTo>
                  <a:lnTo>
                    <a:pt x="336044" y="2016224"/>
                  </a:lnTo>
                  <a:lnTo>
                    <a:pt x="286385" y="2012580"/>
                  </a:lnTo>
                  <a:lnTo>
                    <a:pt x="238990" y="2001996"/>
                  </a:lnTo>
                  <a:lnTo>
                    <a:pt x="194376" y="1984991"/>
                  </a:lnTo>
                  <a:lnTo>
                    <a:pt x="153064" y="1962085"/>
                  </a:lnTo>
                  <a:lnTo>
                    <a:pt x="115574" y="1933797"/>
                  </a:lnTo>
                  <a:lnTo>
                    <a:pt x="82425" y="1900649"/>
                  </a:lnTo>
                  <a:lnTo>
                    <a:pt x="54138" y="1863159"/>
                  </a:lnTo>
                  <a:lnTo>
                    <a:pt x="31232" y="1821847"/>
                  </a:lnTo>
                  <a:lnTo>
                    <a:pt x="14227" y="1777233"/>
                  </a:lnTo>
                  <a:lnTo>
                    <a:pt x="3643" y="1729837"/>
                  </a:lnTo>
                  <a:lnTo>
                    <a:pt x="0" y="1680179"/>
                  </a:lnTo>
                  <a:lnTo>
                    <a:pt x="0" y="0"/>
                  </a:lnTo>
                  <a:lnTo>
                    <a:pt x="2628291" y="0"/>
                  </a:lnTo>
                  <a:lnTo>
                    <a:pt x="2628291" y="2016224"/>
                  </a:lnTo>
                  <a:close/>
                </a:path>
              </a:pathLst>
            </a:custGeom>
            <a:ln w="28575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707762" y="3389884"/>
            <a:ext cx="2052320" cy="66548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617855" marR="5080" indent="-605790">
              <a:lnSpc>
                <a:spcPts val="2400"/>
              </a:lnSpc>
              <a:spcBef>
                <a:spcPts val="380"/>
              </a:spcBef>
            </a:pPr>
            <a:r>
              <a:rPr sz="2200" spc="-114" dirty="0">
                <a:solidFill>
                  <a:srgbClr val="044247"/>
                </a:solidFill>
                <a:latin typeface="Arial"/>
                <a:cs typeface="Arial"/>
              </a:rPr>
              <a:t>Aplicaciones</a:t>
            </a:r>
            <a:r>
              <a:rPr sz="2200" spc="-35" dirty="0">
                <a:solidFill>
                  <a:srgbClr val="044247"/>
                </a:solidFill>
                <a:latin typeface="Arial"/>
                <a:cs typeface="Arial"/>
              </a:rPr>
              <a:t> </a:t>
            </a:r>
            <a:r>
              <a:rPr sz="2200" spc="-75" dirty="0">
                <a:solidFill>
                  <a:srgbClr val="044247"/>
                </a:solidFill>
                <a:latin typeface="Arial"/>
                <a:cs typeface="Arial"/>
              </a:rPr>
              <a:t>web, </a:t>
            </a:r>
            <a:r>
              <a:rPr sz="2200" spc="-10" dirty="0">
                <a:solidFill>
                  <a:srgbClr val="044247"/>
                </a:solidFill>
                <a:latin typeface="Arial"/>
                <a:cs typeface="Arial"/>
              </a:rPr>
              <a:t>móvil…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033875" y="2485453"/>
            <a:ext cx="2657475" cy="2045335"/>
            <a:chOff x="6033875" y="2485453"/>
            <a:chExt cx="2657475" cy="2045335"/>
          </a:xfrm>
        </p:grpSpPr>
        <p:sp>
          <p:nvSpPr>
            <p:cNvPr id="16" name="object 16"/>
            <p:cNvSpPr/>
            <p:nvPr/>
          </p:nvSpPr>
          <p:spPr>
            <a:xfrm>
              <a:off x="6048162" y="2499741"/>
              <a:ext cx="2628900" cy="2016760"/>
            </a:xfrm>
            <a:custGeom>
              <a:avLst/>
              <a:gdLst/>
              <a:ahLst/>
              <a:cxnLst/>
              <a:rect l="l" t="t" r="r" b="b"/>
              <a:pathLst>
                <a:path w="2628900" h="2016760">
                  <a:moveTo>
                    <a:pt x="2628291" y="0"/>
                  </a:moveTo>
                  <a:lnTo>
                    <a:pt x="0" y="0"/>
                  </a:lnTo>
                  <a:lnTo>
                    <a:pt x="0" y="2016224"/>
                  </a:lnTo>
                  <a:lnTo>
                    <a:pt x="2292247" y="2016224"/>
                  </a:lnTo>
                  <a:lnTo>
                    <a:pt x="2341905" y="2012580"/>
                  </a:lnTo>
                  <a:lnTo>
                    <a:pt x="2389300" y="2001996"/>
                  </a:lnTo>
                  <a:lnTo>
                    <a:pt x="2433914" y="1984991"/>
                  </a:lnTo>
                  <a:lnTo>
                    <a:pt x="2475226" y="1962085"/>
                  </a:lnTo>
                  <a:lnTo>
                    <a:pt x="2512716" y="1933798"/>
                  </a:lnTo>
                  <a:lnTo>
                    <a:pt x="2545865" y="1900649"/>
                  </a:lnTo>
                  <a:lnTo>
                    <a:pt x="2574152" y="1863159"/>
                  </a:lnTo>
                  <a:lnTo>
                    <a:pt x="2597058" y="1821847"/>
                  </a:lnTo>
                  <a:lnTo>
                    <a:pt x="2614063" y="1777233"/>
                  </a:lnTo>
                  <a:lnTo>
                    <a:pt x="2624648" y="1729838"/>
                  </a:lnTo>
                  <a:lnTo>
                    <a:pt x="2628291" y="1680179"/>
                  </a:lnTo>
                  <a:lnTo>
                    <a:pt x="2628291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48163" y="2499741"/>
              <a:ext cx="2628900" cy="2016760"/>
            </a:xfrm>
            <a:custGeom>
              <a:avLst/>
              <a:gdLst/>
              <a:ahLst/>
              <a:cxnLst/>
              <a:rect l="l" t="t" r="r" b="b"/>
              <a:pathLst>
                <a:path w="2628900" h="2016760">
                  <a:moveTo>
                    <a:pt x="2628291" y="0"/>
                  </a:moveTo>
                  <a:lnTo>
                    <a:pt x="2628291" y="1680179"/>
                  </a:lnTo>
                  <a:lnTo>
                    <a:pt x="2624647" y="1729837"/>
                  </a:lnTo>
                  <a:lnTo>
                    <a:pt x="2614063" y="1777233"/>
                  </a:lnTo>
                  <a:lnTo>
                    <a:pt x="2597058" y="1821847"/>
                  </a:lnTo>
                  <a:lnTo>
                    <a:pt x="2574152" y="1863159"/>
                  </a:lnTo>
                  <a:lnTo>
                    <a:pt x="2545865" y="1900649"/>
                  </a:lnTo>
                  <a:lnTo>
                    <a:pt x="2512716" y="1933798"/>
                  </a:lnTo>
                  <a:lnTo>
                    <a:pt x="2475226" y="1962085"/>
                  </a:lnTo>
                  <a:lnTo>
                    <a:pt x="2433914" y="1984991"/>
                  </a:lnTo>
                  <a:lnTo>
                    <a:pt x="2389300" y="2001996"/>
                  </a:lnTo>
                  <a:lnTo>
                    <a:pt x="2341905" y="2012580"/>
                  </a:lnTo>
                  <a:lnTo>
                    <a:pt x="2292246" y="2016224"/>
                  </a:lnTo>
                  <a:lnTo>
                    <a:pt x="0" y="2016224"/>
                  </a:lnTo>
                  <a:lnTo>
                    <a:pt x="0" y="0"/>
                  </a:lnTo>
                  <a:lnTo>
                    <a:pt x="2628291" y="0"/>
                  </a:lnTo>
                  <a:close/>
                </a:path>
              </a:pathLst>
            </a:custGeom>
            <a:ln w="28575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212895" y="3389884"/>
            <a:ext cx="2298700" cy="66548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815340" marR="5080" indent="-803275">
              <a:lnSpc>
                <a:spcPts val="2400"/>
              </a:lnSpc>
              <a:spcBef>
                <a:spcPts val="380"/>
              </a:spcBef>
            </a:pPr>
            <a:r>
              <a:rPr sz="2200" spc="-80" dirty="0">
                <a:solidFill>
                  <a:srgbClr val="044247"/>
                </a:solidFill>
                <a:latin typeface="Arial"/>
                <a:cs typeface="Arial"/>
              </a:rPr>
              <a:t>Autenticación</a:t>
            </a:r>
            <a:r>
              <a:rPr sz="2200" spc="-40" dirty="0">
                <a:solidFill>
                  <a:srgbClr val="044247"/>
                </a:solidFill>
                <a:latin typeface="Arial"/>
                <a:cs typeface="Arial"/>
              </a:rPr>
              <a:t> </a:t>
            </a:r>
            <a:r>
              <a:rPr sz="2200" spc="-60" dirty="0">
                <a:solidFill>
                  <a:srgbClr val="044247"/>
                </a:solidFill>
                <a:latin typeface="Arial"/>
                <a:cs typeface="Arial"/>
              </a:rPr>
              <a:t>doble </a:t>
            </a:r>
            <a:r>
              <a:rPr sz="2200" spc="-10" dirty="0">
                <a:solidFill>
                  <a:srgbClr val="044247"/>
                </a:solidFill>
                <a:latin typeface="Arial"/>
                <a:cs typeface="Arial"/>
              </a:rPr>
              <a:t>factor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245388" y="1981398"/>
            <a:ext cx="1605915" cy="1036955"/>
            <a:chOff x="5245388" y="1981398"/>
            <a:chExt cx="1605915" cy="1036955"/>
          </a:xfrm>
        </p:grpSpPr>
        <p:sp>
          <p:nvSpPr>
            <p:cNvPr id="20" name="object 20"/>
            <p:cNvSpPr/>
            <p:nvPr/>
          </p:nvSpPr>
          <p:spPr>
            <a:xfrm>
              <a:off x="5259675" y="1995685"/>
              <a:ext cx="1577340" cy="1008380"/>
            </a:xfrm>
            <a:custGeom>
              <a:avLst/>
              <a:gdLst/>
              <a:ahLst/>
              <a:cxnLst/>
              <a:rect l="l" t="t" r="r" b="b"/>
              <a:pathLst>
                <a:path w="1577340" h="1008380">
                  <a:moveTo>
                    <a:pt x="1408951" y="0"/>
                  </a:moveTo>
                  <a:lnTo>
                    <a:pt x="168022" y="0"/>
                  </a:lnTo>
                  <a:lnTo>
                    <a:pt x="123355" y="6001"/>
                  </a:lnTo>
                  <a:lnTo>
                    <a:pt x="83218" y="22940"/>
                  </a:lnTo>
                  <a:lnTo>
                    <a:pt x="49212" y="49213"/>
                  </a:lnTo>
                  <a:lnTo>
                    <a:pt x="22939" y="83219"/>
                  </a:lnTo>
                  <a:lnTo>
                    <a:pt x="6001" y="123356"/>
                  </a:lnTo>
                  <a:lnTo>
                    <a:pt x="0" y="168023"/>
                  </a:lnTo>
                  <a:lnTo>
                    <a:pt x="0" y="840089"/>
                  </a:lnTo>
                  <a:lnTo>
                    <a:pt x="6001" y="884756"/>
                  </a:lnTo>
                  <a:lnTo>
                    <a:pt x="22939" y="924893"/>
                  </a:lnTo>
                  <a:lnTo>
                    <a:pt x="49212" y="958899"/>
                  </a:lnTo>
                  <a:lnTo>
                    <a:pt x="83218" y="985172"/>
                  </a:lnTo>
                  <a:lnTo>
                    <a:pt x="123355" y="1002110"/>
                  </a:lnTo>
                  <a:lnTo>
                    <a:pt x="168022" y="1008112"/>
                  </a:lnTo>
                  <a:lnTo>
                    <a:pt x="1408951" y="1008112"/>
                  </a:lnTo>
                  <a:lnTo>
                    <a:pt x="1453619" y="1002110"/>
                  </a:lnTo>
                  <a:lnTo>
                    <a:pt x="1493756" y="985172"/>
                  </a:lnTo>
                  <a:lnTo>
                    <a:pt x="1527762" y="958899"/>
                  </a:lnTo>
                  <a:lnTo>
                    <a:pt x="1554035" y="924893"/>
                  </a:lnTo>
                  <a:lnTo>
                    <a:pt x="1570973" y="884756"/>
                  </a:lnTo>
                  <a:lnTo>
                    <a:pt x="1576975" y="840089"/>
                  </a:lnTo>
                  <a:lnTo>
                    <a:pt x="1576975" y="168023"/>
                  </a:lnTo>
                  <a:lnTo>
                    <a:pt x="1570973" y="123356"/>
                  </a:lnTo>
                  <a:lnTo>
                    <a:pt x="1554035" y="83219"/>
                  </a:lnTo>
                  <a:lnTo>
                    <a:pt x="1527762" y="49213"/>
                  </a:lnTo>
                  <a:lnTo>
                    <a:pt x="1493756" y="22940"/>
                  </a:lnTo>
                  <a:lnTo>
                    <a:pt x="1453619" y="6001"/>
                  </a:lnTo>
                  <a:lnTo>
                    <a:pt x="1408951" y="0"/>
                  </a:lnTo>
                  <a:close/>
                </a:path>
              </a:pathLst>
            </a:custGeom>
            <a:solidFill>
              <a:srgbClr val="B2C1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259675" y="1995685"/>
              <a:ext cx="1577340" cy="1008380"/>
            </a:xfrm>
            <a:custGeom>
              <a:avLst/>
              <a:gdLst/>
              <a:ahLst/>
              <a:cxnLst/>
              <a:rect l="l" t="t" r="r" b="b"/>
              <a:pathLst>
                <a:path w="1577340" h="1008380">
                  <a:moveTo>
                    <a:pt x="0" y="168022"/>
                  </a:moveTo>
                  <a:lnTo>
                    <a:pt x="6001" y="123355"/>
                  </a:lnTo>
                  <a:lnTo>
                    <a:pt x="22940" y="83218"/>
                  </a:lnTo>
                  <a:lnTo>
                    <a:pt x="49212" y="49212"/>
                  </a:lnTo>
                  <a:lnTo>
                    <a:pt x="83218" y="22940"/>
                  </a:lnTo>
                  <a:lnTo>
                    <a:pt x="123355" y="6001"/>
                  </a:lnTo>
                  <a:lnTo>
                    <a:pt x="168022" y="0"/>
                  </a:lnTo>
                  <a:lnTo>
                    <a:pt x="1408952" y="0"/>
                  </a:lnTo>
                  <a:lnTo>
                    <a:pt x="1453619" y="6001"/>
                  </a:lnTo>
                  <a:lnTo>
                    <a:pt x="1493756" y="22940"/>
                  </a:lnTo>
                  <a:lnTo>
                    <a:pt x="1527762" y="49212"/>
                  </a:lnTo>
                  <a:lnTo>
                    <a:pt x="1554035" y="83218"/>
                  </a:lnTo>
                  <a:lnTo>
                    <a:pt x="1570973" y="123355"/>
                  </a:lnTo>
                  <a:lnTo>
                    <a:pt x="1576975" y="168022"/>
                  </a:lnTo>
                  <a:lnTo>
                    <a:pt x="1576975" y="840089"/>
                  </a:lnTo>
                  <a:lnTo>
                    <a:pt x="1570973" y="884756"/>
                  </a:lnTo>
                  <a:lnTo>
                    <a:pt x="1554035" y="924893"/>
                  </a:lnTo>
                  <a:lnTo>
                    <a:pt x="1527762" y="958899"/>
                  </a:lnTo>
                  <a:lnTo>
                    <a:pt x="1493756" y="985171"/>
                  </a:lnTo>
                  <a:lnTo>
                    <a:pt x="1453619" y="1002110"/>
                  </a:lnTo>
                  <a:lnTo>
                    <a:pt x="1408952" y="1008112"/>
                  </a:lnTo>
                  <a:lnTo>
                    <a:pt x="168022" y="1008112"/>
                  </a:lnTo>
                  <a:lnTo>
                    <a:pt x="123355" y="1002110"/>
                  </a:lnTo>
                  <a:lnTo>
                    <a:pt x="83218" y="985171"/>
                  </a:lnTo>
                  <a:lnTo>
                    <a:pt x="49212" y="958899"/>
                  </a:lnTo>
                  <a:lnTo>
                    <a:pt x="22940" y="924893"/>
                  </a:lnTo>
                  <a:lnTo>
                    <a:pt x="6001" y="884756"/>
                  </a:lnTo>
                  <a:lnTo>
                    <a:pt x="0" y="840089"/>
                  </a:lnTo>
                  <a:lnTo>
                    <a:pt x="0" y="168022"/>
                  </a:lnTo>
                  <a:close/>
                </a:path>
              </a:pathLst>
            </a:custGeom>
            <a:ln w="28575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404114" y="2128011"/>
            <a:ext cx="1288415" cy="66548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33350" marR="5080" indent="-121285">
              <a:lnSpc>
                <a:spcPts val="2400"/>
              </a:lnSpc>
              <a:spcBef>
                <a:spcPts val="380"/>
              </a:spcBef>
            </a:pPr>
            <a:r>
              <a:rPr sz="2200" b="1" spc="-200" dirty="0">
                <a:solidFill>
                  <a:srgbClr val="044247"/>
                </a:solidFill>
                <a:latin typeface="Arial"/>
                <a:cs typeface="Arial"/>
              </a:rPr>
              <a:t>Almacenes </a:t>
            </a:r>
            <a:r>
              <a:rPr sz="2200" b="1" spc="-165" dirty="0">
                <a:solidFill>
                  <a:srgbClr val="044247"/>
                </a:solidFill>
                <a:latin typeface="Arial"/>
                <a:cs typeface="Arial"/>
              </a:rPr>
              <a:t>de</a:t>
            </a:r>
            <a:r>
              <a:rPr sz="2200" b="1" spc="-100" dirty="0">
                <a:solidFill>
                  <a:srgbClr val="044247"/>
                </a:solidFill>
                <a:latin typeface="Arial"/>
                <a:cs typeface="Arial"/>
              </a:rPr>
              <a:t> </a:t>
            </a:r>
            <a:r>
              <a:rPr sz="2200" b="1" spc="-20" dirty="0">
                <a:solidFill>
                  <a:srgbClr val="044247"/>
                </a:solidFill>
                <a:latin typeface="Arial"/>
                <a:cs typeface="Arial"/>
              </a:rPr>
              <a:t>Datos</a:t>
            </a:r>
            <a:endParaRPr sz="2200">
              <a:latin typeface="Arial"/>
              <a:cs typeface="Arial"/>
            </a:endParaRP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64087" y="2143490"/>
            <a:ext cx="1368151" cy="7517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0"/>
            <a:ext cx="5002530" cy="3938270"/>
          </a:xfrm>
          <a:custGeom>
            <a:avLst/>
            <a:gdLst/>
            <a:ahLst/>
            <a:cxnLst/>
            <a:rect l="l" t="t" r="r" b="b"/>
            <a:pathLst>
              <a:path w="5002530" h="3938270">
                <a:moveTo>
                  <a:pt x="0" y="1704928"/>
                </a:moveTo>
                <a:lnTo>
                  <a:pt x="0" y="3856309"/>
                </a:lnTo>
                <a:lnTo>
                  <a:pt x="579720" y="3937783"/>
                </a:lnTo>
                <a:lnTo>
                  <a:pt x="1255398" y="2957054"/>
                </a:lnTo>
                <a:lnTo>
                  <a:pt x="876220" y="1828073"/>
                </a:lnTo>
                <a:lnTo>
                  <a:pt x="0" y="1704928"/>
                </a:lnTo>
                <a:close/>
              </a:path>
              <a:path w="5002530" h="3938270">
                <a:moveTo>
                  <a:pt x="1716059" y="768286"/>
                </a:moveTo>
                <a:lnTo>
                  <a:pt x="1040381" y="1749016"/>
                </a:lnTo>
                <a:lnTo>
                  <a:pt x="1419558" y="2877996"/>
                </a:lnTo>
                <a:lnTo>
                  <a:pt x="2811966" y="3073687"/>
                </a:lnTo>
                <a:lnTo>
                  <a:pt x="3487644" y="2092957"/>
                </a:lnTo>
                <a:lnTo>
                  <a:pt x="3108467" y="963976"/>
                </a:lnTo>
                <a:lnTo>
                  <a:pt x="1716059" y="768286"/>
                </a:lnTo>
                <a:close/>
              </a:path>
              <a:path w="5002530" h="3938270">
                <a:moveTo>
                  <a:pt x="1331643" y="0"/>
                </a:moveTo>
                <a:lnTo>
                  <a:pt x="0" y="0"/>
                </a:lnTo>
                <a:lnTo>
                  <a:pt x="0" y="1510524"/>
                </a:lnTo>
                <a:lnTo>
                  <a:pt x="875213" y="1633527"/>
                </a:lnTo>
                <a:lnTo>
                  <a:pt x="1550890" y="652797"/>
                </a:lnTo>
                <a:lnTo>
                  <a:pt x="1331643" y="0"/>
                </a:lnTo>
                <a:close/>
              </a:path>
              <a:path w="5002530" h="3938270">
                <a:moveTo>
                  <a:pt x="3995936" y="267493"/>
                </a:moveTo>
                <a:lnTo>
                  <a:pt x="3948860" y="270028"/>
                </a:lnTo>
                <a:lnTo>
                  <a:pt x="3903251" y="277458"/>
                </a:lnTo>
                <a:lnTo>
                  <a:pt x="3859375" y="289519"/>
                </a:lnTo>
                <a:lnTo>
                  <a:pt x="3817494" y="305948"/>
                </a:lnTo>
                <a:lnTo>
                  <a:pt x="3777872" y="326480"/>
                </a:lnTo>
                <a:lnTo>
                  <a:pt x="3740773" y="350853"/>
                </a:lnTo>
                <a:lnTo>
                  <a:pt x="3706460" y="378803"/>
                </a:lnTo>
                <a:lnTo>
                  <a:pt x="3675197" y="410066"/>
                </a:lnTo>
                <a:lnTo>
                  <a:pt x="3647247" y="444379"/>
                </a:lnTo>
                <a:lnTo>
                  <a:pt x="3622874" y="481478"/>
                </a:lnTo>
                <a:lnTo>
                  <a:pt x="3602342" y="521100"/>
                </a:lnTo>
                <a:lnTo>
                  <a:pt x="3585913" y="562980"/>
                </a:lnTo>
                <a:lnTo>
                  <a:pt x="3573852" y="606856"/>
                </a:lnTo>
                <a:lnTo>
                  <a:pt x="3566423" y="652464"/>
                </a:lnTo>
                <a:lnTo>
                  <a:pt x="3563887" y="699541"/>
                </a:lnTo>
                <a:lnTo>
                  <a:pt x="3566423" y="746617"/>
                </a:lnTo>
                <a:lnTo>
                  <a:pt x="3573852" y="792225"/>
                </a:lnTo>
                <a:lnTo>
                  <a:pt x="3585913" y="836102"/>
                </a:lnTo>
                <a:lnTo>
                  <a:pt x="3602342" y="877982"/>
                </a:lnTo>
                <a:lnTo>
                  <a:pt x="3622874" y="917604"/>
                </a:lnTo>
                <a:lnTo>
                  <a:pt x="3647247" y="954703"/>
                </a:lnTo>
                <a:lnTo>
                  <a:pt x="3675197" y="989016"/>
                </a:lnTo>
                <a:lnTo>
                  <a:pt x="3706460" y="1020279"/>
                </a:lnTo>
                <a:lnTo>
                  <a:pt x="3740773" y="1048229"/>
                </a:lnTo>
                <a:lnTo>
                  <a:pt x="3777872" y="1072602"/>
                </a:lnTo>
                <a:lnTo>
                  <a:pt x="3817494" y="1093134"/>
                </a:lnTo>
                <a:lnTo>
                  <a:pt x="3859375" y="1109563"/>
                </a:lnTo>
                <a:lnTo>
                  <a:pt x="3903251" y="1121624"/>
                </a:lnTo>
                <a:lnTo>
                  <a:pt x="3948860" y="1129053"/>
                </a:lnTo>
                <a:lnTo>
                  <a:pt x="3995936" y="1131589"/>
                </a:lnTo>
                <a:lnTo>
                  <a:pt x="4043013" y="1129053"/>
                </a:lnTo>
                <a:lnTo>
                  <a:pt x="4088620" y="1121624"/>
                </a:lnTo>
                <a:lnTo>
                  <a:pt x="4132496" y="1109563"/>
                </a:lnTo>
                <a:lnTo>
                  <a:pt x="4174377" y="1093134"/>
                </a:lnTo>
                <a:lnTo>
                  <a:pt x="4213998" y="1072602"/>
                </a:lnTo>
                <a:lnTo>
                  <a:pt x="4251097" y="1048229"/>
                </a:lnTo>
                <a:lnTo>
                  <a:pt x="4285410" y="1020279"/>
                </a:lnTo>
                <a:lnTo>
                  <a:pt x="4316673" y="989016"/>
                </a:lnTo>
                <a:lnTo>
                  <a:pt x="4344623" y="954703"/>
                </a:lnTo>
                <a:lnTo>
                  <a:pt x="4368996" y="917604"/>
                </a:lnTo>
                <a:lnTo>
                  <a:pt x="4389528" y="877982"/>
                </a:lnTo>
                <a:lnTo>
                  <a:pt x="4405957" y="836102"/>
                </a:lnTo>
                <a:lnTo>
                  <a:pt x="4418018" y="792225"/>
                </a:lnTo>
                <a:lnTo>
                  <a:pt x="4425447" y="746617"/>
                </a:lnTo>
                <a:lnTo>
                  <a:pt x="4427983" y="699541"/>
                </a:lnTo>
                <a:lnTo>
                  <a:pt x="4425466" y="652797"/>
                </a:lnTo>
                <a:lnTo>
                  <a:pt x="4418018" y="606856"/>
                </a:lnTo>
                <a:lnTo>
                  <a:pt x="4405957" y="562980"/>
                </a:lnTo>
                <a:lnTo>
                  <a:pt x="4389529" y="521100"/>
                </a:lnTo>
                <a:lnTo>
                  <a:pt x="4368996" y="481478"/>
                </a:lnTo>
                <a:lnTo>
                  <a:pt x="4344624" y="444379"/>
                </a:lnTo>
                <a:lnTo>
                  <a:pt x="4316674" y="410066"/>
                </a:lnTo>
                <a:lnTo>
                  <a:pt x="4285411" y="378803"/>
                </a:lnTo>
                <a:lnTo>
                  <a:pt x="4251098" y="350853"/>
                </a:lnTo>
                <a:lnTo>
                  <a:pt x="4214000" y="326480"/>
                </a:lnTo>
                <a:lnTo>
                  <a:pt x="4174378" y="305948"/>
                </a:lnTo>
                <a:lnTo>
                  <a:pt x="4132498" y="289519"/>
                </a:lnTo>
                <a:lnTo>
                  <a:pt x="4088622" y="277458"/>
                </a:lnTo>
                <a:lnTo>
                  <a:pt x="4043014" y="270028"/>
                </a:lnTo>
                <a:lnTo>
                  <a:pt x="3995936" y="267493"/>
                </a:lnTo>
                <a:close/>
              </a:path>
              <a:path w="5002530" h="3938270">
                <a:moveTo>
                  <a:pt x="3641270" y="0"/>
                </a:moveTo>
                <a:lnTo>
                  <a:pt x="1520549" y="0"/>
                </a:lnTo>
                <a:lnTo>
                  <a:pt x="1715051" y="579121"/>
                </a:lnTo>
                <a:lnTo>
                  <a:pt x="3107460" y="774811"/>
                </a:lnTo>
                <a:lnTo>
                  <a:pt x="3641270" y="0"/>
                </a:lnTo>
                <a:close/>
              </a:path>
              <a:path w="5002530" h="3938270">
                <a:moveTo>
                  <a:pt x="5001954" y="0"/>
                </a:moveTo>
                <a:lnTo>
                  <a:pt x="4158813" y="0"/>
                </a:lnTo>
                <a:lnTo>
                  <a:pt x="4182288" y="75625"/>
                </a:lnTo>
                <a:lnTo>
                  <a:pt x="4202310" y="116723"/>
                </a:lnTo>
                <a:lnTo>
                  <a:pt x="4226411" y="155244"/>
                </a:lnTo>
                <a:lnTo>
                  <a:pt x="4254310" y="190908"/>
                </a:lnTo>
                <a:lnTo>
                  <a:pt x="4285724" y="223432"/>
                </a:lnTo>
                <a:lnTo>
                  <a:pt x="4320373" y="252534"/>
                </a:lnTo>
                <a:lnTo>
                  <a:pt x="4357973" y="277932"/>
                </a:lnTo>
                <a:lnTo>
                  <a:pt x="4398243" y="299345"/>
                </a:lnTo>
                <a:lnTo>
                  <a:pt x="4440901" y="316490"/>
                </a:lnTo>
                <a:lnTo>
                  <a:pt x="4485665" y="329086"/>
                </a:lnTo>
                <a:lnTo>
                  <a:pt x="4532253" y="336850"/>
                </a:lnTo>
                <a:lnTo>
                  <a:pt x="4580383" y="339501"/>
                </a:lnTo>
                <a:lnTo>
                  <a:pt x="4628513" y="336850"/>
                </a:lnTo>
                <a:lnTo>
                  <a:pt x="4675101" y="329086"/>
                </a:lnTo>
                <a:lnTo>
                  <a:pt x="4719866" y="316490"/>
                </a:lnTo>
                <a:lnTo>
                  <a:pt x="4762524" y="299345"/>
                </a:lnTo>
                <a:lnTo>
                  <a:pt x="4802794" y="277932"/>
                </a:lnTo>
                <a:lnTo>
                  <a:pt x="4840394" y="252534"/>
                </a:lnTo>
                <a:lnTo>
                  <a:pt x="4875043" y="223432"/>
                </a:lnTo>
                <a:lnTo>
                  <a:pt x="4906457" y="190908"/>
                </a:lnTo>
                <a:lnTo>
                  <a:pt x="4934356" y="155244"/>
                </a:lnTo>
                <a:lnTo>
                  <a:pt x="4958458" y="116723"/>
                </a:lnTo>
                <a:lnTo>
                  <a:pt x="4978479" y="75625"/>
                </a:lnTo>
                <a:lnTo>
                  <a:pt x="5001954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46683" y="3165348"/>
            <a:ext cx="245300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Big</a:t>
            </a:r>
            <a:r>
              <a:rPr sz="2000" b="1" spc="-40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Data</a:t>
            </a:r>
            <a:r>
              <a:rPr sz="2000" b="1" spc="-105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spc="-10" dirty="0" err="1">
                <a:solidFill>
                  <a:srgbClr val="00DEA4"/>
                </a:solidFill>
                <a:latin typeface="Arial"/>
                <a:cs typeface="Arial"/>
              </a:rPr>
              <a:t>Aplicado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84084" y="988059"/>
            <a:ext cx="3495675" cy="2095500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12700" marR="5080">
              <a:lnSpc>
                <a:spcPct val="79800"/>
              </a:lnSpc>
              <a:spcBef>
                <a:spcPts val="1070"/>
              </a:spcBef>
            </a:pPr>
            <a:r>
              <a:rPr dirty="0"/>
              <a:t>El</a:t>
            </a:r>
            <a:r>
              <a:rPr spc="-40" dirty="0"/>
              <a:t> </a:t>
            </a:r>
            <a:r>
              <a:rPr dirty="0"/>
              <a:t>proceso</a:t>
            </a:r>
            <a:r>
              <a:rPr spc="-40" dirty="0"/>
              <a:t> </a:t>
            </a:r>
            <a:r>
              <a:rPr spc="-25" dirty="0"/>
              <a:t>de </a:t>
            </a:r>
            <a:r>
              <a:rPr spc="-10" dirty="0"/>
              <a:t>Extracción, Transformación</a:t>
            </a:r>
            <a:r>
              <a:rPr spc="-160" dirty="0"/>
              <a:t> </a:t>
            </a:r>
            <a:r>
              <a:rPr spc="-50" dirty="0"/>
              <a:t>y </a:t>
            </a:r>
            <a:r>
              <a:rPr dirty="0"/>
              <a:t>Carga</a:t>
            </a:r>
            <a:r>
              <a:rPr spc="-25" dirty="0"/>
              <a:t> </a:t>
            </a:r>
            <a:r>
              <a:rPr spc="-10" dirty="0"/>
              <a:t>(ETL)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797040" y="3943584"/>
            <a:ext cx="2346960" cy="1200150"/>
            <a:chOff x="6797040" y="3943584"/>
            <a:chExt cx="2346960" cy="1200150"/>
          </a:xfrm>
        </p:grpSpPr>
        <p:sp>
          <p:nvSpPr>
            <p:cNvPr id="6" name="object 6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97040" y="4373880"/>
              <a:ext cx="1459992" cy="344423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46790" y="4373843"/>
            <a:ext cx="749345" cy="36530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210564" y="4381676"/>
            <a:ext cx="653415" cy="325755"/>
            <a:chOff x="4210564" y="4381676"/>
            <a:chExt cx="653415" cy="325755"/>
          </a:xfrm>
        </p:grpSpPr>
        <p:sp>
          <p:nvSpPr>
            <p:cNvPr id="10" name="object 10"/>
            <p:cNvSpPr/>
            <p:nvPr/>
          </p:nvSpPr>
          <p:spPr>
            <a:xfrm>
              <a:off x="4372655" y="4519010"/>
              <a:ext cx="109220" cy="46990"/>
            </a:xfrm>
            <a:custGeom>
              <a:avLst/>
              <a:gdLst/>
              <a:ahLst/>
              <a:cxnLst/>
              <a:rect l="l" t="t" r="r" b="b"/>
              <a:pathLst>
                <a:path w="109220" h="46989">
                  <a:moveTo>
                    <a:pt x="109052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109052" y="46456"/>
                  </a:lnTo>
                  <a:lnTo>
                    <a:pt x="109052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09590" y="4502793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7682" y="0"/>
                  </a:moveTo>
                  <a:lnTo>
                    <a:pt x="2554" y="23467"/>
                  </a:lnTo>
                  <a:lnTo>
                    <a:pt x="0" y="38074"/>
                  </a:lnTo>
                  <a:lnTo>
                    <a:pt x="535" y="45564"/>
                  </a:lnTo>
                  <a:lnTo>
                    <a:pt x="30171" y="75625"/>
                  </a:lnTo>
                  <a:lnTo>
                    <a:pt x="37682" y="76227"/>
                  </a:lnTo>
                  <a:lnTo>
                    <a:pt x="53179" y="73081"/>
                  </a:lnTo>
                  <a:lnTo>
                    <a:pt x="65054" y="64856"/>
                  </a:lnTo>
                  <a:lnTo>
                    <a:pt x="72979" y="52778"/>
                  </a:lnTo>
                  <a:lnTo>
                    <a:pt x="75756" y="38074"/>
                  </a:lnTo>
                  <a:lnTo>
                    <a:pt x="72642" y="22651"/>
                  </a:lnTo>
                  <a:lnTo>
                    <a:pt x="64442" y="10758"/>
                  </a:lnTo>
                  <a:lnTo>
                    <a:pt x="52380" y="2808"/>
                  </a:lnTo>
                  <a:lnTo>
                    <a:pt x="37682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45192" y="4397737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613"/>
                  </a:lnTo>
                  <a:lnTo>
                    <a:pt x="236515" y="46613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10564" y="43816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918" y="0"/>
                  </a:moveTo>
                  <a:lnTo>
                    <a:pt x="2654" y="23243"/>
                  </a:lnTo>
                  <a:lnTo>
                    <a:pt x="0" y="37917"/>
                  </a:lnTo>
                  <a:lnTo>
                    <a:pt x="588" y="45409"/>
                  </a:lnTo>
                  <a:lnTo>
                    <a:pt x="30407" y="75390"/>
                  </a:lnTo>
                  <a:lnTo>
                    <a:pt x="37918" y="75992"/>
                  </a:lnTo>
                  <a:lnTo>
                    <a:pt x="45429" y="75390"/>
                  </a:lnTo>
                  <a:lnTo>
                    <a:pt x="75380" y="45425"/>
                  </a:lnTo>
                  <a:lnTo>
                    <a:pt x="75992" y="37917"/>
                  </a:lnTo>
                  <a:lnTo>
                    <a:pt x="75382" y="30391"/>
                  </a:lnTo>
                  <a:lnTo>
                    <a:pt x="45408" y="551"/>
                  </a:lnTo>
                  <a:lnTo>
                    <a:pt x="37918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45192" y="4647022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236515" y="46456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10558" y="4390377"/>
              <a:ext cx="653415" cy="316865"/>
            </a:xfrm>
            <a:custGeom>
              <a:avLst/>
              <a:gdLst/>
              <a:ahLst/>
              <a:cxnLst/>
              <a:rect l="l" t="t" r="r" b="b"/>
              <a:pathLst>
                <a:path w="653414" h="316864">
                  <a:moveTo>
                    <a:pt x="75984" y="278549"/>
                  </a:moveTo>
                  <a:lnTo>
                    <a:pt x="52590" y="243141"/>
                  </a:lnTo>
                  <a:lnTo>
                    <a:pt x="37553" y="240423"/>
                  </a:lnTo>
                  <a:lnTo>
                    <a:pt x="22288" y="243624"/>
                  </a:lnTo>
                  <a:lnTo>
                    <a:pt x="10515" y="251853"/>
                  </a:lnTo>
                  <a:lnTo>
                    <a:pt x="2692" y="263880"/>
                  </a:lnTo>
                  <a:lnTo>
                    <a:pt x="0" y="278511"/>
                  </a:lnTo>
                  <a:lnTo>
                    <a:pt x="584" y="286016"/>
                  </a:lnTo>
                  <a:lnTo>
                    <a:pt x="30403" y="316064"/>
                  </a:lnTo>
                  <a:lnTo>
                    <a:pt x="37922" y="316661"/>
                  </a:lnTo>
                  <a:lnTo>
                    <a:pt x="45427" y="316064"/>
                  </a:lnTo>
                  <a:lnTo>
                    <a:pt x="75984" y="278549"/>
                  </a:lnTo>
                  <a:close/>
                </a:path>
                <a:path w="653414" h="316864">
                  <a:moveTo>
                    <a:pt x="653376" y="150495"/>
                  </a:moveTo>
                  <a:lnTo>
                    <a:pt x="566496" y="0"/>
                  </a:lnTo>
                  <a:lnTo>
                    <a:pt x="392734" y="0"/>
                  </a:lnTo>
                  <a:lnTo>
                    <a:pt x="305854" y="150495"/>
                  </a:lnTo>
                  <a:lnTo>
                    <a:pt x="392734" y="301066"/>
                  </a:lnTo>
                  <a:lnTo>
                    <a:pt x="566496" y="301066"/>
                  </a:lnTo>
                  <a:lnTo>
                    <a:pt x="653376" y="150495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141605">
              <a:lnSpc>
                <a:spcPct val="71000"/>
              </a:lnSpc>
              <a:spcBef>
                <a:spcPts val="149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El</a:t>
            </a:r>
            <a:r>
              <a:rPr sz="4000" b="1" spc="-4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proceso 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ETL</a:t>
            </a:r>
            <a:endParaRPr sz="4000">
              <a:latin typeface="Arial Narrow"/>
              <a:cs typeface="Arial Narrow"/>
            </a:endParaRPr>
          </a:p>
          <a:p>
            <a:pPr marL="466090">
              <a:lnSpc>
                <a:spcPct val="100000"/>
              </a:lnSpc>
              <a:spcBef>
                <a:spcPts val="24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Metodología: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44302" y="390651"/>
            <a:ext cx="48990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260" dirty="0">
                <a:latin typeface="Arial"/>
                <a:cs typeface="Arial"/>
              </a:rPr>
              <a:t>¿Cómo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70" dirty="0">
                <a:latin typeface="Arial"/>
                <a:cs typeface="Arial"/>
              </a:rPr>
              <a:t>construir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un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60" dirty="0">
                <a:latin typeface="Arial"/>
                <a:cs typeface="Arial"/>
              </a:rPr>
              <a:t>almacén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de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44302" y="649731"/>
            <a:ext cx="3437890" cy="9398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340"/>
              </a:spcBef>
            </a:pPr>
            <a:r>
              <a:rPr sz="2800" spc="-10" dirty="0">
                <a:latin typeface="Arial"/>
                <a:cs typeface="Arial"/>
              </a:rPr>
              <a:t>datos?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2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250" dirty="0">
                <a:latin typeface="Arial"/>
                <a:cs typeface="Arial"/>
              </a:rPr>
              <a:t>¿Por</a:t>
            </a:r>
            <a:r>
              <a:rPr sz="2800" spc="-114" dirty="0">
                <a:latin typeface="Arial"/>
                <a:cs typeface="Arial"/>
              </a:rPr>
              <a:t> dónde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50" dirty="0">
                <a:latin typeface="Arial"/>
                <a:cs typeface="Arial"/>
              </a:rPr>
              <a:t>empiezo?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625602" y="2139702"/>
            <a:ext cx="5518785" cy="3004185"/>
            <a:chOff x="3625602" y="2139702"/>
            <a:chExt cx="5518785" cy="3004185"/>
          </a:xfrm>
        </p:grpSpPr>
        <p:sp>
          <p:nvSpPr>
            <p:cNvPr id="6" name="object 6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25602" y="2139702"/>
              <a:ext cx="4680518" cy="271470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141605">
              <a:lnSpc>
                <a:spcPct val="71000"/>
              </a:lnSpc>
              <a:spcBef>
                <a:spcPts val="1490"/>
              </a:spcBef>
            </a:pPr>
            <a:r>
              <a:rPr dirty="0"/>
              <a:t>El</a:t>
            </a:r>
            <a:r>
              <a:rPr spc="-45" dirty="0"/>
              <a:t> </a:t>
            </a:r>
            <a:r>
              <a:rPr spc="-10" dirty="0"/>
              <a:t>proceso </a:t>
            </a:r>
            <a:r>
              <a:rPr spc="-25" dirty="0"/>
              <a:t>ETL</a:t>
            </a:r>
          </a:p>
          <a:p>
            <a:pPr marL="1225550">
              <a:lnSpc>
                <a:spcPct val="100000"/>
              </a:lnSpc>
              <a:spcBef>
                <a:spcPts val="240"/>
              </a:spcBef>
            </a:pPr>
            <a:r>
              <a:rPr sz="2800" spc="-10" dirty="0">
                <a:solidFill>
                  <a:srgbClr val="FF0000"/>
                </a:solidFill>
              </a:rPr>
              <a:t>Etapas: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851697" y="2829787"/>
            <a:ext cx="1990089" cy="1739900"/>
            <a:chOff x="2851697" y="2829787"/>
            <a:chExt cx="1990089" cy="1739900"/>
          </a:xfrm>
        </p:grpSpPr>
        <p:sp>
          <p:nvSpPr>
            <p:cNvPr id="5" name="object 5"/>
            <p:cNvSpPr/>
            <p:nvPr/>
          </p:nvSpPr>
          <p:spPr>
            <a:xfrm>
              <a:off x="2865983" y="3378199"/>
              <a:ext cx="1957705" cy="1177290"/>
            </a:xfrm>
            <a:custGeom>
              <a:avLst/>
              <a:gdLst/>
              <a:ahLst/>
              <a:cxnLst/>
              <a:rect l="l" t="t" r="r" b="b"/>
              <a:pathLst>
                <a:path w="1957704" h="1177289">
                  <a:moveTo>
                    <a:pt x="1957209" y="0"/>
                  </a:moveTo>
                  <a:lnTo>
                    <a:pt x="0" y="0"/>
                  </a:lnTo>
                  <a:lnTo>
                    <a:pt x="0" y="190500"/>
                  </a:lnTo>
                  <a:lnTo>
                    <a:pt x="0" y="1177290"/>
                  </a:lnTo>
                  <a:lnTo>
                    <a:pt x="189598" y="1177290"/>
                  </a:lnTo>
                  <a:lnTo>
                    <a:pt x="189598" y="190500"/>
                  </a:lnTo>
                  <a:lnTo>
                    <a:pt x="1957209" y="190500"/>
                  </a:lnTo>
                  <a:lnTo>
                    <a:pt x="1957209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65984" y="3378661"/>
              <a:ext cx="1957705" cy="1176655"/>
            </a:xfrm>
            <a:custGeom>
              <a:avLst/>
              <a:gdLst/>
              <a:ahLst/>
              <a:cxnLst/>
              <a:rect l="l" t="t" r="r" b="b"/>
              <a:pathLst>
                <a:path w="1957704" h="1176654">
                  <a:moveTo>
                    <a:pt x="1957216" y="0"/>
                  </a:moveTo>
                  <a:lnTo>
                    <a:pt x="1957216" y="189490"/>
                  </a:lnTo>
                  <a:lnTo>
                    <a:pt x="189609" y="189490"/>
                  </a:lnTo>
                  <a:lnTo>
                    <a:pt x="189609" y="1176227"/>
                  </a:lnTo>
                  <a:lnTo>
                    <a:pt x="0" y="1176227"/>
                  </a:lnTo>
                  <a:lnTo>
                    <a:pt x="0" y="0"/>
                  </a:lnTo>
                  <a:lnTo>
                    <a:pt x="1957216" y="0"/>
                  </a:lnTo>
                  <a:close/>
                </a:path>
              </a:pathLst>
            </a:custGeom>
            <a:ln w="28575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93729" y="2844074"/>
              <a:ext cx="334010" cy="334010"/>
            </a:xfrm>
            <a:custGeom>
              <a:avLst/>
              <a:gdLst/>
              <a:ahLst/>
              <a:cxnLst/>
              <a:rect l="l" t="t" r="r" b="b"/>
              <a:pathLst>
                <a:path w="334010" h="334010">
                  <a:moveTo>
                    <a:pt x="333392" y="0"/>
                  </a:moveTo>
                  <a:lnTo>
                    <a:pt x="0" y="333392"/>
                  </a:lnTo>
                  <a:lnTo>
                    <a:pt x="333392" y="333392"/>
                  </a:lnTo>
                  <a:lnTo>
                    <a:pt x="333392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93729" y="2844074"/>
              <a:ext cx="334010" cy="334010"/>
            </a:xfrm>
            <a:custGeom>
              <a:avLst/>
              <a:gdLst/>
              <a:ahLst/>
              <a:cxnLst/>
              <a:rect l="l" t="t" r="r" b="b"/>
              <a:pathLst>
                <a:path w="334010" h="334010">
                  <a:moveTo>
                    <a:pt x="0" y="333393"/>
                  </a:moveTo>
                  <a:lnTo>
                    <a:pt x="333393" y="0"/>
                  </a:lnTo>
                  <a:lnTo>
                    <a:pt x="333393" y="333393"/>
                  </a:lnTo>
                  <a:lnTo>
                    <a:pt x="0" y="333393"/>
                  </a:lnTo>
                  <a:close/>
                </a:path>
              </a:pathLst>
            </a:custGeom>
            <a:ln w="28575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5079278" y="2294516"/>
            <a:ext cx="1990089" cy="1739900"/>
            <a:chOff x="5079278" y="2294516"/>
            <a:chExt cx="1990089" cy="1739900"/>
          </a:xfrm>
        </p:grpSpPr>
        <p:sp>
          <p:nvSpPr>
            <p:cNvPr id="10" name="object 10"/>
            <p:cNvSpPr/>
            <p:nvPr/>
          </p:nvSpPr>
          <p:spPr>
            <a:xfrm>
              <a:off x="5093563" y="2843529"/>
              <a:ext cx="1957705" cy="1176020"/>
            </a:xfrm>
            <a:custGeom>
              <a:avLst/>
              <a:gdLst/>
              <a:ahLst/>
              <a:cxnLst/>
              <a:rect l="l" t="t" r="r" b="b"/>
              <a:pathLst>
                <a:path w="1957704" h="1176020">
                  <a:moveTo>
                    <a:pt x="1957209" y="0"/>
                  </a:moveTo>
                  <a:lnTo>
                    <a:pt x="0" y="0"/>
                  </a:lnTo>
                  <a:lnTo>
                    <a:pt x="0" y="189230"/>
                  </a:lnTo>
                  <a:lnTo>
                    <a:pt x="0" y="1176020"/>
                  </a:lnTo>
                  <a:lnTo>
                    <a:pt x="189611" y="1176020"/>
                  </a:lnTo>
                  <a:lnTo>
                    <a:pt x="189611" y="189230"/>
                  </a:lnTo>
                  <a:lnTo>
                    <a:pt x="1957209" y="189230"/>
                  </a:lnTo>
                  <a:lnTo>
                    <a:pt x="1957209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093566" y="2843391"/>
              <a:ext cx="1957705" cy="1176655"/>
            </a:xfrm>
            <a:custGeom>
              <a:avLst/>
              <a:gdLst/>
              <a:ahLst/>
              <a:cxnLst/>
              <a:rect l="l" t="t" r="r" b="b"/>
              <a:pathLst>
                <a:path w="1957704" h="1176654">
                  <a:moveTo>
                    <a:pt x="1957216" y="0"/>
                  </a:moveTo>
                  <a:lnTo>
                    <a:pt x="1957216" y="189490"/>
                  </a:lnTo>
                  <a:lnTo>
                    <a:pt x="189609" y="189490"/>
                  </a:lnTo>
                  <a:lnTo>
                    <a:pt x="189609" y="1176227"/>
                  </a:lnTo>
                  <a:lnTo>
                    <a:pt x="0" y="1176227"/>
                  </a:lnTo>
                  <a:lnTo>
                    <a:pt x="0" y="0"/>
                  </a:lnTo>
                  <a:lnTo>
                    <a:pt x="1957216" y="0"/>
                  </a:lnTo>
                  <a:close/>
                </a:path>
              </a:pathLst>
            </a:custGeom>
            <a:ln w="28575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21311" y="2308804"/>
              <a:ext cx="334010" cy="334010"/>
            </a:xfrm>
            <a:custGeom>
              <a:avLst/>
              <a:gdLst/>
              <a:ahLst/>
              <a:cxnLst/>
              <a:rect l="l" t="t" r="r" b="b"/>
              <a:pathLst>
                <a:path w="334009" h="334010">
                  <a:moveTo>
                    <a:pt x="333394" y="0"/>
                  </a:moveTo>
                  <a:lnTo>
                    <a:pt x="0" y="333392"/>
                  </a:lnTo>
                  <a:lnTo>
                    <a:pt x="333394" y="333392"/>
                  </a:lnTo>
                  <a:lnTo>
                    <a:pt x="333394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21311" y="2308804"/>
              <a:ext cx="334010" cy="334010"/>
            </a:xfrm>
            <a:custGeom>
              <a:avLst/>
              <a:gdLst/>
              <a:ahLst/>
              <a:cxnLst/>
              <a:rect l="l" t="t" r="r" b="b"/>
              <a:pathLst>
                <a:path w="334009" h="334010">
                  <a:moveTo>
                    <a:pt x="0" y="333393"/>
                  </a:moveTo>
                  <a:lnTo>
                    <a:pt x="333393" y="0"/>
                  </a:lnTo>
                  <a:lnTo>
                    <a:pt x="333393" y="333393"/>
                  </a:lnTo>
                  <a:lnTo>
                    <a:pt x="0" y="333393"/>
                  </a:lnTo>
                  <a:close/>
                </a:path>
              </a:pathLst>
            </a:custGeom>
            <a:ln w="28575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7177968" y="2293833"/>
            <a:ext cx="1980564" cy="1205230"/>
            <a:chOff x="7177968" y="2293833"/>
            <a:chExt cx="1980564" cy="1205230"/>
          </a:xfrm>
        </p:grpSpPr>
        <p:sp>
          <p:nvSpPr>
            <p:cNvPr id="15" name="object 15"/>
            <p:cNvSpPr/>
            <p:nvPr/>
          </p:nvSpPr>
          <p:spPr>
            <a:xfrm>
              <a:off x="7192251" y="2307589"/>
              <a:ext cx="1951989" cy="1177290"/>
            </a:xfrm>
            <a:custGeom>
              <a:avLst/>
              <a:gdLst/>
              <a:ahLst/>
              <a:cxnLst/>
              <a:rect l="l" t="t" r="r" b="b"/>
              <a:pathLst>
                <a:path w="1951990" h="1177289">
                  <a:moveTo>
                    <a:pt x="1951748" y="0"/>
                  </a:moveTo>
                  <a:lnTo>
                    <a:pt x="0" y="0"/>
                  </a:lnTo>
                  <a:lnTo>
                    <a:pt x="0" y="190500"/>
                  </a:lnTo>
                  <a:lnTo>
                    <a:pt x="0" y="1177290"/>
                  </a:lnTo>
                  <a:lnTo>
                    <a:pt x="189611" y="1177290"/>
                  </a:lnTo>
                  <a:lnTo>
                    <a:pt x="189611" y="190500"/>
                  </a:lnTo>
                  <a:lnTo>
                    <a:pt x="1951748" y="190500"/>
                  </a:lnTo>
                  <a:lnTo>
                    <a:pt x="1951748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192256" y="2308120"/>
              <a:ext cx="1951989" cy="1176655"/>
            </a:xfrm>
            <a:custGeom>
              <a:avLst/>
              <a:gdLst/>
              <a:ahLst/>
              <a:cxnLst/>
              <a:rect l="l" t="t" r="r" b="b"/>
              <a:pathLst>
                <a:path w="1951990" h="1176654">
                  <a:moveTo>
                    <a:pt x="1951743" y="189490"/>
                  </a:moveTo>
                  <a:lnTo>
                    <a:pt x="189609" y="189490"/>
                  </a:lnTo>
                  <a:lnTo>
                    <a:pt x="189609" y="1176227"/>
                  </a:lnTo>
                  <a:lnTo>
                    <a:pt x="0" y="1176227"/>
                  </a:lnTo>
                  <a:lnTo>
                    <a:pt x="0" y="0"/>
                  </a:lnTo>
                  <a:lnTo>
                    <a:pt x="1951743" y="0"/>
                  </a:lnTo>
                </a:path>
              </a:pathLst>
            </a:custGeom>
            <a:ln w="28575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127447" y="2518664"/>
            <a:ext cx="4970145" cy="1415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2100" b="1" spc="-35" dirty="0">
                <a:solidFill>
                  <a:srgbClr val="044247"/>
                </a:solidFill>
                <a:latin typeface="Arial"/>
                <a:cs typeface="Arial"/>
              </a:rPr>
              <a:t>Carga</a:t>
            </a:r>
            <a:endParaRPr sz="2100">
              <a:latin typeface="Arial"/>
              <a:cs typeface="Arial"/>
            </a:endParaRPr>
          </a:p>
          <a:p>
            <a:pPr marL="2185035">
              <a:lnSpc>
                <a:spcPct val="100000"/>
              </a:lnSpc>
              <a:spcBef>
                <a:spcPts val="1700"/>
              </a:spcBef>
            </a:pPr>
            <a:r>
              <a:rPr sz="2100" b="1" spc="-110" dirty="0">
                <a:solidFill>
                  <a:srgbClr val="044247"/>
                </a:solidFill>
                <a:latin typeface="Arial"/>
                <a:cs typeface="Arial"/>
              </a:rPr>
              <a:t>Transformación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100" b="1" spc="-90" dirty="0">
                <a:solidFill>
                  <a:srgbClr val="044247"/>
                </a:solidFill>
                <a:latin typeface="Arial"/>
                <a:cs typeface="Arial"/>
              </a:rPr>
              <a:t>Extracción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41523" y="2046409"/>
            <a:ext cx="1520835" cy="1305128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13781" y="1395086"/>
            <a:ext cx="1371536" cy="143324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6741" y="771550"/>
            <a:ext cx="1448575" cy="145048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141605">
              <a:lnSpc>
                <a:spcPct val="71000"/>
              </a:lnSpc>
              <a:spcBef>
                <a:spcPts val="149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El</a:t>
            </a:r>
            <a:r>
              <a:rPr sz="4000" b="1" spc="-4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proceso 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ETL</a:t>
            </a:r>
            <a:endParaRPr sz="4000">
              <a:latin typeface="Arial Narrow"/>
              <a:cs typeface="Arial Narrow"/>
            </a:endParaRPr>
          </a:p>
          <a:p>
            <a:pPr marL="691515">
              <a:lnSpc>
                <a:spcPct val="100000"/>
              </a:lnSpc>
              <a:spcBef>
                <a:spcPts val="24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Extracción: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344302" y="244347"/>
            <a:ext cx="5215890" cy="16471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75" dirty="0">
                <a:latin typeface="Arial"/>
                <a:cs typeface="Arial"/>
              </a:rPr>
              <a:t>Datos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existentes</a:t>
            </a:r>
            <a:endParaRPr sz="2800">
              <a:latin typeface="Arial"/>
              <a:cs typeface="Arial"/>
            </a:endParaRPr>
          </a:p>
          <a:p>
            <a:pPr marL="298450" marR="5080" indent="-292735">
              <a:lnSpc>
                <a:spcPct val="71400"/>
              </a:lnSpc>
              <a:spcBef>
                <a:spcPts val="1105"/>
              </a:spcBef>
              <a:buSzPct val="91071"/>
              <a:buFont typeface="Apple SD Gothic Neo Light"/>
              <a:buChar char="■"/>
              <a:tabLst>
                <a:tab pos="298450" algn="l"/>
              </a:tabLst>
            </a:pPr>
            <a:r>
              <a:rPr sz="2800" spc="-145" dirty="0">
                <a:latin typeface="Arial"/>
                <a:cs typeface="Arial"/>
              </a:rPr>
              <a:t>Archivos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70" dirty="0">
                <a:latin typeface="Arial"/>
                <a:cs typeface="Arial"/>
              </a:rPr>
              <a:t>texto,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hoja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cálculo, </a:t>
            </a:r>
            <a:r>
              <a:rPr sz="2800" spc="-180" dirty="0">
                <a:latin typeface="Arial"/>
                <a:cs typeface="Arial"/>
              </a:rPr>
              <a:t>separados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55" dirty="0">
                <a:latin typeface="Arial"/>
                <a:cs typeface="Arial"/>
              </a:rPr>
              <a:t>por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210" dirty="0">
                <a:latin typeface="Arial"/>
                <a:cs typeface="Arial"/>
              </a:rPr>
              <a:t>comas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(.csv)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335" dirty="0">
                <a:latin typeface="Arial"/>
                <a:cs typeface="Arial"/>
              </a:rPr>
              <a:t>BBDD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relacional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44302" y="1896363"/>
            <a:ext cx="47612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70" dirty="0">
                <a:latin typeface="Arial"/>
                <a:cs typeface="Arial"/>
              </a:rPr>
              <a:t>No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siempre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80" dirty="0">
                <a:latin typeface="Arial"/>
                <a:cs typeface="Arial"/>
              </a:rPr>
              <a:t>hay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datos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o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no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son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30052" y="2188971"/>
            <a:ext cx="12236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10" dirty="0">
                <a:latin typeface="Arial"/>
                <a:cs typeface="Arial"/>
              </a:rPr>
              <a:t>públicos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0461" y="2591932"/>
            <a:ext cx="2590799" cy="255156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141605">
              <a:lnSpc>
                <a:spcPct val="71000"/>
              </a:lnSpc>
              <a:spcBef>
                <a:spcPts val="149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El</a:t>
            </a:r>
            <a:r>
              <a:rPr sz="4000" b="1" spc="-4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proceso 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ETL</a:t>
            </a:r>
            <a:endParaRPr sz="4000">
              <a:latin typeface="Arial Narrow"/>
              <a:cs typeface="Arial Narrow"/>
            </a:endParaRPr>
          </a:p>
          <a:p>
            <a:pPr marL="691515">
              <a:lnSpc>
                <a:spcPct val="100000"/>
              </a:lnSpc>
              <a:spcBef>
                <a:spcPts val="24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Extracción: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344302" y="244347"/>
            <a:ext cx="46145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75" dirty="0">
                <a:latin typeface="Arial"/>
                <a:cs typeface="Arial"/>
              </a:rPr>
              <a:t>Datos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heterogéneos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(hojas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de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30052" y="536955"/>
            <a:ext cx="343725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35" dirty="0">
                <a:latin typeface="Arial"/>
                <a:cs typeface="Arial"/>
              </a:rPr>
              <a:t>cálculo,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235" dirty="0">
                <a:latin typeface="Arial"/>
                <a:cs typeface="Arial"/>
              </a:rPr>
              <a:t>bases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datos)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44302" y="994155"/>
            <a:ext cx="38862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60" dirty="0">
                <a:latin typeface="Arial"/>
                <a:cs typeface="Arial"/>
              </a:rPr>
              <a:t>Múltiples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240" dirty="0">
                <a:latin typeface="Arial"/>
                <a:cs typeface="Arial"/>
              </a:rPr>
              <a:t>bases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de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30052" y="1286763"/>
            <a:ext cx="36487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5" dirty="0">
                <a:latin typeface="Arial"/>
                <a:cs typeface="Arial"/>
              </a:rPr>
              <a:t>(departamentos,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290" dirty="0">
                <a:latin typeface="Arial"/>
                <a:cs typeface="Arial"/>
              </a:rPr>
              <a:t>áreas…)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44302" y="1743963"/>
            <a:ext cx="32321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35" dirty="0">
                <a:latin typeface="Arial"/>
                <a:cs typeface="Arial"/>
              </a:rPr>
              <a:t>Anónimos </a:t>
            </a:r>
            <a:r>
              <a:rPr sz="2800" spc="-140" dirty="0">
                <a:latin typeface="Arial"/>
                <a:cs typeface="Arial"/>
              </a:rPr>
              <a:t>y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cifrados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9623" y="2426207"/>
            <a:ext cx="3788664" cy="25664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1553" y="253491"/>
            <a:ext cx="230505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27305" marR="140970">
              <a:lnSpc>
                <a:spcPct val="71000"/>
              </a:lnSpc>
              <a:spcBef>
                <a:spcPts val="1490"/>
              </a:spcBef>
            </a:pPr>
            <a:r>
              <a:rPr dirty="0"/>
              <a:t>El</a:t>
            </a:r>
            <a:r>
              <a:rPr spc="-45" dirty="0"/>
              <a:t> </a:t>
            </a:r>
            <a:r>
              <a:rPr spc="-10" dirty="0"/>
              <a:t>proceso </a:t>
            </a:r>
            <a:r>
              <a:rPr spc="-25" dirty="0"/>
              <a:t>ETL</a:t>
            </a: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800" spc="-10" dirty="0">
                <a:solidFill>
                  <a:srgbClr val="FF0000"/>
                </a:solidFill>
              </a:rPr>
              <a:t>Transformación: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3150783" y="498787"/>
            <a:ext cx="5993765" cy="4645025"/>
            <a:chOff x="3150783" y="498787"/>
            <a:chExt cx="5993765" cy="4645025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305701" y="2627409"/>
              <a:ext cx="828675" cy="394335"/>
            </a:xfrm>
            <a:custGeom>
              <a:avLst/>
              <a:gdLst/>
              <a:ahLst/>
              <a:cxnLst/>
              <a:rect l="l" t="t" r="r" b="b"/>
              <a:pathLst>
                <a:path w="828675" h="394335">
                  <a:moveTo>
                    <a:pt x="0" y="0"/>
                  </a:moveTo>
                  <a:lnTo>
                    <a:pt x="0" y="268679"/>
                  </a:lnTo>
                  <a:lnTo>
                    <a:pt x="828443" y="268679"/>
                  </a:lnTo>
                  <a:lnTo>
                    <a:pt x="828443" y="394263"/>
                  </a:lnTo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77257" y="2627409"/>
              <a:ext cx="828675" cy="394335"/>
            </a:xfrm>
            <a:custGeom>
              <a:avLst/>
              <a:gdLst/>
              <a:ahLst/>
              <a:cxnLst/>
              <a:rect l="l" t="t" r="r" b="b"/>
              <a:pathLst>
                <a:path w="828675" h="394335">
                  <a:moveTo>
                    <a:pt x="828443" y="0"/>
                  </a:moveTo>
                  <a:lnTo>
                    <a:pt x="828443" y="268679"/>
                  </a:lnTo>
                  <a:lnTo>
                    <a:pt x="0" y="268679"/>
                  </a:lnTo>
                  <a:lnTo>
                    <a:pt x="0" y="394263"/>
                  </a:lnTo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48813" y="1372317"/>
              <a:ext cx="1657350" cy="394335"/>
            </a:xfrm>
            <a:custGeom>
              <a:avLst/>
              <a:gdLst/>
              <a:ahLst/>
              <a:cxnLst/>
              <a:rect l="l" t="t" r="r" b="b"/>
              <a:pathLst>
                <a:path w="1657350" h="394335">
                  <a:moveTo>
                    <a:pt x="0" y="0"/>
                  </a:moveTo>
                  <a:lnTo>
                    <a:pt x="0" y="268679"/>
                  </a:lnTo>
                  <a:lnTo>
                    <a:pt x="1656887" y="268679"/>
                  </a:lnTo>
                  <a:lnTo>
                    <a:pt x="1656887" y="394263"/>
                  </a:lnTo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91927" y="2627409"/>
              <a:ext cx="828675" cy="394335"/>
            </a:xfrm>
            <a:custGeom>
              <a:avLst/>
              <a:gdLst/>
              <a:ahLst/>
              <a:cxnLst/>
              <a:rect l="l" t="t" r="r" b="b"/>
              <a:pathLst>
                <a:path w="828675" h="394335">
                  <a:moveTo>
                    <a:pt x="0" y="0"/>
                  </a:moveTo>
                  <a:lnTo>
                    <a:pt x="0" y="268679"/>
                  </a:lnTo>
                  <a:lnTo>
                    <a:pt x="828443" y="268679"/>
                  </a:lnTo>
                  <a:lnTo>
                    <a:pt x="828443" y="394263"/>
                  </a:lnTo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63483" y="2627409"/>
              <a:ext cx="828675" cy="394335"/>
            </a:xfrm>
            <a:custGeom>
              <a:avLst/>
              <a:gdLst/>
              <a:ahLst/>
              <a:cxnLst/>
              <a:rect l="l" t="t" r="r" b="b"/>
              <a:pathLst>
                <a:path w="828675" h="394335">
                  <a:moveTo>
                    <a:pt x="828443" y="0"/>
                  </a:moveTo>
                  <a:lnTo>
                    <a:pt x="828443" y="268679"/>
                  </a:lnTo>
                  <a:lnTo>
                    <a:pt x="0" y="268679"/>
                  </a:lnTo>
                  <a:lnTo>
                    <a:pt x="0" y="394263"/>
                  </a:lnTo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91927" y="1372317"/>
              <a:ext cx="1657350" cy="394335"/>
            </a:xfrm>
            <a:custGeom>
              <a:avLst/>
              <a:gdLst/>
              <a:ahLst/>
              <a:cxnLst/>
              <a:rect l="l" t="t" r="r" b="b"/>
              <a:pathLst>
                <a:path w="1657350" h="394335">
                  <a:moveTo>
                    <a:pt x="1656887" y="0"/>
                  </a:moveTo>
                  <a:lnTo>
                    <a:pt x="1656887" y="268679"/>
                  </a:lnTo>
                  <a:lnTo>
                    <a:pt x="0" y="268679"/>
                  </a:lnTo>
                  <a:lnTo>
                    <a:pt x="0" y="394263"/>
                  </a:lnTo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70997" y="511487"/>
              <a:ext cx="1355725" cy="861060"/>
            </a:xfrm>
            <a:custGeom>
              <a:avLst/>
              <a:gdLst/>
              <a:ahLst/>
              <a:cxnLst/>
              <a:rect l="l" t="t" r="r" b="b"/>
              <a:pathLst>
                <a:path w="1355725" h="861060">
                  <a:moveTo>
                    <a:pt x="1269551" y="0"/>
                  </a:moveTo>
                  <a:lnTo>
                    <a:pt x="86081" y="0"/>
                  </a:lnTo>
                  <a:lnTo>
                    <a:pt x="52575" y="6764"/>
                  </a:lnTo>
                  <a:lnTo>
                    <a:pt x="25212" y="25213"/>
                  </a:lnTo>
                  <a:lnTo>
                    <a:pt x="6764" y="52575"/>
                  </a:lnTo>
                  <a:lnTo>
                    <a:pt x="0" y="86083"/>
                  </a:lnTo>
                  <a:lnTo>
                    <a:pt x="0" y="774746"/>
                  </a:lnTo>
                  <a:lnTo>
                    <a:pt x="6764" y="808253"/>
                  </a:lnTo>
                  <a:lnTo>
                    <a:pt x="25212" y="835615"/>
                  </a:lnTo>
                  <a:lnTo>
                    <a:pt x="52575" y="854064"/>
                  </a:lnTo>
                  <a:lnTo>
                    <a:pt x="86081" y="860828"/>
                  </a:lnTo>
                  <a:lnTo>
                    <a:pt x="1269551" y="860828"/>
                  </a:lnTo>
                  <a:lnTo>
                    <a:pt x="1303058" y="854064"/>
                  </a:lnTo>
                  <a:lnTo>
                    <a:pt x="1330420" y="835615"/>
                  </a:lnTo>
                  <a:lnTo>
                    <a:pt x="1348868" y="808253"/>
                  </a:lnTo>
                  <a:lnTo>
                    <a:pt x="1355633" y="774746"/>
                  </a:lnTo>
                  <a:lnTo>
                    <a:pt x="1355633" y="86083"/>
                  </a:lnTo>
                  <a:lnTo>
                    <a:pt x="1348868" y="52575"/>
                  </a:lnTo>
                  <a:lnTo>
                    <a:pt x="1330420" y="25213"/>
                  </a:lnTo>
                  <a:lnTo>
                    <a:pt x="1303058" y="6764"/>
                  </a:lnTo>
                  <a:lnTo>
                    <a:pt x="1269551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70997" y="511487"/>
              <a:ext cx="1355725" cy="861060"/>
            </a:xfrm>
            <a:custGeom>
              <a:avLst/>
              <a:gdLst/>
              <a:ahLst/>
              <a:cxnLst/>
              <a:rect l="l" t="t" r="r" b="b"/>
              <a:pathLst>
                <a:path w="1355725" h="861060">
                  <a:moveTo>
                    <a:pt x="0" y="86082"/>
                  </a:moveTo>
                  <a:lnTo>
                    <a:pt x="6764" y="52575"/>
                  </a:lnTo>
                  <a:lnTo>
                    <a:pt x="25212" y="25212"/>
                  </a:lnTo>
                  <a:lnTo>
                    <a:pt x="52575" y="6764"/>
                  </a:lnTo>
                  <a:lnTo>
                    <a:pt x="86082" y="0"/>
                  </a:lnTo>
                  <a:lnTo>
                    <a:pt x="1269552" y="0"/>
                  </a:lnTo>
                  <a:lnTo>
                    <a:pt x="1303059" y="6764"/>
                  </a:lnTo>
                  <a:lnTo>
                    <a:pt x="1330421" y="25212"/>
                  </a:lnTo>
                  <a:lnTo>
                    <a:pt x="1348869" y="52575"/>
                  </a:lnTo>
                  <a:lnTo>
                    <a:pt x="1355634" y="86082"/>
                  </a:lnTo>
                  <a:lnTo>
                    <a:pt x="1355634" y="774745"/>
                  </a:lnTo>
                  <a:lnTo>
                    <a:pt x="1348869" y="808252"/>
                  </a:lnTo>
                  <a:lnTo>
                    <a:pt x="1330421" y="835615"/>
                  </a:lnTo>
                  <a:lnTo>
                    <a:pt x="1303059" y="854063"/>
                  </a:lnTo>
                  <a:lnTo>
                    <a:pt x="1269552" y="860828"/>
                  </a:lnTo>
                  <a:lnTo>
                    <a:pt x="86082" y="860828"/>
                  </a:lnTo>
                  <a:lnTo>
                    <a:pt x="52575" y="854063"/>
                  </a:lnTo>
                  <a:lnTo>
                    <a:pt x="25212" y="835615"/>
                  </a:lnTo>
                  <a:lnTo>
                    <a:pt x="6764" y="808252"/>
                  </a:lnTo>
                  <a:lnTo>
                    <a:pt x="0" y="774745"/>
                  </a:lnTo>
                  <a:lnTo>
                    <a:pt x="0" y="86082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21623" y="654583"/>
              <a:ext cx="1355725" cy="861060"/>
            </a:xfrm>
            <a:custGeom>
              <a:avLst/>
              <a:gdLst/>
              <a:ahLst/>
              <a:cxnLst/>
              <a:rect l="l" t="t" r="r" b="b"/>
              <a:pathLst>
                <a:path w="1355725" h="861060">
                  <a:moveTo>
                    <a:pt x="1269551" y="0"/>
                  </a:moveTo>
                  <a:lnTo>
                    <a:pt x="86081" y="0"/>
                  </a:lnTo>
                  <a:lnTo>
                    <a:pt x="52575" y="6764"/>
                  </a:lnTo>
                  <a:lnTo>
                    <a:pt x="25212" y="25212"/>
                  </a:lnTo>
                  <a:lnTo>
                    <a:pt x="6764" y="52574"/>
                  </a:lnTo>
                  <a:lnTo>
                    <a:pt x="0" y="86081"/>
                  </a:lnTo>
                  <a:lnTo>
                    <a:pt x="0" y="774745"/>
                  </a:lnTo>
                  <a:lnTo>
                    <a:pt x="6764" y="808252"/>
                  </a:lnTo>
                  <a:lnTo>
                    <a:pt x="25212" y="835614"/>
                  </a:lnTo>
                  <a:lnTo>
                    <a:pt x="52575" y="854062"/>
                  </a:lnTo>
                  <a:lnTo>
                    <a:pt x="86081" y="860827"/>
                  </a:lnTo>
                  <a:lnTo>
                    <a:pt x="1269551" y="860827"/>
                  </a:lnTo>
                  <a:lnTo>
                    <a:pt x="1303058" y="854062"/>
                  </a:lnTo>
                  <a:lnTo>
                    <a:pt x="1330421" y="835614"/>
                  </a:lnTo>
                  <a:lnTo>
                    <a:pt x="1348868" y="808252"/>
                  </a:lnTo>
                  <a:lnTo>
                    <a:pt x="1355633" y="774745"/>
                  </a:lnTo>
                  <a:lnTo>
                    <a:pt x="1355633" y="86081"/>
                  </a:lnTo>
                  <a:lnTo>
                    <a:pt x="1348868" y="52574"/>
                  </a:lnTo>
                  <a:lnTo>
                    <a:pt x="1330421" y="25212"/>
                  </a:lnTo>
                  <a:lnTo>
                    <a:pt x="1303058" y="6764"/>
                  </a:lnTo>
                  <a:lnTo>
                    <a:pt x="1269551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21623" y="654583"/>
              <a:ext cx="1355725" cy="861060"/>
            </a:xfrm>
            <a:custGeom>
              <a:avLst/>
              <a:gdLst/>
              <a:ahLst/>
              <a:cxnLst/>
              <a:rect l="l" t="t" r="r" b="b"/>
              <a:pathLst>
                <a:path w="1355725" h="861060">
                  <a:moveTo>
                    <a:pt x="0" y="86082"/>
                  </a:moveTo>
                  <a:lnTo>
                    <a:pt x="6764" y="52575"/>
                  </a:lnTo>
                  <a:lnTo>
                    <a:pt x="25212" y="25212"/>
                  </a:lnTo>
                  <a:lnTo>
                    <a:pt x="52575" y="6764"/>
                  </a:lnTo>
                  <a:lnTo>
                    <a:pt x="86082" y="0"/>
                  </a:lnTo>
                  <a:lnTo>
                    <a:pt x="1269552" y="0"/>
                  </a:lnTo>
                  <a:lnTo>
                    <a:pt x="1303059" y="6764"/>
                  </a:lnTo>
                  <a:lnTo>
                    <a:pt x="1330421" y="25212"/>
                  </a:lnTo>
                  <a:lnTo>
                    <a:pt x="1348869" y="52575"/>
                  </a:lnTo>
                  <a:lnTo>
                    <a:pt x="1355634" y="86082"/>
                  </a:lnTo>
                  <a:lnTo>
                    <a:pt x="1355634" y="774745"/>
                  </a:lnTo>
                  <a:lnTo>
                    <a:pt x="1348869" y="808252"/>
                  </a:lnTo>
                  <a:lnTo>
                    <a:pt x="1330421" y="835615"/>
                  </a:lnTo>
                  <a:lnTo>
                    <a:pt x="1303059" y="854063"/>
                  </a:lnTo>
                  <a:lnTo>
                    <a:pt x="1269552" y="860828"/>
                  </a:lnTo>
                  <a:lnTo>
                    <a:pt x="86082" y="860828"/>
                  </a:lnTo>
                  <a:lnTo>
                    <a:pt x="52575" y="854063"/>
                  </a:lnTo>
                  <a:lnTo>
                    <a:pt x="25212" y="835615"/>
                  </a:lnTo>
                  <a:lnTo>
                    <a:pt x="6764" y="808252"/>
                  </a:lnTo>
                  <a:lnTo>
                    <a:pt x="0" y="774745"/>
                  </a:lnTo>
                  <a:lnTo>
                    <a:pt x="0" y="86082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228225" y="949451"/>
            <a:ext cx="11430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65" dirty="0">
                <a:latin typeface="Arial"/>
                <a:cs typeface="Arial"/>
              </a:rPr>
              <a:t>Transformación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301409" y="1753880"/>
            <a:ext cx="1532255" cy="1029335"/>
            <a:chOff x="3301409" y="1753880"/>
            <a:chExt cx="1532255" cy="1029335"/>
          </a:xfrm>
        </p:grpSpPr>
        <p:sp>
          <p:nvSpPr>
            <p:cNvPr id="17" name="object 17"/>
            <p:cNvSpPr/>
            <p:nvPr/>
          </p:nvSpPr>
          <p:spPr>
            <a:xfrm>
              <a:off x="3314109" y="1766580"/>
              <a:ext cx="1355725" cy="861060"/>
            </a:xfrm>
            <a:custGeom>
              <a:avLst/>
              <a:gdLst/>
              <a:ahLst/>
              <a:cxnLst/>
              <a:rect l="l" t="t" r="r" b="b"/>
              <a:pathLst>
                <a:path w="1355725" h="861060">
                  <a:moveTo>
                    <a:pt x="1269551" y="0"/>
                  </a:moveTo>
                  <a:lnTo>
                    <a:pt x="86083" y="0"/>
                  </a:lnTo>
                  <a:lnTo>
                    <a:pt x="52575" y="6764"/>
                  </a:lnTo>
                  <a:lnTo>
                    <a:pt x="25213" y="25212"/>
                  </a:lnTo>
                  <a:lnTo>
                    <a:pt x="6764" y="52575"/>
                  </a:lnTo>
                  <a:lnTo>
                    <a:pt x="0" y="86081"/>
                  </a:lnTo>
                  <a:lnTo>
                    <a:pt x="0" y="774745"/>
                  </a:lnTo>
                  <a:lnTo>
                    <a:pt x="6764" y="808252"/>
                  </a:lnTo>
                  <a:lnTo>
                    <a:pt x="25213" y="835614"/>
                  </a:lnTo>
                  <a:lnTo>
                    <a:pt x="52575" y="854062"/>
                  </a:lnTo>
                  <a:lnTo>
                    <a:pt x="86083" y="860827"/>
                  </a:lnTo>
                  <a:lnTo>
                    <a:pt x="1269551" y="860827"/>
                  </a:lnTo>
                  <a:lnTo>
                    <a:pt x="1303059" y="854062"/>
                  </a:lnTo>
                  <a:lnTo>
                    <a:pt x="1330421" y="835614"/>
                  </a:lnTo>
                  <a:lnTo>
                    <a:pt x="1348869" y="808252"/>
                  </a:lnTo>
                  <a:lnTo>
                    <a:pt x="1355634" y="774745"/>
                  </a:lnTo>
                  <a:lnTo>
                    <a:pt x="1355634" y="86081"/>
                  </a:lnTo>
                  <a:lnTo>
                    <a:pt x="1348869" y="52575"/>
                  </a:lnTo>
                  <a:lnTo>
                    <a:pt x="1330421" y="25212"/>
                  </a:lnTo>
                  <a:lnTo>
                    <a:pt x="1303059" y="6764"/>
                  </a:lnTo>
                  <a:lnTo>
                    <a:pt x="1269551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314109" y="1766580"/>
              <a:ext cx="1355725" cy="861060"/>
            </a:xfrm>
            <a:custGeom>
              <a:avLst/>
              <a:gdLst/>
              <a:ahLst/>
              <a:cxnLst/>
              <a:rect l="l" t="t" r="r" b="b"/>
              <a:pathLst>
                <a:path w="1355725" h="861060">
                  <a:moveTo>
                    <a:pt x="0" y="86082"/>
                  </a:moveTo>
                  <a:lnTo>
                    <a:pt x="6764" y="52575"/>
                  </a:lnTo>
                  <a:lnTo>
                    <a:pt x="25212" y="25212"/>
                  </a:lnTo>
                  <a:lnTo>
                    <a:pt x="52575" y="6764"/>
                  </a:lnTo>
                  <a:lnTo>
                    <a:pt x="86082" y="0"/>
                  </a:lnTo>
                  <a:lnTo>
                    <a:pt x="1269552" y="0"/>
                  </a:lnTo>
                  <a:lnTo>
                    <a:pt x="1303059" y="6764"/>
                  </a:lnTo>
                  <a:lnTo>
                    <a:pt x="1330421" y="25212"/>
                  </a:lnTo>
                  <a:lnTo>
                    <a:pt x="1348869" y="52575"/>
                  </a:lnTo>
                  <a:lnTo>
                    <a:pt x="1355634" y="86082"/>
                  </a:lnTo>
                  <a:lnTo>
                    <a:pt x="1355634" y="774745"/>
                  </a:lnTo>
                  <a:lnTo>
                    <a:pt x="1348869" y="808252"/>
                  </a:lnTo>
                  <a:lnTo>
                    <a:pt x="1330421" y="835615"/>
                  </a:lnTo>
                  <a:lnTo>
                    <a:pt x="1303059" y="854063"/>
                  </a:lnTo>
                  <a:lnTo>
                    <a:pt x="1269552" y="860828"/>
                  </a:lnTo>
                  <a:lnTo>
                    <a:pt x="86082" y="860828"/>
                  </a:lnTo>
                  <a:lnTo>
                    <a:pt x="52575" y="854063"/>
                  </a:lnTo>
                  <a:lnTo>
                    <a:pt x="25212" y="835615"/>
                  </a:lnTo>
                  <a:lnTo>
                    <a:pt x="6764" y="808252"/>
                  </a:lnTo>
                  <a:lnTo>
                    <a:pt x="0" y="774745"/>
                  </a:lnTo>
                  <a:lnTo>
                    <a:pt x="0" y="86082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464735" y="1909674"/>
              <a:ext cx="1355725" cy="861060"/>
            </a:xfrm>
            <a:custGeom>
              <a:avLst/>
              <a:gdLst/>
              <a:ahLst/>
              <a:cxnLst/>
              <a:rect l="l" t="t" r="r" b="b"/>
              <a:pathLst>
                <a:path w="1355725" h="861060">
                  <a:moveTo>
                    <a:pt x="1269552" y="0"/>
                  </a:moveTo>
                  <a:lnTo>
                    <a:pt x="86083" y="0"/>
                  </a:lnTo>
                  <a:lnTo>
                    <a:pt x="52575" y="6764"/>
                  </a:lnTo>
                  <a:lnTo>
                    <a:pt x="25213" y="25212"/>
                  </a:lnTo>
                  <a:lnTo>
                    <a:pt x="6764" y="52575"/>
                  </a:lnTo>
                  <a:lnTo>
                    <a:pt x="0" y="86081"/>
                  </a:lnTo>
                  <a:lnTo>
                    <a:pt x="0" y="774745"/>
                  </a:lnTo>
                  <a:lnTo>
                    <a:pt x="6764" y="808252"/>
                  </a:lnTo>
                  <a:lnTo>
                    <a:pt x="25213" y="835615"/>
                  </a:lnTo>
                  <a:lnTo>
                    <a:pt x="52575" y="854062"/>
                  </a:lnTo>
                  <a:lnTo>
                    <a:pt x="86083" y="860827"/>
                  </a:lnTo>
                  <a:lnTo>
                    <a:pt x="1269552" y="860827"/>
                  </a:lnTo>
                  <a:lnTo>
                    <a:pt x="1303059" y="854062"/>
                  </a:lnTo>
                  <a:lnTo>
                    <a:pt x="1330421" y="835615"/>
                  </a:lnTo>
                  <a:lnTo>
                    <a:pt x="1348870" y="808252"/>
                  </a:lnTo>
                  <a:lnTo>
                    <a:pt x="1355634" y="774745"/>
                  </a:lnTo>
                  <a:lnTo>
                    <a:pt x="1355634" y="86081"/>
                  </a:lnTo>
                  <a:lnTo>
                    <a:pt x="1348870" y="52575"/>
                  </a:lnTo>
                  <a:lnTo>
                    <a:pt x="1330421" y="25212"/>
                  </a:lnTo>
                  <a:lnTo>
                    <a:pt x="1303059" y="6764"/>
                  </a:lnTo>
                  <a:lnTo>
                    <a:pt x="1269552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464735" y="1909674"/>
              <a:ext cx="1355725" cy="861060"/>
            </a:xfrm>
            <a:custGeom>
              <a:avLst/>
              <a:gdLst/>
              <a:ahLst/>
              <a:cxnLst/>
              <a:rect l="l" t="t" r="r" b="b"/>
              <a:pathLst>
                <a:path w="1355725" h="861060">
                  <a:moveTo>
                    <a:pt x="0" y="86082"/>
                  </a:moveTo>
                  <a:lnTo>
                    <a:pt x="6764" y="52575"/>
                  </a:lnTo>
                  <a:lnTo>
                    <a:pt x="25212" y="25212"/>
                  </a:lnTo>
                  <a:lnTo>
                    <a:pt x="52575" y="6764"/>
                  </a:lnTo>
                  <a:lnTo>
                    <a:pt x="86082" y="0"/>
                  </a:lnTo>
                  <a:lnTo>
                    <a:pt x="1269552" y="0"/>
                  </a:lnTo>
                  <a:lnTo>
                    <a:pt x="1303059" y="6764"/>
                  </a:lnTo>
                  <a:lnTo>
                    <a:pt x="1330421" y="25212"/>
                  </a:lnTo>
                  <a:lnTo>
                    <a:pt x="1348869" y="52575"/>
                  </a:lnTo>
                  <a:lnTo>
                    <a:pt x="1355634" y="86082"/>
                  </a:lnTo>
                  <a:lnTo>
                    <a:pt x="1355634" y="774745"/>
                  </a:lnTo>
                  <a:lnTo>
                    <a:pt x="1348869" y="808252"/>
                  </a:lnTo>
                  <a:lnTo>
                    <a:pt x="1330421" y="835615"/>
                  </a:lnTo>
                  <a:lnTo>
                    <a:pt x="1303059" y="854063"/>
                  </a:lnTo>
                  <a:lnTo>
                    <a:pt x="1269552" y="860828"/>
                  </a:lnTo>
                  <a:lnTo>
                    <a:pt x="86082" y="860828"/>
                  </a:lnTo>
                  <a:lnTo>
                    <a:pt x="52575" y="854063"/>
                  </a:lnTo>
                  <a:lnTo>
                    <a:pt x="25212" y="835615"/>
                  </a:lnTo>
                  <a:lnTo>
                    <a:pt x="6764" y="808252"/>
                  </a:lnTo>
                  <a:lnTo>
                    <a:pt x="0" y="774745"/>
                  </a:lnTo>
                  <a:lnTo>
                    <a:pt x="0" y="86082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814321" y="2205227"/>
            <a:ext cx="6572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80" dirty="0">
                <a:latin typeface="Arial"/>
                <a:cs typeface="Arial"/>
              </a:rPr>
              <a:t>Limpieza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472965" y="3008972"/>
            <a:ext cx="1532255" cy="1029335"/>
            <a:chOff x="2472965" y="3008972"/>
            <a:chExt cx="1532255" cy="1029335"/>
          </a:xfrm>
        </p:grpSpPr>
        <p:sp>
          <p:nvSpPr>
            <p:cNvPr id="23" name="object 23"/>
            <p:cNvSpPr/>
            <p:nvPr/>
          </p:nvSpPr>
          <p:spPr>
            <a:xfrm>
              <a:off x="2485665" y="3021672"/>
              <a:ext cx="1355725" cy="861060"/>
            </a:xfrm>
            <a:custGeom>
              <a:avLst/>
              <a:gdLst/>
              <a:ahLst/>
              <a:cxnLst/>
              <a:rect l="l" t="t" r="r" b="b"/>
              <a:pathLst>
                <a:path w="1355725" h="861060">
                  <a:moveTo>
                    <a:pt x="1269551" y="0"/>
                  </a:moveTo>
                  <a:lnTo>
                    <a:pt x="86081" y="0"/>
                  </a:lnTo>
                  <a:lnTo>
                    <a:pt x="52575" y="6764"/>
                  </a:lnTo>
                  <a:lnTo>
                    <a:pt x="25212" y="25212"/>
                  </a:lnTo>
                  <a:lnTo>
                    <a:pt x="6764" y="52575"/>
                  </a:lnTo>
                  <a:lnTo>
                    <a:pt x="0" y="86081"/>
                  </a:lnTo>
                  <a:lnTo>
                    <a:pt x="0" y="774745"/>
                  </a:lnTo>
                  <a:lnTo>
                    <a:pt x="6764" y="808253"/>
                  </a:lnTo>
                  <a:lnTo>
                    <a:pt x="25212" y="835615"/>
                  </a:lnTo>
                  <a:lnTo>
                    <a:pt x="52575" y="854063"/>
                  </a:lnTo>
                  <a:lnTo>
                    <a:pt x="86081" y="860828"/>
                  </a:lnTo>
                  <a:lnTo>
                    <a:pt x="1269551" y="860828"/>
                  </a:lnTo>
                  <a:lnTo>
                    <a:pt x="1303059" y="854063"/>
                  </a:lnTo>
                  <a:lnTo>
                    <a:pt x="1330421" y="835615"/>
                  </a:lnTo>
                  <a:lnTo>
                    <a:pt x="1348869" y="808253"/>
                  </a:lnTo>
                  <a:lnTo>
                    <a:pt x="1355634" y="774745"/>
                  </a:lnTo>
                  <a:lnTo>
                    <a:pt x="1355634" y="86081"/>
                  </a:lnTo>
                  <a:lnTo>
                    <a:pt x="1348869" y="52575"/>
                  </a:lnTo>
                  <a:lnTo>
                    <a:pt x="1330421" y="25212"/>
                  </a:lnTo>
                  <a:lnTo>
                    <a:pt x="1303059" y="6764"/>
                  </a:lnTo>
                  <a:lnTo>
                    <a:pt x="1269551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485665" y="3021672"/>
              <a:ext cx="1355725" cy="861060"/>
            </a:xfrm>
            <a:custGeom>
              <a:avLst/>
              <a:gdLst/>
              <a:ahLst/>
              <a:cxnLst/>
              <a:rect l="l" t="t" r="r" b="b"/>
              <a:pathLst>
                <a:path w="1355725" h="861060">
                  <a:moveTo>
                    <a:pt x="0" y="86082"/>
                  </a:moveTo>
                  <a:lnTo>
                    <a:pt x="6764" y="52575"/>
                  </a:lnTo>
                  <a:lnTo>
                    <a:pt x="25212" y="25212"/>
                  </a:lnTo>
                  <a:lnTo>
                    <a:pt x="52575" y="6764"/>
                  </a:lnTo>
                  <a:lnTo>
                    <a:pt x="86082" y="0"/>
                  </a:lnTo>
                  <a:lnTo>
                    <a:pt x="1269552" y="0"/>
                  </a:lnTo>
                  <a:lnTo>
                    <a:pt x="1303059" y="6764"/>
                  </a:lnTo>
                  <a:lnTo>
                    <a:pt x="1330421" y="25212"/>
                  </a:lnTo>
                  <a:lnTo>
                    <a:pt x="1348869" y="52575"/>
                  </a:lnTo>
                  <a:lnTo>
                    <a:pt x="1355634" y="86082"/>
                  </a:lnTo>
                  <a:lnTo>
                    <a:pt x="1355634" y="774745"/>
                  </a:lnTo>
                  <a:lnTo>
                    <a:pt x="1348869" y="808252"/>
                  </a:lnTo>
                  <a:lnTo>
                    <a:pt x="1330421" y="835615"/>
                  </a:lnTo>
                  <a:lnTo>
                    <a:pt x="1303059" y="854063"/>
                  </a:lnTo>
                  <a:lnTo>
                    <a:pt x="1269552" y="860828"/>
                  </a:lnTo>
                  <a:lnTo>
                    <a:pt x="86082" y="860828"/>
                  </a:lnTo>
                  <a:lnTo>
                    <a:pt x="52575" y="854063"/>
                  </a:lnTo>
                  <a:lnTo>
                    <a:pt x="25212" y="835615"/>
                  </a:lnTo>
                  <a:lnTo>
                    <a:pt x="6764" y="808252"/>
                  </a:lnTo>
                  <a:lnTo>
                    <a:pt x="0" y="774745"/>
                  </a:lnTo>
                  <a:lnTo>
                    <a:pt x="0" y="86082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636291" y="3164766"/>
              <a:ext cx="1355725" cy="861060"/>
            </a:xfrm>
            <a:custGeom>
              <a:avLst/>
              <a:gdLst/>
              <a:ahLst/>
              <a:cxnLst/>
              <a:rect l="l" t="t" r="r" b="b"/>
              <a:pathLst>
                <a:path w="1355725" h="861060">
                  <a:moveTo>
                    <a:pt x="1269551" y="0"/>
                  </a:moveTo>
                  <a:lnTo>
                    <a:pt x="86083" y="0"/>
                  </a:lnTo>
                  <a:lnTo>
                    <a:pt x="52575" y="6764"/>
                  </a:lnTo>
                  <a:lnTo>
                    <a:pt x="25213" y="25213"/>
                  </a:lnTo>
                  <a:lnTo>
                    <a:pt x="6764" y="52575"/>
                  </a:lnTo>
                  <a:lnTo>
                    <a:pt x="0" y="86083"/>
                  </a:lnTo>
                  <a:lnTo>
                    <a:pt x="0" y="774746"/>
                  </a:lnTo>
                  <a:lnTo>
                    <a:pt x="6764" y="808253"/>
                  </a:lnTo>
                  <a:lnTo>
                    <a:pt x="25213" y="835615"/>
                  </a:lnTo>
                  <a:lnTo>
                    <a:pt x="52575" y="854063"/>
                  </a:lnTo>
                  <a:lnTo>
                    <a:pt x="86083" y="860828"/>
                  </a:lnTo>
                  <a:lnTo>
                    <a:pt x="1269551" y="860828"/>
                  </a:lnTo>
                  <a:lnTo>
                    <a:pt x="1303059" y="854063"/>
                  </a:lnTo>
                  <a:lnTo>
                    <a:pt x="1330421" y="835615"/>
                  </a:lnTo>
                  <a:lnTo>
                    <a:pt x="1348869" y="808253"/>
                  </a:lnTo>
                  <a:lnTo>
                    <a:pt x="1355634" y="774746"/>
                  </a:lnTo>
                  <a:lnTo>
                    <a:pt x="1355634" y="86083"/>
                  </a:lnTo>
                  <a:lnTo>
                    <a:pt x="1348869" y="52575"/>
                  </a:lnTo>
                  <a:lnTo>
                    <a:pt x="1330421" y="25213"/>
                  </a:lnTo>
                  <a:lnTo>
                    <a:pt x="1303059" y="6764"/>
                  </a:lnTo>
                  <a:lnTo>
                    <a:pt x="1269551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636291" y="3164766"/>
              <a:ext cx="1355725" cy="861060"/>
            </a:xfrm>
            <a:custGeom>
              <a:avLst/>
              <a:gdLst/>
              <a:ahLst/>
              <a:cxnLst/>
              <a:rect l="l" t="t" r="r" b="b"/>
              <a:pathLst>
                <a:path w="1355725" h="861060">
                  <a:moveTo>
                    <a:pt x="0" y="86082"/>
                  </a:moveTo>
                  <a:lnTo>
                    <a:pt x="6764" y="52575"/>
                  </a:lnTo>
                  <a:lnTo>
                    <a:pt x="25212" y="25212"/>
                  </a:lnTo>
                  <a:lnTo>
                    <a:pt x="52575" y="6764"/>
                  </a:lnTo>
                  <a:lnTo>
                    <a:pt x="86082" y="0"/>
                  </a:lnTo>
                  <a:lnTo>
                    <a:pt x="1269552" y="0"/>
                  </a:lnTo>
                  <a:lnTo>
                    <a:pt x="1303059" y="6764"/>
                  </a:lnTo>
                  <a:lnTo>
                    <a:pt x="1330421" y="25212"/>
                  </a:lnTo>
                  <a:lnTo>
                    <a:pt x="1348869" y="52575"/>
                  </a:lnTo>
                  <a:lnTo>
                    <a:pt x="1355634" y="86082"/>
                  </a:lnTo>
                  <a:lnTo>
                    <a:pt x="1355634" y="774745"/>
                  </a:lnTo>
                  <a:lnTo>
                    <a:pt x="1348869" y="808252"/>
                  </a:lnTo>
                  <a:lnTo>
                    <a:pt x="1330421" y="835615"/>
                  </a:lnTo>
                  <a:lnTo>
                    <a:pt x="1303059" y="854063"/>
                  </a:lnTo>
                  <a:lnTo>
                    <a:pt x="1269552" y="860828"/>
                  </a:lnTo>
                  <a:lnTo>
                    <a:pt x="86082" y="860828"/>
                  </a:lnTo>
                  <a:lnTo>
                    <a:pt x="52575" y="854063"/>
                  </a:lnTo>
                  <a:lnTo>
                    <a:pt x="25212" y="835615"/>
                  </a:lnTo>
                  <a:lnTo>
                    <a:pt x="6764" y="808252"/>
                  </a:lnTo>
                  <a:lnTo>
                    <a:pt x="0" y="774745"/>
                  </a:lnTo>
                  <a:lnTo>
                    <a:pt x="0" y="86082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758070" y="3457955"/>
            <a:ext cx="11131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85" dirty="0">
                <a:latin typeface="Arial"/>
                <a:cs typeface="Arial"/>
              </a:rPr>
              <a:t>Datos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45" dirty="0">
                <a:latin typeface="Arial"/>
                <a:cs typeface="Arial"/>
              </a:rPr>
              <a:t>perdidos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129853" y="3008972"/>
            <a:ext cx="1532255" cy="1029335"/>
            <a:chOff x="4129853" y="3008972"/>
            <a:chExt cx="1532255" cy="1029335"/>
          </a:xfrm>
        </p:grpSpPr>
        <p:sp>
          <p:nvSpPr>
            <p:cNvPr id="29" name="object 29"/>
            <p:cNvSpPr/>
            <p:nvPr/>
          </p:nvSpPr>
          <p:spPr>
            <a:xfrm>
              <a:off x="4142553" y="3021672"/>
              <a:ext cx="1355725" cy="861060"/>
            </a:xfrm>
            <a:custGeom>
              <a:avLst/>
              <a:gdLst/>
              <a:ahLst/>
              <a:cxnLst/>
              <a:rect l="l" t="t" r="r" b="b"/>
              <a:pathLst>
                <a:path w="1355725" h="861060">
                  <a:moveTo>
                    <a:pt x="1269551" y="0"/>
                  </a:moveTo>
                  <a:lnTo>
                    <a:pt x="86081" y="0"/>
                  </a:lnTo>
                  <a:lnTo>
                    <a:pt x="52574" y="6764"/>
                  </a:lnTo>
                  <a:lnTo>
                    <a:pt x="25212" y="25212"/>
                  </a:lnTo>
                  <a:lnTo>
                    <a:pt x="6764" y="52575"/>
                  </a:lnTo>
                  <a:lnTo>
                    <a:pt x="0" y="86081"/>
                  </a:lnTo>
                  <a:lnTo>
                    <a:pt x="0" y="774745"/>
                  </a:lnTo>
                  <a:lnTo>
                    <a:pt x="6764" y="808253"/>
                  </a:lnTo>
                  <a:lnTo>
                    <a:pt x="25212" y="835615"/>
                  </a:lnTo>
                  <a:lnTo>
                    <a:pt x="52574" y="854063"/>
                  </a:lnTo>
                  <a:lnTo>
                    <a:pt x="86081" y="860828"/>
                  </a:lnTo>
                  <a:lnTo>
                    <a:pt x="1269551" y="860828"/>
                  </a:lnTo>
                  <a:lnTo>
                    <a:pt x="1303058" y="854063"/>
                  </a:lnTo>
                  <a:lnTo>
                    <a:pt x="1330420" y="835615"/>
                  </a:lnTo>
                  <a:lnTo>
                    <a:pt x="1348868" y="808253"/>
                  </a:lnTo>
                  <a:lnTo>
                    <a:pt x="1355633" y="774745"/>
                  </a:lnTo>
                  <a:lnTo>
                    <a:pt x="1355633" y="86081"/>
                  </a:lnTo>
                  <a:lnTo>
                    <a:pt x="1348868" y="52575"/>
                  </a:lnTo>
                  <a:lnTo>
                    <a:pt x="1330420" y="25212"/>
                  </a:lnTo>
                  <a:lnTo>
                    <a:pt x="1303058" y="6764"/>
                  </a:lnTo>
                  <a:lnTo>
                    <a:pt x="1269551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142553" y="3021672"/>
              <a:ext cx="1355725" cy="861060"/>
            </a:xfrm>
            <a:custGeom>
              <a:avLst/>
              <a:gdLst/>
              <a:ahLst/>
              <a:cxnLst/>
              <a:rect l="l" t="t" r="r" b="b"/>
              <a:pathLst>
                <a:path w="1355725" h="861060">
                  <a:moveTo>
                    <a:pt x="0" y="86082"/>
                  </a:moveTo>
                  <a:lnTo>
                    <a:pt x="6764" y="52575"/>
                  </a:lnTo>
                  <a:lnTo>
                    <a:pt x="25212" y="25212"/>
                  </a:lnTo>
                  <a:lnTo>
                    <a:pt x="52575" y="6764"/>
                  </a:lnTo>
                  <a:lnTo>
                    <a:pt x="86082" y="0"/>
                  </a:lnTo>
                  <a:lnTo>
                    <a:pt x="1269552" y="0"/>
                  </a:lnTo>
                  <a:lnTo>
                    <a:pt x="1303059" y="6764"/>
                  </a:lnTo>
                  <a:lnTo>
                    <a:pt x="1330421" y="25212"/>
                  </a:lnTo>
                  <a:lnTo>
                    <a:pt x="1348869" y="52575"/>
                  </a:lnTo>
                  <a:lnTo>
                    <a:pt x="1355634" y="86082"/>
                  </a:lnTo>
                  <a:lnTo>
                    <a:pt x="1355634" y="774745"/>
                  </a:lnTo>
                  <a:lnTo>
                    <a:pt x="1348869" y="808252"/>
                  </a:lnTo>
                  <a:lnTo>
                    <a:pt x="1330421" y="835615"/>
                  </a:lnTo>
                  <a:lnTo>
                    <a:pt x="1303059" y="854063"/>
                  </a:lnTo>
                  <a:lnTo>
                    <a:pt x="1269552" y="860828"/>
                  </a:lnTo>
                  <a:lnTo>
                    <a:pt x="86082" y="860828"/>
                  </a:lnTo>
                  <a:lnTo>
                    <a:pt x="52575" y="854063"/>
                  </a:lnTo>
                  <a:lnTo>
                    <a:pt x="25212" y="835615"/>
                  </a:lnTo>
                  <a:lnTo>
                    <a:pt x="6764" y="808252"/>
                  </a:lnTo>
                  <a:lnTo>
                    <a:pt x="0" y="774745"/>
                  </a:lnTo>
                  <a:lnTo>
                    <a:pt x="0" y="86082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293179" y="3164766"/>
              <a:ext cx="1355725" cy="861060"/>
            </a:xfrm>
            <a:custGeom>
              <a:avLst/>
              <a:gdLst/>
              <a:ahLst/>
              <a:cxnLst/>
              <a:rect l="l" t="t" r="r" b="b"/>
              <a:pathLst>
                <a:path w="1355725" h="861060">
                  <a:moveTo>
                    <a:pt x="1269551" y="0"/>
                  </a:moveTo>
                  <a:lnTo>
                    <a:pt x="86081" y="0"/>
                  </a:lnTo>
                  <a:lnTo>
                    <a:pt x="52575" y="6764"/>
                  </a:lnTo>
                  <a:lnTo>
                    <a:pt x="25212" y="25213"/>
                  </a:lnTo>
                  <a:lnTo>
                    <a:pt x="6764" y="52575"/>
                  </a:lnTo>
                  <a:lnTo>
                    <a:pt x="0" y="86083"/>
                  </a:lnTo>
                  <a:lnTo>
                    <a:pt x="0" y="774746"/>
                  </a:lnTo>
                  <a:lnTo>
                    <a:pt x="6764" y="808253"/>
                  </a:lnTo>
                  <a:lnTo>
                    <a:pt x="25212" y="835615"/>
                  </a:lnTo>
                  <a:lnTo>
                    <a:pt x="52575" y="854063"/>
                  </a:lnTo>
                  <a:lnTo>
                    <a:pt x="86081" y="860828"/>
                  </a:lnTo>
                  <a:lnTo>
                    <a:pt x="1269551" y="860828"/>
                  </a:lnTo>
                  <a:lnTo>
                    <a:pt x="1303058" y="854063"/>
                  </a:lnTo>
                  <a:lnTo>
                    <a:pt x="1330421" y="835615"/>
                  </a:lnTo>
                  <a:lnTo>
                    <a:pt x="1348868" y="808253"/>
                  </a:lnTo>
                  <a:lnTo>
                    <a:pt x="1355633" y="774746"/>
                  </a:lnTo>
                  <a:lnTo>
                    <a:pt x="1355633" y="86083"/>
                  </a:lnTo>
                  <a:lnTo>
                    <a:pt x="1348868" y="52575"/>
                  </a:lnTo>
                  <a:lnTo>
                    <a:pt x="1330421" y="25213"/>
                  </a:lnTo>
                  <a:lnTo>
                    <a:pt x="1303058" y="6764"/>
                  </a:lnTo>
                  <a:lnTo>
                    <a:pt x="1269551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293179" y="3164766"/>
              <a:ext cx="1355725" cy="861060"/>
            </a:xfrm>
            <a:custGeom>
              <a:avLst/>
              <a:gdLst/>
              <a:ahLst/>
              <a:cxnLst/>
              <a:rect l="l" t="t" r="r" b="b"/>
              <a:pathLst>
                <a:path w="1355725" h="861060">
                  <a:moveTo>
                    <a:pt x="0" y="86082"/>
                  </a:moveTo>
                  <a:lnTo>
                    <a:pt x="6764" y="52575"/>
                  </a:lnTo>
                  <a:lnTo>
                    <a:pt x="25212" y="25212"/>
                  </a:lnTo>
                  <a:lnTo>
                    <a:pt x="52575" y="6764"/>
                  </a:lnTo>
                  <a:lnTo>
                    <a:pt x="86082" y="0"/>
                  </a:lnTo>
                  <a:lnTo>
                    <a:pt x="1269552" y="0"/>
                  </a:lnTo>
                  <a:lnTo>
                    <a:pt x="1303059" y="6764"/>
                  </a:lnTo>
                  <a:lnTo>
                    <a:pt x="1330421" y="25212"/>
                  </a:lnTo>
                  <a:lnTo>
                    <a:pt x="1348869" y="52575"/>
                  </a:lnTo>
                  <a:lnTo>
                    <a:pt x="1355634" y="86082"/>
                  </a:lnTo>
                  <a:lnTo>
                    <a:pt x="1355634" y="774745"/>
                  </a:lnTo>
                  <a:lnTo>
                    <a:pt x="1348869" y="808252"/>
                  </a:lnTo>
                  <a:lnTo>
                    <a:pt x="1330421" y="835615"/>
                  </a:lnTo>
                  <a:lnTo>
                    <a:pt x="1303059" y="854063"/>
                  </a:lnTo>
                  <a:lnTo>
                    <a:pt x="1269552" y="860828"/>
                  </a:lnTo>
                  <a:lnTo>
                    <a:pt x="86082" y="860828"/>
                  </a:lnTo>
                  <a:lnTo>
                    <a:pt x="52575" y="854063"/>
                  </a:lnTo>
                  <a:lnTo>
                    <a:pt x="25212" y="835615"/>
                  </a:lnTo>
                  <a:lnTo>
                    <a:pt x="6764" y="808252"/>
                  </a:lnTo>
                  <a:lnTo>
                    <a:pt x="0" y="774745"/>
                  </a:lnTo>
                  <a:lnTo>
                    <a:pt x="0" y="86082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486554" y="3360420"/>
            <a:ext cx="969644" cy="43116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16205" marR="5080" indent="-104139">
              <a:lnSpc>
                <a:spcPts val="1510"/>
              </a:lnSpc>
              <a:spcBef>
                <a:spcPts val="290"/>
              </a:spcBef>
            </a:pPr>
            <a:r>
              <a:rPr sz="1400" spc="-70" dirty="0">
                <a:latin typeface="Arial"/>
                <a:cs typeface="Arial"/>
              </a:rPr>
              <a:t>Detección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60" dirty="0">
                <a:latin typeface="Arial"/>
                <a:cs typeface="Arial"/>
              </a:rPr>
              <a:t>de </a:t>
            </a:r>
            <a:r>
              <a:rPr sz="1400" spc="-10" dirty="0">
                <a:latin typeface="Arial"/>
                <a:cs typeface="Arial"/>
              </a:rPr>
              <a:t>anomalías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615183" y="1753880"/>
            <a:ext cx="1532255" cy="1029335"/>
            <a:chOff x="6615183" y="1753880"/>
            <a:chExt cx="1532255" cy="1029335"/>
          </a:xfrm>
        </p:grpSpPr>
        <p:sp>
          <p:nvSpPr>
            <p:cNvPr id="35" name="object 35"/>
            <p:cNvSpPr/>
            <p:nvPr/>
          </p:nvSpPr>
          <p:spPr>
            <a:xfrm>
              <a:off x="6627883" y="1766580"/>
              <a:ext cx="1355725" cy="861060"/>
            </a:xfrm>
            <a:custGeom>
              <a:avLst/>
              <a:gdLst/>
              <a:ahLst/>
              <a:cxnLst/>
              <a:rect l="l" t="t" r="r" b="b"/>
              <a:pathLst>
                <a:path w="1355725" h="861060">
                  <a:moveTo>
                    <a:pt x="1269551" y="0"/>
                  </a:moveTo>
                  <a:lnTo>
                    <a:pt x="86083" y="0"/>
                  </a:lnTo>
                  <a:lnTo>
                    <a:pt x="52575" y="6764"/>
                  </a:lnTo>
                  <a:lnTo>
                    <a:pt x="25213" y="25212"/>
                  </a:lnTo>
                  <a:lnTo>
                    <a:pt x="6764" y="52575"/>
                  </a:lnTo>
                  <a:lnTo>
                    <a:pt x="0" y="86081"/>
                  </a:lnTo>
                  <a:lnTo>
                    <a:pt x="0" y="774745"/>
                  </a:lnTo>
                  <a:lnTo>
                    <a:pt x="6764" y="808252"/>
                  </a:lnTo>
                  <a:lnTo>
                    <a:pt x="25213" y="835614"/>
                  </a:lnTo>
                  <a:lnTo>
                    <a:pt x="52575" y="854062"/>
                  </a:lnTo>
                  <a:lnTo>
                    <a:pt x="86083" y="860827"/>
                  </a:lnTo>
                  <a:lnTo>
                    <a:pt x="1269551" y="860827"/>
                  </a:lnTo>
                  <a:lnTo>
                    <a:pt x="1303059" y="854062"/>
                  </a:lnTo>
                  <a:lnTo>
                    <a:pt x="1330421" y="835614"/>
                  </a:lnTo>
                  <a:lnTo>
                    <a:pt x="1348869" y="808252"/>
                  </a:lnTo>
                  <a:lnTo>
                    <a:pt x="1355634" y="774745"/>
                  </a:lnTo>
                  <a:lnTo>
                    <a:pt x="1355634" y="86081"/>
                  </a:lnTo>
                  <a:lnTo>
                    <a:pt x="1348869" y="52575"/>
                  </a:lnTo>
                  <a:lnTo>
                    <a:pt x="1330421" y="25212"/>
                  </a:lnTo>
                  <a:lnTo>
                    <a:pt x="1303059" y="6764"/>
                  </a:lnTo>
                  <a:lnTo>
                    <a:pt x="1269551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627883" y="1766580"/>
              <a:ext cx="1355725" cy="861060"/>
            </a:xfrm>
            <a:custGeom>
              <a:avLst/>
              <a:gdLst/>
              <a:ahLst/>
              <a:cxnLst/>
              <a:rect l="l" t="t" r="r" b="b"/>
              <a:pathLst>
                <a:path w="1355725" h="861060">
                  <a:moveTo>
                    <a:pt x="0" y="86082"/>
                  </a:moveTo>
                  <a:lnTo>
                    <a:pt x="6764" y="52575"/>
                  </a:lnTo>
                  <a:lnTo>
                    <a:pt x="25212" y="25212"/>
                  </a:lnTo>
                  <a:lnTo>
                    <a:pt x="52575" y="6764"/>
                  </a:lnTo>
                  <a:lnTo>
                    <a:pt x="86082" y="0"/>
                  </a:lnTo>
                  <a:lnTo>
                    <a:pt x="1269552" y="0"/>
                  </a:lnTo>
                  <a:lnTo>
                    <a:pt x="1303059" y="6764"/>
                  </a:lnTo>
                  <a:lnTo>
                    <a:pt x="1330421" y="25212"/>
                  </a:lnTo>
                  <a:lnTo>
                    <a:pt x="1348869" y="52575"/>
                  </a:lnTo>
                  <a:lnTo>
                    <a:pt x="1355634" y="86082"/>
                  </a:lnTo>
                  <a:lnTo>
                    <a:pt x="1355634" y="774745"/>
                  </a:lnTo>
                  <a:lnTo>
                    <a:pt x="1348869" y="808252"/>
                  </a:lnTo>
                  <a:lnTo>
                    <a:pt x="1330421" y="835615"/>
                  </a:lnTo>
                  <a:lnTo>
                    <a:pt x="1303059" y="854063"/>
                  </a:lnTo>
                  <a:lnTo>
                    <a:pt x="1269552" y="860828"/>
                  </a:lnTo>
                  <a:lnTo>
                    <a:pt x="86082" y="860828"/>
                  </a:lnTo>
                  <a:lnTo>
                    <a:pt x="52575" y="854063"/>
                  </a:lnTo>
                  <a:lnTo>
                    <a:pt x="25212" y="835615"/>
                  </a:lnTo>
                  <a:lnTo>
                    <a:pt x="6764" y="808252"/>
                  </a:lnTo>
                  <a:lnTo>
                    <a:pt x="0" y="774745"/>
                  </a:lnTo>
                  <a:lnTo>
                    <a:pt x="0" y="86082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778509" y="1909674"/>
              <a:ext cx="1355725" cy="861060"/>
            </a:xfrm>
            <a:custGeom>
              <a:avLst/>
              <a:gdLst/>
              <a:ahLst/>
              <a:cxnLst/>
              <a:rect l="l" t="t" r="r" b="b"/>
              <a:pathLst>
                <a:path w="1355725" h="861060">
                  <a:moveTo>
                    <a:pt x="1269552" y="0"/>
                  </a:moveTo>
                  <a:lnTo>
                    <a:pt x="86083" y="0"/>
                  </a:lnTo>
                  <a:lnTo>
                    <a:pt x="52575" y="6764"/>
                  </a:lnTo>
                  <a:lnTo>
                    <a:pt x="25213" y="25212"/>
                  </a:lnTo>
                  <a:lnTo>
                    <a:pt x="6764" y="52575"/>
                  </a:lnTo>
                  <a:lnTo>
                    <a:pt x="0" y="86081"/>
                  </a:lnTo>
                  <a:lnTo>
                    <a:pt x="0" y="774745"/>
                  </a:lnTo>
                  <a:lnTo>
                    <a:pt x="6764" y="808252"/>
                  </a:lnTo>
                  <a:lnTo>
                    <a:pt x="25213" y="835615"/>
                  </a:lnTo>
                  <a:lnTo>
                    <a:pt x="52575" y="854062"/>
                  </a:lnTo>
                  <a:lnTo>
                    <a:pt x="86083" y="860827"/>
                  </a:lnTo>
                  <a:lnTo>
                    <a:pt x="1269552" y="860827"/>
                  </a:lnTo>
                  <a:lnTo>
                    <a:pt x="1303059" y="854062"/>
                  </a:lnTo>
                  <a:lnTo>
                    <a:pt x="1330421" y="835615"/>
                  </a:lnTo>
                  <a:lnTo>
                    <a:pt x="1348870" y="808252"/>
                  </a:lnTo>
                  <a:lnTo>
                    <a:pt x="1355634" y="774745"/>
                  </a:lnTo>
                  <a:lnTo>
                    <a:pt x="1355634" y="86081"/>
                  </a:lnTo>
                  <a:lnTo>
                    <a:pt x="1348870" y="52575"/>
                  </a:lnTo>
                  <a:lnTo>
                    <a:pt x="1330421" y="25212"/>
                  </a:lnTo>
                  <a:lnTo>
                    <a:pt x="1303059" y="6764"/>
                  </a:lnTo>
                  <a:lnTo>
                    <a:pt x="1269552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778509" y="1909674"/>
              <a:ext cx="1355725" cy="861060"/>
            </a:xfrm>
            <a:custGeom>
              <a:avLst/>
              <a:gdLst/>
              <a:ahLst/>
              <a:cxnLst/>
              <a:rect l="l" t="t" r="r" b="b"/>
              <a:pathLst>
                <a:path w="1355725" h="861060">
                  <a:moveTo>
                    <a:pt x="0" y="86082"/>
                  </a:moveTo>
                  <a:lnTo>
                    <a:pt x="6764" y="52575"/>
                  </a:lnTo>
                  <a:lnTo>
                    <a:pt x="25212" y="25212"/>
                  </a:lnTo>
                  <a:lnTo>
                    <a:pt x="52575" y="6764"/>
                  </a:lnTo>
                  <a:lnTo>
                    <a:pt x="86082" y="0"/>
                  </a:lnTo>
                  <a:lnTo>
                    <a:pt x="1269552" y="0"/>
                  </a:lnTo>
                  <a:lnTo>
                    <a:pt x="1303059" y="6764"/>
                  </a:lnTo>
                  <a:lnTo>
                    <a:pt x="1330421" y="25212"/>
                  </a:lnTo>
                  <a:lnTo>
                    <a:pt x="1348869" y="52575"/>
                  </a:lnTo>
                  <a:lnTo>
                    <a:pt x="1355634" y="86082"/>
                  </a:lnTo>
                  <a:lnTo>
                    <a:pt x="1355634" y="774745"/>
                  </a:lnTo>
                  <a:lnTo>
                    <a:pt x="1348869" y="808252"/>
                  </a:lnTo>
                  <a:lnTo>
                    <a:pt x="1330421" y="835615"/>
                  </a:lnTo>
                  <a:lnTo>
                    <a:pt x="1303059" y="854063"/>
                  </a:lnTo>
                  <a:lnTo>
                    <a:pt x="1269552" y="860828"/>
                  </a:lnTo>
                  <a:lnTo>
                    <a:pt x="86082" y="860828"/>
                  </a:lnTo>
                  <a:lnTo>
                    <a:pt x="52575" y="854063"/>
                  </a:lnTo>
                  <a:lnTo>
                    <a:pt x="25212" y="835615"/>
                  </a:lnTo>
                  <a:lnTo>
                    <a:pt x="6764" y="808252"/>
                  </a:lnTo>
                  <a:lnTo>
                    <a:pt x="0" y="774745"/>
                  </a:lnTo>
                  <a:lnTo>
                    <a:pt x="0" y="86082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949913" y="2205227"/>
            <a:ext cx="10128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40" dirty="0">
                <a:latin typeface="Arial"/>
                <a:cs typeface="Arial"/>
              </a:rPr>
              <a:t>Manipulación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786740" y="3008972"/>
            <a:ext cx="1532255" cy="1029335"/>
            <a:chOff x="5786740" y="3008972"/>
            <a:chExt cx="1532255" cy="1029335"/>
          </a:xfrm>
        </p:grpSpPr>
        <p:sp>
          <p:nvSpPr>
            <p:cNvPr id="41" name="object 41"/>
            <p:cNvSpPr/>
            <p:nvPr/>
          </p:nvSpPr>
          <p:spPr>
            <a:xfrm>
              <a:off x="5799440" y="3021672"/>
              <a:ext cx="1355725" cy="861060"/>
            </a:xfrm>
            <a:custGeom>
              <a:avLst/>
              <a:gdLst/>
              <a:ahLst/>
              <a:cxnLst/>
              <a:rect l="l" t="t" r="r" b="b"/>
              <a:pathLst>
                <a:path w="1355725" h="861060">
                  <a:moveTo>
                    <a:pt x="1269551" y="0"/>
                  </a:moveTo>
                  <a:lnTo>
                    <a:pt x="86081" y="0"/>
                  </a:lnTo>
                  <a:lnTo>
                    <a:pt x="52575" y="6764"/>
                  </a:lnTo>
                  <a:lnTo>
                    <a:pt x="25212" y="25212"/>
                  </a:lnTo>
                  <a:lnTo>
                    <a:pt x="6764" y="52575"/>
                  </a:lnTo>
                  <a:lnTo>
                    <a:pt x="0" y="86081"/>
                  </a:lnTo>
                  <a:lnTo>
                    <a:pt x="0" y="774745"/>
                  </a:lnTo>
                  <a:lnTo>
                    <a:pt x="6764" y="808253"/>
                  </a:lnTo>
                  <a:lnTo>
                    <a:pt x="25212" y="835615"/>
                  </a:lnTo>
                  <a:lnTo>
                    <a:pt x="52575" y="854063"/>
                  </a:lnTo>
                  <a:lnTo>
                    <a:pt x="86081" y="860828"/>
                  </a:lnTo>
                  <a:lnTo>
                    <a:pt x="1269551" y="860828"/>
                  </a:lnTo>
                  <a:lnTo>
                    <a:pt x="1303058" y="854063"/>
                  </a:lnTo>
                  <a:lnTo>
                    <a:pt x="1330421" y="835615"/>
                  </a:lnTo>
                  <a:lnTo>
                    <a:pt x="1348868" y="808253"/>
                  </a:lnTo>
                  <a:lnTo>
                    <a:pt x="1355633" y="774745"/>
                  </a:lnTo>
                  <a:lnTo>
                    <a:pt x="1355633" y="86081"/>
                  </a:lnTo>
                  <a:lnTo>
                    <a:pt x="1348868" y="52575"/>
                  </a:lnTo>
                  <a:lnTo>
                    <a:pt x="1330421" y="25212"/>
                  </a:lnTo>
                  <a:lnTo>
                    <a:pt x="1303058" y="6764"/>
                  </a:lnTo>
                  <a:lnTo>
                    <a:pt x="1269551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799440" y="3021672"/>
              <a:ext cx="1355725" cy="861060"/>
            </a:xfrm>
            <a:custGeom>
              <a:avLst/>
              <a:gdLst/>
              <a:ahLst/>
              <a:cxnLst/>
              <a:rect l="l" t="t" r="r" b="b"/>
              <a:pathLst>
                <a:path w="1355725" h="861060">
                  <a:moveTo>
                    <a:pt x="0" y="86082"/>
                  </a:moveTo>
                  <a:lnTo>
                    <a:pt x="6764" y="52575"/>
                  </a:lnTo>
                  <a:lnTo>
                    <a:pt x="25212" y="25212"/>
                  </a:lnTo>
                  <a:lnTo>
                    <a:pt x="52575" y="6764"/>
                  </a:lnTo>
                  <a:lnTo>
                    <a:pt x="86082" y="0"/>
                  </a:lnTo>
                  <a:lnTo>
                    <a:pt x="1269552" y="0"/>
                  </a:lnTo>
                  <a:lnTo>
                    <a:pt x="1303059" y="6764"/>
                  </a:lnTo>
                  <a:lnTo>
                    <a:pt x="1330421" y="25212"/>
                  </a:lnTo>
                  <a:lnTo>
                    <a:pt x="1348869" y="52575"/>
                  </a:lnTo>
                  <a:lnTo>
                    <a:pt x="1355634" y="86082"/>
                  </a:lnTo>
                  <a:lnTo>
                    <a:pt x="1355634" y="774745"/>
                  </a:lnTo>
                  <a:lnTo>
                    <a:pt x="1348869" y="808252"/>
                  </a:lnTo>
                  <a:lnTo>
                    <a:pt x="1330421" y="835615"/>
                  </a:lnTo>
                  <a:lnTo>
                    <a:pt x="1303059" y="854063"/>
                  </a:lnTo>
                  <a:lnTo>
                    <a:pt x="1269552" y="860828"/>
                  </a:lnTo>
                  <a:lnTo>
                    <a:pt x="86082" y="860828"/>
                  </a:lnTo>
                  <a:lnTo>
                    <a:pt x="52575" y="854063"/>
                  </a:lnTo>
                  <a:lnTo>
                    <a:pt x="25212" y="835615"/>
                  </a:lnTo>
                  <a:lnTo>
                    <a:pt x="6764" y="808252"/>
                  </a:lnTo>
                  <a:lnTo>
                    <a:pt x="0" y="774745"/>
                  </a:lnTo>
                  <a:lnTo>
                    <a:pt x="0" y="86082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950066" y="3164766"/>
              <a:ext cx="1355725" cy="861060"/>
            </a:xfrm>
            <a:custGeom>
              <a:avLst/>
              <a:gdLst/>
              <a:ahLst/>
              <a:cxnLst/>
              <a:rect l="l" t="t" r="r" b="b"/>
              <a:pathLst>
                <a:path w="1355725" h="861060">
                  <a:moveTo>
                    <a:pt x="1269551" y="0"/>
                  </a:moveTo>
                  <a:lnTo>
                    <a:pt x="86081" y="0"/>
                  </a:lnTo>
                  <a:lnTo>
                    <a:pt x="52575" y="6764"/>
                  </a:lnTo>
                  <a:lnTo>
                    <a:pt x="25212" y="25213"/>
                  </a:lnTo>
                  <a:lnTo>
                    <a:pt x="6764" y="52575"/>
                  </a:lnTo>
                  <a:lnTo>
                    <a:pt x="0" y="86083"/>
                  </a:lnTo>
                  <a:lnTo>
                    <a:pt x="0" y="774746"/>
                  </a:lnTo>
                  <a:lnTo>
                    <a:pt x="6764" y="808253"/>
                  </a:lnTo>
                  <a:lnTo>
                    <a:pt x="25212" y="835615"/>
                  </a:lnTo>
                  <a:lnTo>
                    <a:pt x="52575" y="854063"/>
                  </a:lnTo>
                  <a:lnTo>
                    <a:pt x="86081" y="860828"/>
                  </a:lnTo>
                  <a:lnTo>
                    <a:pt x="1269551" y="860828"/>
                  </a:lnTo>
                  <a:lnTo>
                    <a:pt x="1303058" y="854063"/>
                  </a:lnTo>
                  <a:lnTo>
                    <a:pt x="1330421" y="835615"/>
                  </a:lnTo>
                  <a:lnTo>
                    <a:pt x="1348868" y="808253"/>
                  </a:lnTo>
                  <a:lnTo>
                    <a:pt x="1355633" y="774746"/>
                  </a:lnTo>
                  <a:lnTo>
                    <a:pt x="1355633" y="86083"/>
                  </a:lnTo>
                  <a:lnTo>
                    <a:pt x="1348868" y="52575"/>
                  </a:lnTo>
                  <a:lnTo>
                    <a:pt x="1330421" y="25213"/>
                  </a:lnTo>
                  <a:lnTo>
                    <a:pt x="1303058" y="6764"/>
                  </a:lnTo>
                  <a:lnTo>
                    <a:pt x="1269551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950066" y="3164766"/>
              <a:ext cx="1355725" cy="861060"/>
            </a:xfrm>
            <a:custGeom>
              <a:avLst/>
              <a:gdLst/>
              <a:ahLst/>
              <a:cxnLst/>
              <a:rect l="l" t="t" r="r" b="b"/>
              <a:pathLst>
                <a:path w="1355725" h="861060">
                  <a:moveTo>
                    <a:pt x="0" y="86082"/>
                  </a:moveTo>
                  <a:lnTo>
                    <a:pt x="6764" y="52575"/>
                  </a:lnTo>
                  <a:lnTo>
                    <a:pt x="25212" y="25212"/>
                  </a:lnTo>
                  <a:lnTo>
                    <a:pt x="52575" y="6764"/>
                  </a:lnTo>
                  <a:lnTo>
                    <a:pt x="86082" y="0"/>
                  </a:lnTo>
                  <a:lnTo>
                    <a:pt x="1269552" y="0"/>
                  </a:lnTo>
                  <a:lnTo>
                    <a:pt x="1303059" y="6764"/>
                  </a:lnTo>
                  <a:lnTo>
                    <a:pt x="1330421" y="25212"/>
                  </a:lnTo>
                  <a:lnTo>
                    <a:pt x="1348869" y="52575"/>
                  </a:lnTo>
                  <a:lnTo>
                    <a:pt x="1355634" y="86082"/>
                  </a:lnTo>
                  <a:lnTo>
                    <a:pt x="1355634" y="774745"/>
                  </a:lnTo>
                  <a:lnTo>
                    <a:pt x="1348869" y="808252"/>
                  </a:lnTo>
                  <a:lnTo>
                    <a:pt x="1330421" y="835615"/>
                  </a:lnTo>
                  <a:lnTo>
                    <a:pt x="1303059" y="854063"/>
                  </a:lnTo>
                  <a:lnTo>
                    <a:pt x="1269552" y="860828"/>
                  </a:lnTo>
                  <a:lnTo>
                    <a:pt x="86082" y="860828"/>
                  </a:lnTo>
                  <a:lnTo>
                    <a:pt x="52575" y="854063"/>
                  </a:lnTo>
                  <a:lnTo>
                    <a:pt x="25212" y="835615"/>
                  </a:lnTo>
                  <a:lnTo>
                    <a:pt x="6764" y="808252"/>
                  </a:lnTo>
                  <a:lnTo>
                    <a:pt x="0" y="774745"/>
                  </a:lnTo>
                  <a:lnTo>
                    <a:pt x="0" y="86082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6054732" y="3262884"/>
            <a:ext cx="1146810" cy="61976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065" marR="5080" indent="-635" algn="ctr">
              <a:lnSpc>
                <a:spcPct val="89300"/>
              </a:lnSpc>
              <a:spcBef>
                <a:spcPts val="280"/>
              </a:spcBef>
            </a:pPr>
            <a:r>
              <a:rPr sz="1400" spc="-114" dirty="0">
                <a:latin typeface="Arial"/>
                <a:cs typeface="Arial"/>
              </a:rPr>
              <a:t>Escalado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y </a:t>
            </a:r>
            <a:r>
              <a:rPr sz="1400" spc="-10" dirty="0">
                <a:latin typeface="Arial"/>
                <a:cs typeface="Arial"/>
              </a:rPr>
              <a:t>centrado, </a:t>
            </a:r>
            <a:r>
              <a:rPr sz="1400" spc="-95" dirty="0">
                <a:latin typeface="Arial"/>
                <a:cs typeface="Arial"/>
              </a:rPr>
              <a:t>Discretización…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7443627" y="3008972"/>
            <a:ext cx="1532255" cy="1029335"/>
            <a:chOff x="7443627" y="3008972"/>
            <a:chExt cx="1532255" cy="1029335"/>
          </a:xfrm>
        </p:grpSpPr>
        <p:sp>
          <p:nvSpPr>
            <p:cNvPr id="47" name="object 47"/>
            <p:cNvSpPr/>
            <p:nvPr/>
          </p:nvSpPr>
          <p:spPr>
            <a:xfrm>
              <a:off x="7456327" y="3021672"/>
              <a:ext cx="1355725" cy="861060"/>
            </a:xfrm>
            <a:custGeom>
              <a:avLst/>
              <a:gdLst/>
              <a:ahLst/>
              <a:cxnLst/>
              <a:rect l="l" t="t" r="r" b="b"/>
              <a:pathLst>
                <a:path w="1355725" h="861060">
                  <a:moveTo>
                    <a:pt x="1269551" y="0"/>
                  </a:moveTo>
                  <a:lnTo>
                    <a:pt x="86081" y="0"/>
                  </a:lnTo>
                  <a:lnTo>
                    <a:pt x="52575" y="6764"/>
                  </a:lnTo>
                  <a:lnTo>
                    <a:pt x="25212" y="25212"/>
                  </a:lnTo>
                  <a:lnTo>
                    <a:pt x="6764" y="52575"/>
                  </a:lnTo>
                  <a:lnTo>
                    <a:pt x="0" y="86081"/>
                  </a:lnTo>
                  <a:lnTo>
                    <a:pt x="0" y="774745"/>
                  </a:lnTo>
                  <a:lnTo>
                    <a:pt x="6764" y="808253"/>
                  </a:lnTo>
                  <a:lnTo>
                    <a:pt x="25212" y="835615"/>
                  </a:lnTo>
                  <a:lnTo>
                    <a:pt x="52575" y="854063"/>
                  </a:lnTo>
                  <a:lnTo>
                    <a:pt x="86081" y="860828"/>
                  </a:lnTo>
                  <a:lnTo>
                    <a:pt x="1269551" y="860828"/>
                  </a:lnTo>
                  <a:lnTo>
                    <a:pt x="1303058" y="854063"/>
                  </a:lnTo>
                  <a:lnTo>
                    <a:pt x="1330421" y="835615"/>
                  </a:lnTo>
                  <a:lnTo>
                    <a:pt x="1348868" y="808253"/>
                  </a:lnTo>
                  <a:lnTo>
                    <a:pt x="1355633" y="774745"/>
                  </a:lnTo>
                  <a:lnTo>
                    <a:pt x="1355633" y="86081"/>
                  </a:lnTo>
                  <a:lnTo>
                    <a:pt x="1348868" y="52575"/>
                  </a:lnTo>
                  <a:lnTo>
                    <a:pt x="1330421" y="25212"/>
                  </a:lnTo>
                  <a:lnTo>
                    <a:pt x="1303058" y="6764"/>
                  </a:lnTo>
                  <a:lnTo>
                    <a:pt x="1269551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456327" y="3021672"/>
              <a:ext cx="1355725" cy="861060"/>
            </a:xfrm>
            <a:custGeom>
              <a:avLst/>
              <a:gdLst/>
              <a:ahLst/>
              <a:cxnLst/>
              <a:rect l="l" t="t" r="r" b="b"/>
              <a:pathLst>
                <a:path w="1355725" h="861060">
                  <a:moveTo>
                    <a:pt x="0" y="86082"/>
                  </a:moveTo>
                  <a:lnTo>
                    <a:pt x="6764" y="52575"/>
                  </a:lnTo>
                  <a:lnTo>
                    <a:pt x="25212" y="25212"/>
                  </a:lnTo>
                  <a:lnTo>
                    <a:pt x="52575" y="6764"/>
                  </a:lnTo>
                  <a:lnTo>
                    <a:pt x="86082" y="0"/>
                  </a:lnTo>
                  <a:lnTo>
                    <a:pt x="1269552" y="0"/>
                  </a:lnTo>
                  <a:lnTo>
                    <a:pt x="1303059" y="6764"/>
                  </a:lnTo>
                  <a:lnTo>
                    <a:pt x="1330421" y="25212"/>
                  </a:lnTo>
                  <a:lnTo>
                    <a:pt x="1348869" y="52575"/>
                  </a:lnTo>
                  <a:lnTo>
                    <a:pt x="1355634" y="86082"/>
                  </a:lnTo>
                  <a:lnTo>
                    <a:pt x="1355634" y="774745"/>
                  </a:lnTo>
                  <a:lnTo>
                    <a:pt x="1348869" y="808252"/>
                  </a:lnTo>
                  <a:lnTo>
                    <a:pt x="1330421" y="835615"/>
                  </a:lnTo>
                  <a:lnTo>
                    <a:pt x="1303059" y="854063"/>
                  </a:lnTo>
                  <a:lnTo>
                    <a:pt x="1269552" y="860828"/>
                  </a:lnTo>
                  <a:lnTo>
                    <a:pt x="86082" y="860828"/>
                  </a:lnTo>
                  <a:lnTo>
                    <a:pt x="52575" y="854063"/>
                  </a:lnTo>
                  <a:lnTo>
                    <a:pt x="25212" y="835615"/>
                  </a:lnTo>
                  <a:lnTo>
                    <a:pt x="6764" y="808252"/>
                  </a:lnTo>
                  <a:lnTo>
                    <a:pt x="0" y="774745"/>
                  </a:lnTo>
                  <a:lnTo>
                    <a:pt x="0" y="86082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606953" y="3164766"/>
              <a:ext cx="1355725" cy="861060"/>
            </a:xfrm>
            <a:custGeom>
              <a:avLst/>
              <a:gdLst/>
              <a:ahLst/>
              <a:cxnLst/>
              <a:rect l="l" t="t" r="r" b="b"/>
              <a:pathLst>
                <a:path w="1355725" h="861060">
                  <a:moveTo>
                    <a:pt x="1269551" y="0"/>
                  </a:moveTo>
                  <a:lnTo>
                    <a:pt x="86081" y="0"/>
                  </a:lnTo>
                  <a:lnTo>
                    <a:pt x="52575" y="6764"/>
                  </a:lnTo>
                  <a:lnTo>
                    <a:pt x="25212" y="25213"/>
                  </a:lnTo>
                  <a:lnTo>
                    <a:pt x="6764" y="52575"/>
                  </a:lnTo>
                  <a:lnTo>
                    <a:pt x="0" y="86083"/>
                  </a:lnTo>
                  <a:lnTo>
                    <a:pt x="0" y="774746"/>
                  </a:lnTo>
                  <a:lnTo>
                    <a:pt x="6764" y="808253"/>
                  </a:lnTo>
                  <a:lnTo>
                    <a:pt x="25212" y="835615"/>
                  </a:lnTo>
                  <a:lnTo>
                    <a:pt x="52575" y="854063"/>
                  </a:lnTo>
                  <a:lnTo>
                    <a:pt x="86081" y="860828"/>
                  </a:lnTo>
                  <a:lnTo>
                    <a:pt x="1269551" y="860828"/>
                  </a:lnTo>
                  <a:lnTo>
                    <a:pt x="1303059" y="854063"/>
                  </a:lnTo>
                  <a:lnTo>
                    <a:pt x="1330421" y="835615"/>
                  </a:lnTo>
                  <a:lnTo>
                    <a:pt x="1348869" y="808253"/>
                  </a:lnTo>
                  <a:lnTo>
                    <a:pt x="1355634" y="774746"/>
                  </a:lnTo>
                  <a:lnTo>
                    <a:pt x="1355634" y="86083"/>
                  </a:lnTo>
                  <a:lnTo>
                    <a:pt x="1348869" y="52575"/>
                  </a:lnTo>
                  <a:lnTo>
                    <a:pt x="1330421" y="25213"/>
                  </a:lnTo>
                  <a:lnTo>
                    <a:pt x="1303059" y="6764"/>
                  </a:lnTo>
                  <a:lnTo>
                    <a:pt x="1269551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606953" y="3164766"/>
              <a:ext cx="1355725" cy="861060"/>
            </a:xfrm>
            <a:custGeom>
              <a:avLst/>
              <a:gdLst/>
              <a:ahLst/>
              <a:cxnLst/>
              <a:rect l="l" t="t" r="r" b="b"/>
              <a:pathLst>
                <a:path w="1355725" h="861060">
                  <a:moveTo>
                    <a:pt x="0" y="86082"/>
                  </a:moveTo>
                  <a:lnTo>
                    <a:pt x="6764" y="52575"/>
                  </a:lnTo>
                  <a:lnTo>
                    <a:pt x="25212" y="25212"/>
                  </a:lnTo>
                  <a:lnTo>
                    <a:pt x="52575" y="6764"/>
                  </a:lnTo>
                  <a:lnTo>
                    <a:pt x="86082" y="0"/>
                  </a:lnTo>
                  <a:lnTo>
                    <a:pt x="1269552" y="0"/>
                  </a:lnTo>
                  <a:lnTo>
                    <a:pt x="1303059" y="6764"/>
                  </a:lnTo>
                  <a:lnTo>
                    <a:pt x="1330421" y="25212"/>
                  </a:lnTo>
                  <a:lnTo>
                    <a:pt x="1348869" y="52575"/>
                  </a:lnTo>
                  <a:lnTo>
                    <a:pt x="1355634" y="86082"/>
                  </a:lnTo>
                  <a:lnTo>
                    <a:pt x="1355634" y="774745"/>
                  </a:lnTo>
                  <a:lnTo>
                    <a:pt x="1348869" y="808252"/>
                  </a:lnTo>
                  <a:lnTo>
                    <a:pt x="1330421" y="835615"/>
                  </a:lnTo>
                  <a:lnTo>
                    <a:pt x="1303059" y="854063"/>
                  </a:lnTo>
                  <a:lnTo>
                    <a:pt x="1269552" y="860828"/>
                  </a:lnTo>
                  <a:lnTo>
                    <a:pt x="86082" y="860828"/>
                  </a:lnTo>
                  <a:lnTo>
                    <a:pt x="52575" y="854063"/>
                  </a:lnTo>
                  <a:lnTo>
                    <a:pt x="25212" y="835615"/>
                  </a:lnTo>
                  <a:lnTo>
                    <a:pt x="6764" y="808252"/>
                  </a:lnTo>
                  <a:lnTo>
                    <a:pt x="0" y="774745"/>
                  </a:lnTo>
                  <a:lnTo>
                    <a:pt x="0" y="86082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7699268" y="3262884"/>
            <a:ext cx="1170940" cy="61976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algn="ctr">
              <a:lnSpc>
                <a:spcPct val="89300"/>
              </a:lnSpc>
              <a:spcBef>
                <a:spcPts val="280"/>
              </a:spcBef>
            </a:pPr>
            <a:r>
              <a:rPr sz="1400" spc="-75" dirty="0">
                <a:latin typeface="Arial"/>
                <a:cs typeface="Arial"/>
              </a:rPr>
              <a:t>Extracción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y </a:t>
            </a:r>
            <a:r>
              <a:rPr sz="1400" spc="-75" dirty="0">
                <a:latin typeface="Arial"/>
                <a:cs typeface="Arial"/>
              </a:rPr>
              <a:t>selección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de </a:t>
            </a:r>
            <a:r>
              <a:rPr sz="1400" spc="-95" dirty="0">
                <a:latin typeface="Arial"/>
                <a:cs typeface="Arial"/>
              </a:rPr>
              <a:t>características…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0982" y="253491"/>
            <a:ext cx="230505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27940" marR="140335">
              <a:lnSpc>
                <a:spcPct val="71000"/>
              </a:lnSpc>
              <a:spcBef>
                <a:spcPts val="149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El</a:t>
            </a:r>
            <a:r>
              <a:rPr sz="4000" b="1" spc="-4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proceso 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ETL</a:t>
            </a:r>
            <a:endParaRPr sz="40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Transformación: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344302" y="244347"/>
            <a:ext cx="4692015" cy="897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60" dirty="0">
                <a:latin typeface="Arial"/>
                <a:cs typeface="Arial"/>
              </a:rPr>
              <a:t>Homogeneización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de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valores</a:t>
            </a:r>
            <a:endParaRPr sz="2800">
              <a:latin typeface="Arial"/>
              <a:cs typeface="Arial"/>
            </a:endParaRPr>
          </a:p>
          <a:p>
            <a:pPr marL="755015" lvl="1" indent="-320675">
              <a:lnSpc>
                <a:spcPct val="100000"/>
              </a:lnSpc>
              <a:spcBef>
                <a:spcPts val="145"/>
              </a:spcBef>
              <a:buFont typeface="Apple SD Gothic Neo Light"/>
              <a:buChar char="■"/>
              <a:tabLst>
                <a:tab pos="755015" algn="l"/>
              </a:tabLst>
            </a:pPr>
            <a:r>
              <a:rPr sz="2800" spc="-235" dirty="0">
                <a:latin typeface="Arial"/>
                <a:cs typeface="Arial"/>
              </a:rPr>
              <a:t>Fechas,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60" dirty="0">
                <a:latin typeface="Arial"/>
                <a:cs typeface="Arial"/>
              </a:rPr>
              <a:t>monedas,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310" dirty="0">
                <a:latin typeface="Arial"/>
                <a:cs typeface="Arial"/>
              </a:rPr>
              <a:t>escalas…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44302" y="1146555"/>
            <a:ext cx="37433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25" dirty="0">
                <a:latin typeface="Arial"/>
                <a:cs typeface="Arial"/>
              </a:rPr>
              <a:t>Eliminación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registros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30052" y="1439163"/>
            <a:ext cx="15811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20" dirty="0">
                <a:latin typeface="Arial"/>
                <a:cs typeface="Arial"/>
              </a:rPr>
              <a:t>duplicados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01502" y="1896363"/>
            <a:ext cx="37236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85" dirty="0">
                <a:latin typeface="Arial"/>
                <a:cs typeface="Arial"/>
              </a:rPr>
              <a:t>Redundancias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(cuentas,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87252" y="2188971"/>
            <a:ext cx="14833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80" dirty="0">
                <a:latin typeface="Arial"/>
                <a:cs typeface="Arial"/>
              </a:rPr>
              <a:t>clientes…)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01502" y="2646171"/>
            <a:ext cx="37331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75" dirty="0">
                <a:latin typeface="Arial"/>
                <a:cs typeface="Arial"/>
              </a:rPr>
              <a:t>Selección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variables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01502" y="2908299"/>
            <a:ext cx="4657725" cy="9398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340"/>
              </a:spcBef>
            </a:pPr>
            <a:r>
              <a:rPr sz="2800" spc="-45" dirty="0">
                <a:latin typeface="Arial"/>
                <a:cs typeface="Arial"/>
              </a:rPr>
              <a:t>instancias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2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25" dirty="0">
                <a:latin typeface="Arial"/>
                <a:cs typeface="Arial"/>
              </a:rPr>
              <a:t>Optimizan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toma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decisiones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141605">
              <a:lnSpc>
                <a:spcPct val="71000"/>
              </a:lnSpc>
              <a:spcBef>
                <a:spcPts val="149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El</a:t>
            </a:r>
            <a:r>
              <a:rPr sz="4000" b="1" spc="-4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proceso 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ETL</a:t>
            </a:r>
            <a:endParaRPr sz="4000">
              <a:latin typeface="Arial Narrow"/>
              <a:cs typeface="Arial Narrow"/>
            </a:endParaRPr>
          </a:p>
          <a:p>
            <a:pPr marL="1355725">
              <a:lnSpc>
                <a:spcPct val="100000"/>
              </a:lnSpc>
              <a:spcBef>
                <a:spcPts val="24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Carga: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344302" y="244347"/>
            <a:ext cx="3935095" cy="2256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75" dirty="0">
                <a:latin typeface="Arial"/>
                <a:cs typeface="Arial"/>
              </a:rPr>
              <a:t>Datos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transformados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45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375" dirty="0">
                <a:latin typeface="Arial"/>
                <a:cs typeface="Arial"/>
              </a:rPr>
              <a:t>OLAP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2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45" dirty="0">
                <a:latin typeface="Arial"/>
                <a:cs typeface="Arial"/>
              </a:rPr>
              <a:t>Local/Distribuida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40" dirty="0">
                <a:latin typeface="Arial"/>
                <a:cs typeface="Arial"/>
              </a:rPr>
              <a:t>Automatizada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2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35" dirty="0">
                <a:latin typeface="Arial"/>
                <a:cs typeface="Arial"/>
              </a:rPr>
              <a:t>Actualización/Reemplazo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799452" y="2541147"/>
            <a:ext cx="3789045" cy="2602865"/>
            <a:chOff x="3799452" y="2541147"/>
            <a:chExt cx="3789045" cy="260286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1543" y="2541147"/>
              <a:ext cx="3384376" cy="253828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99452" y="4194455"/>
              <a:ext cx="3788559" cy="94904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0445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140970">
              <a:lnSpc>
                <a:spcPct val="71000"/>
              </a:lnSpc>
              <a:spcBef>
                <a:spcPts val="149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El</a:t>
            </a:r>
            <a:r>
              <a:rPr sz="4000" b="1" spc="-4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proceso 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ETL</a:t>
            </a:r>
            <a:endParaRPr sz="4000">
              <a:latin typeface="Arial Narrow"/>
              <a:cs typeface="Arial Narrow"/>
            </a:endParaRPr>
          </a:p>
          <a:p>
            <a:pPr marL="1355090">
              <a:lnSpc>
                <a:spcPct val="100000"/>
              </a:lnSpc>
              <a:spcBef>
                <a:spcPts val="24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Carga: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354595" y="149859"/>
            <a:ext cx="3333750" cy="17964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45" dirty="0">
                <a:latin typeface="Arial"/>
                <a:cs typeface="Arial"/>
              </a:rPr>
              <a:t>Local/Distribuida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2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85" dirty="0">
                <a:latin typeface="Arial"/>
                <a:cs typeface="Arial"/>
              </a:rPr>
              <a:t>Sincronización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2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215" dirty="0">
                <a:latin typeface="Arial"/>
                <a:cs typeface="Arial"/>
              </a:rPr>
              <a:t>Coste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computacional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45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215" dirty="0">
                <a:latin typeface="Arial"/>
                <a:cs typeface="Arial"/>
              </a:rPr>
              <a:t>Copias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 </a:t>
            </a:r>
            <a:r>
              <a:rPr sz="2800" spc="-25" dirty="0">
                <a:latin typeface="Arial"/>
                <a:cs typeface="Arial"/>
              </a:rPr>
              <a:t>seguridad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19554" y="2362435"/>
            <a:ext cx="3789045" cy="2781300"/>
            <a:chOff x="3819554" y="2362435"/>
            <a:chExt cx="3789045" cy="27813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21645" y="2362435"/>
              <a:ext cx="3384376" cy="253828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9554" y="4015744"/>
              <a:ext cx="3788559" cy="112775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0"/>
            <a:ext cx="5002530" cy="3938270"/>
          </a:xfrm>
          <a:custGeom>
            <a:avLst/>
            <a:gdLst/>
            <a:ahLst/>
            <a:cxnLst/>
            <a:rect l="l" t="t" r="r" b="b"/>
            <a:pathLst>
              <a:path w="5002530" h="3938270">
                <a:moveTo>
                  <a:pt x="0" y="1704928"/>
                </a:moveTo>
                <a:lnTo>
                  <a:pt x="0" y="3856309"/>
                </a:lnTo>
                <a:lnTo>
                  <a:pt x="579720" y="3937783"/>
                </a:lnTo>
                <a:lnTo>
                  <a:pt x="1255398" y="2957054"/>
                </a:lnTo>
                <a:lnTo>
                  <a:pt x="876220" y="1828073"/>
                </a:lnTo>
                <a:lnTo>
                  <a:pt x="0" y="1704928"/>
                </a:lnTo>
                <a:close/>
              </a:path>
              <a:path w="5002530" h="3938270">
                <a:moveTo>
                  <a:pt x="1716059" y="768286"/>
                </a:moveTo>
                <a:lnTo>
                  <a:pt x="1040381" y="1749016"/>
                </a:lnTo>
                <a:lnTo>
                  <a:pt x="1419558" y="2877996"/>
                </a:lnTo>
                <a:lnTo>
                  <a:pt x="2811966" y="3073687"/>
                </a:lnTo>
                <a:lnTo>
                  <a:pt x="3487644" y="2092957"/>
                </a:lnTo>
                <a:lnTo>
                  <a:pt x="3108467" y="963976"/>
                </a:lnTo>
                <a:lnTo>
                  <a:pt x="1716059" y="768286"/>
                </a:lnTo>
                <a:close/>
              </a:path>
              <a:path w="5002530" h="3938270">
                <a:moveTo>
                  <a:pt x="1331643" y="0"/>
                </a:moveTo>
                <a:lnTo>
                  <a:pt x="0" y="0"/>
                </a:lnTo>
                <a:lnTo>
                  <a:pt x="0" y="1510524"/>
                </a:lnTo>
                <a:lnTo>
                  <a:pt x="875213" y="1633527"/>
                </a:lnTo>
                <a:lnTo>
                  <a:pt x="1550890" y="652797"/>
                </a:lnTo>
                <a:lnTo>
                  <a:pt x="1331643" y="0"/>
                </a:lnTo>
                <a:close/>
              </a:path>
              <a:path w="5002530" h="3938270">
                <a:moveTo>
                  <a:pt x="3995936" y="267493"/>
                </a:moveTo>
                <a:lnTo>
                  <a:pt x="3948860" y="270028"/>
                </a:lnTo>
                <a:lnTo>
                  <a:pt x="3903251" y="277458"/>
                </a:lnTo>
                <a:lnTo>
                  <a:pt x="3859375" y="289519"/>
                </a:lnTo>
                <a:lnTo>
                  <a:pt x="3817494" y="305948"/>
                </a:lnTo>
                <a:lnTo>
                  <a:pt x="3777872" y="326480"/>
                </a:lnTo>
                <a:lnTo>
                  <a:pt x="3740773" y="350853"/>
                </a:lnTo>
                <a:lnTo>
                  <a:pt x="3706460" y="378803"/>
                </a:lnTo>
                <a:lnTo>
                  <a:pt x="3675197" y="410066"/>
                </a:lnTo>
                <a:lnTo>
                  <a:pt x="3647247" y="444379"/>
                </a:lnTo>
                <a:lnTo>
                  <a:pt x="3622874" y="481478"/>
                </a:lnTo>
                <a:lnTo>
                  <a:pt x="3602342" y="521100"/>
                </a:lnTo>
                <a:lnTo>
                  <a:pt x="3585913" y="562980"/>
                </a:lnTo>
                <a:lnTo>
                  <a:pt x="3573852" y="606856"/>
                </a:lnTo>
                <a:lnTo>
                  <a:pt x="3566423" y="652464"/>
                </a:lnTo>
                <a:lnTo>
                  <a:pt x="3563887" y="699541"/>
                </a:lnTo>
                <a:lnTo>
                  <a:pt x="3566423" y="746617"/>
                </a:lnTo>
                <a:lnTo>
                  <a:pt x="3573852" y="792225"/>
                </a:lnTo>
                <a:lnTo>
                  <a:pt x="3585913" y="836102"/>
                </a:lnTo>
                <a:lnTo>
                  <a:pt x="3602342" y="877982"/>
                </a:lnTo>
                <a:lnTo>
                  <a:pt x="3622874" y="917604"/>
                </a:lnTo>
                <a:lnTo>
                  <a:pt x="3647247" y="954703"/>
                </a:lnTo>
                <a:lnTo>
                  <a:pt x="3675197" y="989016"/>
                </a:lnTo>
                <a:lnTo>
                  <a:pt x="3706460" y="1020279"/>
                </a:lnTo>
                <a:lnTo>
                  <a:pt x="3740773" y="1048229"/>
                </a:lnTo>
                <a:lnTo>
                  <a:pt x="3777872" y="1072602"/>
                </a:lnTo>
                <a:lnTo>
                  <a:pt x="3817494" y="1093134"/>
                </a:lnTo>
                <a:lnTo>
                  <a:pt x="3859375" y="1109563"/>
                </a:lnTo>
                <a:lnTo>
                  <a:pt x="3903251" y="1121624"/>
                </a:lnTo>
                <a:lnTo>
                  <a:pt x="3948860" y="1129053"/>
                </a:lnTo>
                <a:lnTo>
                  <a:pt x="3995936" y="1131589"/>
                </a:lnTo>
                <a:lnTo>
                  <a:pt x="4043013" y="1129053"/>
                </a:lnTo>
                <a:lnTo>
                  <a:pt x="4088620" y="1121624"/>
                </a:lnTo>
                <a:lnTo>
                  <a:pt x="4132496" y="1109563"/>
                </a:lnTo>
                <a:lnTo>
                  <a:pt x="4174377" y="1093134"/>
                </a:lnTo>
                <a:lnTo>
                  <a:pt x="4213998" y="1072602"/>
                </a:lnTo>
                <a:lnTo>
                  <a:pt x="4251097" y="1048229"/>
                </a:lnTo>
                <a:lnTo>
                  <a:pt x="4285410" y="1020279"/>
                </a:lnTo>
                <a:lnTo>
                  <a:pt x="4316673" y="989016"/>
                </a:lnTo>
                <a:lnTo>
                  <a:pt x="4344623" y="954703"/>
                </a:lnTo>
                <a:lnTo>
                  <a:pt x="4368996" y="917604"/>
                </a:lnTo>
                <a:lnTo>
                  <a:pt x="4389528" y="877982"/>
                </a:lnTo>
                <a:lnTo>
                  <a:pt x="4405957" y="836102"/>
                </a:lnTo>
                <a:lnTo>
                  <a:pt x="4418018" y="792225"/>
                </a:lnTo>
                <a:lnTo>
                  <a:pt x="4425447" y="746617"/>
                </a:lnTo>
                <a:lnTo>
                  <a:pt x="4427983" y="699541"/>
                </a:lnTo>
                <a:lnTo>
                  <a:pt x="4425466" y="652797"/>
                </a:lnTo>
                <a:lnTo>
                  <a:pt x="4418018" y="606856"/>
                </a:lnTo>
                <a:lnTo>
                  <a:pt x="4405957" y="562980"/>
                </a:lnTo>
                <a:lnTo>
                  <a:pt x="4389529" y="521100"/>
                </a:lnTo>
                <a:lnTo>
                  <a:pt x="4368996" y="481478"/>
                </a:lnTo>
                <a:lnTo>
                  <a:pt x="4344624" y="444379"/>
                </a:lnTo>
                <a:lnTo>
                  <a:pt x="4316674" y="410066"/>
                </a:lnTo>
                <a:lnTo>
                  <a:pt x="4285411" y="378803"/>
                </a:lnTo>
                <a:lnTo>
                  <a:pt x="4251098" y="350853"/>
                </a:lnTo>
                <a:lnTo>
                  <a:pt x="4214000" y="326480"/>
                </a:lnTo>
                <a:lnTo>
                  <a:pt x="4174378" y="305948"/>
                </a:lnTo>
                <a:lnTo>
                  <a:pt x="4132498" y="289519"/>
                </a:lnTo>
                <a:lnTo>
                  <a:pt x="4088622" y="277458"/>
                </a:lnTo>
                <a:lnTo>
                  <a:pt x="4043014" y="270028"/>
                </a:lnTo>
                <a:lnTo>
                  <a:pt x="3995936" y="267493"/>
                </a:lnTo>
                <a:close/>
              </a:path>
              <a:path w="5002530" h="3938270">
                <a:moveTo>
                  <a:pt x="3641270" y="0"/>
                </a:moveTo>
                <a:lnTo>
                  <a:pt x="1520549" y="0"/>
                </a:lnTo>
                <a:lnTo>
                  <a:pt x="1715051" y="579121"/>
                </a:lnTo>
                <a:lnTo>
                  <a:pt x="3107460" y="774811"/>
                </a:lnTo>
                <a:lnTo>
                  <a:pt x="3641270" y="0"/>
                </a:lnTo>
                <a:close/>
              </a:path>
              <a:path w="5002530" h="3938270">
                <a:moveTo>
                  <a:pt x="5001954" y="0"/>
                </a:moveTo>
                <a:lnTo>
                  <a:pt x="4158813" y="0"/>
                </a:lnTo>
                <a:lnTo>
                  <a:pt x="4182288" y="75625"/>
                </a:lnTo>
                <a:lnTo>
                  <a:pt x="4202310" y="116723"/>
                </a:lnTo>
                <a:lnTo>
                  <a:pt x="4226411" y="155244"/>
                </a:lnTo>
                <a:lnTo>
                  <a:pt x="4254310" y="190908"/>
                </a:lnTo>
                <a:lnTo>
                  <a:pt x="4285724" y="223432"/>
                </a:lnTo>
                <a:lnTo>
                  <a:pt x="4320373" y="252534"/>
                </a:lnTo>
                <a:lnTo>
                  <a:pt x="4357973" y="277932"/>
                </a:lnTo>
                <a:lnTo>
                  <a:pt x="4398243" y="299345"/>
                </a:lnTo>
                <a:lnTo>
                  <a:pt x="4440901" y="316490"/>
                </a:lnTo>
                <a:lnTo>
                  <a:pt x="4485665" y="329086"/>
                </a:lnTo>
                <a:lnTo>
                  <a:pt x="4532253" y="336850"/>
                </a:lnTo>
                <a:lnTo>
                  <a:pt x="4580383" y="339501"/>
                </a:lnTo>
                <a:lnTo>
                  <a:pt x="4628513" y="336850"/>
                </a:lnTo>
                <a:lnTo>
                  <a:pt x="4675101" y="329086"/>
                </a:lnTo>
                <a:lnTo>
                  <a:pt x="4719866" y="316490"/>
                </a:lnTo>
                <a:lnTo>
                  <a:pt x="4762524" y="299345"/>
                </a:lnTo>
                <a:lnTo>
                  <a:pt x="4802794" y="277932"/>
                </a:lnTo>
                <a:lnTo>
                  <a:pt x="4840394" y="252534"/>
                </a:lnTo>
                <a:lnTo>
                  <a:pt x="4875043" y="223432"/>
                </a:lnTo>
                <a:lnTo>
                  <a:pt x="4906457" y="190908"/>
                </a:lnTo>
                <a:lnTo>
                  <a:pt x="4934356" y="155244"/>
                </a:lnTo>
                <a:lnTo>
                  <a:pt x="4958458" y="116723"/>
                </a:lnTo>
                <a:lnTo>
                  <a:pt x="4978479" y="75625"/>
                </a:lnTo>
                <a:lnTo>
                  <a:pt x="5001954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46683" y="3165348"/>
            <a:ext cx="245300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Big</a:t>
            </a:r>
            <a:r>
              <a:rPr sz="2000" b="1" spc="-40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Data</a:t>
            </a:r>
            <a:r>
              <a:rPr sz="2000" b="1" spc="-105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spc="-10" dirty="0" err="1">
                <a:solidFill>
                  <a:srgbClr val="00DEA4"/>
                </a:solidFill>
                <a:latin typeface="Arial"/>
                <a:cs typeface="Arial"/>
              </a:rPr>
              <a:t>Aplicado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84084" y="2451099"/>
            <a:ext cx="43059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La</a:t>
            </a:r>
            <a:r>
              <a:rPr sz="4000" b="1" spc="-3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fase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de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Extracción</a:t>
            </a:r>
            <a:endParaRPr sz="4000">
              <a:latin typeface="Arial Narrow"/>
              <a:cs typeface="Arial Narro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797040" y="3943584"/>
            <a:ext cx="2346960" cy="1200150"/>
            <a:chOff x="6797040" y="3943584"/>
            <a:chExt cx="2346960" cy="1200150"/>
          </a:xfrm>
        </p:grpSpPr>
        <p:sp>
          <p:nvSpPr>
            <p:cNvPr id="6" name="object 6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97040" y="4373880"/>
              <a:ext cx="1459992" cy="344423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46790" y="4373843"/>
            <a:ext cx="749345" cy="36530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210564" y="4381676"/>
            <a:ext cx="653415" cy="325755"/>
            <a:chOff x="4210564" y="4381676"/>
            <a:chExt cx="653415" cy="325755"/>
          </a:xfrm>
        </p:grpSpPr>
        <p:sp>
          <p:nvSpPr>
            <p:cNvPr id="10" name="object 10"/>
            <p:cNvSpPr/>
            <p:nvPr/>
          </p:nvSpPr>
          <p:spPr>
            <a:xfrm>
              <a:off x="4372655" y="4519010"/>
              <a:ext cx="109220" cy="46990"/>
            </a:xfrm>
            <a:custGeom>
              <a:avLst/>
              <a:gdLst/>
              <a:ahLst/>
              <a:cxnLst/>
              <a:rect l="l" t="t" r="r" b="b"/>
              <a:pathLst>
                <a:path w="109220" h="46989">
                  <a:moveTo>
                    <a:pt x="109052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109052" y="46456"/>
                  </a:lnTo>
                  <a:lnTo>
                    <a:pt x="109052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09590" y="4502793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7682" y="0"/>
                  </a:moveTo>
                  <a:lnTo>
                    <a:pt x="2554" y="23467"/>
                  </a:lnTo>
                  <a:lnTo>
                    <a:pt x="0" y="38074"/>
                  </a:lnTo>
                  <a:lnTo>
                    <a:pt x="535" y="45564"/>
                  </a:lnTo>
                  <a:lnTo>
                    <a:pt x="30171" y="75625"/>
                  </a:lnTo>
                  <a:lnTo>
                    <a:pt x="37682" y="76227"/>
                  </a:lnTo>
                  <a:lnTo>
                    <a:pt x="53179" y="73081"/>
                  </a:lnTo>
                  <a:lnTo>
                    <a:pt x="65054" y="64856"/>
                  </a:lnTo>
                  <a:lnTo>
                    <a:pt x="72979" y="52778"/>
                  </a:lnTo>
                  <a:lnTo>
                    <a:pt x="75756" y="38074"/>
                  </a:lnTo>
                  <a:lnTo>
                    <a:pt x="72642" y="22651"/>
                  </a:lnTo>
                  <a:lnTo>
                    <a:pt x="64442" y="10758"/>
                  </a:lnTo>
                  <a:lnTo>
                    <a:pt x="52380" y="2808"/>
                  </a:lnTo>
                  <a:lnTo>
                    <a:pt x="37682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45192" y="4397737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613"/>
                  </a:lnTo>
                  <a:lnTo>
                    <a:pt x="236515" y="46613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10564" y="43816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918" y="0"/>
                  </a:moveTo>
                  <a:lnTo>
                    <a:pt x="2654" y="23243"/>
                  </a:lnTo>
                  <a:lnTo>
                    <a:pt x="0" y="37917"/>
                  </a:lnTo>
                  <a:lnTo>
                    <a:pt x="588" y="45409"/>
                  </a:lnTo>
                  <a:lnTo>
                    <a:pt x="30407" y="75390"/>
                  </a:lnTo>
                  <a:lnTo>
                    <a:pt x="37918" y="75992"/>
                  </a:lnTo>
                  <a:lnTo>
                    <a:pt x="45429" y="75390"/>
                  </a:lnTo>
                  <a:lnTo>
                    <a:pt x="75380" y="45425"/>
                  </a:lnTo>
                  <a:lnTo>
                    <a:pt x="75992" y="37917"/>
                  </a:lnTo>
                  <a:lnTo>
                    <a:pt x="75382" y="30391"/>
                  </a:lnTo>
                  <a:lnTo>
                    <a:pt x="45408" y="551"/>
                  </a:lnTo>
                  <a:lnTo>
                    <a:pt x="37918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45192" y="4647022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236515" y="46456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10558" y="4390377"/>
              <a:ext cx="653415" cy="316865"/>
            </a:xfrm>
            <a:custGeom>
              <a:avLst/>
              <a:gdLst/>
              <a:ahLst/>
              <a:cxnLst/>
              <a:rect l="l" t="t" r="r" b="b"/>
              <a:pathLst>
                <a:path w="653414" h="316864">
                  <a:moveTo>
                    <a:pt x="75984" y="278549"/>
                  </a:moveTo>
                  <a:lnTo>
                    <a:pt x="52590" y="243141"/>
                  </a:lnTo>
                  <a:lnTo>
                    <a:pt x="37553" y="240423"/>
                  </a:lnTo>
                  <a:lnTo>
                    <a:pt x="22288" y="243624"/>
                  </a:lnTo>
                  <a:lnTo>
                    <a:pt x="10515" y="251853"/>
                  </a:lnTo>
                  <a:lnTo>
                    <a:pt x="2692" y="263880"/>
                  </a:lnTo>
                  <a:lnTo>
                    <a:pt x="0" y="278511"/>
                  </a:lnTo>
                  <a:lnTo>
                    <a:pt x="584" y="286016"/>
                  </a:lnTo>
                  <a:lnTo>
                    <a:pt x="30403" y="316064"/>
                  </a:lnTo>
                  <a:lnTo>
                    <a:pt x="37922" y="316661"/>
                  </a:lnTo>
                  <a:lnTo>
                    <a:pt x="45427" y="316064"/>
                  </a:lnTo>
                  <a:lnTo>
                    <a:pt x="75984" y="278549"/>
                  </a:lnTo>
                  <a:close/>
                </a:path>
                <a:path w="653414" h="316864">
                  <a:moveTo>
                    <a:pt x="653376" y="150495"/>
                  </a:moveTo>
                  <a:lnTo>
                    <a:pt x="566496" y="0"/>
                  </a:lnTo>
                  <a:lnTo>
                    <a:pt x="392734" y="0"/>
                  </a:lnTo>
                  <a:lnTo>
                    <a:pt x="305854" y="150495"/>
                  </a:lnTo>
                  <a:lnTo>
                    <a:pt x="392734" y="301066"/>
                  </a:lnTo>
                  <a:lnTo>
                    <a:pt x="566496" y="301066"/>
                  </a:lnTo>
                  <a:lnTo>
                    <a:pt x="653376" y="150495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4" y="118509"/>
            <a:ext cx="2291080" cy="129159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pc="-10" dirty="0"/>
              <a:t>Extracción</a:t>
            </a:r>
          </a:p>
          <a:p>
            <a:pPr marL="869950">
              <a:lnSpc>
                <a:spcPct val="100000"/>
              </a:lnSpc>
              <a:spcBef>
                <a:spcPts val="745"/>
              </a:spcBef>
            </a:pPr>
            <a:r>
              <a:rPr sz="2800" spc="-10" dirty="0">
                <a:solidFill>
                  <a:srgbClr val="FF0000"/>
                </a:solidFill>
              </a:rPr>
              <a:t>Resumen: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344302" y="274827"/>
            <a:ext cx="47720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50" dirty="0">
                <a:latin typeface="Arial"/>
                <a:cs typeface="Arial"/>
              </a:rPr>
              <a:t>Lectura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los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datos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240" dirty="0">
                <a:latin typeface="Arial"/>
                <a:cs typeface="Arial"/>
              </a:rPr>
              <a:t>a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partir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de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44302" y="536955"/>
            <a:ext cx="4750435" cy="138493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340"/>
              </a:spcBef>
            </a:pPr>
            <a:r>
              <a:rPr sz="2800" spc="-190" dirty="0">
                <a:latin typeface="Arial"/>
                <a:cs typeface="Arial"/>
              </a:rPr>
              <a:t>las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fuentes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2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70" dirty="0">
                <a:latin typeface="Arial"/>
                <a:cs typeface="Arial"/>
              </a:rPr>
              <a:t>Fuentes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públicas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(estado)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45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70" dirty="0">
                <a:latin typeface="Arial"/>
                <a:cs typeface="Arial"/>
              </a:rPr>
              <a:t>Fuentes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privadas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(particulares)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5097165" y="2199318"/>
            <a:ext cx="2009775" cy="1529080"/>
            <a:chOff x="5097165" y="2199318"/>
            <a:chExt cx="2009775" cy="1529080"/>
          </a:xfrm>
        </p:grpSpPr>
        <p:sp>
          <p:nvSpPr>
            <p:cNvPr id="7" name="object 7"/>
            <p:cNvSpPr/>
            <p:nvPr/>
          </p:nvSpPr>
          <p:spPr>
            <a:xfrm>
              <a:off x="6101986" y="3242923"/>
              <a:ext cx="992505" cy="472440"/>
            </a:xfrm>
            <a:custGeom>
              <a:avLst/>
              <a:gdLst/>
              <a:ahLst/>
              <a:cxnLst/>
              <a:rect l="l" t="t" r="r" b="b"/>
              <a:pathLst>
                <a:path w="992504" h="472439">
                  <a:moveTo>
                    <a:pt x="0" y="0"/>
                  </a:moveTo>
                  <a:lnTo>
                    <a:pt x="0" y="321762"/>
                  </a:lnTo>
                  <a:lnTo>
                    <a:pt x="992121" y="321762"/>
                  </a:lnTo>
                  <a:lnTo>
                    <a:pt x="992121" y="472159"/>
                  </a:lnTo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109865" y="3242923"/>
              <a:ext cx="992505" cy="472440"/>
            </a:xfrm>
            <a:custGeom>
              <a:avLst/>
              <a:gdLst/>
              <a:ahLst/>
              <a:cxnLst/>
              <a:rect l="l" t="t" r="r" b="b"/>
              <a:pathLst>
                <a:path w="992504" h="472439">
                  <a:moveTo>
                    <a:pt x="992121" y="0"/>
                  </a:moveTo>
                  <a:lnTo>
                    <a:pt x="992121" y="321762"/>
                  </a:lnTo>
                  <a:lnTo>
                    <a:pt x="0" y="321762"/>
                  </a:lnTo>
                  <a:lnTo>
                    <a:pt x="0" y="472159"/>
                  </a:lnTo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90250" y="2212018"/>
              <a:ext cx="1623695" cy="1031240"/>
            </a:xfrm>
            <a:custGeom>
              <a:avLst/>
              <a:gdLst/>
              <a:ahLst/>
              <a:cxnLst/>
              <a:rect l="l" t="t" r="r" b="b"/>
              <a:pathLst>
                <a:path w="1623695" h="1031239">
                  <a:moveTo>
                    <a:pt x="1520380" y="0"/>
                  </a:moveTo>
                  <a:lnTo>
                    <a:pt x="103089" y="0"/>
                  </a:lnTo>
                  <a:lnTo>
                    <a:pt x="62962" y="8101"/>
                  </a:lnTo>
                  <a:lnTo>
                    <a:pt x="30194" y="30194"/>
                  </a:lnTo>
                  <a:lnTo>
                    <a:pt x="8101" y="62962"/>
                  </a:lnTo>
                  <a:lnTo>
                    <a:pt x="0" y="103089"/>
                  </a:lnTo>
                  <a:lnTo>
                    <a:pt x="0" y="927815"/>
                  </a:lnTo>
                  <a:lnTo>
                    <a:pt x="8101" y="967941"/>
                  </a:lnTo>
                  <a:lnTo>
                    <a:pt x="30194" y="1000710"/>
                  </a:lnTo>
                  <a:lnTo>
                    <a:pt x="62962" y="1022803"/>
                  </a:lnTo>
                  <a:lnTo>
                    <a:pt x="103089" y="1030904"/>
                  </a:lnTo>
                  <a:lnTo>
                    <a:pt x="1520380" y="1030904"/>
                  </a:lnTo>
                  <a:lnTo>
                    <a:pt x="1560507" y="1022803"/>
                  </a:lnTo>
                  <a:lnTo>
                    <a:pt x="1593275" y="1000710"/>
                  </a:lnTo>
                  <a:lnTo>
                    <a:pt x="1615368" y="967941"/>
                  </a:lnTo>
                  <a:lnTo>
                    <a:pt x="1623470" y="927815"/>
                  </a:lnTo>
                  <a:lnTo>
                    <a:pt x="1623470" y="103089"/>
                  </a:lnTo>
                  <a:lnTo>
                    <a:pt x="1615368" y="62962"/>
                  </a:lnTo>
                  <a:lnTo>
                    <a:pt x="1593275" y="30194"/>
                  </a:lnTo>
                  <a:lnTo>
                    <a:pt x="1560507" y="8101"/>
                  </a:lnTo>
                  <a:lnTo>
                    <a:pt x="1520380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90250" y="2212018"/>
              <a:ext cx="1623695" cy="1031240"/>
            </a:xfrm>
            <a:custGeom>
              <a:avLst/>
              <a:gdLst/>
              <a:ahLst/>
              <a:cxnLst/>
              <a:rect l="l" t="t" r="r" b="b"/>
              <a:pathLst>
                <a:path w="1623695" h="1031239">
                  <a:moveTo>
                    <a:pt x="0" y="103089"/>
                  </a:moveTo>
                  <a:lnTo>
                    <a:pt x="8101" y="62962"/>
                  </a:lnTo>
                  <a:lnTo>
                    <a:pt x="30194" y="30194"/>
                  </a:lnTo>
                  <a:lnTo>
                    <a:pt x="62962" y="8101"/>
                  </a:lnTo>
                  <a:lnTo>
                    <a:pt x="103089" y="0"/>
                  </a:lnTo>
                  <a:lnTo>
                    <a:pt x="1520380" y="0"/>
                  </a:lnTo>
                  <a:lnTo>
                    <a:pt x="1560507" y="8101"/>
                  </a:lnTo>
                  <a:lnTo>
                    <a:pt x="1593275" y="30194"/>
                  </a:lnTo>
                  <a:lnTo>
                    <a:pt x="1615368" y="62962"/>
                  </a:lnTo>
                  <a:lnTo>
                    <a:pt x="1623470" y="103089"/>
                  </a:lnTo>
                  <a:lnTo>
                    <a:pt x="1623470" y="927814"/>
                  </a:lnTo>
                  <a:lnTo>
                    <a:pt x="1615368" y="967941"/>
                  </a:lnTo>
                  <a:lnTo>
                    <a:pt x="1593275" y="1000709"/>
                  </a:lnTo>
                  <a:lnTo>
                    <a:pt x="1560507" y="1022802"/>
                  </a:lnTo>
                  <a:lnTo>
                    <a:pt x="1520380" y="1030904"/>
                  </a:lnTo>
                  <a:lnTo>
                    <a:pt x="103089" y="1030904"/>
                  </a:lnTo>
                  <a:lnTo>
                    <a:pt x="62962" y="1022802"/>
                  </a:lnTo>
                  <a:lnTo>
                    <a:pt x="30194" y="1000709"/>
                  </a:lnTo>
                  <a:lnTo>
                    <a:pt x="8101" y="967941"/>
                  </a:lnTo>
                  <a:lnTo>
                    <a:pt x="0" y="927814"/>
                  </a:lnTo>
                  <a:lnTo>
                    <a:pt x="0" y="103089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70636" y="2383384"/>
              <a:ext cx="1623695" cy="1031240"/>
            </a:xfrm>
            <a:custGeom>
              <a:avLst/>
              <a:gdLst/>
              <a:ahLst/>
              <a:cxnLst/>
              <a:rect l="l" t="t" r="r" b="b"/>
              <a:pathLst>
                <a:path w="1623695" h="1031239">
                  <a:moveTo>
                    <a:pt x="1520380" y="0"/>
                  </a:moveTo>
                  <a:lnTo>
                    <a:pt x="103089" y="0"/>
                  </a:lnTo>
                  <a:lnTo>
                    <a:pt x="62962" y="8101"/>
                  </a:lnTo>
                  <a:lnTo>
                    <a:pt x="30194" y="30194"/>
                  </a:lnTo>
                  <a:lnTo>
                    <a:pt x="8101" y="62962"/>
                  </a:lnTo>
                  <a:lnTo>
                    <a:pt x="0" y="103089"/>
                  </a:lnTo>
                  <a:lnTo>
                    <a:pt x="0" y="927813"/>
                  </a:lnTo>
                  <a:lnTo>
                    <a:pt x="8101" y="967941"/>
                  </a:lnTo>
                  <a:lnTo>
                    <a:pt x="30194" y="1000709"/>
                  </a:lnTo>
                  <a:lnTo>
                    <a:pt x="62962" y="1022802"/>
                  </a:lnTo>
                  <a:lnTo>
                    <a:pt x="103089" y="1030903"/>
                  </a:lnTo>
                  <a:lnTo>
                    <a:pt x="1520380" y="1030903"/>
                  </a:lnTo>
                  <a:lnTo>
                    <a:pt x="1560507" y="1022802"/>
                  </a:lnTo>
                  <a:lnTo>
                    <a:pt x="1593275" y="1000709"/>
                  </a:lnTo>
                  <a:lnTo>
                    <a:pt x="1615368" y="967941"/>
                  </a:lnTo>
                  <a:lnTo>
                    <a:pt x="1623470" y="927813"/>
                  </a:lnTo>
                  <a:lnTo>
                    <a:pt x="1623470" y="103089"/>
                  </a:lnTo>
                  <a:lnTo>
                    <a:pt x="1615368" y="62962"/>
                  </a:lnTo>
                  <a:lnTo>
                    <a:pt x="1593275" y="30194"/>
                  </a:lnTo>
                  <a:lnTo>
                    <a:pt x="1560507" y="8101"/>
                  </a:lnTo>
                  <a:lnTo>
                    <a:pt x="1520380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70636" y="2383384"/>
              <a:ext cx="1623695" cy="1031240"/>
            </a:xfrm>
            <a:custGeom>
              <a:avLst/>
              <a:gdLst/>
              <a:ahLst/>
              <a:cxnLst/>
              <a:rect l="l" t="t" r="r" b="b"/>
              <a:pathLst>
                <a:path w="1623695" h="1031239">
                  <a:moveTo>
                    <a:pt x="0" y="103089"/>
                  </a:moveTo>
                  <a:lnTo>
                    <a:pt x="8101" y="62962"/>
                  </a:lnTo>
                  <a:lnTo>
                    <a:pt x="30194" y="30194"/>
                  </a:lnTo>
                  <a:lnTo>
                    <a:pt x="62962" y="8101"/>
                  </a:lnTo>
                  <a:lnTo>
                    <a:pt x="103089" y="0"/>
                  </a:lnTo>
                  <a:lnTo>
                    <a:pt x="1520380" y="0"/>
                  </a:lnTo>
                  <a:lnTo>
                    <a:pt x="1560507" y="8101"/>
                  </a:lnTo>
                  <a:lnTo>
                    <a:pt x="1593275" y="30194"/>
                  </a:lnTo>
                  <a:lnTo>
                    <a:pt x="1615368" y="62962"/>
                  </a:lnTo>
                  <a:lnTo>
                    <a:pt x="1623470" y="103089"/>
                  </a:lnTo>
                  <a:lnTo>
                    <a:pt x="1623470" y="927814"/>
                  </a:lnTo>
                  <a:lnTo>
                    <a:pt x="1615368" y="967941"/>
                  </a:lnTo>
                  <a:lnTo>
                    <a:pt x="1593275" y="1000709"/>
                  </a:lnTo>
                  <a:lnTo>
                    <a:pt x="1560507" y="1022802"/>
                  </a:lnTo>
                  <a:lnTo>
                    <a:pt x="1520380" y="1030904"/>
                  </a:lnTo>
                  <a:lnTo>
                    <a:pt x="103089" y="1030904"/>
                  </a:lnTo>
                  <a:lnTo>
                    <a:pt x="62962" y="1022802"/>
                  </a:lnTo>
                  <a:lnTo>
                    <a:pt x="30194" y="1000709"/>
                  </a:lnTo>
                  <a:lnTo>
                    <a:pt x="8101" y="967941"/>
                  </a:lnTo>
                  <a:lnTo>
                    <a:pt x="0" y="927814"/>
                  </a:lnTo>
                  <a:lnTo>
                    <a:pt x="0" y="103089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683661" y="2682748"/>
            <a:ext cx="119761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05" dirty="0">
                <a:latin typeface="Arial"/>
                <a:cs typeface="Arial"/>
              </a:rPr>
              <a:t>Extracción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285429" y="3702382"/>
            <a:ext cx="1829435" cy="1228090"/>
            <a:chOff x="4285429" y="3702382"/>
            <a:chExt cx="1829435" cy="1228090"/>
          </a:xfrm>
        </p:grpSpPr>
        <p:sp>
          <p:nvSpPr>
            <p:cNvPr id="15" name="object 15"/>
            <p:cNvSpPr/>
            <p:nvPr/>
          </p:nvSpPr>
          <p:spPr>
            <a:xfrm>
              <a:off x="4298129" y="3715082"/>
              <a:ext cx="1623695" cy="1031240"/>
            </a:xfrm>
            <a:custGeom>
              <a:avLst/>
              <a:gdLst/>
              <a:ahLst/>
              <a:cxnLst/>
              <a:rect l="l" t="t" r="r" b="b"/>
              <a:pathLst>
                <a:path w="1623695" h="1031239">
                  <a:moveTo>
                    <a:pt x="1520380" y="0"/>
                  </a:moveTo>
                  <a:lnTo>
                    <a:pt x="103089" y="0"/>
                  </a:lnTo>
                  <a:lnTo>
                    <a:pt x="62962" y="8101"/>
                  </a:lnTo>
                  <a:lnTo>
                    <a:pt x="30194" y="30194"/>
                  </a:lnTo>
                  <a:lnTo>
                    <a:pt x="8101" y="62962"/>
                  </a:lnTo>
                  <a:lnTo>
                    <a:pt x="0" y="103089"/>
                  </a:lnTo>
                  <a:lnTo>
                    <a:pt x="0" y="927814"/>
                  </a:lnTo>
                  <a:lnTo>
                    <a:pt x="8101" y="967941"/>
                  </a:lnTo>
                  <a:lnTo>
                    <a:pt x="30194" y="1000709"/>
                  </a:lnTo>
                  <a:lnTo>
                    <a:pt x="62962" y="1022802"/>
                  </a:lnTo>
                  <a:lnTo>
                    <a:pt x="103089" y="1030904"/>
                  </a:lnTo>
                  <a:lnTo>
                    <a:pt x="1520380" y="1030904"/>
                  </a:lnTo>
                  <a:lnTo>
                    <a:pt x="1560507" y="1022802"/>
                  </a:lnTo>
                  <a:lnTo>
                    <a:pt x="1593276" y="1000709"/>
                  </a:lnTo>
                  <a:lnTo>
                    <a:pt x="1615368" y="967941"/>
                  </a:lnTo>
                  <a:lnTo>
                    <a:pt x="1623470" y="927814"/>
                  </a:lnTo>
                  <a:lnTo>
                    <a:pt x="1623470" y="103089"/>
                  </a:lnTo>
                  <a:lnTo>
                    <a:pt x="1615368" y="62962"/>
                  </a:lnTo>
                  <a:lnTo>
                    <a:pt x="1593276" y="30194"/>
                  </a:lnTo>
                  <a:lnTo>
                    <a:pt x="1560507" y="8101"/>
                  </a:lnTo>
                  <a:lnTo>
                    <a:pt x="1520380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98129" y="3715082"/>
              <a:ext cx="1623695" cy="1031240"/>
            </a:xfrm>
            <a:custGeom>
              <a:avLst/>
              <a:gdLst/>
              <a:ahLst/>
              <a:cxnLst/>
              <a:rect l="l" t="t" r="r" b="b"/>
              <a:pathLst>
                <a:path w="1623695" h="1031239">
                  <a:moveTo>
                    <a:pt x="0" y="103089"/>
                  </a:moveTo>
                  <a:lnTo>
                    <a:pt x="8101" y="62962"/>
                  </a:lnTo>
                  <a:lnTo>
                    <a:pt x="30194" y="30194"/>
                  </a:lnTo>
                  <a:lnTo>
                    <a:pt x="62962" y="8101"/>
                  </a:lnTo>
                  <a:lnTo>
                    <a:pt x="103089" y="0"/>
                  </a:lnTo>
                  <a:lnTo>
                    <a:pt x="1520380" y="0"/>
                  </a:lnTo>
                  <a:lnTo>
                    <a:pt x="1560507" y="8101"/>
                  </a:lnTo>
                  <a:lnTo>
                    <a:pt x="1593275" y="30194"/>
                  </a:lnTo>
                  <a:lnTo>
                    <a:pt x="1615368" y="62962"/>
                  </a:lnTo>
                  <a:lnTo>
                    <a:pt x="1623470" y="103089"/>
                  </a:lnTo>
                  <a:lnTo>
                    <a:pt x="1623470" y="927814"/>
                  </a:lnTo>
                  <a:lnTo>
                    <a:pt x="1615368" y="967941"/>
                  </a:lnTo>
                  <a:lnTo>
                    <a:pt x="1593275" y="1000709"/>
                  </a:lnTo>
                  <a:lnTo>
                    <a:pt x="1560507" y="1022802"/>
                  </a:lnTo>
                  <a:lnTo>
                    <a:pt x="1520380" y="1030904"/>
                  </a:lnTo>
                  <a:lnTo>
                    <a:pt x="103089" y="1030904"/>
                  </a:lnTo>
                  <a:lnTo>
                    <a:pt x="62962" y="1022802"/>
                  </a:lnTo>
                  <a:lnTo>
                    <a:pt x="30194" y="1000709"/>
                  </a:lnTo>
                  <a:lnTo>
                    <a:pt x="8101" y="967941"/>
                  </a:lnTo>
                  <a:lnTo>
                    <a:pt x="0" y="927814"/>
                  </a:lnTo>
                  <a:lnTo>
                    <a:pt x="0" y="103089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78515" y="3886448"/>
              <a:ext cx="1623695" cy="1031240"/>
            </a:xfrm>
            <a:custGeom>
              <a:avLst/>
              <a:gdLst/>
              <a:ahLst/>
              <a:cxnLst/>
              <a:rect l="l" t="t" r="r" b="b"/>
              <a:pathLst>
                <a:path w="1623695" h="1031239">
                  <a:moveTo>
                    <a:pt x="1520380" y="0"/>
                  </a:moveTo>
                  <a:lnTo>
                    <a:pt x="103089" y="0"/>
                  </a:lnTo>
                  <a:lnTo>
                    <a:pt x="62962" y="8101"/>
                  </a:lnTo>
                  <a:lnTo>
                    <a:pt x="30194" y="30194"/>
                  </a:lnTo>
                  <a:lnTo>
                    <a:pt x="8101" y="62962"/>
                  </a:lnTo>
                  <a:lnTo>
                    <a:pt x="0" y="103089"/>
                  </a:lnTo>
                  <a:lnTo>
                    <a:pt x="0" y="927814"/>
                  </a:lnTo>
                  <a:lnTo>
                    <a:pt x="8101" y="967941"/>
                  </a:lnTo>
                  <a:lnTo>
                    <a:pt x="30194" y="1000709"/>
                  </a:lnTo>
                  <a:lnTo>
                    <a:pt x="62962" y="1022802"/>
                  </a:lnTo>
                  <a:lnTo>
                    <a:pt x="103089" y="1030903"/>
                  </a:lnTo>
                  <a:lnTo>
                    <a:pt x="1520380" y="1030903"/>
                  </a:lnTo>
                  <a:lnTo>
                    <a:pt x="1560507" y="1022802"/>
                  </a:lnTo>
                  <a:lnTo>
                    <a:pt x="1593276" y="1000709"/>
                  </a:lnTo>
                  <a:lnTo>
                    <a:pt x="1615368" y="967941"/>
                  </a:lnTo>
                  <a:lnTo>
                    <a:pt x="1623470" y="927814"/>
                  </a:lnTo>
                  <a:lnTo>
                    <a:pt x="1623470" y="103089"/>
                  </a:lnTo>
                  <a:lnTo>
                    <a:pt x="1615368" y="62962"/>
                  </a:lnTo>
                  <a:lnTo>
                    <a:pt x="1593276" y="30194"/>
                  </a:lnTo>
                  <a:lnTo>
                    <a:pt x="1560507" y="8101"/>
                  </a:lnTo>
                  <a:lnTo>
                    <a:pt x="1520380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78515" y="3886448"/>
              <a:ext cx="1623695" cy="1031240"/>
            </a:xfrm>
            <a:custGeom>
              <a:avLst/>
              <a:gdLst/>
              <a:ahLst/>
              <a:cxnLst/>
              <a:rect l="l" t="t" r="r" b="b"/>
              <a:pathLst>
                <a:path w="1623695" h="1031239">
                  <a:moveTo>
                    <a:pt x="0" y="103089"/>
                  </a:moveTo>
                  <a:lnTo>
                    <a:pt x="8101" y="62962"/>
                  </a:lnTo>
                  <a:lnTo>
                    <a:pt x="30194" y="30194"/>
                  </a:lnTo>
                  <a:lnTo>
                    <a:pt x="62962" y="8101"/>
                  </a:lnTo>
                  <a:lnTo>
                    <a:pt x="103089" y="0"/>
                  </a:lnTo>
                  <a:lnTo>
                    <a:pt x="1520380" y="0"/>
                  </a:lnTo>
                  <a:lnTo>
                    <a:pt x="1560507" y="8101"/>
                  </a:lnTo>
                  <a:lnTo>
                    <a:pt x="1593275" y="30194"/>
                  </a:lnTo>
                  <a:lnTo>
                    <a:pt x="1615368" y="62962"/>
                  </a:lnTo>
                  <a:lnTo>
                    <a:pt x="1623470" y="103089"/>
                  </a:lnTo>
                  <a:lnTo>
                    <a:pt x="1623470" y="927814"/>
                  </a:lnTo>
                  <a:lnTo>
                    <a:pt x="1615368" y="967941"/>
                  </a:lnTo>
                  <a:lnTo>
                    <a:pt x="1593275" y="1000709"/>
                  </a:lnTo>
                  <a:lnTo>
                    <a:pt x="1560507" y="1022802"/>
                  </a:lnTo>
                  <a:lnTo>
                    <a:pt x="1520380" y="1030904"/>
                  </a:lnTo>
                  <a:lnTo>
                    <a:pt x="103089" y="1030904"/>
                  </a:lnTo>
                  <a:lnTo>
                    <a:pt x="62962" y="1022802"/>
                  </a:lnTo>
                  <a:lnTo>
                    <a:pt x="30194" y="1000709"/>
                  </a:lnTo>
                  <a:lnTo>
                    <a:pt x="8101" y="967941"/>
                  </a:lnTo>
                  <a:lnTo>
                    <a:pt x="0" y="927814"/>
                  </a:lnTo>
                  <a:lnTo>
                    <a:pt x="0" y="103089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841845" y="4185411"/>
            <a:ext cx="896619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20" dirty="0">
                <a:latin typeface="Arial"/>
                <a:cs typeface="Arial"/>
              </a:rPr>
              <a:t>Estática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269672" y="3702382"/>
            <a:ext cx="1829435" cy="1228090"/>
            <a:chOff x="6269672" y="3702382"/>
            <a:chExt cx="1829435" cy="1228090"/>
          </a:xfrm>
        </p:grpSpPr>
        <p:sp>
          <p:nvSpPr>
            <p:cNvPr id="21" name="object 21"/>
            <p:cNvSpPr/>
            <p:nvPr/>
          </p:nvSpPr>
          <p:spPr>
            <a:xfrm>
              <a:off x="6282372" y="3715082"/>
              <a:ext cx="1623695" cy="1031240"/>
            </a:xfrm>
            <a:custGeom>
              <a:avLst/>
              <a:gdLst/>
              <a:ahLst/>
              <a:cxnLst/>
              <a:rect l="l" t="t" r="r" b="b"/>
              <a:pathLst>
                <a:path w="1623695" h="1031239">
                  <a:moveTo>
                    <a:pt x="1520380" y="0"/>
                  </a:moveTo>
                  <a:lnTo>
                    <a:pt x="103089" y="0"/>
                  </a:lnTo>
                  <a:lnTo>
                    <a:pt x="62962" y="8101"/>
                  </a:lnTo>
                  <a:lnTo>
                    <a:pt x="30194" y="30194"/>
                  </a:lnTo>
                  <a:lnTo>
                    <a:pt x="8101" y="62962"/>
                  </a:lnTo>
                  <a:lnTo>
                    <a:pt x="0" y="103089"/>
                  </a:lnTo>
                  <a:lnTo>
                    <a:pt x="0" y="927814"/>
                  </a:lnTo>
                  <a:lnTo>
                    <a:pt x="8101" y="967941"/>
                  </a:lnTo>
                  <a:lnTo>
                    <a:pt x="30194" y="1000709"/>
                  </a:lnTo>
                  <a:lnTo>
                    <a:pt x="62962" y="1022802"/>
                  </a:lnTo>
                  <a:lnTo>
                    <a:pt x="103089" y="1030904"/>
                  </a:lnTo>
                  <a:lnTo>
                    <a:pt x="1520380" y="1030904"/>
                  </a:lnTo>
                  <a:lnTo>
                    <a:pt x="1560507" y="1022802"/>
                  </a:lnTo>
                  <a:lnTo>
                    <a:pt x="1593275" y="1000709"/>
                  </a:lnTo>
                  <a:lnTo>
                    <a:pt x="1615367" y="967941"/>
                  </a:lnTo>
                  <a:lnTo>
                    <a:pt x="1623468" y="927814"/>
                  </a:lnTo>
                  <a:lnTo>
                    <a:pt x="1623468" y="103089"/>
                  </a:lnTo>
                  <a:lnTo>
                    <a:pt x="1615367" y="62962"/>
                  </a:lnTo>
                  <a:lnTo>
                    <a:pt x="1593275" y="30194"/>
                  </a:lnTo>
                  <a:lnTo>
                    <a:pt x="1560507" y="8101"/>
                  </a:lnTo>
                  <a:lnTo>
                    <a:pt x="1520380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82372" y="3715082"/>
              <a:ext cx="1623695" cy="1031240"/>
            </a:xfrm>
            <a:custGeom>
              <a:avLst/>
              <a:gdLst/>
              <a:ahLst/>
              <a:cxnLst/>
              <a:rect l="l" t="t" r="r" b="b"/>
              <a:pathLst>
                <a:path w="1623695" h="1031239">
                  <a:moveTo>
                    <a:pt x="0" y="103089"/>
                  </a:moveTo>
                  <a:lnTo>
                    <a:pt x="8101" y="62962"/>
                  </a:lnTo>
                  <a:lnTo>
                    <a:pt x="30194" y="30194"/>
                  </a:lnTo>
                  <a:lnTo>
                    <a:pt x="62962" y="8101"/>
                  </a:lnTo>
                  <a:lnTo>
                    <a:pt x="103089" y="0"/>
                  </a:lnTo>
                  <a:lnTo>
                    <a:pt x="1520380" y="0"/>
                  </a:lnTo>
                  <a:lnTo>
                    <a:pt x="1560507" y="8101"/>
                  </a:lnTo>
                  <a:lnTo>
                    <a:pt x="1593275" y="30194"/>
                  </a:lnTo>
                  <a:lnTo>
                    <a:pt x="1615368" y="62962"/>
                  </a:lnTo>
                  <a:lnTo>
                    <a:pt x="1623470" y="103089"/>
                  </a:lnTo>
                  <a:lnTo>
                    <a:pt x="1623470" y="927814"/>
                  </a:lnTo>
                  <a:lnTo>
                    <a:pt x="1615368" y="967941"/>
                  </a:lnTo>
                  <a:lnTo>
                    <a:pt x="1593275" y="1000709"/>
                  </a:lnTo>
                  <a:lnTo>
                    <a:pt x="1560507" y="1022802"/>
                  </a:lnTo>
                  <a:lnTo>
                    <a:pt x="1520380" y="1030904"/>
                  </a:lnTo>
                  <a:lnTo>
                    <a:pt x="103089" y="1030904"/>
                  </a:lnTo>
                  <a:lnTo>
                    <a:pt x="62962" y="1022802"/>
                  </a:lnTo>
                  <a:lnTo>
                    <a:pt x="30194" y="1000709"/>
                  </a:lnTo>
                  <a:lnTo>
                    <a:pt x="8101" y="967941"/>
                  </a:lnTo>
                  <a:lnTo>
                    <a:pt x="0" y="927814"/>
                  </a:lnTo>
                  <a:lnTo>
                    <a:pt x="0" y="103089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62758" y="3886448"/>
              <a:ext cx="1623695" cy="1031240"/>
            </a:xfrm>
            <a:custGeom>
              <a:avLst/>
              <a:gdLst/>
              <a:ahLst/>
              <a:cxnLst/>
              <a:rect l="l" t="t" r="r" b="b"/>
              <a:pathLst>
                <a:path w="1623695" h="1031239">
                  <a:moveTo>
                    <a:pt x="1520379" y="0"/>
                  </a:moveTo>
                  <a:lnTo>
                    <a:pt x="103089" y="0"/>
                  </a:lnTo>
                  <a:lnTo>
                    <a:pt x="62962" y="8101"/>
                  </a:lnTo>
                  <a:lnTo>
                    <a:pt x="30194" y="30194"/>
                  </a:lnTo>
                  <a:lnTo>
                    <a:pt x="8101" y="62962"/>
                  </a:lnTo>
                  <a:lnTo>
                    <a:pt x="0" y="103089"/>
                  </a:lnTo>
                  <a:lnTo>
                    <a:pt x="0" y="927814"/>
                  </a:lnTo>
                  <a:lnTo>
                    <a:pt x="8101" y="967941"/>
                  </a:lnTo>
                  <a:lnTo>
                    <a:pt x="30194" y="1000709"/>
                  </a:lnTo>
                  <a:lnTo>
                    <a:pt x="62962" y="1022802"/>
                  </a:lnTo>
                  <a:lnTo>
                    <a:pt x="103089" y="1030903"/>
                  </a:lnTo>
                  <a:lnTo>
                    <a:pt x="1520379" y="1030903"/>
                  </a:lnTo>
                  <a:lnTo>
                    <a:pt x="1560506" y="1022802"/>
                  </a:lnTo>
                  <a:lnTo>
                    <a:pt x="1593274" y="1000709"/>
                  </a:lnTo>
                  <a:lnTo>
                    <a:pt x="1615367" y="967941"/>
                  </a:lnTo>
                  <a:lnTo>
                    <a:pt x="1623468" y="927814"/>
                  </a:lnTo>
                  <a:lnTo>
                    <a:pt x="1623468" y="103089"/>
                  </a:lnTo>
                  <a:lnTo>
                    <a:pt x="1615367" y="62962"/>
                  </a:lnTo>
                  <a:lnTo>
                    <a:pt x="1593274" y="30194"/>
                  </a:lnTo>
                  <a:lnTo>
                    <a:pt x="1560506" y="8101"/>
                  </a:lnTo>
                  <a:lnTo>
                    <a:pt x="1520379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462758" y="3886448"/>
              <a:ext cx="1623695" cy="1031240"/>
            </a:xfrm>
            <a:custGeom>
              <a:avLst/>
              <a:gdLst/>
              <a:ahLst/>
              <a:cxnLst/>
              <a:rect l="l" t="t" r="r" b="b"/>
              <a:pathLst>
                <a:path w="1623695" h="1031239">
                  <a:moveTo>
                    <a:pt x="0" y="103089"/>
                  </a:moveTo>
                  <a:lnTo>
                    <a:pt x="8101" y="62962"/>
                  </a:lnTo>
                  <a:lnTo>
                    <a:pt x="30194" y="30194"/>
                  </a:lnTo>
                  <a:lnTo>
                    <a:pt x="62962" y="8101"/>
                  </a:lnTo>
                  <a:lnTo>
                    <a:pt x="103089" y="0"/>
                  </a:lnTo>
                  <a:lnTo>
                    <a:pt x="1520380" y="0"/>
                  </a:lnTo>
                  <a:lnTo>
                    <a:pt x="1560507" y="8101"/>
                  </a:lnTo>
                  <a:lnTo>
                    <a:pt x="1593275" y="30194"/>
                  </a:lnTo>
                  <a:lnTo>
                    <a:pt x="1615368" y="62962"/>
                  </a:lnTo>
                  <a:lnTo>
                    <a:pt x="1623470" y="103089"/>
                  </a:lnTo>
                  <a:lnTo>
                    <a:pt x="1623470" y="927814"/>
                  </a:lnTo>
                  <a:lnTo>
                    <a:pt x="1615368" y="967941"/>
                  </a:lnTo>
                  <a:lnTo>
                    <a:pt x="1593275" y="1000709"/>
                  </a:lnTo>
                  <a:lnTo>
                    <a:pt x="1560507" y="1022802"/>
                  </a:lnTo>
                  <a:lnTo>
                    <a:pt x="1520380" y="1030904"/>
                  </a:lnTo>
                  <a:lnTo>
                    <a:pt x="103089" y="1030904"/>
                  </a:lnTo>
                  <a:lnTo>
                    <a:pt x="62962" y="1022802"/>
                  </a:lnTo>
                  <a:lnTo>
                    <a:pt x="30194" y="1000709"/>
                  </a:lnTo>
                  <a:lnTo>
                    <a:pt x="8101" y="967941"/>
                  </a:lnTo>
                  <a:lnTo>
                    <a:pt x="0" y="927814"/>
                  </a:lnTo>
                  <a:lnTo>
                    <a:pt x="0" y="103089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580437" y="4185411"/>
            <a:ext cx="138811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75" dirty="0">
                <a:latin typeface="Arial"/>
                <a:cs typeface="Arial"/>
              </a:rPr>
              <a:t>Incremental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4" y="118509"/>
            <a:ext cx="2291080" cy="129159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pc="-10" dirty="0"/>
              <a:t>Extracción</a:t>
            </a:r>
          </a:p>
          <a:p>
            <a:pPr marL="1063625">
              <a:lnSpc>
                <a:spcPct val="100000"/>
              </a:lnSpc>
              <a:spcBef>
                <a:spcPts val="745"/>
              </a:spcBef>
            </a:pPr>
            <a:r>
              <a:rPr sz="2800" spc="-10" dirty="0">
                <a:solidFill>
                  <a:srgbClr val="FF0000"/>
                </a:solidFill>
              </a:rPr>
              <a:t>Estática: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344302" y="274827"/>
            <a:ext cx="382142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25" dirty="0">
                <a:latin typeface="Arial"/>
                <a:cs typeface="Arial"/>
              </a:rPr>
              <a:t>Instantánea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los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44302" y="536955"/>
            <a:ext cx="5211445" cy="138493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340"/>
              </a:spcBef>
            </a:pPr>
            <a:r>
              <a:rPr sz="2800" spc="-65" dirty="0">
                <a:latin typeface="Arial"/>
                <a:cs typeface="Arial"/>
              </a:rPr>
              <a:t>operacionales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2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265" dirty="0">
                <a:latin typeface="Arial"/>
                <a:cs typeface="Arial"/>
              </a:rPr>
              <a:t>Carga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inicial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45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45" dirty="0">
                <a:latin typeface="Arial"/>
                <a:cs typeface="Arial"/>
              </a:rPr>
              <a:t>Ocasionalmente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utilizada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después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5097165" y="2199318"/>
            <a:ext cx="2009775" cy="1529080"/>
            <a:chOff x="5097165" y="2199318"/>
            <a:chExt cx="2009775" cy="1529080"/>
          </a:xfrm>
        </p:grpSpPr>
        <p:sp>
          <p:nvSpPr>
            <p:cNvPr id="7" name="object 7"/>
            <p:cNvSpPr/>
            <p:nvPr/>
          </p:nvSpPr>
          <p:spPr>
            <a:xfrm>
              <a:off x="6101986" y="3242923"/>
              <a:ext cx="992505" cy="472440"/>
            </a:xfrm>
            <a:custGeom>
              <a:avLst/>
              <a:gdLst/>
              <a:ahLst/>
              <a:cxnLst/>
              <a:rect l="l" t="t" r="r" b="b"/>
              <a:pathLst>
                <a:path w="992504" h="472439">
                  <a:moveTo>
                    <a:pt x="0" y="0"/>
                  </a:moveTo>
                  <a:lnTo>
                    <a:pt x="0" y="321762"/>
                  </a:lnTo>
                  <a:lnTo>
                    <a:pt x="992121" y="321762"/>
                  </a:lnTo>
                  <a:lnTo>
                    <a:pt x="992121" y="472159"/>
                  </a:lnTo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109865" y="3242923"/>
              <a:ext cx="992505" cy="472440"/>
            </a:xfrm>
            <a:custGeom>
              <a:avLst/>
              <a:gdLst/>
              <a:ahLst/>
              <a:cxnLst/>
              <a:rect l="l" t="t" r="r" b="b"/>
              <a:pathLst>
                <a:path w="992504" h="472439">
                  <a:moveTo>
                    <a:pt x="992121" y="0"/>
                  </a:moveTo>
                  <a:lnTo>
                    <a:pt x="992121" y="321762"/>
                  </a:lnTo>
                  <a:lnTo>
                    <a:pt x="0" y="321762"/>
                  </a:lnTo>
                  <a:lnTo>
                    <a:pt x="0" y="472159"/>
                  </a:lnTo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90250" y="2212018"/>
              <a:ext cx="1623695" cy="1031240"/>
            </a:xfrm>
            <a:custGeom>
              <a:avLst/>
              <a:gdLst/>
              <a:ahLst/>
              <a:cxnLst/>
              <a:rect l="l" t="t" r="r" b="b"/>
              <a:pathLst>
                <a:path w="1623695" h="1031239">
                  <a:moveTo>
                    <a:pt x="1520380" y="0"/>
                  </a:moveTo>
                  <a:lnTo>
                    <a:pt x="103089" y="0"/>
                  </a:lnTo>
                  <a:lnTo>
                    <a:pt x="62962" y="8101"/>
                  </a:lnTo>
                  <a:lnTo>
                    <a:pt x="30194" y="30194"/>
                  </a:lnTo>
                  <a:lnTo>
                    <a:pt x="8101" y="62962"/>
                  </a:lnTo>
                  <a:lnTo>
                    <a:pt x="0" y="103089"/>
                  </a:lnTo>
                  <a:lnTo>
                    <a:pt x="0" y="927815"/>
                  </a:lnTo>
                  <a:lnTo>
                    <a:pt x="8101" y="967941"/>
                  </a:lnTo>
                  <a:lnTo>
                    <a:pt x="30194" y="1000710"/>
                  </a:lnTo>
                  <a:lnTo>
                    <a:pt x="62962" y="1022803"/>
                  </a:lnTo>
                  <a:lnTo>
                    <a:pt x="103089" y="1030904"/>
                  </a:lnTo>
                  <a:lnTo>
                    <a:pt x="1520380" y="1030904"/>
                  </a:lnTo>
                  <a:lnTo>
                    <a:pt x="1560507" y="1022803"/>
                  </a:lnTo>
                  <a:lnTo>
                    <a:pt x="1593275" y="1000710"/>
                  </a:lnTo>
                  <a:lnTo>
                    <a:pt x="1615368" y="967941"/>
                  </a:lnTo>
                  <a:lnTo>
                    <a:pt x="1623470" y="927815"/>
                  </a:lnTo>
                  <a:lnTo>
                    <a:pt x="1623470" y="103089"/>
                  </a:lnTo>
                  <a:lnTo>
                    <a:pt x="1615368" y="62962"/>
                  </a:lnTo>
                  <a:lnTo>
                    <a:pt x="1593275" y="30194"/>
                  </a:lnTo>
                  <a:lnTo>
                    <a:pt x="1560507" y="8101"/>
                  </a:lnTo>
                  <a:lnTo>
                    <a:pt x="1520380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90250" y="2212018"/>
              <a:ext cx="1623695" cy="1031240"/>
            </a:xfrm>
            <a:custGeom>
              <a:avLst/>
              <a:gdLst/>
              <a:ahLst/>
              <a:cxnLst/>
              <a:rect l="l" t="t" r="r" b="b"/>
              <a:pathLst>
                <a:path w="1623695" h="1031239">
                  <a:moveTo>
                    <a:pt x="0" y="103089"/>
                  </a:moveTo>
                  <a:lnTo>
                    <a:pt x="8101" y="62962"/>
                  </a:lnTo>
                  <a:lnTo>
                    <a:pt x="30194" y="30194"/>
                  </a:lnTo>
                  <a:lnTo>
                    <a:pt x="62962" y="8101"/>
                  </a:lnTo>
                  <a:lnTo>
                    <a:pt x="103089" y="0"/>
                  </a:lnTo>
                  <a:lnTo>
                    <a:pt x="1520380" y="0"/>
                  </a:lnTo>
                  <a:lnTo>
                    <a:pt x="1560507" y="8101"/>
                  </a:lnTo>
                  <a:lnTo>
                    <a:pt x="1593275" y="30194"/>
                  </a:lnTo>
                  <a:lnTo>
                    <a:pt x="1615368" y="62962"/>
                  </a:lnTo>
                  <a:lnTo>
                    <a:pt x="1623470" y="103089"/>
                  </a:lnTo>
                  <a:lnTo>
                    <a:pt x="1623470" y="927814"/>
                  </a:lnTo>
                  <a:lnTo>
                    <a:pt x="1615368" y="967941"/>
                  </a:lnTo>
                  <a:lnTo>
                    <a:pt x="1593275" y="1000709"/>
                  </a:lnTo>
                  <a:lnTo>
                    <a:pt x="1560507" y="1022802"/>
                  </a:lnTo>
                  <a:lnTo>
                    <a:pt x="1520380" y="1030904"/>
                  </a:lnTo>
                  <a:lnTo>
                    <a:pt x="103089" y="1030904"/>
                  </a:lnTo>
                  <a:lnTo>
                    <a:pt x="62962" y="1022802"/>
                  </a:lnTo>
                  <a:lnTo>
                    <a:pt x="30194" y="1000709"/>
                  </a:lnTo>
                  <a:lnTo>
                    <a:pt x="8101" y="967941"/>
                  </a:lnTo>
                  <a:lnTo>
                    <a:pt x="0" y="927814"/>
                  </a:lnTo>
                  <a:lnTo>
                    <a:pt x="0" y="103089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70636" y="2383384"/>
              <a:ext cx="1623695" cy="1031240"/>
            </a:xfrm>
            <a:custGeom>
              <a:avLst/>
              <a:gdLst/>
              <a:ahLst/>
              <a:cxnLst/>
              <a:rect l="l" t="t" r="r" b="b"/>
              <a:pathLst>
                <a:path w="1623695" h="1031239">
                  <a:moveTo>
                    <a:pt x="1520380" y="0"/>
                  </a:moveTo>
                  <a:lnTo>
                    <a:pt x="103089" y="0"/>
                  </a:lnTo>
                  <a:lnTo>
                    <a:pt x="62962" y="8101"/>
                  </a:lnTo>
                  <a:lnTo>
                    <a:pt x="30194" y="30194"/>
                  </a:lnTo>
                  <a:lnTo>
                    <a:pt x="8101" y="62962"/>
                  </a:lnTo>
                  <a:lnTo>
                    <a:pt x="0" y="103089"/>
                  </a:lnTo>
                  <a:lnTo>
                    <a:pt x="0" y="927813"/>
                  </a:lnTo>
                  <a:lnTo>
                    <a:pt x="8101" y="967941"/>
                  </a:lnTo>
                  <a:lnTo>
                    <a:pt x="30194" y="1000709"/>
                  </a:lnTo>
                  <a:lnTo>
                    <a:pt x="62962" y="1022802"/>
                  </a:lnTo>
                  <a:lnTo>
                    <a:pt x="103089" y="1030903"/>
                  </a:lnTo>
                  <a:lnTo>
                    <a:pt x="1520380" y="1030903"/>
                  </a:lnTo>
                  <a:lnTo>
                    <a:pt x="1560507" y="1022802"/>
                  </a:lnTo>
                  <a:lnTo>
                    <a:pt x="1593275" y="1000709"/>
                  </a:lnTo>
                  <a:lnTo>
                    <a:pt x="1615368" y="967941"/>
                  </a:lnTo>
                  <a:lnTo>
                    <a:pt x="1623470" y="927813"/>
                  </a:lnTo>
                  <a:lnTo>
                    <a:pt x="1623470" y="103089"/>
                  </a:lnTo>
                  <a:lnTo>
                    <a:pt x="1615368" y="62962"/>
                  </a:lnTo>
                  <a:lnTo>
                    <a:pt x="1593275" y="30194"/>
                  </a:lnTo>
                  <a:lnTo>
                    <a:pt x="1560507" y="8101"/>
                  </a:lnTo>
                  <a:lnTo>
                    <a:pt x="1520380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70636" y="2383384"/>
              <a:ext cx="1623695" cy="1031240"/>
            </a:xfrm>
            <a:custGeom>
              <a:avLst/>
              <a:gdLst/>
              <a:ahLst/>
              <a:cxnLst/>
              <a:rect l="l" t="t" r="r" b="b"/>
              <a:pathLst>
                <a:path w="1623695" h="1031239">
                  <a:moveTo>
                    <a:pt x="0" y="103089"/>
                  </a:moveTo>
                  <a:lnTo>
                    <a:pt x="8101" y="62962"/>
                  </a:lnTo>
                  <a:lnTo>
                    <a:pt x="30194" y="30194"/>
                  </a:lnTo>
                  <a:lnTo>
                    <a:pt x="62962" y="8101"/>
                  </a:lnTo>
                  <a:lnTo>
                    <a:pt x="103089" y="0"/>
                  </a:lnTo>
                  <a:lnTo>
                    <a:pt x="1520380" y="0"/>
                  </a:lnTo>
                  <a:lnTo>
                    <a:pt x="1560507" y="8101"/>
                  </a:lnTo>
                  <a:lnTo>
                    <a:pt x="1593275" y="30194"/>
                  </a:lnTo>
                  <a:lnTo>
                    <a:pt x="1615368" y="62962"/>
                  </a:lnTo>
                  <a:lnTo>
                    <a:pt x="1623470" y="103089"/>
                  </a:lnTo>
                  <a:lnTo>
                    <a:pt x="1623470" y="927814"/>
                  </a:lnTo>
                  <a:lnTo>
                    <a:pt x="1615368" y="967941"/>
                  </a:lnTo>
                  <a:lnTo>
                    <a:pt x="1593275" y="1000709"/>
                  </a:lnTo>
                  <a:lnTo>
                    <a:pt x="1560507" y="1022802"/>
                  </a:lnTo>
                  <a:lnTo>
                    <a:pt x="1520380" y="1030904"/>
                  </a:lnTo>
                  <a:lnTo>
                    <a:pt x="103089" y="1030904"/>
                  </a:lnTo>
                  <a:lnTo>
                    <a:pt x="62962" y="1022802"/>
                  </a:lnTo>
                  <a:lnTo>
                    <a:pt x="30194" y="1000709"/>
                  </a:lnTo>
                  <a:lnTo>
                    <a:pt x="8101" y="967941"/>
                  </a:lnTo>
                  <a:lnTo>
                    <a:pt x="0" y="927814"/>
                  </a:lnTo>
                  <a:lnTo>
                    <a:pt x="0" y="103089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683661" y="2682748"/>
            <a:ext cx="119761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05" dirty="0">
                <a:latin typeface="Arial"/>
                <a:cs typeface="Arial"/>
              </a:rPr>
              <a:t>Extracción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285429" y="3702382"/>
            <a:ext cx="1829435" cy="1228090"/>
            <a:chOff x="4285429" y="3702382"/>
            <a:chExt cx="1829435" cy="1228090"/>
          </a:xfrm>
        </p:grpSpPr>
        <p:sp>
          <p:nvSpPr>
            <p:cNvPr id="15" name="object 15"/>
            <p:cNvSpPr/>
            <p:nvPr/>
          </p:nvSpPr>
          <p:spPr>
            <a:xfrm>
              <a:off x="4298129" y="3715082"/>
              <a:ext cx="1623695" cy="1031240"/>
            </a:xfrm>
            <a:custGeom>
              <a:avLst/>
              <a:gdLst/>
              <a:ahLst/>
              <a:cxnLst/>
              <a:rect l="l" t="t" r="r" b="b"/>
              <a:pathLst>
                <a:path w="1623695" h="1031239">
                  <a:moveTo>
                    <a:pt x="1520380" y="0"/>
                  </a:moveTo>
                  <a:lnTo>
                    <a:pt x="103089" y="0"/>
                  </a:lnTo>
                  <a:lnTo>
                    <a:pt x="62962" y="8101"/>
                  </a:lnTo>
                  <a:lnTo>
                    <a:pt x="30194" y="30194"/>
                  </a:lnTo>
                  <a:lnTo>
                    <a:pt x="8101" y="62962"/>
                  </a:lnTo>
                  <a:lnTo>
                    <a:pt x="0" y="103089"/>
                  </a:lnTo>
                  <a:lnTo>
                    <a:pt x="0" y="927814"/>
                  </a:lnTo>
                  <a:lnTo>
                    <a:pt x="8101" y="967941"/>
                  </a:lnTo>
                  <a:lnTo>
                    <a:pt x="30194" y="1000709"/>
                  </a:lnTo>
                  <a:lnTo>
                    <a:pt x="62962" y="1022802"/>
                  </a:lnTo>
                  <a:lnTo>
                    <a:pt x="103089" y="1030904"/>
                  </a:lnTo>
                  <a:lnTo>
                    <a:pt x="1520380" y="1030904"/>
                  </a:lnTo>
                  <a:lnTo>
                    <a:pt x="1560507" y="1022802"/>
                  </a:lnTo>
                  <a:lnTo>
                    <a:pt x="1593276" y="1000709"/>
                  </a:lnTo>
                  <a:lnTo>
                    <a:pt x="1615368" y="967941"/>
                  </a:lnTo>
                  <a:lnTo>
                    <a:pt x="1623470" y="927814"/>
                  </a:lnTo>
                  <a:lnTo>
                    <a:pt x="1623470" y="103089"/>
                  </a:lnTo>
                  <a:lnTo>
                    <a:pt x="1615368" y="62962"/>
                  </a:lnTo>
                  <a:lnTo>
                    <a:pt x="1593276" y="30194"/>
                  </a:lnTo>
                  <a:lnTo>
                    <a:pt x="1560507" y="8101"/>
                  </a:lnTo>
                  <a:lnTo>
                    <a:pt x="1520380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98129" y="3715082"/>
              <a:ext cx="1623695" cy="1031240"/>
            </a:xfrm>
            <a:custGeom>
              <a:avLst/>
              <a:gdLst/>
              <a:ahLst/>
              <a:cxnLst/>
              <a:rect l="l" t="t" r="r" b="b"/>
              <a:pathLst>
                <a:path w="1623695" h="1031239">
                  <a:moveTo>
                    <a:pt x="0" y="103089"/>
                  </a:moveTo>
                  <a:lnTo>
                    <a:pt x="8101" y="62962"/>
                  </a:lnTo>
                  <a:lnTo>
                    <a:pt x="30194" y="30194"/>
                  </a:lnTo>
                  <a:lnTo>
                    <a:pt x="62962" y="8101"/>
                  </a:lnTo>
                  <a:lnTo>
                    <a:pt x="103089" y="0"/>
                  </a:lnTo>
                  <a:lnTo>
                    <a:pt x="1520380" y="0"/>
                  </a:lnTo>
                  <a:lnTo>
                    <a:pt x="1560507" y="8101"/>
                  </a:lnTo>
                  <a:lnTo>
                    <a:pt x="1593275" y="30194"/>
                  </a:lnTo>
                  <a:lnTo>
                    <a:pt x="1615368" y="62962"/>
                  </a:lnTo>
                  <a:lnTo>
                    <a:pt x="1623470" y="103089"/>
                  </a:lnTo>
                  <a:lnTo>
                    <a:pt x="1623470" y="927814"/>
                  </a:lnTo>
                  <a:lnTo>
                    <a:pt x="1615368" y="967941"/>
                  </a:lnTo>
                  <a:lnTo>
                    <a:pt x="1593275" y="1000709"/>
                  </a:lnTo>
                  <a:lnTo>
                    <a:pt x="1560507" y="1022802"/>
                  </a:lnTo>
                  <a:lnTo>
                    <a:pt x="1520380" y="1030904"/>
                  </a:lnTo>
                  <a:lnTo>
                    <a:pt x="103089" y="1030904"/>
                  </a:lnTo>
                  <a:lnTo>
                    <a:pt x="62962" y="1022802"/>
                  </a:lnTo>
                  <a:lnTo>
                    <a:pt x="30194" y="1000709"/>
                  </a:lnTo>
                  <a:lnTo>
                    <a:pt x="8101" y="967941"/>
                  </a:lnTo>
                  <a:lnTo>
                    <a:pt x="0" y="927814"/>
                  </a:lnTo>
                  <a:lnTo>
                    <a:pt x="0" y="103089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78515" y="3886448"/>
              <a:ext cx="1623695" cy="1031240"/>
            </a:xfrm>
            <a:custGeom>
              <a:avLst/>
              <a:gdLst/>
              <a:ahLst/>
              <a:cxnLst/>
              <a:rect l="l" t="t" r="r" b="b"/>
              <a:pathLst>
                <a:path w="1623695" h="1031239">
                  <a:moveTo>
                    <a:pt x="1520380" y="0"/>
                  </a:moveTo>
                  <a:lnTo>
                    <a:pt x="103089" y="0"/>
                  </a:lnTo>
                  <a:lnTo>
                    <a:pt x="62962" y="8101"/>
                  </a:lnTo>
                  <a:lnTo>
                    <a:pt x="30194" y="30194"/>
                  </a:lnTo>
                  <a:lnTo>
                    <a:pt x="8101" y="62962"/>
                  </a:lnTo>
                  <a:lnTo>
                    <a:pt x="0" y="103089"/>
                  </a:lnTo>
                  <a:lnTo>
                    <a:pt x="0" y="927814"/>
                  </a:lnTo>
                  <a:lnTo>
                    <a:pt x="8101" y="967941"/>
                  </a:lnTo>
                  <a:lnTo>
                    <a:pt x="30194" y="1000709"/>
                  </a:lnTo>
                  <a:lnTo>
                    <a:pt x="62962" y="1022802"/>
                  </a:lnTo>
                  <a:lnTo>
                    <a:pt x="103089" y="1030903"/>
                  </a:lnTo>
                  <a:lnTo>
                    <a:pt x="1520380" y="1030903"/>
                  </a:lnTo>
                  <a:lnTo>
                    <a:pt x="1560507" y="1022802"/>
                  </a:lnTo>
                  <a:lnTo>
                    <a:pt x="1593276" y="1000709"/>
                  </a:lnTo>
                  <a:lnTo>
                    <a:pt x="1615368" y="967941"/>
                  </a:lnTo>
                  <a:lnTo>
                    <a:pt x="1623470" y="927814"/>
                  </a:lnTo>
                  <a:lnTo>
                    <a:pt x="1623470" y="103089"/>
                  </a:lnTo>
                  <a:lnTo>
                    <a:pt x="1615368" y="62962"/>
                  </a:lnTo>
                  <a:lnTo>
                    <a:pt x="1593276" y="30194"/>
                  </a:lnTo>
                  <a:lnTo>
                    <a:pt x="1560507" y="8101"/>
                  </a:lnTo>
                  <a:lnTo>
                    <a:pt x="1520380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78515" y="3886448"/>
              <a:ext cx="1623695" cy="1031240"/>
            </a:xfrm>
            <a:custGeom>
              <a:avLst/>
              <a:gdLst/>
              <a:ahLst/>
              <a:cxnLst/>
              <a:rect l="l" t="t" r="r" b="b"/>
              <a:pathLst>
                <a:path w="1623695" h="1031239">
                  <a:moveTo>
                    <a:pt x="0" y="103089"/>
                  </a:moveTo>
                  <a:lnTo>
                    <a:pt x="8101" y="62962"/>
                  </a:lnTo>
                  <a:lnTo>
                    <a:pt x="30194" y="30194"/>
                  </a:lnTo>
                  <a:lnTo>
                    <a:pt x="62962" y="8101"/>
                  </a:lnTo>
                  <a:lnTo>
                    <a:pt x="103089" y="0"/>
                  </a:lnTo>
                  <a:lnTo>
                    <a:pt x="1520380" y="0"/>
                  </a:lnTo>
                  <a:lnTo>
                    <a:pt x="1560507" y="8101"/>
                  </a:lnTo>
                  <a:lnTo>
                    <a:pt x="1593275" y="30194"/>
                  </a:lnTo>
                  <a:lnTo>
                    <a:pt x="1615368" y="62962"/>
                  </a:lnTo>
                  <a:lnTo>
                    <a:pt x="1623470" y="103089"/>
                  </a:lnTo>
                  <a:lnTo>
                    <a:pt x="1623470" y="927814"/>
                  </a:lnTo>
                  <a:lnTo>
                    <a:pt x="1615368" y="967941"/>
                  </a:lnTo>
                  <a:lnTo>
                    <a:pt x="1593275" y="1000709"/>
                  </a:lnTo>
                  <a:lnTo>
                    <a:pt x="1560507" y="1022802"/>
                  </a:lnTo>
                  <a:lnTo>
                    <a:pt x="1520380" y="1030904"/>
                  </a:lnTo>
                  <a:lnTo>
                    <a:pt x="103089" y="1030904"/>
                  </a:lnTo>
                  <a:lnTo>
                    <a:pt x="62962" y="1022802"/>
                  </a:lnTo>
                  <a:lnTo>
                    <a:pt x="30194" y="1000709"/>
                  </a:lnTo>
                  <a:lnTo>
                    <a:pt x="8101" y="967941"/>
                  </a:lnTo>
                  <a:lnTo>
                    <a:pt x="0" y="927814"/>
                  </a:lnTo>
                  <a:lnTo>
                    <a:pt x="0" y="103089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841845" y="4185411"/>
            <a:ext cx="896619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20" dirty="0">
                <a:latin typeface="Arial"/>
                <a:cs typeface="Arial"/>
              </a:rPr>
              <a:t>Estática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269672" y="3702382"/>
            <a:ext cx="1829435" cy="1228090"/>
            <a:chOff x="6269672" y="3702382"/>
            <a:chExt cx="1829435" cy="1228090"/>
          </a:xfrm>
        </p:grpSpPr>
        <p:sp>
          <p:nvSpPr>
            <p:cNvPr id="21" name="object 21"/>
            <p:cNvSpPr/>
            <p:nvPr/>
          </p:nvSpPr>
          <p:spPr>
            <a:xfrm>
              <a:off x="6282372" y="3715082"/>
              <a:ext cx="1623695" cy="1031240"/>
            </a:xfrm>
            <a:custGeom>
              <a:avLst/>
              <a:gdLst/>
              <a:ahLst/>
              <a:cxnLst/>
              <a:rect l="l" t="t" r="r" b="b"/>
              <a:pathLst>
                <a:path w="1623695" h="1031239">
                  <a:moveTo>
                    <a:pt x="1520380" y="0"/>
                  </a:moveTo>
                  <a:lnTo>
                    <a:pt x="103089" y="0"/>
                  </a:lnTo>
                  <a:lnTo>
                    <a:pt x="62962" y="8101"/>
                  </a:lnTo>
                  <a:lnTo>
                    <a:pt x="30194" y="30194"/>
                  </a:lnTo>
                  <a:lnTo>
                    <a:pt x="8101" y="62962"/>
                  </a:lnTo>
                  <a:lnTo>
                    <a:pt x="0" y="103089"/>
                  </a:lnTo>
                  <a:lnTo>
                    <a:pt x="0" y="927814"/>
                  </a:lnTo>
                  <a:lnTo>
                    <a:pt x="8101" y="967941"/>
                  </a:lnTo>
                  <a:lnTo>
                    <a:pt x="30194" y="1000709"/>
                  </a:lnTo>
                  <a:lnTo>
                    <a:pt x="62962" y="1022802"/>
                  </a:lnTo>
                  <a:lnTo>
                    <a:pt x="103089" y="1030904"/>
                  </a:lnTo>
                  <a:lnTo>
                    <a:pt x="1520380" y="1030904"/>
                  </a:lnTo>
                  <a:lnTo>
                    <a:pt x="1560507" y="1022802"/>
                  </a:lnTo>
                  <a:lnTo>
                    <a:pt x="1593275" y="1000709"/>
                  </a:lnTo>
                  <a:lnTo>
                    <a:pt x="1615367" y="967941"/>
                  </a:lnTo>
                  <a:lnTo>
                    <a:pt x="1623468" y="927814"/>
                  </a:lnTo>
                  <a:lnTo>
                    <a:pt x="1623468" y="103089"/>
                  </a:lnTo>
                  <a:lnTo>
                    <a:pt x="1615367" y="62962"/>
                  </a:lnTo>
                  <a:lnTo>
                    <a:pt x="1593275" y="30194"/>
                  </a:lnTo>
                  <a:lnTo>
                    <a:pt x="1560507" y="8101"/>
                  </a:lnTo>
                  <a:lnTo>
                    <a:pt x="1520380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82372" y="3715082"/>
              <a:ext cx="1623695" cy="1031240"/>
            </a:xfrm>
            <a:custGeom>
              <a:avLst/>
              <a:gdLst/>
              <a:ahLst/>
              <a:cxnLst/>
              <a:rect l="l" t="t" r="r" b="b"/>
              <a:pathLst>
                <a:path w="1623695" h="1031239">
                  <a:moveTo>
                    <a:pt x="0" y="103089"/>
                  </a:moveTo>
                  <a:lnTo>
                    <a:pt x="8101" y="62962"/>
                  </a:lnTo>
                  <a:lnTo>
                    <a:pt x="30194" y="30194"/>
                  </a:lnTo>
                  <a:lnTo>
                    <a:pt x="62962" y="8101"/>
                  </a:lnTo>
                  <a:lnTo>
                    <a:pt x="103089" y="0"/>
                  </a:lnTo>
                  <a:lnTo>
                    <a:pt x="1520380" y="0"/>
                  </a:lnTo>
                  <a:lnTo>
                    <a:pt x="1560507" y="8101"/>
                  </a:lnTo>
                  <a:lnTo>
                    <a:pt x="1593275" y="30194"/>
                  </a:lnTo>
                  <a:lnTo>
                    <a:pt x="1615368" y="62962"/>
                  </a:lnTo>
                  <a:lnTo>
                    <a:pt x="1623470" y="103089"/>
                  </a:lnTo>
                  <a:lnTo>
                    <a:pt x="1623470" y="927814"/>
                  </a:lnTo>
                  <a:lnTo>
                    <a:pt x="1615368" y="967941"/>
                  </a:lnTo>
                  <a:lnTo>
                    <a:pt x="1593275" y="1000709"/>
                  </a:lnTo>
                  <a:lnTo>
                    <a:pt x="1560507" y="1022802"/>
                  </a:lnTo>
                  <a:lnTo>
                    <a:pt x="1520380" y="1030904"/>
                  </a:lnTo>
                  <a:lnTo>
                    <a:pt x="103089" y="1030904"/>
                  </a:lnTo>
                  <a:lnTo>
                    <a:pt x="62962" y="1022802"/>
                  </a:lnTo>
                  <a:lnTo>
                    <a:pt x="30194" y="1000709"/>
                  </a:lnTo>
                  <a:lnTo>
                    <a:pt x="8101" y="967941"/>
                  </a:lnTo>
                  <a:lnTo>
                    <a:pt x="0" y="927814"/>
                  </a:lnTo>
                  <a:lnTo>
                    <a:pt x="0" y="103089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62758" y="3886448"/>
              <a:ext cx="1623695" cy="1031240"/>
            </a:xfrm>
            <a:custGeom>
              <a:avLst/>
              <a:gdLst/>
              <a:ahLst/>
              <a:cxnLst/>
              <a:rect l="l" t="t" r="r" b="b"/>
              <a:pathLst>
                <a:path w="1623695" h="1031239">
                  <a:moveTo>
                    <a:pt x="1520379" y="0"/>
                  </a:moveTo>
                  <a:lnTo>
                    <a:pt x="103089" y="0"/>
                  </a:lnTo>
                  <a:lnTo>
                    <a:pt x="62962" y="8101"/>
                  </a:lnTo>
                  <a:lnTo>
                    <a:pt x="30194" y="30194"/>
                  </a:lnTo>
                  <a:lnTo>
                    <a:pt x="8101" y="62962"/>
                  </a:lnTo>
                  <a:lnTo>
                    <a:pt x="0" y="103089"/>
                  </a:lnTo>
                  <a:lnTo>
                    <a:pt x="0" y="927814"/>
                  </a:lnTo>
                  <a:lnTo>
                    <a:pt x="8101" y="967941"/>
                  </a:lnTo>
                  <a:lnTo>
                    <a:pt x="30194" y="1000709"/>
                  </a:lnTo>
                  <a:lnTo>
                    <a:pt x="62962" y="1022802"/>
                  </a:lnTo>
                  <a:lnTo>
                    <a:pt x="103089" y="1030903"/>
                  </a:lnTo>
                  <a:lnTo>
                    <a:pt x="1520379" y="1030903"/>
                  </a:lnTo>
                  <a:lnTo>
                    <a:pt x="1560506" y="1022802"/>
                  </a:lnTo>
                  <a:lnTo>
                    <a:pt x="1593274" y="1000709"/>
                  </a:lnTo>
                  <a:lnTo>
                    <a:pt x="1615367" y="967941"/>
                  </a:lnTo>
                  <a:lnTo>
                    <a:pt x="1623468" y="927814"/>
                  </a:lnTo>
                  <a:lnTo>
                    <a:pt x="1623468" y="103089"/>
                  </a:lnTo>
                  <a:lnTo>
                    <a:pt x="1615367" y="62962"/>
                  </a:lnTo>
                  <a:lnTo>
                    <a:pt x="1593274" y="30194"/>
                  </a:lnTo>
                  <a:lnTo>
                    <a:pt x="1560506" y="8101"/>
                  </a:lnTo>
                  <a:lnTo>
                    <a:pt x="1520379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462758" y="3886448"/>
              <a:ext cx="1623695" cy="1031240"/>
            </a:xfrm>
            <a:custGeom>
              <a:avLst/>
              <a:gdLst/>
              <a:ahLst/>
              <a:cxnLst/>
              <a:rect l="l" t="t" r="r" b="b"/>
              <a:pathLst>
                <a:path w="1623695" h="1031239">
                  <a:moveTo>
                    <a:pt x="0" y="103089"/>
                  </a:moveTo>
                  <a:lnTo>
                    <a:pt x="8101" y="62962"/>
                  </a:lnTo>
                  <a:lnTo>
                    <a:pt x="30194" y="30194"/>
                  </a:lnTo>
                  <a:lnTo>
                    <a:pt x="62962" y="8101"/>
                  </a:lnTo>
                  <a:lnTo>
                    <a:pt x="103089" y="0"/>
                  </a:lnTo>
                  <a:lnTo>
                    <a:pt x="1520380" y="0"/>
                  </a:lnTo>
                  <a:lnTo>
                    <a:pt x="1560507" y="8101"/>
                  </a:lnTo>
                  <a:lnTo>
                    <a:pt x="1593275" y="30194"/>
                  </a:lnTo>
                  <a:lnTo>
                    <a:pt x="1615368" y="62962"/>
                  </a:lnTo>
                  <a:lnTo>
                    <a:pt x="1623470" y="103089"/>
                  </a:lnTo>
                  <a:lnTo>
                    <a:pt x="1623470" y="927814"/>
                  </a:lnTo>
                  <a:lnTo>
                    <a:pt x="1615368" y="967941"/>
                  </a:lnTo>
                  <a:lnTo>
                    <a:pt x="1593275" y="1000709"/>
                  </a:lnTo>
                  <a:lnTo>
                    <a:pt x="1560507" y="1022802"/>
                  </a:lnTo>
                  <a:lnTo>
                    <a:pt x="1520380" y="1030904"/>
                  </a:lnTo>
                  <a:lnTo>
                    <a:pt x="103089" y="1030904"/>
                  </a:lnTo>
                  <a:lnTo>
                    <a:pt x="62962" y="1022802"/>
                  </a:lnTo>
                  <a:lnTo>
                    <a:pt x="30194" y="1000709"/>
                  </a:lnTo>
                  <a:lnTo>
                    <a:pt x="8101" y="967941"/>
                  </a:lnTo>
                  <a:lnTo>
                    <a:pt x="0" y="927814"/>
                  </a:lnTo>
                  <a:lnTo>
                    <a:pt x="0" y="103089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580437" y="4185411"/>
            <a:ext cx="138811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75" dirty="0">
                <a:latin typeface="Arial"/>
                <a:cs typeface="Arial"/>
              </a:rPr>
              <a:t>Incremental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4" y="118509"/>
            <a:ext cx="2291715" cy="129159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pc="-10" dirty="0"/>
              <a:t>Extracción</a:t>
            </a:r>
          </a:p>
          <a:p>
            <a:pPr marL="547370">
              <a:lnSpc>
                <a:spcPct val="100000"/>
              </a:lnSpc>
              <a:spcBef>
                <a:spcPts val="745"/>
              </a:spcBef>
            </a:pPr>
            <a:r>
              <a:rPr sz="2800" spc="-10" dirty="0">
                <a:solidFill>
                  <a:srgbClr val="FF0000"/>
                </a:solidFill>
              </a:rPr>
              <a:t>Incremental: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344302" y="274827"/>
            <a:ext cx="3938904" cy="1354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30" dirty="0">
                <a:latin typeface="Arial"/>
                <a:cs typeface="Arial"/>
              </a:rPr>
              <a:t>Actualización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de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45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40" dirty="0">
                <a:latin typeface="Arial"/>
                <a:cs typeface="Arial"/>
              </a:rPr>
              <a:t>Timestamp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2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265" dirty="0">
                <a:latin typeface="Arial"/>
                <a:cs typeface="Arial"/>
              </a:rPr>
              <a:t>A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partir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la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215" dirty="0">
                <a:latin typeface="Arial"/>
                <a:cs typeface="Arial"/>
              </a:rPr>
              <a:t>carga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40" dirty="0">
                <a:latin typeface="Arial"/>
                <a:cs typeface="Arial"/>
              </a:rPr>
              <a:t>inicial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5097165" y="2199318"/>
            <a:ext cx="2009775" cy="1529080"/>
            <a:chOff x="5097165" y="2199318"/>
            <a:chExt cx="2009775" cy="1529080"/>
          </a:xfrm>
        </p:grpSpPr>
        <p:sp>
          <p:nvSpPr>
            <p:cNvPr id="6" name="object 6"/>
            <p:cNvSpPr/>
            <p:nvPr/>
          </p:nvSpPr>
          <p:spPr>
            <a:xfrm>
              <a:off x="6101986" y="3242923"/>
              <a:ext cx="992505" cy="472440"/>
            </a:xfrm>
            <a:custGeom>
              <a:avLst/>
              <a:gdLst/>
              <a:ahLst/>
              <a:cxnLst/>
              <a:rect l="l" t="t" r="r" b="b"/>
              <a:pathLst>
                <a:path w="992504" h="472439">
                  <a:moveTo>
                    <a:pt x="0" y="0"/>
                  </a:moveTo>
                  <a:lnTo>
                    <a:pt x="0" y="321762"/>
                  </a:lnTo>
                  <a:lnTo>
                    <a:pt x="992121" y="321762"/>
                  </a:lnTo>
                  <a:lnTo>
                    <a:pt x="992121" y="472159"/>
                  </a:lnTo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9865" y="3242923"/>
              <a:ext cx="992505" cy="472440"/>
            </a:xfrm>
            <a:custGeom>
              <a:avLst/>
              <a:gdLst/>
              <a:ahLst/>
              <a:cxnLst/>
              <a:rect l="l" t="t" r="r" b="b"/>
              <a:pathLst>
                <a:path w="992504" h="472439">
                  <a:moveTo>
                    <a:pt x="992121" y="0"/>
                  </a:moveTo>
                  <a:lnTo>
                    <a:pt x="992121" y="321762"/>
                  </a:lnTo>
                  <a:lnTo>
                    <a:pt x="0" y="321762"/>
                  </a:lnTo>
                  <a:lnTo>
                    <a:pt x="0" y="472159"/>
                  </a:lnTo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90250" y="2212018"/>
              <a:ext cx="1623695" cy="1031240"/>
            </a:xfrm>
            <a:custGeom>
              <a:avLst/>
              <a:gdLst/>
              <a:ahLst/>
              <a:cxnLst/>
              <a:rect l="l" t="t" r="r" b="b"/>
              <a:pathLst>
                <a:path w="1623695" h="1031239">
                  <a:moveTo>
                    <a:pt x="1520380" y="0"/>
                  </a:moveTo>
                  <a:lnTo>
                    <a:pt x="103089" y="0"/>
                  </a:lnTo>
                  <a:lnTo>
                    <a:pt x="62962" y="8101"/>
                  </a:lnTo>
                  <a:lnTo>
                    <a:pt x="30194" y="30194"/>
                  </a:lnTo>
                  <a:lnTo>
                    <a:pt x="8101" y="62962"/>
                  </a:lnTo>
                  <a:lnTo>
                    <a:pt x="0" y="103089"/>
                  </a:lnTo>
                  <a:lnTo>
                    <a:pt x="0" y="927815"/>
                  </a:lnTo>
                  <a:lnTo>
                    <a:pt x="8101" y="967941"/>
                  </a:lnTo>
                  <a:lnTo>
                    <a:pt x="30194" y="1000710"/>
                  </a:lnTo>
                  <a:lnTo>
                    <a:pt x="62962" y="1022803"/>
                  </a:lnTo>
                  <a:lnTo>
                    <a:pt x="103089" y="1030904"/>
                  </a:lnTo>
                  <a:lnTo>
                    <a:pt x="1520380" y="1030904"/>
                  </a:lnTo>
                  <a:lnTo>
                    <a:pt x="1560507" y="1022803"/>
                  </a:lnTo>
                  <a:lnTo>
                    <a:pt x="1593275" y="1000710"/>
                  </a:lnTo>
                  <a:lnTo>
                    <a:pt x="1615368" y="967941"/>
                  </a:lnTo>
                  <a:lnTo>
                    <a:pt x="1623470" y="927815"/>
                  </a:lnTo>
                  <a:lnTo>
                    <a:pt x="1623470" y="103089"/>
                  </a:lnTo>
                  <a:lnTo>
                    <a:pt x="1615368" y="62962"/>
                  </a:lnTo>
                  <a:lnTo>
                    <a:pt x="1593275" y="30194"/>
                  </a:lnTo>
                  <a:lnTo>
                    <a:pt x="1560507" y="8101"/>
                  </a:lnTo>
                  <a:lnTo>
                    <a:pt x="1520380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90250" y="2212018"/>
              <a:ext cx="1623695" cy="1031240"/>
            </a:xfrm>
            <a:custGeom>
              <a:avLst/>
              <a:gdLst/>
              <a:ahLst/>
              <a:cxnLst/>
              <a:rect l="l" t="t" r="r" b="b"/>
              <a:pathLst>
                <a:path w="1623695" h="1031239">
                  <a:moveTo>
                    <a:pt x="0" y="103089"/>
                  </a:moveTo>
                  <a:lnTo>
                    <a:pt x="8101" y="62962"/>
                  </a:lnTo>
                  <a:lnTo>
                    <a:pt x="30194" y="30194"/>
                  </a:lnTo>
                  <a:lnTo>
                    <a:pt x="62962" y="8101"/>
                  </a:lnTo>
                  <a:lnTo>
                    <a:pt x="103089" y="0"/>
                  </a:lnTo>
                  <a:lnTo>
                    <a:pt x="1520380" y="0"/>
                  </a:lnTo>
                  <a:lnTo>
                    <a:pt x="1560507" y="8101"/>
                  </a:lnTo>
                  <a:lnTo>
                    <a:pt x="1593275" y="30194"/>
                  </a:lnTo>
                  <a:lnTo>
                    <a:pt x="1615368" y="62962"/>
                  </a:lnTo>
                  <a:lnTo>
                    <a:pt x="1623470" y="103089"/>
                  </a:lnTo>
                  <a:lnTo>
                    <a:pt x="1623470" y="927814"/>
                  </a:lnTo>
                  <a:lnTo>
                    <a:pt x="1615368" y="967941"/>
                  </a:lnTo>
                  <a:lnTo>
                    <a:pt x="1593275" y="1000709"/>
                  </a:lnTo>
                  <a:lnTo>
                    <a:pt x="1560507" y="1022802"/>
                  </a:lnTo>
                  <a:lnTo>
                    <a:pt x="1520380" y="1030904"/>
                  </a:lnTo>
                  <a:lnTo>
                    <a:pt x="103089" y="1030904"/>
                  </a:lnTo>
                  <a:lnTo>
                    <a:pt x="62962" y="1022802"/>
                  </a:lnTo>
                  <a:lnTo>
                    <a:pt x="30194" y="1000709"/>
                  </a:lnTo>
                  <a:lnTo>
                    <a:pt x="8101" y="967941"/>
                  </a:lnTo>
                  <a:lnTo>
                    <a:pt x="0" y="927814"/>
                  </a:lnTo>
                  <a:lnTo>
                    <a:pt x="0" y="103089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70636" y="2383384"/>
              <a:ext cx="1623695" cy="1031240"/>
            </a:xfrm>
            <a:custGeom>
              <a:avLst/>
              <a:gdLst/>
              <a:ahLst/>
              <a:cxnLst/>
              <a:rect l="l" t="t" r="r" b="b"/>
              <a:pathLst>
                <a:path w="1623695" h="1031239">
                  <a:moveTo>
                    <a:pt x="1520380" y="0"/>
                  </a:moveTo>
                  <a:lnTo>
                    <a:pt x="103089" y="0"/>
                  </a:lnTo>
                  <a:lnTo>
                    <a:pt x="62962" y="8101"/>
                  </a:lnTo>
                  <a:lnTo>
                    <a:pt x="30194" y="30194"/>
                  </a:lnTo>
                  <a:lnTo>
                    <a:pt x="8101" y="62962"/>
                  </a:lnTo>
                  <a:lnTo>
                    <a:pt x="0" y="103089"/>
                  </a:lnTo>
                  <a:lnTo>
                    <a:pt x="0" y="927813"/>
                  </a:lnTo>
                  <a:lnTo>
                    <a:pt x="8101" y="967941"/>
                  </a:lnTo>
                  <a:lnTo>
                    <a:pt x="30194" y="1000709"/>
                  </a:lnTo>
                  <a:lnTo>
                    <a:pt x="62962" y="1022802"/>
                  </a:lnTo>
                  <a:lnTo>
                    <a:pt x="103089" y="1030903"/>
                  </a:lnTo>
                  <a:lnTo>
                    <a:pt x="1520380" y="1030903"/>
                  </a:lnTo>
                  <a:lnTo>
                    <a:pt x="1560507" y="1022802"/>
                  </a:lnTo>
                  <a:lnTo>
                    <a:pt x="1593275" y="1000709"/>
                  </a:lnTo>
                  <a:lnTo>
                    <a:pt x="1615368" y="967941"/>
                  </a:lnTo>
                  <a:lnTo>
                    <a:pt x="1623470" y="927813"/>
                  </a:lnTo>
                  <a:lnTo>
                    <a:pt x="1623470" y="103089"/>
                  </a:lnTo>
                  <a:lnTo>
                    <a:pt x="1615368" y="62962"/>
                  </a:lnTo>
                  <a:lnTo>
                    <a:pt x="1593275" y="30194"/>
                  </a:lnTo>
                  <a:lnTo>
                    <a:pt x="1560507" y="8101"/>
                  </a:lnTo>
                  <a:lnTo>
                    <a:pt x="1520380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70636" y="2383384"/>
              <a:ext cx="1623695" cy="1031240"/>
            </a:xfrm>
            <a:custGeom>
              <a:avLst/>
              <a:gdLst/>
              <a:ahLst/>
              <a:cxnLst/>
              <a:rect l="l" t="t" r="r" b="b"/>
              <a:pathLst>
                <a:path w="1623695" h="1031239">
                  <a:moveTo>
                    <a:pt x="0" y="103089"/>
                  </a:moveTo>
                  <a:lnTo>
                    <a:pt x="8101" y="62962"/>
                  </a:lnTo>
                  <a:lnTo>
                    <a:pt x="30194" y="30194"/>
                  </a:lnTo>
                  <a:lnTo>
                    <a:pt x="62962" y="8101"/>
                  </a:lnTo>
                  <a:lnTo>
                    <a:pt x="103089" y="0"/>
                  </a:lnTo>
                  <a:lnTo>
                    <a:pt x="1520380" y="0"/>
                  </a:lnTo>
                  <a:lnTo>
                    <a:pt x="1560507" y="8101"/>
                  </a:lnTo>
                  <a:lnTo>
                    <a:pt x="1593275" y="30194"/>
                  </a:lnTo>
                  <a:lnTo>
                    <a:pt x="1615368" y="62962"/>
                  </a:lnTo>
                  <a:lnTo>
                    <a:pt x="1623470" y="103089"/>
                  </a:lnTo>
                  <a:lnTo>
                    <a:pt x="1623470" y="927814"/>
                  </a:lnTo>
                  <a:lnTo>
                    <a:pt x="1615368" y="967941"/>
                  </a:lnTo>
                  <a:lnTo>
                    <a:pt x="1593275" y="1000709"/>
                  </a:lnTo>
                  <a:lnTo>
                    <a:pt x="1560507" y="1022802"/>
                  </a:lnTo>
                  <a:lnTo>
                    <a:pt x="1520380" y="1030904"/>
                  </a:lnTo>
                  <a:lnTo>
                    <a:pt x="103089" y="1030904"/>
                  </a:lnTo>
                  <a:lnTo>
                    <a:pt x="62962" y="1022802"/>
                  </a:lnTo>
                  <a:lnTo>
                    <a:pt x="30194" y="1000709"/>
                  </a:lnTo>
                  <a:lnTo>
                    <a:pt x="8101" y="967941"/>
                  </a:lnTo>
                  <a:lnTo>
                    <a:pt x="0" y="927814"/>
                  </a:lnTo>
                  <a:lnTo>
                    <a:pt x="0" y="103089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683661" y="2682748"/>
            <a:ext cx="119761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05" dirty="0">
                <a:latin typeface="Arial"/>
                <a:cs typeface="Arial"/>
              </a:rPr>
              <a:t>Extracción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285429" y="3702382"/>
            <a:ext cx="1829435" cy="1228090"/>
            <a:chOff x="4285429" y="3702382"/>
            <a:chExt cx="1829435" cy="1228090"/>
          </a:xfrm>
        </p:grpSpPr>
        <p:sp>
          <p:nvSpPr>
            <p:cNvPr id="14" name="object 14"/>
            <p:cNvSpPr/>
            <p:nvPr/>
          </p:nvSpPr>
          <p:spPr>
            <a:xfrm>
              <a:off x="4298129" y="3715082"/>
              <a:ext cx="1623695" cy="1031240"/>
            </a:xfrm>
            <a:custGeom>
              <a:avLst/>
              <a:gdLst/>
              <a:ahLst/>
              <a:cxnLst/>
              <a:rect l="l" t="t" r="r" b="b"/>
              <a:pathLst>
                <a:path w="1623695" h="1031239">
                  <a:moveTo>
                    <a:pt x="1520380" y="0"/>
                  </a:moveTo>
                  <a:lnTo>
                    <a:pt x="103089" y="0"/>
                  </a:lnTo>
                  <a:lnTo>
                    <a:pt x="62962" y="8101"/>
                  </a:lnTo>
                  <a:lnTo>
                    <a:pt x="30194" y="30194"/>
                  </a:lnTo>
                  <a:lnTo>
                    <a:pt x="8101" y="62962"/>
                  </a:lnTo>
                  <a:lnTo>
                    <a:pt x="0" y="103089"/>
                  </a:lnTo>
                  <a:lnTo>
                    <a:pt x="0" y="927814"/>
                  </a:lnTo>
                  <a:lnTo>
                    <a:pt x="8101" y="967941"/>
                  </a:lnTo>
                  <a:lnTo>
                    <a:pt x="30194" y="1000709"/>
                  </a:lnTo>
                  <a:lnTo>
                    <a:pt x="62962" y="1022802"/>
                  </a:lnTo>
                  <a:lnTo>
                    <a:pt x="103089" y="1030904"/>
                  </a:lnTo>
                  <a:lnTo>
                    <a:pt x="1520380" y="1030904"/>
                  </a:lnTo>
                  <a:lnTo>
                    <a:pt x="1560507" y="1022802"/>
                  </a:lnTo>
                  <a:lnTo>
                    <a:pt x="1593276" y="1000709"/>
                  </a:lnTo>
                  <a:lnTo>
                    <a:pt x="1615368" y="967941"/>
                  </a:lnTo>
                  <a:lnTo>
                    <a:pt x="1623470" y="927814"/>
                  </a:lnTo>
                  <a:lnTo>
                    <a:pt x="1623470" y="103089"/>
                  </a:lnTo>
                  <a:lnTo>
                    <a:pt x="1615368" y="62962"/>
                  </a:lnTo>
                  <a:lnTo>
                    <a:pt x="1593276" y="30194"/>
                  </a:lnTo>
                  <a:lnTo>
                    <a:pt x="1560507" y="8101"/>
                  </a:lnTo>
                  <a:lnTo>
                    <a:pt x="1520380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98129" y="3715082"/>
              <a:ext cx="1623695" cy="1031240"/>
            </a:xfrm>
            <a:custGeom>
              <a:avLst/>
              <a:gdLst/>
              <a:ahLst/>
              <a:cxnLst/>
              <a:rect l="l" t="t" r="r" b="b"/>
              <a:pathLst>
                <a:path w="1623695" h="1031239">
                  <a:moveTo>
                    <a:pt x="0" y="103089"/>
                  </a:moveTo>
                  <a:lnTo>
                    <a:pt x="8101" y="62962"/>
                  </a:lnTo>
                  <a:lnTo>
                    <a:pt x="30194" y="30194"/>
                  </a:lnTo>
                  <a:lnTo>
                    <a:pt x="62962" y="8101"/>
                  </a:lnTo>
                  <a:lnTo>
                    <a:pt x="103089" y="0"/>
                  </a:lnTo>
                  <a:lnTo>
                    <a:pt x="1520380" y="0"/>
                  </a:lnTo>
                  <a:lnTo>
                    <a:pt x="1560507" y="8101"/>
                  </a:lnTo>
                  <a:lnTo>
                    <a:pt x="1593275" y="30194"/>
                  </a:lnTo>
                  <a:lnTo>
                    <a:pt x="1615368" y="62962"/>
                  </a:lnTo>
                  <a:lnTo>
                    <a:pt x="1623470" y="103089"/>
                  </a:lnTo>
                  <a:lnTo>
                    <a:pt x="1623470" y="927814"/>
                  </a:lnTo>
                  <a:lnTo>
                    <a:pt x="1615368" y="967941"/>
                  </a:lnTo>
                  <a:lnTo>
                    <a:pt x="1593275" y="1000709"/>
                  </a:lnTo>
                  <a:lnTo>
                    <a:pt x="1560507" y="1022802"/>
                  </a:lnTo>
                  <a:lnTo>
                    <a:pt x="1520380" y="1030904"/>
                  </a:lnTo>
                  <a:lnTo>
                    <a:pt x="103089" y="1030904"/>
                  </a:lnTo>
                  <a:lnTo>
                    <a:pt x="62962" y="1022802"/>
                  </a:lnTo>
                  <a:lnTo>
                    <a:pt x="30194" y="1000709"/>
                  </a:lnTo>
                  <a:lnTo>
                    <a:pt x="8101" y="967941"/>
                  </a:lnTo>
                  <a:lnTo>
                    <a:pt x="0" y="927814"/>
                  </a:lnTo>
                  <a:lnTo>
                    <a:pt x="0" y="103089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78515" y="3886448"/>
              <a:ext cx="1623695" cy="1031240"/>
            </a:xfrm>
            <a:custGeom>
              <a:avLst/>
              <a:gdLst/>
              <a:ahLst/>
              <a:cxnLst/>
              <a:rect l="l" t="t" r="r" b="b"/>
              <a:pathLst>
                <a:path w="1623695" h="1031239">
                  <a:moveTo>
                    <a:pt x="1520380" y="0"/>
                  </a:moveTo>
                  <a:lnTo>
                    <a:pt x="103089" y="0"/>
                  </a:lnTo>
                  <a:lnTo>
                    <a:pt x="62962" y="8101"/>
                  </a:lnTo>
                  <a:lnTo>
                    <a:pt x="30194" y="30194"/>
                  </a:lnTo>
                  <a:lnTo>
                    <a:pt x="8101" y="62962"/>
                  </a:lnTo>
                  <a:lnTo>
                    <a:pt x="0" y="103089"/>
                  </a:lnTo>
                  <a:lnTo>
                    <a:pt x="0" y="927814"/>
                  </a:lnTo>
                  <a:lnTo>
                    <a:pt x="8101" y="967941"/>
                  </a:lnTo>
                  <a:lnTo>
                    <a:pt x="30194" y="1000709"/>
                  </a:lnTo>
                  <a:lnTo>
                    <a:pt x="62962" y="1022802"/>
                  </a:lnTo>
                  <a:lnTo>
                    <a:pt x="103089" y="1030903"/>
                  </a:lnTo>
                  <a:lnTo>
                    <a:pt x="1520380" y="1030903"/>
                  </a:lnTo>
                  <a:lnTo>
                    <a:pt x="1560507" y="1022802"/>
                  </a:lnTo>
                  <a:lnTo>
                    <a:pt x="1593276" y="1000709"/>
                  </a:lnTo>
                  <a:lnTo>
                    <a:pt x="1615368" y="967941"/>
                  </a:lnTo>
                  <a:lnTo>
                    <a:pt x="1623470" y="927814"/>
                  </a:lnTo>
                  <a:lnTo>
                    <a:pt x="1623470" y="103089"/>
                  </a:lnTo>
                  <a:lnTo>
                    <a:pt x="1615368" y="62962"/>
                  </a:lnTo>
                  <a:lnTo>
                    <a:pt x="1593276" y="30194"/>
                  </a:lnTo>
                  <a:lnTo>
                    <a:pt x="1560507" y="8101"/>
                  </a:lnTo>
                  <a:lnTo>
                    <a:pt x="1520380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78515" y="3886448"/>
              <a:ext cx="1623695" cy="1031240"/>
            </a:xfrm>
            <a:custGeom>
              <a:avLst/>
              <a:gdLst/>
              <a:ahLst/>
              <a:cxnLst/>
              <a:rect l="l" t="t" r="r" b="b"/>
              <a:pathLst>
                <a:path w="1623695" h="1031239">
                  <a:moveTo>
                    <a:pt x="0" y="103089"/>
                  </a:moveTo>
                  <a:lnTo>
                    <a:pt x="8101" y="62962"/>
                  </a:lnTo>
                  <a:lnTo>
                    <a:pt x="30194" y="30194"/>
                  </a:lnTo>
                  <a:lnTo>
                    <a:pt x="62962" y="8101"/>
                  </a:lnTo>
                  <a:lnTo>
                    <a:pt x="103089" y="0"/>
                  </a:lnTo>
                  <a:lnTo>
                    <a:pt x="1520380" y="0"/>
                  </a:lnTo>
                  <a:lnTo>
                    <a:pt x="1560507" y="8101"/>
                  </a:lnTo>
                  <a:lnTo>
                    <a:pt x="1593275" y="30194"/>
                  </a:lnTo>
                  <a:lnTo>
                    <a:pt x="1615368" y="62962"/>
                  </a:lnTo>
                  <a:lnTo>
                    <a:pt x="1623470" y="103089"/>
                  </a:lnTo>
                  <a:lnTo>
                    <a:pt x="1623470" y="927814"/>
                  </a:lnTo>
                  <a:lnTo>
                    <a:pt x="1615368" y="967941"/>
                  </a:lnTo>
                  <a:lnTo>
                    <a:pt x="1593275" y="1000709"/>
                  </a:lnTo>
                  <a:lnTo>
                    <a:pt x="1560507" y="1022802"/>
                  </a:lnTo>
                  <a:lnTo>
                    <a:pt x="1520380" y="1030904"/>
                  </a:lnTo>
                  <a:lnTo>
                    <a:pt x="103089" y="1030904"/>
                  </a:lnTo>
                  <a:lnTo>
                    <a:pt x="62962" y="1022802"/>
                  </a:lnTo>
                  <a:lnTo>
                    <a:pt x="30194" y="1000709"/>
                  </a:lnTo>
                  <a:lnTo>
                    <a:pt x="8101" y="967941"/>
                  </a:lnTo>
                  <a:lnTo>
                    <a:pt x="0" y="927814"/>
                  </a:lnTo>
                  <a:lnTo>
                    <a:pt x="0" y="103089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841845" y="4185411"/>
            <a:ext cx="896619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20" dirty="0">
                <a:latin typeface="Arial"/>
                <a:cs typeface="Arial"/>
              </a:rPr>
              <a:t>Estática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269672" y="3702382"/>
            <a:ext cx="1829435" cy="1228090"/>
            <a:chOff x="6269672" y="3702382"/>
            <a:chExt cx="1829435" cy="1228090"/>
          </a:xfrm>
        </p:grpSpPr>
        <p:sp>
          <p:nvSpPr>
            <p:cNvPr id="20" name="object 20"/>
            <p:cNvSpPr/>
            <p:nvPr/>
          </p:nvSpPr>
          <p:spPr>
            <a:xfrm>
              <a:off x="6282372" y="3715082"/>
              <a:ext cx="1623695" cy="1031240"/>
            </a:xfrm>
            <a:custGeom>
              <a:avLst/>
              <a:gdLst/>
              <a:ahLst/>
              <a:cxnLst/>
              <a:rect l="l" t="t" r="r" b="b"/>
              <a:pathLst>
                <a:path w="1623695" h="1031239">
                  <a:moveTo>
                    <a:pt x="1520380" y="0"/>
                  </a:moveTo>
                  <a:lnTo>
                    <a:pt x="103089" y="0"/>
                  </a:lnTo>
                  <a:lnTo>
                    <a:pt x="62962" y="8101"/>
                  </a:lnTo>
                  <a:lnTo>
                    <a:pt x="30194" y="30194"/>
                  </a:lnTo>
                  <a:lnTo>
                    <a:pt x="8101" y="62962"/>
                  </a:lnTo>
                  <a:lnTo>
                    <a:pt x="0" y="103089"/>
                  </a:lnTo>
                  <a:lnTo>
                    <a:pt x="0" y="927814"/>
                  </a:lnTo>
                  <a:lnTo>
                    <a:pt x="8101" y="967941"/>
                  </a:lnTo>
                  <a:lnTo>
                    <a:pt x="30194" y="1000709"/>
                  </a:lnTo>
                  <a:lnTo>
                    <a:pt x="62962" y="1022802"/>
                  </a:lnTo>
                  <a:lnTo>
                    <a:pt x="103089" y="1030904"/>
                  </a:lnTo>
                  <a:lnTo>
                    <a:pt x="1520380" y="1030904"/>
                  </a:lnTo>
                  <a:lnTo>
                    <a:pt x="1560507" y="1022802"/>
                  </a:lnTo>
                  <a:lnTo>
                    <a:pt x="1593275" y="1000709"/>
                  </a:lnTo>
                  <a:lnTo>
                    <a:pt x="1615367" y="967941"/>
                  </a:lnTo>
                  <a:lnTo>
                    <a:pt x="1623468" y="927814"/>
                  </a:lnTo>
                  <a:lnTo>
                    <a:pt x="1623468" y="103089"/>
                  </a:lnTo>
                  <a:lnTo>
                    <a:pt x="1615367" y="62962"/>
                  </a:lnTo>
                  <a:lnTo>
                    <a:pt x="1593275" y="30194"/>
                  </a:lnTo>
                  <a:lnTo>
                    <a:pt x="1560507" y="8101"/>
                  </a:lnTo>
                  <a:lnTo>
                    <a:pt x="1520380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82372" y="3715082"/>
              <a:ext cx="1623695" cy="1031240"/>
            </a:xfrm>
            <a:custGeom>
              <a:avLst/>
              <a:gdLst/>
              <a:ahLst/>
              <a:cxnLst/>
              <a:rect l="l" t="t" r="r" b="b"/>
              <a:pathLst>
                <a:path w="1623695" h="1031239">
                  <a:moveTo>
                    <a:pt x="0" y="103089"/>
                  </a:moveTo>
                  <a:lnTo>
                    <a:pt x="8101" y="62962"/>
                  </a:lnTo>
                  <a:lnTo>
                    <a:pt x="30194" y="30194"/>
                  </a:lnTo>
                  <a:lnTo>
                    <a:pt x="62962" y="8101"/>
                  </a:lnTo>
                  <a:lnTo>
                    <a:pt x="103089" y="0"/>
                  </a:lnTo>
                  <a:lnTo>
                    <a:pt x="1520380" y="0"/>
                  </a:lnTo>
                  <a:lnTo>
                    <a:pt x="1560507" y="8101"/>
                  </a:lnTo>
                  <a:lnTo>
                    <a:pt x="1593275" y="30194"/>
                  </a:lnTo>
                  <a:lnTo>
                    <a:pt x="1615368" y="62962"/>
                  </a:lnTo>
                  <a:lnTo>
                    <a:pt x="1623470" y="103089"/>
                  </a:lnTo>
                  <a:lnTo>
                    <a:pt x="1623470" y="927814"/>
                  </a:lnTo>
                  <a:lnTo>
                    <a:pt x="1615368" y="967941"/>
                  </a:lnTo>
                  <a:lnTo>
                    <a:pt x="1593275" y="1000709"/>
                  </a:lnTo>
                  <a:lnTo>
                    <a:pt x="1560507" y="1022802"/>
                  </a:lnTo>
                  <a:lnTo>
                    <a:pt x="1520380" y="1030904"/>
                  </a:lnTo>
                  <a:lnTo>
                    <a:pt x="103089" y="1030904"/>
                  </a:lnTo>
                  <a:lnTo>
                    <a:pt x="62962" y="1022802"/>
                  </a:lnTo>
                  <a:lnTo>
                    <a:pt x="30194" y="1000709"/>
                  </a:lnTo>
                  <a:lnTo>
                    <a:pt x="8101" y="967941"/>
                  </a:lnTo>
                  <a:lnTo>
                    <a:pt x="0" y="927814"/>
                  </a:lnTo>
                  <a:lnTo>
                    <a:pt x="0" y="103089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62758" y="3886448"/>
              <a:ext cx="1623695" cy="1031240"/>
            </a:xfrm>
            <a:custGeom>
              <a:avLst/>
              <a:gdLst/>
              <a:ahLst/>
              <a:cxnLst/>
              <a:rect l="l" t="t" r="r" b="b"/>
              <a:pathLst>
                <a:path w="1623695" h="1031239">
                  <a:moveTo>
                    <a:pt x="1520379" y="0"/>
                  </a:moveTo>
                  <a:lnTo>
                    <a:pt x="103089" y="0"/>
                  </a:lnTo>
                  <a:lnTo>
                    <a:pt x="62962" y="8101"/>
                  </a:lnTo>
                  <a:lnTo>
                    <a:pt x="30194" y="30194"/>
                  </a:lnTo>
                  <a:lnTo>
                    <a:pt x="8101" y="62962"/>
                  </a:lnTo>
                  <a:lnTo>
                    <a:pt x="0" y="103089"/>
                  </a:lnTo>
                  <a:lnTo>
                    <a:pt x="0" y="927814"/>
                  </a:lnTo>
                  <a:lnTo>
                    <a:pt x="8101" y="967941"/>
                  </a:lnTo>
                  <a:lnTo>
                    <a:pt x="30194" y="1000709"/>
                  </a:lnTo>
                  <a:lnTo>
                    <a:pt x="62962" y="1022802"/>
                  </a:lnTo>
                  <a:lnTo>
                    <a:pt x="103089" y="1030903"/>
                  </a:lnTo>
                  <a:lnTo>
                    <a:pt x="1520379" y="1030903"/>
                  </a:lnTo>
                  <a:lnTo>
                    <a:pt x="1560506" y="1022802"/>
                  </a:lnTo>
                  <a:lnTo>
                    <a:pt x="1593274" y="1000709"/>
                  </a:lnTo>
                  <a:lnTo>
                    <a:pt x="1615367" y="967941"/>
                  </a:lnTo>
                  <a:lnTo>
                    <a:pt x="1623468" y="927814"/>
                  </a:lnTo>
                  <a:lnTo>
                    <a:pt x="1623468" y="103089"/>
                  </a:lnTo>
                  <a:lnTo>
                    <a:pt x="1615367" y="62962"/>
                  </a:lnTo>
                  <a:lnTo>
                    <a:pt x="1593274" y="30194"/>
                  </a:lnTo>
                  <a:lnTo>
                    <a:pt x="1560506" y="8101"/>
                  </a:lnTo>
                  <a:lnTo>
                    <a:pt x="1520379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62758" y="3886448"/>
              <a:ext cx="1623695" cy="1031240"/>
            </a:xfrm>
            <a:custGeom>
              <a:avLst/>
              <a:gdLst/>
              <a:ahLst/>
              <a:cxnLst/>
              <a:rect l="l" t="t" r="r" b="b"/>
              <a:pathLst>
                <a:path w="1623695" h="1031239">
                  <a:moveTo>
                    <a:pt x="0" y="103089"/>
                  </a:moveTo>
                  <a:lnTo>
                    <a:pt x="8101" y="62962"/>
                  </a:lnTo>
                  <a:lnTo>
                    <a:pt x="30194" y="30194"/>
                  </a:lnTo>
                  <a:lnTo>
                    <a:pt x="62962" y="8101"/>
                  </a:lnTo>
                  <a:lnTo>
                    <a:pt x="103089" y="0"/>
                  </a:lnTo>
                  <a:lnTo>
                    <a:pt x="1520380" y="0"/>
                  </a:lnTo>
                  <a:lnTo>
                    <a:pt x="1560507" y="8101"/>
                  </a:lnTo>
                  <a:lnTo>
                    <a:pt x="1593275" y="30194"/>
                  </a:lnTo>
                  <a:lnTo>
                    <a:pt x="1615368" y="62962"/>
                  </a:lnTo>
                  <a:lnTo>
                    <a:pt x="1623470" y="103089"/>
                  </a:lnTo>
                  <a:lnTo>
                    <a:pt x="1623470" y="927814"/>
                  </a:lnTo>
                  <a:lnTo>
                    <a:pt x="1615368" y="967941"/>
                  </a:lnTo>
                  <a:lnTo>
                    <a:pt x="1593275" y="1000709"/>
                  </a:lnTo>
                  <a:lnTo>
                    <a:pt x="1560507" y="1022802"/>
                  </a:lnTo>
                  <a:lnTo>
                    <a:pt x="1520380" y="1030904"/>
                  </a:lnTo>
                  <a:lnTo>
                    <a:pt x="103089" y="1030904"/>
                  </a:lnTo>
                  <a:lnTo>
                    <a:pt x="62962" y="1022802"/>
                  </a:lnTo>
                  <a:lnTo>
                    <a:pt x="30194" y="1000709"/>
                  </a:lnTo>
                  <a:lnTo>
                    <a:pt x="8101" y="967941"/>
                  </a:lnTo>
                  <a:lnTo>
                    <a:pt x="0" y="927814"/>
                  </a:lnTo>
                  <a:lnTo>
                    <a:pt x="0" y="103089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580437" y="4185411"/>
            <a:ext cx="138811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75" dirty="0">
                <a:latin typeface="Arial"/>
                <a:cs typeface="Arial"/>
              </a:rPr>
              <a:t>Incremental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4" y="118509"/>
            <a:ext cx="2291715" cy="129159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pc="-10" dirty="0"/>
              <a:t>Extracción</a:t>
            </a:r>
          </a:p>
          <a:p>
            <a:pPr marL="723900">
              <a:lnSpc>
                <a:spcPct val="100000"/>
              </a:lnSpc>
              <a:spcBef>
                <a:spcPts val="745"/>
              </a:spcBef>
            </a:pPr>
            <a:r>
              <a:rPr sz="2800" dirty="0">
                <a:solidFill>
                  <a:srgbClr val="FF0000"/>
                </a:solidFill>
              </a:rPr>
              <a:t>Open</a:t>
            </a:r>
            <a:r>
              <a:rPr sz="2800" spc="-25" dirty="0">
                <a:solidFill>
                  <a:srgbClr val="FF0000"/>
                </a:solidFill>
              </a:rPr>
              <a:t> </a:t>
            </a:r>
            <a:r>
              <a:rPr sz="2800" spc="-20" dirty="0">
                <a:solidFill>
                  <a:srgbClr val="FF0000"/>
                </a:solidFill>
              </a:rPr>
              <a:t>Data: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344302" y="274827"/>
            <a:ext cx="4724400" cy="1799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85" dirty="0">
                <a:latin typeface="Arial"/>
                <a:cs typeface="Arial"/>
              </a:rPr>
              <a:t>Abarca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un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dominio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temático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45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35" dirty="0">
                <a:latin typeface="Arial"/>
                <a:cs typeface="Arial"/>
              </a:rPr>
              <a:t>Contiene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atributos</a:t>
            </a:r>
            <a:endParaRPr sz="2800">
              <a:latin typeface="Arial"/>
              <a:cs typeface="Arial"/>
            </a:endParaRPr>
          </a:p>
          <a:p>
            <a:pPr marL="755015" lvl="1" indent="-320675">
              <a:lnSpc>
                <a:spcPct val="100000"/>
              </a:lnSpc>
              <a:spcBef>
                <a:spcPts val="240"/>
              </a:spcBef>
              <a:buFont typeface="Apple SD Gothic Neo Light"/>
              <a:buChar char="■"/>
              <a:tabLst>
                <a:tab pos="755015" algn="l"/>
              </a:tabLst>
            </a:pPr>
            <a:r>
              <a:rPr sz="2800" spc="-170" dirty="0">
                <a:latin typeface="Arial"/>
                <a:cs typeface="Arial"/>
              </a:rPr>
              <a:t>Frecuencia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14" dirty="0">
                <a:latin typeface="Arial"/>
                <a:cs typeface="Arial"/>
              </a:rPr>
              <a:t> actualización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70" dirty="0">
                <a:latin typeface="Arial"/>
                <a:cs typeface="Arial"/>
              </a:rPr>
              <a:t>Licencia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uso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4035425" y="2390862"/>
            <a:ext cx="3893820" cy="2679700"/>
            <a:chOff x="4035425" y="2390862"/>
            <a:chExt cx="3893820" cy="26797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52151" y="2390862"/>
              <a:ext cx="1658104" cy="64040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35425" y="3777745"/>
              <a:ext cx="1150824" cy="129280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25243" y="3010826"/>
              <a:ext cx="3303747" cy="1106868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74727" y="4227471"/>
            <a:ext cx="2332620" cy="75324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89082" y="2147786"/>
            <a:ext cx="2010187" cy="79710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4" y="118509"/>
            <a:ext cx="2291080" cy="129159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pc="-10" dirty="0"/>
              <a:t>Extracción</a:t>
            </a:r>
          </a:p>
          <a:p>
            <a:pPr marR="5080" algn="r">
              <a:lnSpc>
                <a:spcPct val="100000"/>
              </a:lnSpc>
              <a:spcBef>
                <a:spcPts val="745"/>
              </a:spcBef>
            </a:pPr>
            <a:r>
              <a:rPr sz="2800" spc="-20" dirty="0">
                <a:solidFill>
                  <a:srgbClr val="FF0000"/>
                </a:solidFill>
              </a:rPr>
              <a:t>UCI: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344302" y="274827"/>
            <a:ext cx="52076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u="heavy" spc="-4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http://archive.ics.uci.edu/ml/inde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44302" y="536955"/>
            <a:ext cx="2828290" cy="138493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340"/>
              </a:spcBef>
            </a:pPr>
            <a:r>
              <a:rPr sz="28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x.php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2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i="1" spc="-150" dirty="0">
                <a:latin typeface="Arial"/>
                <a:cs typeface="Arial"/>
              </a:rPr>
              <a:t>View</a:t>
            </a:r>
            <a:r>
              <a:rPr sz="2800" i="1" spc="-130" dirty="0">
                <a:latin typeface="Arial"/>
                <a:cs typeface="Arial"/>
              </a:rPr>
              <a:t> </a:t>
            </a:r>
            <a:r>
              <a:rPr sz="2800" i="1" spc="-40" dirty="0">
                <a:latin typeface="Arial"/>
                <a:cs typeface="Arial"/>
              </a:rPr>
              <a:t>all</a:t>
            </a:r>
            <a:r>
              <a:rPr sz="2800" i="1" spc="-125" dirty="0">
                <a:latin typeface="Arial"/>
                <a:cs typeface="Arial"/>
              </a:rPr>
              <a:t> </a:t>
            </a:r>
            <a:r>
              <a:rPr sz="2800" i="1" spc="-80" dirty="0">
                <a:latin typeface="Arial"/>
                <a:cs typeface="Arial"/>
              </a:rPr>
              <a:t>data</a:t>
            </a:r>
            <a:r>
              <a:rPr sz="2800" i="1" spc="-125" dirty="0">
                <a:latin typeface="Arial"/>
                <a:cs typeface="Arial"/>
              </a:rPr>
              <a:t> </a:t>
            </a:r>
            <a:r>
              <a:rPr sz="2800" i="1" spc="-140" dirty="0">
                <a:latin typeface="Arial"/>
                <a:cs typeface="Arial"/>
              </a:rPr>
              <a:t>sets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45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50" dirty="0">
                <a:latin typeface="Arial"/>
                <a:cs typeface="Arial"/>
              </a:rPr>
              <a:t>Agrupados: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01502" y="1926843"/>
            <a:ext cx="46145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45" dirty="0">
                <a:latin typeface="Arial"/>
                <a:cs typeface="Arial"/>
              </a:rPr>
              <a:t>Procesamiento,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tipo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 </a:t>
            </a:r>
            <a:r>
              <a:rPr sz="2800" spc="-80" dirty="0">
                <a:latin typeface="Arial"/>
                <a:cs typeface="Arial"/>
              </a:rPr>
              <a:t>datos,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44302" y="2188972"/>
            <a:ext cx="3807460" cy="9398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755650">
              <a:lnSpc>
                <a:spcPct val="100000"/>
              </a:lnSpc>
              <a:spcBef>
                <a:spcPts val="340"/>
              </a:spcBef>
            </a:pPr>
            <a:r>
              <a:rPr sz="2800" spc="-70" dirty="0">
                <a:latin typeface="Arial"/>
                <a:cs typeface="Arial"/>
              </a:rPr>
              <a:t>atributos,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dominio…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2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40" dirty="0">
                <a:latin typeface="Arial"/>
                <a:cs typeface="Arial"/>
              </a:rPr>
              <a:t>Descripción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los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23927" y="3411628"/>
            <a:ext cx="4218249" cy="136214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4" y="118509"/>
            <a:ext cx="2291080" cy="129159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pc="-10" dirty="0"/>
              <a:t>Extracción</a:t>
            </a:r>
          </a:p>
          <a:p>
            <a:pPr marL="1209675">
              <a:lnSpc>
                <a:spcPct val="100000"/>
              </a:lnSpc>
              <a:spcBef>
                <a:spcPts val="745"/>
              </a:spcBef>
            </a:pPr>
            <a:r>
              <a:rPr sz="2800" spc="-10" dirty="0">
                <a:solidFill>
                  <a:srgbClr val="FF0000"/>
                </a:solidFill>
              </a:rPr>
              <a:t>Kaggle: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344302" y="274827"/>
            <a:ext cx="3886835" cy="2701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u="heavy" spc="-7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https://</a:t>
            </a:r>
            <a:r>
              <a:rPr sz="2800" u="heavy" spc="-7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www.kaggle.com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45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65" dirty="0">
                <a:latin typeface="Arial"/>
                <a:cs typeface="Arial"/>
              </a:rPr>
              <a:t>Competiciones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2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75" dirty="0">
                <a:latin typeface="Arial"/>
                <a:cs typeface="Arial"/>
              </a:rPr>
              <a:t>Data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sets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95" dirty="0">
                <a:latin typeface="Arial"/>
                <a:cs typeface="Arial"/>
              </a:rPr>
              <a:t>Código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fuente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2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20" dirty="0">
                <a:latin typeface="Arial"/>
                <a:cs typeface="Arial"/>
              </a:rPr>
              <a:t>Foro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45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919" dirty="0">
                <a:latin typeface="Arial"/>
                <a:cs typeface="Arial"/>
              </a:rPr>
              <a:t>…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24651" y="3291829"/>
            <a:ext cx="4055361" cy="156629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0"/>
            <a:ext cx="5002530" cy="3938270"/>
          </a:xfrm>
          <a:custGeom>
            <a:avLst/>
            <a:gdLst/>
            <a:ahLst/>
            <a:cxnLst/>
            <a:rect l="l" t="t" r="r" b="b"/>
            <a:pathLst>
              <a:path w="5002530" h="3938270">
                <a:moveTo>
                  <a:pt x="0" y="1704928"/>
                </a:moveTo>
                <a:lnTo>
                  <a:pt x="0" y="3856309"/>
                </a:lnTo>
                <a:lnTo>
                  <a:pt x="579720" y="3937783"/>
                </a:lnTo>
                <a:lnTo>
                  <a:pt x="1255398" y="2957054"/>
                </a:lnTo>
                <a:lnTo>
                  <a:pt x="876220" y="1828073"/>
                </a:lnTo>
                <a:lnTo>
                  <a:pt x="0" y="1704928"/>
                </a:lnTo>
                <a:close/>
              </a:path>
              <a:path w="5002530" h="3938270">
                <a:moveTo>
                  <a:pt x="1716059" y="768286"/>
                </a:moveTo>
                <a:lnTo>
                  <a:pt x="1040381" y="1749016"/>
                </a:lnTo>
                <a:lnTo>
                  <a:pt x="1419558" y="2877996"/>
                </a:lnTo>
                <a:lnTo>
                  <a:pt x="2811966" y="3073687"/>
                </a:lnTo>
                <a:lnTo>
                  <a:pt x="3487644" y="2092957"/>
                </a:lnTo>
                <a:lnTo>
                  <a:pt x="3108467" y="963976"/>
                </a:lnTo>
                <a:lnTo>
                  <a:pt x="1716059" y="768286"/>
                </a:lnTo>
                <a:close/>
              </a:path>
              <a:path w="5002530" h="3938270">
                <a:moveTo>
                  <a:pt x="1331643" y="0"/>
                </a:moveTo>
                <a:lnTo>
                  <a:pt x="0" y="0"/>
                </a:lnTo>
                <a:lnTo>
                  <a:pt x="0" y="1510524"/>
                </a:lnTo>
                <a:lnTo>
                  <a:pt x="875213" y="1633527"/>
                </a:lnTo>
                <a:lnTo>
                  <a:pt x="1550890" y="652797"/>
                </a:lnTo>
                <a:lnTo>
                  <a:pt x="1331643" y="0"/>
                </a:lnTo>
                <a:close/>
              </a:path>
              <a:path w="5002530" h="3938270">
                <a:moveTo>
                  <a:pt x="3995936" y="267493"/>
                </a:moveTo>
                <a:lnTo>
                  <a:pt x="3948860" y="270028"/>
                </a:lnTo>
                <a:lnTo>
                  <a:pt x="3903251" y="277458"/>
                </a:lnTo>
                <a:lnTo>
                  <a:pt x="3859375" y="289519"/>
                </a:lnTo>
                <a:lnTo>
                  <a:pt x="3817494" y="305948"/>
                </a:lnTo>
                <a:lnTo>
                  <a:pt x="3777872" y="326480"/>
                </a:lnTo>
                <a:lnTo>
                  <a:pt x="3740773" y="350853"/>
                </a:lnTo>
                <a:lnTo>
                  <a:pt x="3706460" y="378803"/>
                </a:lnTo>
                <a:lnTo>
                  <a:pt x="3675197" y="410066"/>
                </a:lnTo>
                <a:lnTo>
                  <a:pt x="3647247" y="444379"/>
                </a:lnTo>
                <a:lnTo>
                  <a:pt x="3622874" y="481478"/>
                </a:lnTo>
                <a:lnTo>
                  <a:pt x="3602342" y="521100"/>
                </a:lnTo>
                <a:lnTo>
                  <a:pt x="3585913" y="562980"/>
                </a:lnTo>
                <a:lnTo>
                  <a:pt x="3573852" y="606856"/>
                </a:lnTo>
                <a:lnTo>
                  <a:pt x="3566423" y="652464"/>
                </a:lnTo>
                <a:lnTo>
                  <a:pt x="3563887" y="699541"/>
                </a:lnTo>
                <a:lnTo>
                  <a:pt x="3566423" y="746617"/>
                </a:lnTo>
                <a:lnTo>
                  <a:pt x="3573852" y="792225"/>
                </a:lnTo>
                <a:lnTo>
                  <a:pt x="3585913" y="836102"/>
                </a:lnTo>
                <a:lnTo>
                  <a:pt x="3602342" y="877982"/>
                </a:lnTo>
                <a:lnTo>
                  <a:pt x="3622874" y="917604"/>
                </a:lnTo>
                <a:lnTo>
                  <a:pt x="3647247" y="954703"/>
                </a:lnTo>
                <a:lnTo>
                  <a:pt x="3675197" y="989016"/>
                </a:lnTo>
                <a:lnTo>
                  <a:pt x="3706460" y="1020279"/>
                </a:lnTo>
                <a:lnTo>
                  <a:pt x="3740773" y="1048229"/>
                </a:lnTo>
                <a:lnTo>
                  <a:pt x="3777872" y="1072602"/>
                </a:lnTo>
                <a:lnTo>
                  <a:pt x="3817494" y="1093134"/>
                </a:lnTo>
                <a:lnTo>
                  <a:pt x="3859375" y="1109563"/>
                </a:lnTo>
                <a:lnTo>
                  <a:pt x="3903251" y="1121624"/>
                </a:lnTo>
                <a:lnTo>
                  <a:pt x="3948860" y="1129053"/>
                </a:lnTo>
                <a:lnTo>
                  <a:pt x="3995936" y="1131589"/>
                </a:lnTo>
                <a:lnTo>
                  <a:pt x="4043013" y="1129053"/>
                </a:lnTo>
                <a:lnTo>
                  <a:pt x="4088620" y="1121624"/>
                </a:lnTo>
                <a:lnTo>
                  <a:pt x="4132496" y="1109563"/>
                </a:lnTo>
                <a:lnTo>
                  <a:pt x="4174377" y="1093134"/>
                </a:lnTo>
                <a:lnTo>
                  <a:pt x="4213998" y="1072602"/>
                </a:lnTo>
                <a:lnTo>
                  <a:pt x="4251097" y="1048229"/>
                </a:lnTo>
                <a:lnTo>
                  <a:pt x="4285410" y="1020279"/>
                </a:lnTo>
                <a:lnTo>
                  <a:pt x="4316673" y="989016"/>
                </a:lnTo>
                <a:lnTo>
                  <a:pt x="4344623" y="954703"/>
                </a:lnTo>
                <a:lnTo>
                  <a:pt x="4368996" y="917604"/>
                </a:lnTo>
                <a:lnTo>
                  <a:pt x="4389528" y="877982"/>
                </a:lnTo>
                <a:lnTo>
                  <a:pt x="4405957" y="836102"/>
                </a:lnTo>
                <a:lnTo>
                  <a:pt x="4418018" y="792225"/>
                </a:lnTo>
                <a:lnTo>
                  <a:pt x="4425447" y="746617"/>
                </a:lnTo>
                <a:lnTo>
                  <a:pt x="4427983" y="699541"/>
                </a:lnTo>
                <a:lnTo>
                  <a:pt x="4425466" y="652797"/>
                </a:lnTo>
                <a:lnTo>
                  <a:pt x="4418018" y="606856"/>
                </a:lnTo>
                <a:lnTo>
                  <a:pt x="4405957" y="562980"/>
                </a:lnTo>
                <a:lnTo>
                  <a:pt x="4389529" y="521100"/>
                </a:lnTo>
                <a:lnTo>
                  <a:pt x="4368996" y="481478"/>
                </a:lnTo>
                <a:lnTo>
                  <a:pt x="4344624" y="444379"/>
                </a:lnTo>
                <a:lnTo>
                  <a:pt x="4316674" y="410066"/>
                </a:lnTo>
                <a:lnTo>
                  <a:pt x="4285411" y="378803"/>
                </a:lnTo>
                <a:lnTo>
                  <a:pt x="4251098" y="350853"/>
                </a:lnTo>
                <a:lnTo>
                  <a:pt x="4214000" y="326480"/>
                </a:lnTo>
                <a:lnTo>
                  <a:pt x="4174378" y="305948"/>
                </a:lnTo>
                <a:lnTo>
                  <a:pt x="4132498" y="289519"/>
                </a:lnTo>
                <a:lnTo>
                  <a:pt x="4088622" y="277458"/>
                </a:lnTo>
                <a:lnTo>
                  <a:pt x="4043014" y="270028"/>
                </a:lnTo>
                <a:lnTo>
                  <a:pt x="3995936" y="267493"/>
                </a:lnTo>
                <a:close/>
              </a:path>
              <a:path w="5002530" h="3938270">
                <a:moveTo>
                  <a:pt x="3641270" y="0"/>
                </a:moveTo>
                <a:lnTo>
                  <a:pt x="1520549" y="0"/>
                </a:lnTo>
                <a:lnTo>
                  <a:pt x="1715051" y="579121"/>
                </a:lnTo>
                <a:lnTo>
                  <a:pt x="3107460" y="774811"/>
                </a:lnTo>
                <a:lnTo>
                  <a:pt x="3641270" y="0"/>
                </a:lnTo>
                <a:close/>
              </a:path>
              <a:path w="5002530" h="3938270">
                <a:moveTo>
                  <a:pt x="5001954" y="0"/>
                </a:moveTo>
                <a:lnTo>
                  <a:pt x="4158813" y="0"/>
                </a:lnTo>
                <a:lnTo>
                  <a:pt x="4182288" y="75625"/>
                </a:lnTo>
                <a:lnTo>
                  <a:pt x="4202310" y="116723"/>
                </a:lnTo>
                <a:lnTo>
                  <a:pt x="4226411" y="155244"/>
                </a:lnTo>
                <a:lnTo>
                  <a:pt x="4254310" y="190908"/>
                </a:lnTo>
                <a:lnTo>
                  <a:pt x="4285724" y="223432"/>
                </a:lnTo>
                <a:lnTo>
                  <a:pt x="4320373" y="252534"/>
                </a:lnTo>
                <a:lnTo>
                  <a:pt x="4357973" y="277932"/>
                </a:lnTo>
                <a:lnTo>
                  <a:pt x="4398243" y="299345"/>
                </a:lnTo>
                <a:lnTo>
                  <a:pt x="4440901" y="316490"/>
                </a:lnTo>
                <a:lnTo>
                  <a:pt x="4485665" y="329086"/>
                </a:lnTo>
                <a:lnTo>
                  <a:pt x="4532253" y="336850"/>
                </a:lnTo>
                <a:lnTo>
                  <a:pt x="4580383" y="339501"/>
                </a:lnTo>
                <a:lnTo>
                  <a:pt x="4628513" y="336850"/>
                </a:lnTo>
                <a:lnTo>
                  <a:pt x="4675101" y="329086"/>
                </a:lnTo>
                <a:lnTo>
                  <a:pt x="4719866" y="316490"/>
                </a:lnTo>
                <a:lnTo>
                  <a:pt x="4762524" y="299345"/>
                </a:lnTo>
                <a:lnTo>
                  <a:pt x="4802794" y="277932"/>
                </a:lnTo>
                <a:lnTo>
                  <a:pt x="4840394" y="252534"/>
                </a:lnTo>
                <a:lnTo>
                  <a:pt x="4875043" y="223432"/>
                </a:lnTo>
                <a:lnTo>
                  <a:pt x="4906457" y="190908"/>
                </a:lnTo>
                <a:lnTo>
                  <a:pt x="4934356" y="155244"/>
                </a:lnTo>
                <a:lnTo>
                  <a:pt x="4958458" y="116723"/>
                </a:lnTo>
                <a:lnTo>
                  <a:pt x="4978479" y="75625"/>
                </a:lnTo>
                <a:lnTo>
                  <a:pt x="5001954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46683" y="3165348"/>
            <a:ext cx="245300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Big</a:t>
            </a:r>
            <a:r>
              <a:rPr sz="2000" b="1" spc="-40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Data</a:t>
            </a:r>
            <a:r>
              <a:rPr sz="2000" b="1" spc="-105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spc="-10" dirty="0" err="1">
                <a:solidFill>
                  <a:srgbClr val="00DEA4"/>
                </a:solidFill>
                <a:latin typeface="Arial"/>
                <a:cs typeface="Arial"/>
              </a:rPr>
              <a:t>Aplicado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84084" y="1475739"/>
            <a:ext cx="3286760" cy="160147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 marR="5080">
              <a:lnSpc>
                <a:spcPct val="79300"/>
              </a:lnSpc>
              <a:spcBef>
                <a:spcPts val="1090"/>
              </a:spcBef>
            </a:pPr>
            <a:r>
              <a:rPr dirty="0"/>
              <a:t>La</a:t>
            </a:r>
            <a:r>
              <a:rPr spc="-35" dirty="0"/>
              <a:t> </a:t>
            </a:r>
            <a:r>
              <a:rPr dirty="0"/>
              <a:t>fase</a:t>
            </a:r>
            <a:r>
              <a:rPr spc="-35" dirty="0"/>
              <a:t> </a:t>
            </a:r>
            <a:r>
              <a:rPr spc="-25" dirty="0"/>
              <a:t>de </a:t>
            </a:r>
            <a:r>
              <a:rPr spc="-20" dirty="0"/>
              <a:t>Transformación: </a:t>
            </a:r>
            <a:r>
              <a:rPr spc="-10" dirty="0"/>
              <a:t>Limpieza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797040" y="3943584"/>
            <a:ext cx="2346960" cy="1200150"/>
            <a:chOff x="6797040" y="3943584"/>
            <a:chExt cx="2346960" cy="1200150"/>
          </a:xfrm>
        </p:grpSpPr>
        <p:sp>
          <p:nvSpPr>
            <p:cNvPr id="6" name="object 6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97040" y="4373880"/>
              <a:ext cx="1459992" cy="344423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46790" y="4373843"/>
            <a:ext cx="749345" cy="36530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210564" y="4381676"/>
            <a:ext cx="653415" cy="325755"/>
            <a:chOff x="4210564" y="4381676"/>
            <a:chExt cx="653415" cy="325755"/>
          </a:xfrm>
        </p:grpSpPr>
        <p:sp>
          <p:nvSpPr>
            <p:cNvPr id="10" name="object 10"/>
            <p:cNvSpPr/>
            <p:nvPr/>
          </p:nvSpPr>
          <p:spPr>
            <a:xfrm>
              <a:off x="4372655" y="4519010"/>
              <a:ext cx="109220" cy="46990"/>
            </a:xfrm>
            <a:custGeom>
              <a:avLst/>
              <a:gdLst/>
              <a:ahLst/>
              <a:cxnLst/>
              <a:rect l="l" t="t" r="r" b="b"/>
              <a:pathLst>
                <a:path w="109220" h="46989">
                  <a:moveTo>
                    <a:pt x="109052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109052" y="46456"/>
                  </a:lnTo>
                  <a:lnTo>
                    <a:pt x="109052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09590" y="4502793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7682" y="0"/>
                  </a:moveTo>
                  <a:lnTo>
                    <a:pt x="2554" y="23467"/>
                  </a:lnTo>
                  <a:lnTo>
                    <a:pt x="0" y="38074"/>
                  </a:lnTo>
                  <a:lnTo>
                    <a:pt x="535" y="45564"/>
                  </a:lnTo>
                  <a:lnTo>
                    <a:pt x="30171" y="75625"/>
                  </a:lnTo>
                  <a:lnTo>
                    <a:pt x="37682" y="76227"/>
                  </a:lnTo>
                  <a:lnTo>
                    <a:pt x="53179" y="73081"/>
                  </a:lnTo>
                  <a:lnTo>
                    <a:pt x="65054" y="64856"/>
                  </a:lnTo>
                  <a:lnTo>
                    <a:pt x="72979" y="52778"/>
                  </a:lnTo>
                  <a:lnTo>
                    <a:pt x="75756" y="38074"/>
                  </a:lnTo>
                  <a:lnTo>
                    <a:pt x="72642" y="22651"/>
                  </a:lnTo>
                  <a:lnTo>
                    <a:pt x="64442" y="10758"/>
                  </a:lnTo>
                  <a:lnTo>
                    <a:pt x="52380" y="2808"/>
                  </a:lnTo>
                  <a:lnTo>
                    <a:pt x="37682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45192" y="4397737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613"/>
                  </a:lnTo>
                  <a:lnTo>
                    <a:pt x="236515" y="46613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10564" y="43816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918" y="0"/>
                  </a:moveTo>
                  <a:lnTo>
                    <a:pt x="2654" y="23243"/>
                  </a:lnTo>
                  <a:lnTo>
                    <a:pt x="0" y="37917"/>
                  </a:lnTo>
                  <a:lnTo>
                    <a:pt x="588" y="45409"/>
                  </a:lnTo>
                  <a:lnTo>
                    <a:pt x="30407" y="75390"/>
                  </a:lnTo>
                  <a:lnTo>
                    <a:pt x="37918" y="75992"/>
                  </a:lnTo>
                  <a:lnTo>
                    <a:pt x="45429" y="75390"/>
                  </a:lnTo>
                  <a:lnTo>
                    <a:pt x="75380" y="45425"/>
                  </a:lnTo>
                  <a:lnTo>
                    <a:pt x="75992" y="37917"/>
                  </a:lnTo>
                  <a:lnTo>
                    <a:pt x="75382" y="30391"/>
                  </a:lnTo>
                  <a:lnTo>
                    <a:pt x="45408" y="551"/>
                  </a:lnTo>
                  <a:lnTo>
                    <a:pt x="37918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45192" y="4647022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236515" y="46456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10558" y="4390377"/>
              <a:ext cx="653415" cy="316865"/>
            </a:xfrm>
            <a:custGeom>
              <a:avLst/>
              <a:gdLst/>
              <a:ahLst/>
              <a:cxnLst/>
              <a:rect l="l" t="t" r="r" b="b"/>
              <a:pathLst>
                <a:path w="653414" h="316864">
                  <a:moveTo>
                    <a:pt x="75984" y="278549"/>
                  </a:moveTo>
                  <a:lnTo>
                    <a:pt x="52590" y="243141"/>
                  </a:lnTo>
                  <a:lnTo>
                    <a:pt x="37553" y="240423"/>
                  </a:lnTo>
                  <a:lnTo>
                    <a:pt x="22288" y="243624"/>
                  </a:lnTo>
                  <a:lnTo>
                    <a:pt x="10515" y="251853"/>
                  </a:lnTo>
                  <a:lnTo>
                    <a:pt x="2692" y="263880"/>
                  </a:lnTo>
                  <a:lnTo>
                    <a:pt x="0" y="278511"/>
                  </a:lnTo>
                  <a:lnTo>
                    <a:pt x="584" y="286016"/>
                  </a:lnTo>
                  <a:lnTo>
                    <a:pt x="30403" y="316064"/>
                  </a:lnTo>
                  <a:lnTo>
                    <a:pt x="37922" y="316661"/>
                  </a:lnTo>
                  <a:lnTo>
                    <a:pt x="45427" y="316064"/>
                  </a:lnTo>
                  <a:lnTo>
                    <a:pt x="75984" y="278549"/>
                  </a:lnTo>
                  <a:close/>
                </a:path>
                <a:path w="653414" h="316864">
                  <a:moveTo>
                    <a:pt x="653376" y="150495"/>
                  </a:moveTo>
                  <a:lnTo>
                    <a:pt x="566496" y="0"/>
                  </a:lnTo>
                  <a:lnTo>
                    <a:pt x="392734" y="0"/>
                  </a:lnTo>
                  <a:lnTo>
                    <a:pt x="305854" y="150495"/>
                  </a:lnTo>
                  <a:lnTo>
                    <a:pt x="392734" y="301066"/>
                  </a:lnTo>
                  <a:lnTo>
                    <a:pt x="566496" y="301066"/>
                  </a:lnTo>
                  <a:lnTo>
                    <a:pt x="653376" y="150495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2268" y="118509"/>
            <a:ext cx="3148330" cy="129159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Transformación</a:t>
            </a:r>
            <a:endParaRPr sz="4000">
              <a:latin typeface="Arial Narrow"/>
              <a:cs typeface="Arial Narrow"/>
            </a:endParaRPr>
          </a:p>
          <a:p>
            <a:pPr marL="1557655">
              <a:lnSpc>
                <a:spcPct val="100000"/>
              </a:lnSpc>
              <a:spcBef>
                <a:spcPts val="74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Concepto: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71835" y="174243"/>
            <a:ext cx="2949575" cy="2253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434" dirty="0">
                <a:latin typeface="Arial"/>
                <a:cs typeface="Arial"/>
              </a:rPr>
              <a:t>OLTP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315" dirty="0">
                <a:latin typeface="Apple SD Gothic Neo Light"/>
                <a:cs typeface="Apple SD Gothic Neo Light"/>
              </a:rPr>
              <a:t>➔</a:t>
            </a:r>
            <a:r>
              <a:rPr sz="2800" spc="-95" dirty="0">
                <a:latin typeface="Apple SD Gothic Neo Light"/>
                <a:cs typeface="Apple SD Gothic Neo Light"/>
              </a:rPr>
              <a:t> </a:t>
            </a:r>
            <a:r>
              <a:rPr sz="2800" spc="-375" dirty="0">
                <a:latin typeface="Arial"/>
                <a:cs typeface="Arial"/>
              </a:rPr>
              <a:t>OLAP</a:t>
            </a:r>
            <a:endParaRPr sz="2800" dirty="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30" dirty="0">
                <a:latin typeface="Arial"/>
                <a:cs typeface="Arial"/>
              </a:rPr>
              <a:t>Preprocesamiento</a:t>
            </a:r>
            <a:endParaRPr sz="2800" dirty="0">
              <a:latin typeface="Arial"/>
              <a:cs typeface="Arial"/>
            </a:endParaRPr>
          </a:p>
          <a:p>
            <a:pPr marL="755015" lvl="1" indent="-320675">
              <a:lnSpc>
                <a:spcPct val="100000"/>
              </a:lnSpc>
              <a:spcBef>
                <a:spcPts val="244"/>
              </a:spcBef>
              <a:buFont typeface="Apple SD Gothic Neo Light"/>
              <a:buChar char="■"/>
              <a:tabLst>
                <a:tab pos="755015" algn="l"/>
              </a:tabLst>
            </a:pPr>
            <a:r>
              <a:rPr sz="2800" spc="-55" dirty="0">
                <a:latin typeface="Arial"/>
                <a:cs typeface="Arial"/>
              </a:rPr>
              <a:t>Limpieza</a:t>
            </a:r>
            <a:endParaRPr sz="2800" dirty="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2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80" dirty="0">
                <a:latin typeface="Arial"/>
                <a:cs typeface="Arial"/>
              </a:rPr>
              <a:t>Transformación</a:t>
            </a:r>
            <a:endParaRPr sz="2800" dirty="0">
              <a:latin typeface="Arial"/>
              <a:cs typeface="Arial"/>
            </a:endParaRPr>
          </a:p>
          <a:p>
            <a:pPr marL="755015" lvl="1" indent="-320675">
              <a:lnSpc>
                <a:spcPct val="100000"/>
              </a:lnSpc>
              <a:spcBef>
                <a:spcPts val="240"/>
              </a:spcBef>
              <a:buFont typeface="Apple SD Gothic Neo Light"/>
              <a:buChar char="■"/>
              <a:tabLst>
                <a:tab pos="755015" algn="l"/>
              </a:tabLst>
            </a:pPr>
            <a:r>
              <a:rPr sz="2800" spc="-10" dirty="0">
                <a:latin typeface="Arial"/>
                <a:cs typeface="Arial"/>
              </a:rPr>
              <a:t>Manipulación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219748" y="2559551"/>
            <a:ext cx="1851025" cy="1408430"/>
            <a:chOff x="5219748" y="2559551"/>
            <a:chExt cx="1851025" cy="1408430"/>
          </a:xfrm>
        </p:grpSpPr>
        <p:sp>
          <p:nvSpPr>
            <p:cNvPr id="6" name="object 6"/>
            <p:cNvSpPr/>
            <p:nvPr/>
          </p:nvSpPr>
          <p:spPr>
            <a:xfrm>
              <a:off x="6145206" y="3520690"/>
              <a:ext cx="913130" cy="434975"/>
            </a:xfrm>
            <a:custGeom>
              <a:avLst/>
              <a:gdLst/>
              <a:ahLst/>
              <a:cxnLst/>
              <a:rect l="l" t="t" r="r" b="b"/>
              <a:pathLst>
                <a:path w="913129" h="434975">
                  <a:moveTo>
                    <a:pt x="0" y="0"/>
                  </a:moveTo>
                  <a:lnTo>
                    <a:pt x="0" y="296023"/>
                  </a:lnTo>
                  <a:lnTo>
                    <a:pt x="912757" y="296023"/>
                  </a:lnTo>
                  <a:lnTo>
                    <a:pt x="912757" y="434389"/>
                  </a:lnTo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232448" y="3520690"/>
              <a:ext cx="913130" cy="434975"/>
            </a:xfrm>
            <a:custGeom>
              <a:avLst/>
              <a:gdLst/>
              <a:ahLst/>
              <a:cxnLst/>
              <a:rect l="l" t="t" r="r" b="b"/>
              <a:pathLst>
                <a:path w="913129" h="434975">
                  <a:moveTo>
                    <a:pt x="912757" y="0"/>
                  </a:moveTo>
                  <a:lnTo>
                    <a:pt x="912757" y="296023"/>
                  </a:lnTo>
                  <a:lnTo>
                    <a:pt x="0" y="296023"/>
                  </a:lnTo>
                  <a:lnTo>
                    <a:pt x="0" y="434389"/>
                  </a:lnTo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98404" y="2572251"/>
              <a:ext cx="1494155" cy="948690"/>
            </a:xfrm>
            <a:custGeom>
              <a:avLst/>
              <a:gdLst/>
              <a:ahLst/>
              <a:cxnLst/>
              <a:rect l="l" t="t" r="r" b="b"/>
              <a:pathLst>
                <a:path w="1494154" h="948689">
                  <a:moveTo>
                    <a:pt x="1398758" y="0"/>
                  </a:moveTo>
                  <a:lnTo>
                    <a:pt x="94842" y="0"/>
                  </a:lnTo>
                  <a:lnTo>
                    <a:pt x="57925" y="7453"/>
                  </a:lnTo>
                  <a:lnTo>
                    <a:pt x="27778" y="27778"/>
                  </a:lnTo>
                  <a:lnTo>
                    <a:pt x="7453" y="57925"/>
                  </a:lnTo>
                  <a:lnTo>
                    <a:pt x="0" y="94843"/>
                  </a:lnTo>
                  <a:lnTo>
                    <a:pt x="0" y="853594"/>
                  </a:lnTo>
                  <a:lnTo>
                    <a:pt x="7453" y="890512"/>
                  </a:lnTo>
                  <a:lnTo>
                    <a:pt x="27778" y="920659"/>
                  </a:lnTo>
                  <a:lnTo>
                    <a:pt x="57925" y="940985"/>
                  </a:lnTo>
                  <a:lnTo>
                    <a:pt x="94842" y="948438"/>
                  </a:lnTo>
                  <a:lnTo>
                    <a:pt x="1398758" y="948438"/>
                  </a:lnTo>
                  <a:lnTo>
                    <a:pt x="1435676" y="940985"/>
                  </a:lnTo>
                  <a:lnTo>
                    <a:pt x="1465823" y="920659"/>
                  </a:lnTo>
                  <a:lnTo>
                    <a:pt x="1486149" y="890512"/>
                  </a:lnTo>
                  <a:lnTo>
                    <a:pt x="1493602" y="853594"/>
                  </a:lnTo>
                  <a:lnTo>
                    <a:pt x="1493602" y="94843"/>
                  </a:lnTo>
                  <a:lnTo>
                    <a:pt x="1486149" y="57925"/>
                  </a:lnTo>
                  <a:lnTo>
                    <a:pt x="1465823" y="27778"/>
                  </a:lnTo>
                  <a:lnTo>
                    <a:pt x="1435676" y="7453"/>
                  </a:lnTo>
                  <a:lnTo>
                    <a:pt x="1398758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98404" y="2572251"/>
              <a:ext cx="1494155" cy="948690"/>
            </a:xfrm>
            <a:custGeom>
              <a:avLst/>
              <a:gdLst/>
              <a:ahLst/>
              <a:cxnLst/>
              <a:rect l="l" t="t" r="r" b="b"/>
              <a:pathLst>
                <a:path w="1494154" h="948689">
                  <a:moveTo>
                    <a:pt x="0" y="94843"/>
                  </a:moveTo>
                  <a:lnTo>
                    <a:pt x="7453" y="57925"/>
                  </a:lnTo>
                  <a:lnTo>
                    <a:pt x="27778" y="27778"/>
                  </a:lnTo>
                  <a:lnTo>
                    <a:pt x="57925" y="7453"/>
                  </a:lnTo>
                  <a:lnTo>
                    <a:pt x="94843" y="0"/>
                  </a:lnTo>
                  <a:lnTo>
                    <a:pt x="1398760" y="0"/>
                  </a:lnTo>
                  <a:lnTo>
                    <a:pt x="1435677" y="7453"/>
                  </a:lnTo>
                  <a:lnTo>
                    <a:pt x="1465824" y="27778"/>
                  </a:lnTo>
                  <a:lnTo>
                    <a:pt x="1486149" y="57925"/>
                  </a:lnTo>
                  <a:lnTo>
                    <a:pt x="1493603" y="94843"/>
                  </a:lnTo>
                  <a:lnTo>
                    <a:pt x="1493603" y="853594"/>
                  </a:lnTo>
                  <a:lnTo>
                    <a:pt x="1486149" y="890512"/>
                  </a:lnTo>
                  <a:lnTo>
                    <a:pt x="1465824" y="920659"/>
                  </a:lnTo>
                  <a:lnTo>
                    <a:pt x="1435677" y="940984"/>
                  </a:lnTo>
                  <a:lnTo>
                    <a:pt x="1398760" y="948438"/>
                  </a:lnTo>
                  <a:lnTo>
                    <a:pt x="94843" y="948438"/>
                  </a:lnTo>
                  <a:lnTo>
                    <a:pt x="57925" y="940984"/>
                  </a:lnTo>
                  <a:lnTo>
                    <a:pt x="27778" y="920659"/>
                  </a:lnTo>
                  <a:lnTo>
                    <a:pt x="7453" y="890512"/>
                  </a:lnTo>
                  <a:lnTo>
                    <a:pt x="0" y="853594"/>
                  </a:lnTo>
                  <a:lnTo>
                    <a:pt x="0" y="94843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64360" y="2729909"/>
              <a:ext cx="1494155" cy="948690"/>
            </a:xfrm>
            <a:custGeom>
              <a:avLst/>
              <a:gdLst/>
              <a:ahLst/>
              <a:cxnLst/>
              <a:rect l="l" t="t" r="r" b="b"/>
              <a:pathLst>
                <a:path w="1494154" h="948689">
                  <a:moveTo>
                    <a:pt x="1398758" y="0"/>
                  </a:moveTo>
                  <a:lnTo>
                    <a:pt x="94842" y="0"/>
                  </a:lnTo>
                  <a:lnTo>
                    <a:pt x="57925" y="7453"/>
                  </a:lnTo>
                  <a:lnTo>
                    <a:pt x="27778" y="27779"/>
                  </a:lnTo>
                  <a:lnTo>
                    <a:pt x="7453" y="57926"/>
                  </a:lnTo>
                  <a:lnTo>
                    <a:pt x="0" y="94843"/>
                  </a:lnTo>
                  <a:lnTo>
                    <a:pt x="0" y="853594"/>
                  </a:lnTo>
                  <a:lnTo>
                    <a:pt x="7453" y="890512"/>
                  </a:lnTo>
                  <a:lnTo>
                    <a:pt x="27778" y="920659"/>
                  </a:lnTo>
                  <a:lnTo>
                    <a:pt x="57925" y="940985"/>
                  </a:lnTo>
                  <a:lnTo>
                    <a:pt x="94842" y="948438"/>
                  </a:lnTo>
                  <a:lnTo>
                    <a:pt x="1398758" y="948438"/>
                  </a:lnTo>
                  <a:lnTo>
                    <a:pt x="1435676" y="940985"/>
                  </a:lnTo>
                  <a:lnTo>
                    <a:pt x="1465823" y="920659"/>
                  </a:lnTo>
                  <a:lnTo>
                    <a:pt x="1486149" y="890512"/>
                  </a:lnTo>
                  <a:lnTo>
                    <a:pt x="1493602" y="853594"/>
                  </a:lnTo>
                  <a:lnTo>
                    <a:pt x="1493602" y="94843"/>
                  </a:lnTo>
                  <a:lnTo>
                    <a:pt x="1486149" y="57926"/>
                  </a:lnTo>
                  <a:lnTo>
                    <a:pt x="1465823" y="27779"/>
                  </a:lnTo>
                  <a:lnTo>
                    <a:pt x="1435676" y="7453"/>
                  </a:lnTo>
                  <a:lnTo>
                    <a:pt x="1398758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564360" y="2729909"/>
              <a:ext cx="1494155" cy="948690"/>
            </a:xfrm>
            <a:custGeom>
              <a:avLst/>
              <a:gdLst/>
              <a:ahLst/>
              <a:cxnLst/>
              <a:rect l="l" t="t" r="r" b="b"/>
              <a:pathLst>
                <a:path w="1494154" h="948689">
                  <a:moveTo>
                    <a:pt x="0" y="94843"/>
                  </a:moveTo>
                  <a:lnTo>
                    <a:pt x="7453" y="57925"/>
                  </a:lnTo>
                  <a:lnTo>
                    <a:pt x="27778" y="27778"/>
                  </a:lnTo>
                  <a:lnTo>
                    <a:pt x="57925" y="7453"/>
                  </a:lnTo>
                  <a:lnTo>
                    <a:pt x="94843" y="0"/>
                  </a:lnTo>
                  <a:lnTo>
                    <a:pt x="1398760" y="0"/>
                  </a:lnTo>
                  <a:lnTo>
                    <a:pt x="1435677" y="7453"/>
                  </a:lnTo>
                  <a:lnTo>
                    <a:pt x="1465824" y="27778"/>
                  </a:lnTo>
                  <a:lnTo>
                    <a:pt x="1486149" y="57925"/>
                  </a:lnTo>
                  <a:lnTo>
                    <a:pt x="1493603" y="94843"/>
                  </a:lnTo>
                  <a:lnTo>
                    <a:pt x="1493603" y="853594"/>
                  </a:lnTo>
                  <a:lnTo>
                    <a:pt x="1486149" y="890512"/>
                  </a:lnTo>
                  <a:lnTo>
                    <a:pt x="1465824" y="920659"/>
                  </a:lnTo>
                  <a:lnTo>
                    <a:pt x="1435677" y="940984"/>
                  </a:lnTo>
                  <a:lnTo>
                    <a:pt x="1398760" y="948438"/>
                  </a:lnTo>
                  <a:lnTo>
                    <a:pt x="94843" y="948438"/>
                  </a:lnTo>
                  <a:lnTo>
                    <a:pt x="57925" y="940984"/>
                  </a:lnTo>
                  <a:lnTo>
                    <a:pt x="27778" y="920659"/>
                  </a:lnTo>
                  <a:lnTo>
                    <a:pt x="7453" y="890512"/>
                  </a:lnTo>
                  <a:lnTo>
                    <a:pt x="0" y="853594"/>
                  </a:lnTo>
                  <a:lnTo>
                    <a:pt x="0" y="94843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660095" y="3042411"/>
            <a:ext cx="13030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80" dirty="0">
                <a:latin typeface="Arial"/>
                <a:cs typeface="Arial"/>
              </a:rPr>
              <a:t>Transformación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472946" y="3942379"/>
            <a:ext cx="1685289" cy="1131570"/>
            <a:chOff x="4472946" y="3942379"/>
            <a:chExt cx="1685289" cy="1131570"/>
          </a:xfrm>
        </p:grpSpPr>
        <p:sp>
          <p:nvSpPr>
            <p:cNvPr id="14" name="object 14"/>
            <p:cNvSpPr/>
            <p:nvPr/>
          </p:nvSpPr>
          <p:spPr>
            <a:xfrm>
              <a:off x="4485646" y="3955079"/>
              <a:ext cx="1494155" cy="948690"/>
            </a:xfrm>
            <a:custGeom>
              <a:avLst/>
              <a:gdLst/>
              <a:ahLst/>
              <a:cxnLst/>
              <a:rect l="l" t="t" r="r" b="b"/>
              <a:pathLst>
                <a:path w="1494154" h="948689">
                  <a:moveTo>
                    <a:pt x="1398758" y="0"/>
                  </a:moveTo>
                  <a:lnTo>
                    <a:pt x="94842" y="0"/>
                  </a:lnTo>
                  <a:lnTo>
                    <a:pt x="57925" y="7453"/>
                  </a:lnTo>
                  <a:lnTo>
                    <a:pt x="27778" y="27778"/>
                  </a:lnTo>
                  <a:lnTo>
                    <a:pt x="7453" y="57925"/>
                  </a:lnTo>
                  <a:lnTo>
                    <a:pt x="0" y="94843"/>
                  </a:lnTo>
                  <a:lnTo>
                    <a:pt x="0" y="853594"/>
                  </a:lnTo>
                  <a:lnTo>
                    <a:pt x="7453" y="890512"/>
                  </a:lnTo>
                  <a:lnTo>
                    <a:pt x="27778" y="920659"/>
                  </a:lnTo>
                  <a:lnTo>
                    <a:pt x="57925" y="940984"/>
                  </a:lnTo>
                  <a:lnTo>
                    <a:pt x="94842" y="948437"/>
                  </a:lnTo>
                  <a:lnTo>
                    <a:pt x="1398758" y="948437"/>
                  </a:lnTo>
                  <a:lnTo>
                    <a:pt x="1435676" y="940984"/>
                  </a:lnTo>
                  <a:lnTo>
                    <a:pt x="1465823" y="920659"/>
                  </a:lnTo>
                  <a:lnTo>
                    <a:pt x="1486149" y="890512"/>
                  </a:lnTo>
                  <a:lnTo>
                    <a:pt x="1493602" y="853594"/>
                  </a:lnTo>
                  <a:lnTo>
                    <a:pt x="1493602" y="94843"/>
                  </a:lnTo>
                  <a:lnTo>
                    <a:pt x="1486149" y="57925"/>
                  </a:lnTo>
                  <a:lnTo>
                    <a:pt x="1465823" y="27778"/>
                  </a:lnTo>
                  <a:lnTo>
                    <a:pt x="1435676" y="7453"/>
                  </a:lnTo>
                  <a:lnTo>
                    <a:pt x="1398758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85646" y="3955079"/>
              <a:ext cx="1494155" cy="948690"/>
            </a:xfrm>
            <a:custGeom>
              <a:avLst/>
              <a:gdLst/>
              <a:ahLst/>
              <a:cxnLst/>
              <a:rect l="l" t="t" r="r" b="b"/>
              <a:pathLst>
                <a:path w="1494154" h="948689">
                  <a:moveTo>
                    <a:pt x="0" y="94843"/>
                  </a:moveTo>
                  <a:lnTo>
                    <a:pt x="7453" y="57925"/>
                  </a:lnTo>
                  <a:lnTo>
                    <a:pt x="27778" y="27778"/>
                  </a:lnTo>
                  <a:lnTo>
                    <a:pt x="57925" y="7453"/>
                  </a:lnTo>
                  <a:lnTo>
                    <a:pt x="94843" y="0"/>
                  </a:lnTo>
                  <a:lnTo>
                    <a:pt x="1398760" y="0"/>
                  </a:lnTo>
                  <a:lnTo>
                    <a:pt x="1435677" y="7453"/>
                  </a:lnTo>
                  <a:lnTo>
                    <a:pt x="1465824" y="27778"/>
                  </a:lnTo>
                  <a:lnTo>
                    <a:pt x="1486149" y="57925"/>
                  </a:lnTo>
                  <a:lnTo>
                    <a:pt x="1493603" y="94843"/>
                  </a:lnTo>
                  <a:lnTo>
                    <a:pt x="1493603" y="853594"/>
                  </a:lnTo>
                  <a:lnTo>
                    <a:pt x="1486149" y="890512"/>
                  </a:lnTo>
                  <a:lnTo>
                    <a:pt x="1465824" y="920659"/>
                  </a:lnTo>
                  <a:lnTo>
                    <a:pt x="1435677" y="940984"/>
                  </a:lnTo>
                  <a:lnTo>
                    <a:pt x="1398760" y="948438"/>
                  </a:lnTo>
                  <a:lnTo>
                    <a:pt x="94843" y="948438"/>
                  </a:lnTo>
                  <a:lnTo>
                    <a:pt x="57925" y="940984"/>
                  </a:lnTo>
                  <a:lnTo>
                    <a:pt x="27778" y="920659"/>
                  </a:lnTo>
                  <a:lnTo>
                    <a:pt x="7453" y="890512"/>
                  </a:lnTo>
                  <a:lnTo>
                    <a:pt x="0" y="853594"/>
                  </a:lnTo>
                  <a:lnTo>
                    <a:pt x="0" y="94843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651602" y="4112737"/>
              <a:ext cx="1494155" cy="948690"/>
            </a:xfrm>
            <a:custGeom>
              <a:avLst/>
              <a:gdLst/>
              <a:ahLst/>
              <a:cxnLst/>
              <a:rect l="l" t="t" r="r" b="b"/>
              <a:pathLst>
                <a:path w="1494154" h="948689">
                  <a:moveTo>
                    <a:pt x="1398758" y="0"/>
                  </a:moveTo>
                  <a:lnTo>
                    <a:pt x="94842" y="0"/>
                  </a:lnTo>
                  <a:lnTo>
                    <a:pt x="57925" y="7453"/>
                  </a:lnTo>
                  <a:lnTo>
                    <a:pt x="27778" y="27778"/>
                  </a:lnTo>
                  <a:lnTo>
                    <a:pt x="7453" y="57925"/>
                  </a:lnTo>
                  <a:lnTo>
                    <a:pt x="0" y="94843"/>
                  </a:lnTo>
                  <a:lnTo>
                    <a:pt x="0" y="853594"/>
                  </a:lnTo>
                  <a:lnTo>
                    <a:pt x="7453" y="890512"/>
                  </a:lnTo>
                  <a:lnTo>
                    <a:pt x="27778" y="920659"/>
                  </a:lnTo>
                  <a:lnTo>
                    <a:pt x="57925" y="940984"/>
                  </a:lnTo>
                  <a:lnTo>
                    <a:pt x="94842" y="948437"/>
                  </a:lnTo>
                  <a:lnTo>
                    <a:pt x="1398758" y="948437"/>
                  </a:lnTo>
                  <a:lnTo>
                    <a:pt x="1435676" y="940984"/>
                  </a:lnTo>
                  <a:lnTo>
                    <a:pt x="1465823" y="920659"/>
                  </a:lnTo>
                  <a:lnTo>
                    <a:pt x="1486149" y="890512"/>
                  </a:lnTo>
                  <a:lnTo>
                    <a:pt x="1493602" y="853594"/>
                  </a:lnTo>
                  <a:lnTo>
                    <a:pt x="1493602" y="94843"/>
                  </a:lnTo>
                  <a:lnTo>
                    <a:pt x="1486149" y="57925"/>
                  </a:lnTo>
                  <a:lnTo>
                    <a:pt x="1465823" y="27778"/>
                  </a:lnTo>
                  <a:lnTo>
                    <a:pt x="1435676" y="7453"/>
                  </a:lnTo>
                  <a:lnTo>
                    <a:pt x="1398758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651602" y="4112737"/>
              <a:ext cx="1494155" cy="948690"/>
            </a:xfrm>
            <a:custGeom>
              <a:avLst/>
              <a:gdLst/>
              <a:ahLst/>
              <a:cxnLst/>
              <a:rect l="l" t="t" r="r" b="b"/>
              <a:pathLst>
                <a:path w="1494154" h="948689">
                  <a:moveTo>
                    <a:pt x="0" y="94843"/>
                  </a:moveTo>
                  <a:lnTo>
                    <a:pt x="7453" y="57925"/>
                  </a:lnTo>
                  <a:lnTo>
                    <a:pt x="27778" y="27778"/>
                  </a:lnTo>
                  <a:lnTo>
                    <a:pt x="57925" y="7453"/>
                  </a:lnTo>
                  <a:lnTo>
                    <a:pt x="94843" y="0"/>
                  </a:lnTo>
                  <a:lnTo>
                    <a:pt x="1398760" y="0"/>
                  </a:lnTo>
                  <a:lnTo>
                    <a:pt x="1435677" y="7453"/>
                  </a:lnTo>
                  <a:lnTo>
                    <a:pt x="1465824" y="27778"/>
                  </a:lnTo>
                  <a:lnTo>
                    <a:pt x="1486149" y="57925"/>
                  </a:lnTo>
                  <a:lnTo>
                    <a:pt x="1493603" y="94843"/>
                  </a:lnTo>
                  <a:lnTo>
                    <a:pt x="1493603" y="853594"/>
                  </a:lnTo>
                  <a:lnTo>
                    <a:pt x="1486149" y="890512"/>
                  </a:lnTo>
                  <a:lnTo>
                    <a:pt x="1465824" y="920659"/>
                  </a:lnTo>
                  <a:lnTo>
                    <a:pt x="1435677" y="940984"/>
                  </a:lnTo>
                  <a:lnTo>
                    <a:pt x="1398760" y="948438"/>
                  </a:lnTo>
                  <a:lnTo>
                    <a:pt x="94843" y="948438"/>
                  </a:lnTo>
                  <a:lnTo>
                    <a:pt x="57925" y="940984"/>
                  </a:lnTo>
                  <a:lnTo>
                    <a:pt x="27778" y="920659"/>
                  </a:lnTo>
                  <a:lnTo>
                    <a:pt x="7453" y="890512"/>
                  </a:lnTo>
                  <a:lnTo>
                    <a:pt x="0" y="853594"/>
                  </a:lnTo>
                  <a:lnTo>
                    <a:pt x="0" y="94843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025181" y="4423155"/>
            <a:ext cx="7473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90" dirty="0">
                <a:latin typeface="Arial"/>
                <a:cs typeface="Arial"/>
              </a:rPr>
              <a:t>Limpieza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298460" y="3942379"/>
            <a:ext cx="1685289" cy="1131570"/>
            <a:chOff x="6298460" y="3942379"/>
            <a:chExt cx="1685289" cy="1131570"/>
          </a:xfrm>
        </p:grpSpPr>
        <p:sp>
          <p:nvSpPr>
            <p:cNvPr id="20" name="object 20"/>
            <p:cNvSpPr/>
            <p:nvPr/>
          </p:nvSpPr>
          <p:spPr>
            <a:xfrm>
              <a:off x="6311160" y="3955079"/>
              <a:ext cx="1494155" cy="948690"/>
            </a:xfrm>
            <a:custGeom>
              <a:avLst/>
              <a:gdLst/>
              <a:ahLst/>
              <a:cxnLst/>
              <a:rect l="l" t="t" r="r" b="b"/>
              <a:pathLst>
                <a:path w="1494154" h="948689">
                  <a:moveTo>
                    <a:pt x="1398760" y="0"/>
                  </a:moveTo>
                  <a:lnTo>
                    <a:pt x="94842" y="0"/>
                  </a:lnTo>
                  <a:lnTo>
                    <a:pt x="57925" y="7453"/>
                  </a:lnTo>
                  <a:lnTo>
                    <a:pt x="27778" y="27778"/>
                  </a:lnTo>
                  <a:lnTo>
                    <a:pt x="7453" y="57925"/>
                  </a:lnTo>
                  <a:lnTo>
                    <a:pt x="0" y="94843"/>
                  </a:lnTo>
                  <a:lnTo>
                    <a:pt x="0" y="853594"/>
                  </a:lnTo>
                  <a:lnTo>
                    <a:pt x="7453" y="890512"/>
                  </a:lnTo>
                  <a:lnTo>
                    <a:pt x="27778" y="920659"/>
                  </a:lnTo>
                  <a:lnTo>
                    <a:pt x="57925" y="940984"/>
                  </a:lnTo>
                  <a:lnTo>
                    <a:pt x="94842" y="948437"/>
                  </a:lnTo>
                  <a:lnTo>
                    <a:pt x="1398760" y="948437"/>
                  </a:lnTo>
                  <a:lnTo>
                    <a:pt x="1435677" y="940984"/>
                  </a:lnTo>
                  <a:lnTo>
                    <a:pt x="1465823" y="920659"/>
                  </a:lnTo>
                  <a:lnTo>
                    <a:pt x="1486149" y="890512"/>
                  </a:lnTo>
                  <a:lnTo>
                    <a:pt x="1493602" y="853594"/>
                  </a:lnTo>
                  <a:lnTo>
                    <a:pt x="1493602" y="94843"/>
                  </a:lnTo>
                  <a:lnTo>
                    <a:pt x="1486149" y="57925"/>
                  </a:lnTo>
                  <a:lnTo>
                    <a:pt x="1465823" y="27778"/>
                  </a:lnTo>
                  <a:lnTo>
                    <a:pt x="1435677" y="7453"/>
                  </a:lnTo>
                  <a:lnTo>
                    <a:pt x="1398760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311160" y="3955079"/>
              <a:ext cx="1494155" cy="948690"/>
            </a:xfrm>
            <a:custGeom>
              <a:avLst/>
              <a:gdLst/>
              <a:ahLst/>
              <a:cxnLst/>
              <a:rect l="l" t="t" r="r" b="b"/>
              <a:pathLst>
                <a:path w="1494154" h="948689">
                  <a:moveTo>
                    <a:pt x="0" y="94843"/>
                  </a:moveTo>
                  <a:lnTo>
                    <a:pt x="7453" y="57925"/>
                  </a:lnTo>
                  <a:lnTo>
                    <a:pt x="27778" y="27778"/>
                  </a:lnTo>
                  <a:lnTo>
                    <a:pt x="57925" y="7453"/>
                  </a:lnTo>
                  <a:lnTo>
                    <a:pt x="94843" y="0"/>
                  </a:lnTo>
                  <a:lnTo>
                    <a:pt x="1398760" y="0"/>
                  </a:lnTo>
                  <a:lnTo>
                    <a:pt x="1435677" y="7453"/>
                  </a:lnTo>
                  <a:lnTo>
                    <a:pt x="1465824" y="27778"/>
                  </a:lnTo>
                  <a:lnTo>
                    <a:pt x="1486149" y="57925"/>
                  </a:lnTo>
                  <a:lnTo>
                    <a:pt x="1493603" y="94843"/>
                  </a:lnTo>
                  <a:lnTo>
                    <a:pt x="1493603" y="853594"/>
                  </a:lnTo>
                  <a:lnTo>
                    <a:pt x="1486149" y="890512"/>
                  </a:lnTo>
                  <a:lnTo>
                    <a:pt x="1465824" y="920659"/>
                  </a:lnTo>
                  <a:lnTo>
                    <a:pt x="1435677" y="940984"/>
                  </a:lnTo>
                  <a:lnTo>
                    <a:pt x="1398760" y="948438"/>
                  </a:lnTo>
                  <a:lnTo>
                    <a:pt x="94843" y="948438"/>
                  </a:lnTo>
                  <a:lnTo>
                    <a:pt x="57925" y="940984"/>
                  </a:lnTo>
                  <a:lnTo>
                    <a:pt x="27778" y="920659"/>
                  </a:lnTo>
                  <a:lnTo>
                    <a:pt x="7453" y="890512"/>
                  </a:lnTo>
                  <a:lnTo>
                    <a:pt x="0" y="853594"/>
                  </a:lnTo>
                  <a:lnTo>
                    <a:pt x="0" y="94843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77116" y="4112737"/>
              <a:ext cx="1494155" cy="948690"/>
            </a:xfrm>
            <a:custGeom>
              <a:avLst/>
              <a:gdLst/>
              <a:ahLst/>
              <a:cxnLst/>
              <a:rect l="l" t="t" r="r" b="b"/>
              <a:pathLst>
                <a:path w="1494154" h="948689">
                  <a:moveTo>
                    <a:pt x="1398760" y="0"/>
                  </a:moveTo>
                  <a:lnTo>
                    <a:pt x="94843" y="0"/>
                  </a:lnTo>
                  <a:lnTo>
                    <a:pt x="57925" y="7453"/>
                  </a:lnTo>
                  <a:lnTo>
                    <a:pt x="27778" y="27778"/>
                  </a:lnTo>
                  <a:lnTo>
                    <a:pt x="7453" y="57925"/>
                  </a:lnTo>
                  <a:lnTo>
                    <a:pt x="0" y="94843"/>
                  </a:lnTo>
                  <a:lnTo>
                    <a:pt x="0" y="853594"/>
                  </a:lnTo>
                  <a:lnTo>
                    <a:pt x="7453" y="890512"/>
                  </a:lnTo>
                  <a:lnTo>
                    <a:pt x="27778" y="920659"/>
                  </a:lnTo>
                  <a:lnTo>
                    <a:pt x="57925" y="940984"/>
                  </a:lnTo>
                  <a:lnTo>
                    <a:pt x="94843" y="948437"/>
                  </a:lnTo>
                  <a:lnTo>
                    <a:pt x="1398760" y="948437"/>
                  </a:lnTo>
                  <a:lnTo>
                    <a:pt x="1435677" y="940984"/>
                  </a:lnTo>
                  <a:lnTo>
                    <a:pt x="1465823" y="920659"/>
                  </a:lnTo>
                  <a:lnTo>
                    <a:pt x="1486149" y="890512"/>
                  </a:lnTo>
                  <a:lnTo>
                    <a:pt x="1493602" y="853594"/>
                  </a:lnTo>
                  <a:lnTo>
                    <a:pt x="1493602" y="94843"/>
                  </a:lnTo>
                  <a:lnTo>
                    <a:pt x="1486149" y="57925"/>
                  </a:lnTo>
                  <a:lnTo>
                    <a:pt x="1465823" y="27778"/>
                  </a:lnTo>
                  <a:lnTo>
                    <a:pt x="1435677" y="7453"/>
                  </a:lnTo>
                  <a:lnTo>
                    <a:pt x="1398760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77116" y="4112737"/>
              <a:ext cx="1494155" cy="948690"/>
            </a:xfrm>
            <a:custGeom>
              <a:avLst/>
              <a:gdLst/>
              <a:ahLst/>
              <a:cxnLst/>
              <a:rect l="l" t="t" r="r" b="b"/>
              <a:pathLst>
                <a:path w="1494154" h="948689">
                  <a:moveTo>
                    <a:pt x="0" y="94843"/>
                  </a:moveTo>
                  <a:lnTo>
                    <a:pt x="7453" y="57925"/>
                  </a:lnTo>
                  <a:lnTo>
                    <a:pt x="27778" y="27778"/>
                  </a:lnTo>
                  <a:lnTo>
                    <a:pt x="57925" y="7453"/>
                  </a:lnTo>
                  <a:lnTo>
                    <a:pt x="94843" y="0"/>
                  </a:lnTo>
                  <a:lnTo>
                    <a:pt x="1398760" y="0"/>
                  </a:lnTo>
                  <a:lnTo>
                    <a:pt x="1435677" y="7453"/>
                  </a:lnTo>
                  <a:lnTo>
                    <a:pt x="1465824" y="27778"/>
                  </a:lnTo>
                  <a:lnTo>
                    <a:pt x="1486149" y="57925"/>
                  </a:lnTo>
                  <a:lnTo>
                    <a:pt x="1493603" y="94843"/>
                  </a:lnTo>
                  <a:lnTo>
                    <a:pt x="1493603" y="853594"/>
                  </a:lnTo>
                  <a:lnTo>
                    <a:pt x="1486149" y="890512"/>
                  </a:lnTo>
                  <a:lnTo>
                    <a:pt x="1465824" y="920659"/>
                  </a:lnTo>
                  <a:lnTo>
                    <a:pt x="1435677" y="940984"/>
                  </a:lnTo>
                  <a:lnTo>
                    <a:pt x="1398760" y="948438"/>
                  </a:lnTo>
                  <a:lnTo>
                    <a:pt x="94843" y="948438"/>
                  </a:lnTo>
                  <a:lnTo>
                    <a:pt x="57925" y="940984"/>
                  </a:lnTo>
                  <a:lnTo>
                    <a:pt x="27778" y="920659"/>
                  </a:lnTo>
                  <a:lnTo>
                    <a:pt x="7453" y="890512"/>
                  </a:lnTo>
                  <a:lnTo>
                    <a:pt x="0" y="853594"/>
                  </a:lnTo>
                  <a:lnTo>
                    <a:pt x="0" y="94843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647053" y="4423155"/>
            <a:ext cx="11537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45" dirty="0">
                <a:latin typeface="Arial"/>
                <a:cs typeface="Arial"/>
              </a:rPr>
              <a:t>Manipulación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pc="-10" dirty="0"/>
              <a:t>Transformación</a:t>
            </a:r>
          </a:p>
          <a:p>
            <a:pPr marL="281305" algn="ctr">
              <a:lnSpc>
                <a:spcPct val="100000"/>
              </a:lnSpc>
              <a:spcBef>
                <a:spcPts val="745"/>
              </a:spcBef>
            </a:pPr>
            <a:r>
              <a:rPr sz="2800" spc="-10" dirty="0">
                <a:solidFill>
                  <a:srgbClr val="FF0000"/>
                </a:solidFill>
              </a:rPr>
              <a:t>Preprocesamiento: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786643" y="271779"/>
            <a:ext cx="52425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  <a:tab pos="869315" algn="l"/>
                <a:tab pos="2428240" algn="l"/>
                <a:tab pos="4446270" algn="l"/>
                <a:tab pos="4977765" algn="l"/>
              </a:tabLst>
            </a:pPr>
            <a:r>
              <a:rPr sz="2800" spc="-25" dirty="0">
                <a:latin typeface="Arial"/>
                <a:cs typeface="Arial"/>
              </a:rPr>
              <a:t>“El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0" dirty="0">
                <a:latin typeface="Arial"/>
                <a:cs typeface="Arial"/>
              </a:rPr>
              <a:t>propósito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0" dirty="0">
                <a:latin typeface="Arial"/>
                <a:cs typeface="Arial"/>
              </a:rPr>
              <a:t>fundamental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5" dirty="0">
                <a:latin typeface="Arial"/>
                <a:cs typeface="Arial"/>
              </a:rPr>
              <a:t>de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85" dirty="0">
                <a:latin typeface="Arial"/>
                <a:cs typeface="Arial"/>
              </a:rPr>
              <a:t>la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72393" y="561339"/>
            <a:ext cx="49568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57705" algn="l"/>
                <a:tab pos="2533650" algn="l"/>
                <a:tab pos="3154680" algn="l"/>
                <a:tab pos="4163695" algn="l"/>
                <a:tab pos="4692015" algn="l"/>
              </a:tabLst>
            </a:pPr>
            <a:r>
              <a:rPr sz="2800" spc="-10" dirty="0">
                <a:latin typeface="Arial"/>
                <a:cs typeface="Arial"/>
              </a:rPr>
              <a:t>preparación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5" dirty="0">
                <a:latin typeface="Arial"/>
                <a:cs typeface="Arial"/>
              </a:rPr>
              <a:t>de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5" dirty="0">
                <a:latin typeface="Arial"/>
                <a:cs typeface="Arial"/>
              </a:rPr>
              <a:t>los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0" dirty="0">
                <a:latin typeface="Arial"/>
                <a:cs typeface="Arial"/>
              </a:rPr>
              <a:t>datos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85" dirty="0">
                <a:latin typeface="Arial"/>
                <a:cs typeface="Arial"/>
              </a:rPr>
              <a:t>es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85" dirty="0">
                <a:latin typeface="Arial"/>
                <a:cs typeface="Arial"/>
              </a:rPr>
              <a:t>la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72393" y="866139"/>
            <a:ext cx="49580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10" dirty="0">
                <a:latin typeface="Arial"/>
                <a:cs typeface="Arial"/>
              </a:rPr>
              <a:t>manipulación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y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transformación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de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72393" y="1158747"/>
            <a:ext cx="49568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2135" algn="l"/>
                <a:tab pos="1520190" algn="l"/>
                <a:tab pos="2080260" algn="l"/>
                <a:tab pos="3194050" algn="l"/>
                <a:tab pos="3989704" algn="l"/>
                <a:tab pos="4692015" algn="l"/>
              </a:tabLst>
            </a:pPr>
            <a:r>
              <a:rPr sz="2800" spc="-25" dirty="0">
                <a:latin typeface="Arial"/>
                <a:cs typeface="Arial"/>
              </a:rPr>
              <a:t>los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0" dirty="0">
                <a:latin typeface="Arial"/>
                <a:cs typeface="Arial"/>
              </a:rPr>
              <a:t>datos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5" dirty="0">
                <a:latin typeface="Arial"/>
                <a:cs typeface="Arial"/>
              </a:rPr>
              <a:t>sin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0" dirty="0">
                <a:latin typeface="Arial"/>
                <a:cs typeface="Arial"/>
              </a:rPr>
              <a:t>refinar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0" dirty="0">
                <a:latin typeface="Arial"/>
                <a:cs typeface="Arial"/>
              </a:rPr>
              <a:t>para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5" dirty="0">
                <a:latin typeface="Arial"/>
                <a:cs typeface="Arial"/>
              </a:rPr>
              <a:t>que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85" dirty="0">
                <a:latin typeface="Arial"/>
                <a:cs typeface="Arial"/>
              </a:rPr>
              <a:t>la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72393" y="1463547"/>
            <a:ext cx="49555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29155" algn="l"/>
                <a:tab pos="3943985" algn="l"/>
                <a:tab pos="4685665" algn="l"/>
              </a:tabLst>
            </a:pPr>
            <a:r>
              <a:rPr sz="2800" spc="-10" dirty="0">
                <a:latin typeface="Arial"/>
                <a:cs typeface="Arial"/>
              </a:rPr>
              <a:t>información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0" dirty="0">
                <a:latin typeface="Arial"/>
                <a:cs typeface="Arial"/>
              </a:rPr>
              <a:t>contenida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5" dirty="0">
                <a:latin typeface="Arial"/>
                <a:cs typeface="Arial"/>
              </a:rPr>
              <a:t>en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65" dirty="0">
                <a:latin typeface="Arial"/>
                <a:cs typeface="Arial"/>
              </a:rPr>
              <a:t>el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72393" y="1756155"/>
            <a:ext cx="49568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79880" algn="l"/>
                <a:tab pos="2228850" algn="l"/>
                <a:tab pos="3310254" algn="l"/>
                <a:tab pos="4503420" algn="l"/>
              </a:tabLst>
            </a:pPr>
            <a:r>
              <a:rPr sz="2800" spc="-10" dirty="0">
                <a:latin typeface="Arial"/>
                <a:cs typeface="Arial"/>
              </a:rPr>
              <a:t>conjunto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5" dirty="0">
                <a:latin typeface="Arial"/>
                <a:cs typeface="Arial"/>
              </a:rPr>
              <a:t>de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0" dirty="0">
                <a:latin typeface="Arial"/>
                <a:cs typeface="Arial"/>
              </a:rPr>
              <a:t>datos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0" dirty="0">
                <a:latin typeface="Arial"/>
                <a:cs typeface="Arial"/>
              </a:rPr>
              <a:t>pueda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35" dirty="0">
                <a:latin typeface="Arial"/>
                <a:cs typeface="Arial"/>
              </a:rPr>
              <a:t>ser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72393" y="2060955"/>
            <a:ext cx="49580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69439" algn="l"/>
                <a:tab pos="2219960" algn="l"/>
                <a:tab pos="3103880" algn="l"/>
                <a:tab pos="4579620" algn="l"/>
              </a:tabLst>
            </a:pPr>
            <a:r>
              <a:rPr sz="2800" spc="-10" dirty="0">
                <a:latin typeface="Arial"/>
                <a:cs typeface="Arial"/>
              </a:rPr>
              <a:t>descubierta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0" dirty="0">
                <a:latin typeface="Arial"/>
                <a:cs typeface="Arial"/>
              </a:rPr>
              <a:t>o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0" dirty="0">
                <a:latin typeface="Arial"/>
                <a:cs typeface="Arial"/>
              </a:rPr>
              <a:t>estar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0" dirty="0">
                <a:latin typeface="Arial"/>
                <a:cs typeface="Arial"/>
              </a:rPr>
              <a:t>accesible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05" dirty="0">
                <a:latin typeface="Arial"/>
                <a:cs typeface="Arial"/>
              </a:rPr>
              <a:t>de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72393" y="2353563"/>
            <a:ext cx="24441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90" dirty="0">
                <a:latin typeface="Arial"/>
                <a:cs typeface="Arial"/>
              </a:rPr>
              <a:t>forma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229" dirty="0">
                <a:latin typeface="Arial"/>
                <a:cs typeface="Arial"/>
              </a:rPr>
              <a:t>más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45" dirty="0">
                <a:latin typeface="Arial"/>
                <a:cs typeface="Arial"/>
              </a:rPr>
              <a:t>fácil.”</a:t>
            </a:r>
            <a:endParaRPr sz="2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08104" y="2859782"/>
            <a:ext cx="1752641" cy="227615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pc="-10" dirty="0"/>
              <a:t>Transformación</a:t>
            </a:r>
          </a:p>
          <a:p>
            <a:pPr marL="1365885">
              <a:lnSpc>
                <a:spcPct val="100000"/>
              </a:lnSpc>
              <a:spcBef>
                <a:spcPts val="745"/>
              </a:spcBef>
            </a:pPr>
            <a:r>
              <a:rPr sz="2800" dirty="0">
                <a:solidFill>
                  <a:srgbClr val="FF0000"/>
                </a:solidFill>
              </a:rPr>
              <a:t>Lenguaje</a:t>
            </a:r>
            <a:r>
              <a:rPr sz="2800" spc="-40" dirty="0">
                <a:solidFill>
                  <a:srgbClr val="FF0000"/>
                </a:solidFill>
              </a:rPr>
              <a:t> </a:t>
            </a:r>
            <a:r>
              <a:rPr sz="2800" spc="-25" dirty="0">
                <a:solidFill>
                  <a:srgbClr val="FF0000"/>
                </a:solidFill>
              </a:rPr>
              <a:t>R: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86643" y="271779"/>
            <a:ext cx="4141470" cy="2698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75" dirty="0">
                <a:latin typeface="Arial"/>
                <a:cs typeface="Arial"/>
              </a:rPr>
              <a:t>Lenguaje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programación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2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0" dirty="0">
                <a:latin typeface="Arial"/>
                <a:cs typeface="Arial"/>
              </a:rPr>
              <a:t>Interpretado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2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90" dirty="0">
                <a:latin typeface="Arial"/>
                <a:cs typeface="Arial"/>
              </a:rPr>
              <a:t>Estadística/Computación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45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70" dirty="0">
                <a:latin typeface="Arial"/>
                <a:cs typeface="Arial"/>
              </a:rPr>
              <a:t>Licencia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320" dirty="0">
                <a:latin typeface="Arial"/>
                <a:cs typeface="Arial"/>
              </a:rPr>
              <a:t>GNU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2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20" dirty="0">
                <a:latin typeface="Arial"/>
                <a:cs typeface="Arial"/>
              </a:rPr>
              <a:t>Instalación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295" dirty="0">
                <a:latin typeface="Arial"/>
                <a:cs typeface="Arial"/>
              </a:rPr>
              <a:t>R:</a:t>
            </a:r>
            <a:endParaRPr sz="2800">
              <a:latin typeface="Arial"/>
              <a:cs typeface="Arial"/>
            </a:endParaRPr>
          </a:p>
          <a:p>
            <a:pPr marL="755015" lvl="1" indent="-320675">
              <a:lnSpc>
                <a:spcPct val="100000"/>
              </a:lnSpc>
              <a:spcBef>
                <a:spcPts val="140"/>
              </a:spcBef>
              <a:buClr>
                <a:srgbClr val="000000"/>
              </a:buClr>
              <a:buFont typeface="Apple SD Gothic Neo Light"/>
              <a:buChar char="■"/>
              <a:tabLst>
                <a:tab pos="755015" algn="l"/>
              </a:tabLst>
            </a:pPr>
            <a:r>
              <a:rPr sz="28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https://cran.r-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29593" y="2822955"/>
            <a:ext cx="44577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u="heavy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project.org/bin/windows/base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86643" y="3085084"/>
            <a:ext cx="5257800" cy="168973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755650">
              <a:lnSpc>
                <a:spcPct val="100000"/>
              </a:lnSpc>
              <a:spcBef>
                <a:spcPts val="340"/>
              </a:spcBef>
            </a:pPr>
            <a:r>
              <a:rPr sz="2800" u="heavy" spc="2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/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2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20" dirty="0">
                <a:latin typeface="Arial"/>
                <a:cs typeface="Arial"/>
              </a:rPr>
              <a:t>Instalación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RStudio:</a:t>
            </a:r>
            <a:endParaRPr sz="2800">
              <a:latin typeface="Arial"/>
              <a:cs typeface="Arial"/>
            </a:endParaRPr>
          </a:p>
          <a:p>
            <a:pPr marL="755650" marR="5080" lvl="1" indent="-321310">
              <a:lnSpc>
                <a:spcPct val="71400"/>
              </a:lnSpc>
              <a:spcBef>
                <a:spcPts val="1105"/>
              </a:spcBef>
              <a:buClr>
                <a:srgbClr val="000000"/>
              </a:buClr>
              <a:buFont typeface="Apple SD Gothic Neo Light"/>
              <a:buChar char="■"/>
              <a:tabLst>
                <a:tab pos="755650" algn="l"/>
              </a:tabLst>
            </a:pPr>
            <a:r>
              <a:rPr sz="2800" u="heavy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https:</a:t>
            </a:r>
            <a:r>
              <a:rPr sz="2800" u="heavy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//www.rstudio.com/prod</a:t>
            </a:r>
            <a:r>
              <a:rPr sz="28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8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ucts/rstudio/download/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pc="-10" dirty="0"/>
              <a:t>Transformación</a:t>
            </a:r>
          </a:p>
          <a:p>
            <a:pPr marL="1689735">
              <a:lnSpc>
                <a:spcPct val="100000"/>
              </a:lnSpc>
              <a:spcBef>
                <a:spcPts val="745"/>
              </a:spcBef>
            </a:pPr>
            <a:r>
              <a:rPr sz="2800" spc="-10" dirty="0">
                <a:solidFill>
                  <a:srgbClr val="FF0000"/>
                </a:solidFill>
              </a:rPr>
              <a:t>Limpieza: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786643" y="271779"/>
            <a:ext cx="3274060" cy="17964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75" dirty="0">
                <a:latin typeface="Arial"/>
                <a:cs typeface="Arial"/>
              </a:rPr>
              <a:t>Data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55" dirty="0">
                <a:latin typeface="Arial"/>
                <a:cs typeface="Arial"/>
              </a:rPr>
              <a:t>Cleaning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2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75" dirty="0">
                <a:latin typeface="Arial"/>
                <a:cs typeface="Arial"/>
              </a:rPr>
              <a:t>Datos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incompletos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2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75" dirty="0">
                <a:latin typeface="Arial"/>
                <a:cs typeface="Arial"/>
              </a:rPr>
              <a:t>Datos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incorrectos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45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75" dirty="0">
                <a:latin typeface="Arial"/>
                <a:cs typeface="Arial"/>
              </a:rPr>
              <a:t>Datos</a:t>
            </a:r>
            <a:r>
              <a:rPr sz="2800" spc="-114" dirty="0">
                <a:latin typeface="Arial"/>
                <a:cs typeface="Arial"/>
              </a:rPr>
              <a:t> inconsistentes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5203954" y="2272244"/>
            <a:ext cx="1955800" cy="1487805"/>
            <a:chOff x="5203954" y="2272244"/>
            <a:chExt cx="1955800" cy="1487805"/>
          </a:xfrm>
        </p:grpSpPr>
        <p:sp>
          <p:nvSpPr>
            <p:cNvPr id="6" name="object 6"/>
            <p:cNvSpPr/>
            <p:nvPr/>
          </p:nvSpPr>
          <p:spPr>
            <a:xfrm>
              <a:off x="6181695" y="3287709"/>
              <a:ext cx="965200" cy="459740"/>
            </a:xfrm>
            <a:custGeom>
              <a:avLst/>
              <a:gdLst/>
              <a:ahLst/>
              <a:cxnLst/>
              <a:rect l="l" t="t" r="r" b="b"/>
              <a:pathLst>
                <a:path w="965200" h="459739">
                  <a:moveTo>
                    <a:pt x="0" y="0"/>
                  </a:moveTo>
                  <a:lnTo>
                    <a:pt x="0" y="312980"/>
                  </a:lnTo>
                  <a:lnTo>
                    <a:pt x="965040" y="312980"/>
                  </a:lnTo>
                  <a:lnTo>
                    <a:pt x="965040" y="459271"/>
                  </a:lnTo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216654" y="3287709"/>
              <a:ext cx="965200" cy="459740"/>
            </a:xfrm>
            <a:custGeom>
              <a:avLst/>
              <a:gdLst/>
              <a:ahLst/>
              <a:cxnLst/>
              <a:rect l="l" t="t" r="r" b="b"/>
              <a:pathLst>
                <a:path w="965200" h="459739">
                  <a:moveTo>
                    <a:pt x="965040" y="0"/>
                  </a:moveTo>
                  <a:lnTo>
                    <a:pt x="965040" y="312980"/>
                  </a:lnTo>
                  <a:lnTo>
                    <a:pt x="0" y="312980"/>
                  </a:lnTo>
                  <a:lnTo>
                    <a:pt x="0" y="459271"/>
                  </a:lnTo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92116" y="2284944"/>
              <a:ext cx="1579245" cy="1003300"/>
            </a:xfrm>
            <a:custGeom>
              <a:avLst/>
              <a:gdLst/>
              <a:ahLst/>
              <a:cxnLst/>
              <a:rect l="l" t="t" r="r" b="b"/>
              <a:pathLst>
                <a:path w="1579245" h="1003300">
                  <a:moveTo>
                    <a:pt x="1478881" y="0"/>
                  </a:moveTo>
                  <a:lnTo>
                    <a:pt x="100276" y="0"/>
                  </a:lnTo>
                  <a:lnTo>
                    <a:pt x="61244" y="7880"/>
                  </a:lnTo>
                  <a:lnTo>
                    <a:pt x="29370" y="29370"/>
                  </a:lnTo>
                  <a:lnTo>
                    <a:pt x="7880" y="61244"/>
                  </a:lnTo>
                  <a:lnTo>
                    <a:pt x="0" y="100276"/>
                  </a:lnTo>
                  <a:lnTo>
                    <a:pt x="0" y="902489"/>
                  </a:lnTo>
                  <a:lnTo>
                    <a:pt x="7880" y="941521"/>
                  </a:lnTo>
                  <a:lnTo>
                    <a:pt x="29370" y="973395"/>
                  </a:lnTo>
                  <a:lnTo>
                    <a:pt x="61244" y="994885"/>
                  </a:lnTo>
                  <a:lnTo>
                    <a:pt x="100276" y="1002765"/>
                  </a:lnTo>
                  <a:lnTo>
                    <a:pt x="1478881" y="1002765"/>
                  </a:lnTo>
                  <a:lnTo>
                    <a:pt x="1517913" y="994885"/>
                  </a:lnTo>
                  <a:lnTo>
                    <a:pt x="1549787" y="973395"/>
                  </a:lnTo>
                  <a:lnTo>
                    <a:pt x="1571277" y="941521"/>
                  </a:lnTo>
                  <a:lnTo>
                    <a:pt x="1579157" y="902489"/>
                  </a:lnTo>
                  <a:lnTo>
                    <a:pt x="1579157" y="100276"/>
                  </a:lnTo>
                  <a:lnTo>
                    <a:pt x="1571277" y="61244"/>
                  </a:lnTo>
                  <a:lnTo>
                    <a:pt x="1549787" y="29370"/>
                  </a:lnTo>
                  <a:lnTo>
                    <a:pt x="1517913" y="7880"/>
                  </a:lnTo>
                  <a:lnTo>
                    <a:pt x="1478881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92116" y="2284944"/>
              <a:ext cx="1579245" cy="1003300"/>
            </a:xfrm>
            <a:custGeom>
              <a:avLst/>
              <a:gdLst/>
              <a:ahLst/>
              <a:cxnLst/>
              <a:rect l="l" t="t" r="r" b="b"/>
              <a:pathLst>
                <a:path w="1579245" h="1003300">
                  <a:moveTo>
                    <a:pt x="0" y="100275"/>
                  </a:moveTo>
                  <a:lnTo>
                    <a:pt x="7880" y="61243"/>
                  </a:lnTo>
                  <a:lnTo>
                    <a:pt x="29370" y="29370"/>
                  </a:lnTo>
                  <a:lnTo>
                    <a:pt x="61243" y="7880"/>
                  </a:lnTo>
                  <a:lnTo>
                    <a:pt x="100275" y="0"/>
                  </a:lnTo>
                  <a:lnTo>
                    <a:pt x="1478881" y="0"/>
                  </a:lnTo>
                  <a:lnTo>
                    <a:pt x="1517913" y="7880"/>
                  </a:lnTo>
                  <a:lnTo>
                    <a:pt x="1549786" y="29370"/>
                  </a:lnTo>
                  <a:lnTo>
                    <a:pt x="1571276" y="61243"/>
                  </a:lnTo>
                  <a:lnTo>
                    <a:pt x="1579157" y="100275"/>
                  </a:lnTo>
                  <a:lnTo>
                    <a:pt x="1579157" y="902489"/>
                  </a:lnTo>
                  <a:lnTo>
                    <a:pt x="1571276" y="941521"/>
                  </a:lnTo>
                  <a:lnTo>
                    <a:pt x="1549786" y="973394"/>
                  </a:lnTo>
                  <a:lnTo>
                    <a:pt x="1517913" y="994884"/>
                  </a:lnTo>
                  <a:lnTo>
                    <a:pt x="1478881" y="1002765"/>
                  </a:lnTo>
                  <a:lnTo>
                    <a:pt x="100275" y="1002765"/>
                  </a:lnTo>
                  <a:lnTo>
                    <a:pt x="61243" y="994884"/>
                  </a:lnTo>
                  <a:lnTo>
                    <a:pt x="29370" y="973394"/>
                  </a:lnTo>
                  <a:lnTo>
                    <a:pt x="7880" y="941521"/>
                  </a:lnTo>
                  <a:lnTo>
                    <a:pt x="0" y="902489"/>
                  </a:lnTo>
                  <a:lnTo>
                    <a:pt x="0" y="10027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67578" y="2451633"/>
              <a:ext cx="1579245" cy="1003300"/>
            </a:xfrm>
            <a:custGeom>
              <a:avLst/>
              <a:gdLst/>
              <a:ahLst/>
              <a:cxnLst/>
              <a:rect l="l" t="t" r="r" b="b"/>
              <a:pathLst>
                <a:path w="1579245" h="1003300">
                  <a:moveTo>
                    <a:pt x="1478881" y="0"/>
                  </a:moveTo>
                  <a:lnTo>
                    <a:pt x="100276" y="0"/>
                  </a:lnTo>
                  <a:lnTo>
                    <a:pt x="61244" y="7880"/>
                  </a:lnTo>
                  <a:lnTo>
                    <a:pt x="29370" y="29369"/>
                  </a:lnTo>
                  <a:lnTo>
                    <a:pt x="7880" y="61243"/>
                  </a:lnTo>
                  <a:lnTo>
                    <a:pt x="0" y="100275"/>
                  </a:lnTo>
                  <a:lnTo>
                    <a:pt x="0" y="902488"/>
                  </a:lnTo>
                  <a:lnTo>
                    <a:pt x="7880" y="941520"/>
                  </a:lnTo>
                  <a:lnTo>
                    <a:pt x="29370" y="973394"/>
                  </a:lnTo>
                  <a:lnTo>
                    <a:pt x="61244" y="994883"/>
                  </a:lnTo>
                  <a:lnTo>
                    <a:pt x="100276" y="1002764"/>
                  </a:lnTo>
                  <a:lnTo>
                    <a:pt x="1478881" y="1002764"/>
                  </a:lnTo>
                  <a:lnTo>
                    <a:pt x="1517913" y="994883"/>
                  </a:lnTo>
                  <a:lnTo>
                    <a:pt x="1549787" y="973394"/>
                  </a:lnTo>
                  <a:lnTo>
                    <a:pt x="1571277" y="941520"/>
                  </a:lnTo>
                  <a:lnTo>
                    <a:pt x="1579157" y="902488"/>
                  </a:lnTo>
                  <a:lnTo>
                    <a:pt x="1579157" y="100275"/>
                  </a:lnTo>
                  <a:lnTo>
                    <a:pt x="1571277" y="61243"/>
                  </a:lnTo>
                  <a:lnTo>
                    <a:pt x="1549787" y="29369"/>
                  </a:lnTo>
                  <a:lnTo>
                    <a:pt x="1517913" y="7880"/>
                  </a:lnTo>
                  <a:lnTo>
                    <a:pt x="1478881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567578" y="2451633"/>
              <a:ext cx="1579245" cy="1003300"/>
            </a:xfrm>
            <a:custGeom>
              <a:avLst/>
              <a:gdLst/>
              <a:ahLst/>
              <a:cxnLst/>
              <a:rect l="l" t="t" r="r" b="b"/>
              <a:pathLst>
                <a:path w="1579245" h="1003300">
                  <a:moveTo>
                    <a:pt x="0" y="100275"/>
                  </a:moveTo>
                  <a:lnTo>
                    <a:pt x="7880" y="61243"/>
                  </a:lnTo>
                  <a:lnTo>
                    <a:pt x="29370" y="29370"/>
                  </a:lnTo>
                  <a:lnTo>
                    <a:pt x="61243" y="7880"/>
                  </a:lnTo>
                  <a:lnTo>
                    <a:pt x="100275" y="0"/>
                  </a:lnTo>
                  <a:lnTo>
                    <a:pt x="1478881" y="0"/>
                  </a:lnTo>
                  <a:lnTo>
                    <a:pt x="1517913" y="7880"/>
                  </a:lnTo>
                  <a:lnTo>
                    <a:pt x="1549786" y="29370"/>
                  </a:lnTo>
                  <a:lnTo>
                    <a:pt x="1571276" y="61243"/>
                  </a:lnTo>
                  <a:lnTo>
                    <a:pt x="1579157" y="100275"/>
                  </a:lnTo>
                  <a:lnTo>
                    <a:pt x="1579157" y="902489"/>
                  </a:lnTo>
                  <a:lnTo>
                    <a:pt x="1571276" y="941521"/>
                  </a:lnTo>
                  <a:lnTo>
                    <a:pt x="1549786" y="973394"/>
                  </a:lnTo>
                  <a:lnTo>
                    <a:pt x="1517913" y="994884"/>
                  </a:lnTo>
                  <a:lnTo>
                    <a:pt x="1478881" y="1002765"/>
                  </a:lnTo>
                  <a:lnTo>
                    <a:pt x="100275" y="1002765"/>
                  </a:lnTo>
                  <a:lnTo>
                    <a:pt x="61243" y="994884"/>
                  </a:lnTo>
                  <a:lnTo>
                    <a:pt x="29370" y="973394"/>
                  </a:lnTo>
                  <a:lnTo>
                    <a:pt x="7880" y="941521"/>
                  </a:lnTo>
                  <a:lnTo>
                    <a:pt x="0" y="902489"/>
                  </a:lnTo>
                  <a:lnTo>
                    <a:pt x="0" y="1002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916276" y="2769616"/>
            <a:ext cx="88265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10" dirty="0">
                <a:latin typeface="Arial"/>
                <a:cs typeface="Arial"/>
              </a:rPr>
              <a:t>Limpieza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414376" y="3734281"/>
            <a:ext cx="1780539" cy="1195070"/>
            <a:chOff x="4414376" y="3734281"/>
            <a:chExt cx="1780539" cy="1195070"/>
          </a:xfrm>
        </p:grpSpPr>
        <p:sp>
          <p:nvSpPr>
            <p:cNvPr id="14" name="object 14"/>
            <p:cNvSpPr/>
            <p:nvPr/>
          </p:nvSpPr>
          <p:spPr>
            <a:xfrm>
              <a:off x="4427076" y="3746981"/>
              <a:ext cx="1579245" cy="1003300"/>
            </a:xfrm>
            <a:custGeom>
              <a:avLst/>
              <a:gdLst/>
              <a:ahLst/>
              <a:cxnLst/>
              <a:rect l="l" t="t" r="r" b="b"/>
              <a:pathLst>
                <a:path w="1579245" h="1003300">
                  <a:moveTo>
                    <a:pt x="1478880" y="0"/>
                  </a:moveTo>
                  <a:lnTo>
                    <a:pt x="100275" y="0"/>
                  </a:lnTo>
                  <a:lnTo>
                    <a:pt x="61243" y="7880"/>
                  </a:lnTo>
                  <a:lnTo>
                    <a:pt x="29369" y="29369"/>
                  </a:lnTo>
                  <a:lnTo>
                    <a:pt x="7880" y="61243"/>
                  </a:lnTo>
                  <a:lnTo>
                    <a:pt x="0" y="100275"/>
                  </a:lnTo>
                  <a:lnTo>
                    <a:pt x="0" y="902488"/>
                  </a:lnTo>
                  <a:lnTo>
                    <a:pt x="7880" y="941520"/>
                  </a:lnTo>
                  <a:lnTo>
                    <a:pt x="29369" y="973394"/>
                  </a:lnTo>
                  <a:lnTo>
                    <a:pt x="61243" y="994884"/>
                  </a:lnTo>
                  <a:lnTo>
                    <a:pt x="100275" y="1002764"/>
                  </a:lnTo>
                  <a:lnTo>
                    <a:pt x="1478880" y="1002764"/>
                  </a:lnTo>
                  <a:lnTo>
                    <a:pt x="1517912" y="994884"/>
                  </a:lnTo>
                  <a:lnTo>
                    <a:pt x="1549786" y="973394"/>
                  </a:lnTo>
                  <a:lnTo>
                    <a:pt x="1571276" y="941520"/>
                  </a:lnTo>
                  <a:lnTo>
                    <a:pt x="1579156" y="902488"/>
                  </a:lnTo>
                  <a:lnTo>
                    <a:pt x="1579156" y="100275"/>
                  </a:lnTo>
                  <a:lnTo>
                    <a:pt x="1571276" y="61243"/>
                  </a:lnTo>
                  <a:lnTo>
                    <a:pt x="1549786" y="29369"/>
                  </a:lnTo>
                  <a:lnTo>
                    <a:pt x="1517912" y="7880"/>
                  </a:lnTo>
                  <a:lnTo>
                    <a:pt x="1478880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27076" y="3746981"/>
              <a:ext cx="1579245" cy="1003300"/>
            </a:xfrm>
            <a:custGeom>
              <a:avLst/>
              <a:gdLst/>
              <a:ahLst/>
              <a:cxnLst/>
              <a:rect l="l" t="t" r="r" b="b"/>
              <a:pathLst>
                <a:path w="1579245" h="1003300">
                  <a:moveTo>
                    <a:pt x="0" y="100275"/>
                  </a:moveTo>
                  <a:lnTo>
                    <a:pt x="7880" y="61243"/>
                  </a:lnTo>
                  <a:lnTo>
                    <a:pt x="29370" y="29370"/>
                  </a:lnTo>
                  <a:lnTo>
                    <a:pt x="61243" y="7880"/>
                  </a:lnTo>
                  <a:lnTo>
                    <a:pt x="100275" y="0"/>
                  </a:lnTo>
                  <a:lnTo>
                    <a:pt x="1478881" y="0"/>
                  </a:lnTo>
                  <a:lnTo>
                    <a:pt x="1517913" y="7880"/>
                  </a:lnTo>
                  <a:lnTo>
                    <a:pt x="1549786" y="29370"/>
                  </a:lnTo>
                  <a:lnTo>
                    <a:pt x="1571276" y="61243"/>
                  </a:lnTo>
                  <a:lnTo>
                    <a:pt x="1579157" y="100275"/>
                  </a:lnTo>
                  <a:lnTo>
                    <a:pt x="1579157" y="902489"/>
                  </a:lnTo>
                  <a:lnTo>
                    <a:pt x="1571276" y="941521"/>
                  </a:lnTo>
                  <a:lnTo>
                    <a:pt x="1549786" y="973394"/>
                  </a:lnTo>
                  <a:lnTo>
                    <a:pt x="1517913" y="994884"/>
                  </a:lnTo>
                  <a:lnTo>
                    <a:pt x="1478881" y="1002765"/>
                  </a:lnTo>
                  <a:lnTo>
                    <a:pt x="100275" y="1002765"/>
                  </a:lnTo>
                  <a:lnTo>
                    <a:pt x="61243" y="994884"/>
                  </a:lnTo>
                  <a:lnTo>
                    <a:pt x="29370" y="973394"/>
                  </a:lnTo>
                  <a:lnTo>
                    <a:pt x="7880" y="941521"/>
                  </a:lnTo>
                  <a:lnTo>
                    <a:pt x="0" y="902489"/>
                  </a:lnTo>
                  <a:lnTo>
                    <a:pt x="0" y="10027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602538" y="3913669"/>
              <a:ext cx="1579245" cy="1003300"/>
            </a:xfrm>
            <a:custGeom>
              <a:avLst/>
              <a:gdLst/>
              <a:ahLst/>
              <a:cxnLst/>
              <a:rect l="l" t="t" r="r" b="b"/>
              <a:pathLst>
                <a:path w="1579245" h="1003300">
                  <a:moveTo>
                    <a:pt x="1478880" y="0"/>
                  </a:moveTo>
                  <a:lnTo>
                    <a:pt x="100275" y="0"/>
                  </a:lnTo>
                  <a:lnTo>
                    <a:pt x="61243" y="7880"/>
                  </a:lnTo>
                  <a:lnTo>
                    <a:pt x="29369" y="29370"/>
                  </a:lnTo>
                  <a:lnTo>
                    <a:pt x="7880" y="61243"/>
                  </a:lnTo>
                  <a:lnTo>
                    <a:pt x="0" y="100275"/>
                  </a:lnTo>
                  <a:lnTo>
                    <a:pt x="0" y="902489"/>
                  </a:lnTo>
                  <a:lnTo>
                    <a:pt x="7880" y="941521"/>
                  </a:lnTo>
                  <a:lnTo>
                    <a:pt x="29369" y="973394"/>
                  </a:lnTo>
                  <a:lnTo>
                    <a:pt x="61243" y="994884"/>
                  </a:lnTo>
                  <a:lnTo>
                    <a:pt x="100275" y="1002764"/>
                  </a:lnTo>
                  <a:lnTo>
                    <a:pt x="1478880" y="1002764"/>
                  </a:lnTo>
                  <a:lnTo>
                    <a:pt x="1517912" y="994884"/>
                  </a:lnTo>
                  <a:lnTo>
                    <a:pt x="1549786" y="973394"/>
                  </a:lnTo>
                  <a:lnTo>
                    <a:pt x="1571276" y="941521"/>
                  </a:lnTo>
                  <a:lnTo>
                    <a:pt x="1579156" y="902489"/>
                  </a:lnTo>
                  <a:lnTo>
                    <a:pt x="1579156" y="100275"/>
                  </a:lnTo>
                  <a:lnTo>
                    <a:pt x="1571276" y="61243"/>
                  </a:lnTo>
                  <a:lnTo>
                    <a:pt x="1549786" y="29370"/>
                  </a:lnTo>
                  <a:lnTo>
                    <a:pt x="1517912" y="7880"/>
                  </a:lnTo>
                  <a:lnTo>
                    <a:pt x="1478880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602538" y="3913669"/>
              <a:ext cx="1579245" cy="1003300"/>
            </a:xfrm>
            <a:custGeom>
              <a:avLst/>
              <a:gdLst/>
              <a:ahLst/>
              <a:cxnLst/>
              <a:rect l="l" t="t" r="r" b="b"/>
              <a:pathLst>
                <a:path w="1579245" h="1003300">
                  <a:moveTo>
                    <a:pt x="0" y="100275"/>
                  </a:moveTo>
                  <a:lnTo>
                    <a:pt x="7880" y="61243"/>
                  </a:lnTo>
                  <a:lnTo>
                    <a:pt x="29370" y="29370"/>
                  </a:lnTo>
                  <a:lnTo>
                    <a:pt x="61243" y="7880"/>
                  </a:lnTo>
                  <a:lnTo>
                    <a:pt x="100275" y="0"/>
                  </a:lnTo>
                  <a:lnTo>
                    <a:pt x="1478881" y="0"/>
                  </a:lnTo>
                  <a:lnTo>
                    <a:pt x="1517913" y="7880"/>
                  </a:lnTo>
                  <a:lnTo>
                    <a:pt x="1549786" y="29370"/>
                  </a:lnTo>
                  <a:lnTo>
                    <a:pt x="1571276" y="61243"/>
                  </a:lnTo>
                  <a:lnTo>
                    <a:pt x="1579157" y="100275"/>
                  </a:lnTo>
                  <a:lnTo>
                    <a:pt x="1579157" y="902489"/>
                  </a:lnTo>
                  <a:lnTo>
                    <a:pt x="1571276" y="941521"/>
                  </a:lnTo>
                  <a:lnTo>
                    <a:pt x="1549786" y="973394"/>
                  </a:lnTo>
                  <a:lnTo>
                    <a:pt x="1517913" y="994884"/>
                  </a:lnTo>
                  <a:lnTo>
                    <a:pt x="1478881" y="1002765"/>
                  </a:lnTo>
                  <a:lnTo>
                    <a:pt x="100275" y="1002765"/>
                  </a:lnTo>
                  <a:lnTo>
                    <a:pt x="61243" y="994884"/>
                  </a:lnTo>
                  <a:lnTo>
                    <a:pt x="29370" y="973394"/>
                  </a:lnTo>
                  <a:lnTo>
                    <a:pt x="7880" y="941521"/>
                  </a:lnTo>
                  <a:lnTo>
                    <a:pt x="0" y="902489"/>
                  </a:lnTo>
                  <a:lnTo>
                    <a:pt x="0" y="1002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950347" y="4098544"/>
            <a:ext cx="884555" cy="58356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 indent="147955">
              <a:lnSpc>
                <a:spcPts val="2110"/>
              </a:lnSpc>
              <a:spcBef>
                <a:spcPts val="310"/>
              </a:spcBef>
            </a:pPr>
            <a:r>
              <a:rPr sz="1900" spc="-20" dirty="0">
                <a:latin typeface="Arial"/>
                <a:cs typeface="Arial"/>
              </a:rPr>
              <a:t>Datos </a:t>
            </a:r>
            <a:r>
              <a:rPr sz="1900" spc="-75" dirty="0">
                <a:latin typeface="Arial"/>
                <a:cs typeface="Arial"/>
              </a:rPr>
              <a:t>perdidos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344456" y="3734281"/>
            <a:ext cx="1780539" cy="1195070"/>
            <a:chOff x="6344456" y="3734281"/>
            <a:chExt cx="1780539" cy="1195070"/>
          </a:xfrm>
        </p:grpSpPr>
        <p:sp>
          <p:nvSpPr>
            <p:cNvPr id="20" name="object 20"/>
            <p:cNvSpPr/>
            <p:nvPr/>
          </p:nvSpPr>
          <p:spPr>
            <a:xfrm>
              <a:off x="6357156" y="3746981"/>
              <a:ext cx="1579245" cy="1003300"/>
            </a:xfrm>
            <a:custGeom>
              <a:avLst/>
              <a:gdLst/>
              <a:ahLst/>
              <a:cxnLst/>
              <a:rect l="l" t="t" r="r" b="b"/>
              <a:pathLst>
                <a:path w="1579245" h="1003300">
                  <a:moveTo>
                    <a:pt x="1478881" y="0"/>
                  </a:moveTo>
                  <a:lnTo>
                    <a:pt x="100276" y="0"/>
                  </a:lnTo>
                  <a:lnTo>
                    <a:pt x="61244" y="7880"/>
                  </a:lnTo>
                  <a:lnTo>
                    <a:pt x="29370" y="29369"/>
                  </a:lnTo>
                  <a:lnTo>
                    <a:pt x="7880" y="61243"/>
                  </a:lnTo>
                  <a:lnTo>
                    <a:pt x="0" y="100275"/>
                  </a:lnTo>
                  <a:lnTo>
                    <a:pt x="0" y="902488"/>
                  </a:lnTo>
                  <a:lnTo>
                    <a:pt x="7880" y="941520"/>
                  </a:lnTo>
                  <a:lnTo>
                    <a:pt x="29370" y="973394"/>
                  </a:lnTo>
                  <a:lnTo>
                    <a:pt x="61244" y="994884"/>
                  </a:lnTo>
                  <a:lnTo>
                    <a:pt x="100276" y="1002764"/>
                  </a:lnTo>
                  <a:lnTo>
                    <a:pt x="1478881" y="1002764"/>
                  </a:lnTo>
                  <a:lnTo>
                    <a:pt x="1517913" y="994884"/>
                  </a:lnTo>
                  <a:lnTo>
                    <a:pt x="1549787" y="973394"/>
                  </a:lnTo>
                  <a:lnTo>
                    <a:pt x="1571277" y="941520"/>
                  </a:lnTo>
                  <a:lnTo>
                    <a:pt x="1579157" y="902488"/>
                  </a:lnTo>
                  <a:lnTo>
                    <a:pt x="1579157" y="100275"/>
                  </a:lnTo>
                  <a:lnTo>
                    <a:pt x="1571277" y="61243"/>
                  </a:lnTo>
                  <a:lnTo>
                    <a:pt x="1549787" y="29369"/>
                  </a:lnTo>
                  <a:lnTo>
                    <a:pt x="1517913" y="7880"/>
                  </a:lnTo>
                  <a:lnTo>
                    <a:pt x="1478881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357156" y="3746981"/>
              <a:ext cx="1579245" cy="1003300"/>
            </a:xfrm>
            <a:custGeom>
              <a:avLst/>
              <a:gdLst/>
              <a:ahLst/>
              <a:cxnLst/>
              <a:rect l="l" t="t" r="r" b="b"/>
              <a:pathLst>
                <a:path w="1579245" h="1003300">
                  <a:moveTo>
                    <a:pt x="0" y="100275"/>
                  </a:moveTo>
                  <a:lnTo>
                    <a:pt x="7880" y="61243"/>
                  </a:lnTo>
                  <a:lnTo>
                    <a:pt x="29370" y="29370"/>
                  </a:lnTo>
                  <a:lnTo>
                    <a:pt x="61243" y="7880"/>
                  </a:lnTo>
                  <a:lnTo>
                    <a:pt x="100275" y="0"/>
                  </a:lnTo>
                  <a:lnTo>
                    <a:pt x="1478881" y="0"/>
                  </a:lnTo>
                  <a:lnTo>
                    <a:pt x="1517913" y="7880"/>
                  </a:lnTo>
                  <a:lnTo>
                    <a:pt x="1549786" y="29370"/>
                  </a:lnTo>
                  <a:lnTo>
                    <a:pt x="1571276" y="61243"/>
                  </a:lnTo>
                  <a:lnTo>
                    <a:pt x="1579157" y="100275"/>
                  </a:lnTo>
                  <a:lnTo>
                    <a:pt x="1579157" y="902489"/>
                  </a:lnTo>
                  <a:lnTo>
                    <a:pt x="1571276" y="941521"/>
                  </a:lnTo>
                  <a:lnTo>
                    <a:pt x="1549786" y="973394"/>
                  </a:lnTo>
                  <a:lnTo>
                    <a:pt x="1517913" y="994884"/>
                  </a:lnTo>
                  <a:lnTo>
                    <a:pt x="1478881" y="1002765"/>
                  </a:lnTo>
                  <a:lnTo>
                    <a:pt x="100275" y="1002765"/>
                  </a:lnTo>
                  <a:lnTo>
                    <a:pt x="61243" y="994884"/>
                  </a:lnTo>
                  <a:lnTo>
                    <a:pt x="29370" y="973394"/>
                  </a:lnTo>
                  <a:lnTo>
                    <a:pt x="7880" y="941521"/>
                  </a:lnTo>
                  <a:lnTo>
                    <a:pt x="0" y="902489"/>
                  </a:lnTo>
                  <a:lnTo>
                    <a:pt x="0" y="10027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532619" y="3913669"/>
              <a:ext cx="1579245" cy="1003300"/>
            </a:xfrm>
            <a:custGeom>
              <a:avLst/>
              <a:gdLst/>
              <a:ahLst/>
              <a:cxnLst/>
              <a:rect l="l" t="t" r="r" b="b"/>
              <a:pathLst>
                <a:path w="1579245" h="1003300">
                  <a:moveTo>
                    <a:pt x="1478880" y="0"/>
                  </a:moveTo>
                  <a:lnTo>
                    <a:pt x="100275" y="0"/>
                  </a:lnTo>
                  <a:lnTo>
                    <a:pt x="61243" y="7880"/>
                  </a:lnTo>
                  <a:lnTo>
                    <a:pt x="29369" y="29370"/>
                  </a:lnTo>
                  <a:lnTo>
                    <a:pt x="7880" y="61243"/>
                  </a:lnTo>
                  <a:lnTo>
                    <a:pt x="0" y="100275"/>
                  </a:lnTo>
                  <a:lnTo>
                    <a:pt x="0" y="902489"/>
                  </a:lnTo>
                  <a:lnTo>
                    <a:pt x="7880" y="941521"/>
                  </a:lnTo>
                  <a:lnTo>
                    <a:pt x="29369" y="973394"/>
                  </a:lnTo>
                  <a:lnTo>
                    <a:pt x="61243" y="994884"/>
                  </a:lnTo>
                  <a:lnTo>
                    <a:pt x="100275" y="1002764"/>
                  </a:lnTo>
                  <a:lnTo>
                    <a:pt x="1478880" y="1002764"/>
                  </a:lnTo>
                  <a:lnTo>
                    <a:pt x="1517912" y="994884"/>
                  </a:lnTo>
                  <a:lnTo>
                    <a:pt x="1549786" y="973394"/>
                  </a:lnTo>
                  <a:lnTo>
                    <a:pt x="1571276" y="941521"/>
                  </a:lnTo>
                  <a:lnTo>
                    <a:pt x="1579156" y="902489"/>
                  </a:lnTo>
                  <a:lnTo>
                    <a:pt x="1579156" y="100275"/>
                  </a:lnTo>
                  <a:lnTo>
                    <a:pt x="1571276" y="61243"/>
                  </a:lnTo>
                  <a:lnTo>
                    <a:pt x="1549786" y="29370"/>
                  </a:lnTo>
                  <a:lnTo>
                    <a:pt x="1517912" y="7880"/>
                  </a:lnTo>
                  <a:lnTo>
                    <a:pt x="1478880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532619" y="3913669"/>
              <a:ext cx="1579245" cy="1003300"/>
            </a:xfrm>
            <a:custGeom>
              <a:avLst/>
              <a:gdLst/>
              <a:ahLst/>
              <a:cxnLst/>
              <a:rect l="l" t="t" r="r" b="b"/>
              <a:pathLst>
                <a:path w="1579245" h="1003300">
                  <a:moveTo>
                    <a:pt x="0" y="100275"/>
                  </a:moveTo>
                  <a:lnTo>
                    <a:pt x="7880" y="61243"/>
                  </a:lnTo>
                  <a:lnTo>
                    <a:pt x="29370" y="29370"/>
                  </a:lnTo>
                  <a:lnTo>
                    <a:pt x="61243" y="7880"/>
                  </a:lnTo>
                  <a:lnTo>
                    <a:pt x="100275" y="0"/>
                  </a:lnTo>
                  <a:lnTo>
                    <a:pt x="1478881" y="0"/>
                  </a:lnTo>
                  <a:lnTo>
                    <a:pt x="1517913" y="7880"/>
                  </a:lnTo>
                  <a:lnTo>
                    <a:pt x="1549786" y="29370"/>
                  </a:lnTo>
                  <a:lnTo>
                    <a:pt x="1571276" y="61243"/>
                  </a:lnTo>
                  <a:lnTo>
                    <a:pt x="1579157" y="100275"/>
                  </a:lnTo>
                  <a:lnTo>
                    <a:pt x="1579157" y="902489"/>
                  </a:lnTo>
                  <a:lnTo>
                    <a:pt x="1571276" y="941521"/>
                  </a:lnTo>
                  <a:lnTo>
                    <a:pt x="1549786" y="973394"/>
                  </a:lnTo>
                  <a:lnTo>
                    <a:pt x="1517913" y="994884"/>
                  </a:lnTo>
                  <a:lnTo>
                    <a:pt x="1478881" y="1002765"/>
                  </a:lnTo>
                  <a:lnTo>
                    <a:pt x="100275" y="1002765"/>
                  </a:lnTo>
                  <a:lnTo>
                    <a:pt x="61243" y="994884"/>
                  </a:lnTo>
                  <a:lnTo>
                    <a:pt x="29370" y="973394"/>
                  </a:lnTo>
                  <a:lnTo>
                    <a:pt x="7880" y="941521"/>
                  </a:lnTo>
                  <a:lnTo>
                    <a:pt x="0" y="902489"/>
                  </a:lnTo>
                  <a:lnTo>
                    <a:pt x="0" y="10027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832039" y="3967479"/>
            <a:ext cx="980440" cy="84836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algn="ctr">
              <a:lnSpc>
                <a:spcPct val="92100"/>
              </a:lnSpc>
              <a:spcBef>
                <a:spcPts val="280"/>
              </a:spcBef>
            </a:pPr>
            <a:r>
              <a:rPr sz="1900" spc="-10" dirty="0">
                <a:latin typeface="Arial"/>
                <a:cs typeface="Arial"/>
              </a:rPr>
              <a:t>Datos </a:t>
            </a:r>
            <a:r>
              <a:rPr sz="1900" spc="-105" dirty="0">
                <a:latin typeface="Arial"/>
                <a:cs typeface="Arial"/>
              </a:rPr>
              <a:t>anómalos </a:t>
            </a:r>
            <a:r>
              <a:rPr sz="1900" spc="-10" dirty="0">
                <a:latin typeface="Arial"/>
                <a:cs typeface="Arial"/>
              </a:rPr>
              <a:t>(outliers)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pc="-10" dirty="0"/>
              <a:t>Transformación</a:t>
            </a:r>
          </a:p>
          <a:p>
            <a:pPr marL="1689735">
              <a:lnSpc>
                <a:spcPct val="100000"/>
              </a:lnSpc>
              <a:spcBef>
                <a:spcPts val="745"/>
              </a:spcBef>
            </a:pPr>
            <a:r>
              <a:rPr sz="2800" spc="-10" dirty="0">
                <a:solidFill>
                  <a:srgbClr val="FF0000"/>
                </a:solidFill>
              </a:rPr>
              <a:t>Limpieza: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85264" y="882916"/>
            <a:ext cx="5258735" cy="218043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893653" y="311403"/>
            <a:ext cx="1747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45" dirty="0">
                <a:solidFill>
                  <a:srgbClr val="044247"/>
                </a:solidFill>
                <a:latin typeface="Arial"/>
                <a:cs typeface="Arial"/>
              </a:rPr>
              <a:t>Ejemplo</a:t>
            </a:r>
            <a:r>
              <a:rPr sz="2800" spc="-90" dirty="0">
                <a:solidFill>
                  <a:srgbClr val="044247"/>
                </a:solidFill>
                <a:latin typeface="Arial"/>
                <a:cs typeface="Arial"/>
              </a:rPr>
              <a:t> </a:t>
            </a:r>
            <a:r>
              <a:rPr sz="2800" spc="-50" dirty="0">
                <a:solidFill>
                  <a:srgbClr val="044247"/>
                </a:solidFill>
                <a:latin typeface="Arial"/>
                <a:cs typeface="Arial"/>
              </a:rPr>
              <a:t>1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93653" y="3429508"/>
            <a:ext cx="3844925" cy="138493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3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45" dirty="0">
                <a:solidFill>
                  <a:srgbClr val="044247"/>
                </a:solidFill>
                <a:latin typeface="Arial"/>
                <a:cs typeface="Arial"/>
              </a:rPr>
              <a:t>Ejemplo</a:t>
            </a:r>
            <a:r>
              <a:rPr sz="2800" spc="-90" dirty="0">
                <a:solidFill>
                  <a:srgbClr val="044247"/>
                </a:solidFill>
                <a:latin typeface="Arial"/>
                <a:cs typeface="Arial"/>
              </a:rPr>
              <a:t> </a:t>
            </a:r>
            <a:r>
              <a:rPr sz="2800" spc="-50" dirty="0">
                <a:solidFill>
                  <a:srgbClr val="044247"/>
                </a:solidFill>
                <a:latin typeface="Arial"/>
                <a:cs typeface="Arial"/>
              </a:rPr>
              <a:t>2</a:t>
            </a:r>
            <a:endParaRPr sz="2800">
              <a:latin typeface="Arial"/>
              <a:cs typeface="Arial"/>
            </a:endParaRPr>
          </a:p>
          <a:p>
            <a:pPr marL="755015" lvl="1" indent="-320675">
              <a:lnSpc>
                <a:spcPct val="100000"/>
              </a:lnSpc>
              <a:spcBef>
                <a:spcPts val="240"/>
              </a:spcBef>
              <a:buFont typeface="Apple SD Gothic Neo Light"/>
              <a:buChar char="■"/>
              <a:tabLst>
                <a:tab pos="755015" algn="l"/>
              </a:tabLst>
            </a:pPr>
            <a:r>
              <a:rPr sz="2800" spc="-254" dirty="0">
                <a:latin typeface="Arial"/>
                <a:cs typeface="Arial"/>
              </a:rPr>
              <a:t>Edad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254" dirty="0">
                <a:latin typeface="Arial"/>
                <a:cs typeface="Arial"/>
              </a:rPr>
              <a:t>=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“42”</a:t>
            </a:r>
            <a:endParaRPr sz="2800">
              <a:latin typeface="Arial"/>
              <a:cs typeface="Arial"/>
            </a:endParaRPr>
          </a:p>
          <a:p>
            <a:pPr marL="755015" lvl="1" indent="-320675">
              <a:lnSpc>
                <a:spcPct val="100000"/>
              </a:lnSpc>
              <a:spcBef>
                <a:spcPts val="140"/>
              </a:spcBef>
              <a:buFont typeface="Apple SD Gothic Neo Light"/>
              <a:buChar char="■"/>
              <a:tabLst>
                <a:tab pos="755015" algn="l"/>
              </a:tabLst>
            </a:pPr>
            <a:r>
              <a:rPr sz="2800" spc="-285" dirty="0">
                <a:latin typeface="Arial"/>
                <a:cs typeface="Arial"/>
              </a:rPr>
              <a:t>FNac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254" dirty="0">
                <a:latin typeface="Arial"/>
                <a:cs typeface="Arial"/>
              </a:rPr>
              <a:t>=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“03/07/1997”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pc="-10" dirty="0"/>
              <a:t>Transformación</a:t>
            </a:r>
          </a:p>
          <a:p>
            <a:pPr marL="816610">
              <a:lnSpc>
                <a:spcPct val="100000"/>
              </a:lnSpc>
              <a:spcBef>
                <a:spcPts val="745"/>
              </a:spcBef>
            </a:pPr>
            <a:r>
              <a:rPr sz="2800" dirty="0">
                <a:solidFill>
                  <a:srgbClr val="FF0000"/>
                </a:solidFill>
              </a:rPr>
              <a:t>Datos</a:t>
            </a:r>
            <a:r>
              <a:rPr sz="2800" spc="-50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perdidos: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786643" y="302259"/>
            <a:ext cx="11391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50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59595" y="302259"/>
            <a:ext cx="6699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25" dirty="0">
                <a:latin typeface="Arial"/>
                <a:cs typeface="Arial"/>
              </a:rPr>
              <a:t>para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83731" y="302259"/>
            <a:ext cx="3646804" cy="741680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436245" marR="5080" indent="-424180">
              <a:lnSpc>
                <a:spcPct val="67900"/>
              </a:lnSpc>
              <a:spcBef>
                <a:spcPts val="1175"/>
              </a:spcBef>
              <a:tabLst>
                <a:tab pos="869950" algn="l"/>
                <a:tab pos="2221865" algn="l"/>
                <a:tab pos="3087370" algn="l"/>
              </a:tabLst>
            </a:pPr>
            <a:r>
              <a:rPr sz="2800" spc="-25" dirty="0">
                <a:latin typeface="Arial"/>
                <a:cs typeface="Arial"/>
              </a:rPr>
              <a:t>no</a:t>
            </a:r>
            <a:r>
              <a:rPr sz="2800" dirty="0">
                <a:latin typeface="Arial"/>
                <a:cs typeface="Arial"/>
              </a:rPr>
              <a:t>		</a:t>
            </a:r>
            <a:r>
              <a:rPr sz="2800" spc="-30" dirty="0">
                <a:latin typeface="Arial"/>
                <a:cs typeface="Arial"/>
              </a:rPr>
              <a:t>disponibles </a:t>
            </a:r>
            <a:r>
              <a:rPr sz="2800" spc="-10" dirty="0">
                <a:latin typeface="Arial"/>
                <a:cs typeface="Arial"/>
              </a:rPr>
              <a:t>variables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5" dirty="0">
                <a:latin typeface="Arial"/>
                <a:cs typeface="Arial"/>
              </a:rPr>
              <a:t>de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50" dirty="0">
                <a:latin typeface="Arial"/>
                <a:cs typeface="Arial"/>
              </a:rPr>
              <a:t>una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72393" y="591819"/>
            <a:ext cx="12585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14" dirty="0">
                <a:latin typeface="Arial"/>
                <a:cs typeface="Arial"/>
              </a:rPr>
              <a:t>alguna/s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72393" y="896619"/>
            <a:ext cx="13030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14" dirty="0">
                <a:latin typeface="Arial"/>
                <a:cs typeface="Arial"/>
              </a:rPr>
              <a:t>instancia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86643" y="1341628"/>
            <a:ext cx="14173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80" dirty="0">
                <a:latin typeface="Arial"/>
                <a:cs typeface="Arial"/>
              </a:rPr>
              <a:t>Filtrado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891968" y="2004800"/>
            <a:ext cx="5252085" cy="3138805"/>
            <a:chOff x="3891968" y="2004800"/>
            <a:chExt cx="5252085" cy="3138805"/>
          </a:xfrm>
        </p:grpSpPr>
        <p:sp>
          <p:nvSpPr>
            <p:cNvPr id="10" name="object 10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91968" y="2004800"/>
              <a:ext cx="5217160" cy="2082800"/>
            </a:xfrm>
            <a:custGeom>
              <a:avLst/>
              <a:gdLst/>
              <a:ahLst/>
              <a:cxnLst/>
              <a:rect l="l" t="t" r="r" b="b"/>
              <a:pathLst>
                <a:path w="5217159" h="2082800">
                  <a:moveTo>
                    <a:pt x="5216535" y="0"/>
                  </a:moveTo>
                  <a:lnTo>
                    <a:pt x="0" y="0"/>
                  </a:lnTo>
                  <a:lnTo>
                    <a:pt x="0" y="2082800"/>
                  </a:lnTo>
                  <a:lnTo>
                    <a:pt x="4041176" y="2082800"/>
                  </a:lnTo>
                  <a:lnTo>
                    <a:pt x="4026095" y="2070100"/>
                  </a:lnTo>
                  <a:lnTo>
                    <a:pt x="4015054" y="2057400"/>
                  </a:lnTo>
                  <a:lnTo>
                    <a:pt x="4008270" y="2044700"/>
                  </a:lnTo>
                  <a:lnTo>
                    <a:pt x="4005960" y="2032000"/>
                  </a:lnTo>
                  <a:lnTo>
                    <a:pt x="4007266" y="2019300"/>
                  </a:lnTo>
                  <a:lnTo>
                    <a:pt x="4011120" y="2019300"/>
                  </a:lnTo>
                  <a:lnTo>
                    <a:pt x="4017431" y="2006600"/>
                  </a:lnTo>
                  <a:lnTo>
                    <a:pt x="4026107" y="1993900"/>
                  </a:lnTo>
                  <a:lnTo>
                    <a:pt x="3979092" y="1955800"/>
                  </a:lnTo>
                  <a:lnTo>
                    <a:pt x="3940000" y="1917700"/>
                  </a:lnTo>
                  <a:lnTo>
                    <a:pt x="3909111" y="1879600"/>
                  </a:lnTo>
                  <a:lnTo>
                    <a:pt x="3886702" y="1828800"/>
                  </a:lnTo>
                  <a:lnTo>
                    <a:pt x="3873053" y="1778000"/>
                  </a:lnTo>
                  <a:lnTo>
                    <a:pt x="3868441" y="1739900"/>
                  </a:lnTo>
                  <a:lnTo>
                    <a:pt x="3871986" y="1689100"/>
                  </a:lnTo>
                  <a:lnTo>
                    <a:pt x="3882511" y="1651000"/>
                  </a:lnTo>
                  <a:lnTo>
                    <a:pt x="3899852" y="1612900"/>
                  </a:lnTo>
                  <a:lnTo>
                    <a:pt x="3923844" y="1574800"/>
                  </a:lnTo>
                  <a:lnTo>
                    <a:pt x="3954323" y="1536700"/>
                  </a:lnTo>
                  <a:lnTo>
                    <a:pt x="3991124" y="1498600"/>
                  </a:lnTo>
                  <a:lnTo>
                    <a:pt x="4034082" y="1473200"/>
                  </a:lnTo>
                  <a:lnTo>
                    <a:pt x="4083033" y="1435100"/>
                  </a:lnTo>
                  <a:lnTo>
                    <a:pt x="4121878" y="1409700"/>
                  </a:lnTo>
                  <a:lnTo>
                    <a:pt x="4162832" y="1397000"/>
                  </a:lnTo>
                  <a:lnTo>
                    <a:pt x="4205742" y="1384300"/>
                  </a:lnTo>
                  <a:lnTo>
                    <a:pt x="4250456" y="1358900"/>
                  </a:lnTo>
                  <a:lnTo>
                    <a:pt x="4344681" y="1333500"/>
                  </a:lnTo>
                  <a:lnTo>
                    <a:pt x="4393887" y="1333500"/>
                  </a:lnTo>
                  <a:lnTo>
                    <a:pt x="4444285" y="1320800"/>
                  </a:lnTo>
                  <a:lnTo>
                    <a:pt x="4495722" y="1320800"/>
                  </a:lnTo>
                  <a:lnTo>
                    <a:pt x="4548044" y="1308100"/>
                  </a:lnTo>
                  <a:lnTo>
                    <a:pt x="5216535" y="1308100"/>
                  </a:lnTo>
                  <a:lnTo>
                    <a:pt x="5216535" y="0"/>
                  </a:lnTo>
                  <a:close/>
                </a:path>
                <a:path w="5217159" h="2082800">
                  <a:moveTo>
                    <a:pt x="4702408" y="1346200"/>
                  </a:moveTo>
                  <a:lnTo>
                    <a:pt x="4479848" y="1346200"/>
                  </a:lnTo>
                  <a:lnTo>
                    <a:pt x="4421752" y="1358900"/>
                  </a:lnTo>
                  <a:lnTo>
                    <a:pt x="4311821" y="1384300"/>
                  </a:lnTo>
                  <a:lnTo>
                    <a:pt x="4260466" y="1397000"/>
                  </a:lnTo>
                  <a:lnTo>
                    <a:pt x="4211838" y="1422400"/>
                  </a:lnTo>
                  <a:lnTo>
                    <a:pt x="4166179" y="1435100"/>
                  </a:lnTo>
                  <a:lnTo>
                    <a:pt x="4123728" y="1460500"/>
                  </a:lnTo>
                  <a:lnTo>
                    <a:pt x="4084725" y="1485900"/>
                  </a:lnTo>
                  <a:lnTo>
                    <a:pt x="4049411" y="1511300"/>
                  </a:lnTo>
                  <a:lnTo>
                    <a:pt x="4018026" y="1536700"/>
                  </a:lnTo>
                  <a:lnTo>
                    <a:pt x="3968004" y="1600200"/>
                  </a:lnTo>
                  <a:lnTo>
                    <a:pt x="3949848" y="1625600"/>
                  </a:lnTo>
                  <a:lnTo>
                    <a:pt x="3936581" y="1663700"/>
                  </a:lnTo>
                  <a:lnTo>
                    <a:pt x="3928445" y="1701800"/>
                  </a:lnTo>
                  <a:lnTo>
                    <a:pt x="3925680" y="1739900"/>
                  </a:lnTo>
                  <a:lnTo>
                    <a:pt x="3929854" y="1778000"/>
                  </a:lnTo>
                  <a:lnTo>
                    <a:pt x="3942209" y="1816100"/>
                  </a:lnTo>
                  <a:lnTo>
                    <a:pt x="3962494" y="1866900"/>
                  </a:lnTo>
                  <a:lnTo>
                    <a:pt x="3990460" y="1905000"/>
                  </a:lnTo>
                  <a:lnTo>
                    <a:pt x="4025856" y="1943100"/>
                  </a:lnTo>
                  <a:lnTo>
                    <a:pt x="4068432" y="1968500"/>
                  </a:lnTo>
                  <a:lnTo>
                    <a:pt x="4172187" y="1968500"/>
                  </a:lnTo>
                  <a:lnTo>
                    <a:pt x="4192816" y="1981200"/>
                  </a:lnTo>
                  <a:lnTo>
                    <a:pt x="4211161" y="1981200"/>
                  </a:lnTo>
                  <a:lnTo>
                    <a:pt x="4226240" y="1993900"/>
                  </a:lnTo>
                  <a:lnTo>
                    <a:pt x="4237277" y="2006600"/>
                  </a:lnTo>
                  <a:lnTo>
                    <a:pt x="4244057" y="2019300"/>
                  </a:lnTo>
                  <a:lnTo>
                    <a:pt x="4246365" y="2032000"/>
                  </a:lnTo>
                  <a:lnTo>
                    <a:pt x="4244057" y="2044700"/>
                  </a:lnTo>
                  <a:lnTo>
                    <a:pt x="4237277" y="2057400"/>
                  </a:lnTo>
                  <a:lnTo>
                    <a:pt x="4226240" y="2070100"/>
                  </a:lnTo>
                  <a:lnTo>
                    <a:pt x="4211161" y="2082800"/>
                  </a:lnTo>
                  <a:lnTo>
                    <a:pt x="4876314" y="2082800"/>
                  </a:lnTo>
                  <a:lnTo>
                    <a:pt x="4978476" y="2057400"/>
                  </a:lnTo>
                  <a:lnTo>
                    <a:pt x="5030486" y="2032000"/>
                  </a:lnTo>
                  <a:lnTo>
                    <a:pt x="4491387" y="2032000"/>
                  </a:lnTo>
                  <a:lnTo>
                    <a:pt x="4485251" y="2019300"/>
                  </a:lnTo>
                  <a:lnTo>
                    <a:pt x="4483000" y="2019300"/>
                  </a:lnTo>
                  <a:lnTo>
                    <a:pt x="4483000" y="1993900"/>
                  </a:lnTo>
                  <a:lnTo>
                    <a:pt x="4308589" y="1993900"/>
                  </a:lnTo>
                  <a:lnTo>
                    <a:pt x="4301312" y="1981200"/>
                  </a:lnTo>
                  <a:lnTo>
                    <a:pt x="4169460" y="1905000"/>
                  </a:lnTo>
                  <a:lnTo>
                    <a:pt x="4161081" y="1905000"/>
                  </a:lnTo>
                  <a:lnTo>
                    <a:pt x="4163177" y="1892300"/>
                  </a:lnTo>
                  <a:lnTo>
                    <a:pt x="4169460" y="1892300"/>
                  </a:lnTo>
                  <a:lnTo>
                    <a:pt x="4208589" y="1866900"/>
                  </a:lnTo>
                  <a:lnTo>
                    <a:pt x="4194841" y="1854200"/>
                  </a:lnTo>
                  <a:lnTo>
                    <a:pt x="4182826" y="1828800"/>
                  </a:lnTo>
                  <a:lnTo>
                    <a:pt x="4172562" y="1816100"/>
                  </a:lnTo>
                  <a:lnTo>
                    <a:pt x="4164072" y="1803400"/>
                  </a:lnTo>
                  <a:lnTo>
                    <a:pt x="4093921" y="1803400"/>
                  </a:lnTo>
                  <a:lnTo>
                    <a:pt x="4083189" y="1790700"/>
                  </a:lnTo>
                  <a:lnTo>
                    <a:pt x="4080169" y="1790700"/>
                  </a:lnTo>
                  <a:lnTo>
                    <a:pt x="4080282" y="1689100"/>
                  </a:lnTo>
                  <a:lnTo>
                    <a:pt x="4082531" y="1676400"/>
                  </a:lnTo>
                  <a:lnTo>
                    <a:pt x="4088664" y="1676400"/>
                  </a:lnTo>
                  <a:lnTo>
                    <a:pt x="4097760" y="1663700"/>
                  </a:lnTo>
                  <a:lnTo>
                    <a:pt x="4164072" y="1663700"/>
                  </a:lnTo>
                  <a:lnTo>
                    <a:pt x="4172562" y="1651000"/>
                  </a:lnTo>
                  <a:lnTo>
                    <a:pt x="4182826" y="1638300"/>
                  </a:lnTo>
                  <a:lnTo>
                    <a:pt x="4194841" y="1625600"/>
                  </a:lnTo>
                  <a:lnTo>
                    <a:pt x="4208589" y="1600200"/>
                  </a:lnTo>
                  <a:lnTo>
                    <a:pt x="4164307" y="1574800"/>
                  </a:lnTo>
                  <a:lnTo>
                    <a:pt x="4161288" y="1574800"/>
                  </a:lnTo>
                  <a:lnTo>
                    <a:pt x="4161288" y="1562100"/>
                  </a:lnTo>
                  <a:lnTo>
                    <a:pt x="4164307" y="1562100"/>
                  </a:lnTo>
                  <a:lnTo>
                    <a:pt x="4296258" y="1485900"/>
                  </a:lnTo>
                  <a:lnTo>
                    <a:pt x="4483000" y="1485900"/>
                  </a:lnTo>
                  <a:lnTo>
                    <a:pt x="4483000" y="1447800"/>
                  </a:lnTo>
                  <a:lnTo>
                    <a:pt x="4485251" y="1447800"/>
                  </a:lnTo>
                  <a:lnTo>
                    <a:pt x="4491387" y="1435100"/>
                  </a:lnTo>
                  <a:lnTo>
                    <a:pt x="4955838" y="1435100"/>
                  </a:lnTo>
                  <a:lnTo>
                    <a:pt x="4958146" y="1422400"/>
                  </a:lnTo>
                  <a:lnTo>
                    <a:pt x="4964925" y="1409700"/>
                  </a:lnTo>
                  <a:lnTo>
                    <a:pt x="4975962" y="1397000"/>
                  </a:lnTo>
                  <a:lnTo>
                    <a:pt x="4991042" y="1384300"/>
                  </a:lnTo>
                  <a:lnTo>
                    <a:pt x="5009387" y="1371600"/>
                  </a:lnTo>
                  <a:lnTo>
                    <a:pt x="4839067" y="1371600"/>
                  </a:lnTo>
                  <a:lnTo>
                    <a:pt x="4836003" y="1358900"/>
                  </a:lnTo>
                  <a:lnTo>
                    <a:pt x="4735612" y="1358900"/>
                  </a:lnTo>
                  <a:lnTo>
                    <a:pt x="4702408" y="1346200"/>
                  </a:lnTo>
                  <a:close/>
                </a:path>
                <a:path w="5217159" h="2082800">
                  <a:moveTo>
                    <a:pt x="5216535" y="1968500"/>
                  </a:moveTo>
                  <a:lnTo>
                    <a:pt x="5211079" y="1968500"/>
                  </a:lnTo>
                  <a:lnTo>
                    <a:pt x="5190359" y="1981200"/>
                  </a:lnTo>
                  <a:lnTo>
                    <a:pt x="5168120" y="2006600"/>
                  </a:lnTo>
                  <a:lnTo>
                    <a:pt x="5144384" y="2019300"/>
                  </a:lnTo>
                  <a:lnTo>
                    <a:pt x="5092697" y="2044700"/>
                  </a:lnTo>
                  <a:lnTo>
                    <a:pt x="5036744" y="2070100"/>
                  </a:lnTo>
                  <a:lnTo>
                    <a:pt x="5007362" y="2082800"/>
                  </a:lnTo>
                  <a:lnTo>
                    <a:pt x="5216535" y="2082800"/>
                  </a:lnTo>
                  <a:lnTo>
                    <a:pt x="5216535" y="1968500"/>
                  </a:lnTo>
                  <a:close/>
                </a:path>
                <a:path w="5217159" h="2082800">
                  <a:moveTo>
                    <a:pt x="4170679" y="2057400"/>
                  </a:moveTo>
                  <a:lnTo>
                    <a:pt x="4081645" y="2057400"/>
                  </a:lnTo>
                  <a:lnTo>
                    <a:pt x="4091255" y="2070100"/>
                  </a:lnTo>
                  <a:lnTo>
                    <a:pt x="4161075" y="2070100"/>
                  </a:lnTo>
                  <a:lnTo>
                    <a:pt x="4170679" y="2057400"/>
                  </a:lnTo>
                  <a:close/>
                </a:path>
                <a:path w="5217159" h="2082800">
                  <a:moveTo>
                    <a:pt x="4184363" y="2044700"/>
                  </a:moveTo>
                  <a:lnTo>
                    <a:pt x="4067962" y="2044700"/>
                  </a:lnTo>
                  <a:lnTo>
                    <a:pt x="4073745" y="2057400"/>
                  </a:lnTo>
                  <a:lnTo>
                    <a:pt x="4178580" y="2057400"/>
                  </a:lnTo>
                  <a:lnTo>
                    <a:pt x="4184363" y="2044700"/>
                  </a:lnTo>
                  <a:close/>
                </a:path>
                <a:path w="5217159" h="2082800">
                  <a:moveTo>
                    <a:pt x="4189125" y="2032000"/>
                  </a:moveTo>
                  <a:lnTo>
                    <a:pt x="4063199" y="2032000"/>
                  </a:lnTo>
                  <a:lnTo>
                    <a:pt x="4064409" y="2044700"/>
                  </a:lnTo>
                  <a:lnTo>
                    <a:pt x="4187916" y="2044700"/>
                  </a:lnTo>
                  <a:lnTo>
                    <a:pt x="4189125" y="2032000"/>
                  </a:lnTo>
                  <a:close/>
                </a:path>
                <a:path w="5217159" h="2082800">
                  <a:moveTo>
                    <a:pt x="4184363" y="2019300"/>
                  </a:moveTo>
                  <a:lnTo>
                    <a:pt x="4067962" y="2019300"/>
                  </a:lnTo>
                  <a:lnTo>
                    <a:pt x="4064409" y="2032000"/>
                  </a:lnTo>
                  <a:lnTo>
                    <a:pt x="4187916" y="2032000"/>
                  </a:lnTo>
                  <a:lnTo>
                    <a:pt x="4184363" y="2019300"/>
                  </a:lnTo>
                  <a:close/>
                </a:path>
                <a:path w="5217159" h="2082800">
                  <a:moveTo>
                    <a:pt x="4826603" y="1955800"/>
                  </a:moveTo>
                  <a:lnTo>
                    <a:pt x="4800849" y="1968500"/>
                  </a:lnTo>
                  <a:lnTo>
                    <a:pt x="4774330" y="1981200"/>
                  </a:lnTo>
                  <a:lnTo>
                    <a:pt x="4719190" y="1981200"/>
                  </a:lnTo>
                  <a:lnTo>
                    <a:pt x="4719190" y="2019300"/>
                  </a:lnTo>
                  <a:lnTo>
                    <a:pt x="4716941" y="2019300"/>
                  </a:lnTo>
                  <a:lnTo>
                    <a:pt x="4710808" y="2032000"/>
                  </a:lnTo>
                  <a:lnTo>
                    <a:pt x="5030486" y="2032000"/>
                  </a:lnTo>
                  <a:lnTo>
                    <a:pt x="5078474" y="2006600"/>
                  </a:lnTo>
                  <a:lnTo>
                    <a:pt x="5100285" y="1993900"/>
                  </a:lnTo>
                  <a:lnTo>
                    <a:pt x="4878420" y="1993900"/>
                  </a:lnTo>
                  <a:lnTo>
                    <a:pt x="4871142" y="1981200"/>
                  </a:lnTo>
                  <a:lnTo>
                    <a:pt x="4826603" y="1955800"/>
                  </a:lnTo>
                  <a:close/>
                </a:path>
                <a:path w="5217159" h="2082800">
                  <a:moveTo>
                    <a:pt x="4170679" y="2006600"/>
                  </a:moveTo>
                  <a:lnTo>
                    <a:pt x="4081645" y="2006600"/>
                  </a:lnTo>
                  <a:lnTo>
                    <a:pt x="4073745" y="2019300"/>
                  </a:lnTo>
                  <a:lnTo>
                    <a:pt x="4178580" y="2019300"/>
                  </a:lnTo>
                  <a:lnTo>
                    <a:pt x="4170679" y="2006600"/>
                  </a:lnTo>
                  <a:close/>
                </a:path>
                <a:path w="5217159" h="2082800">
                  <a:moveTo>
                    <a:pt x="4138539" y="1993900"/>
                  </a:moveTo>
                  <a:lnTo>
                    <a:pt x="4113784" y="1993900"/>
                  </a:lnTo>
                  <a:lnTo>
                    <a:pt x="4102055" y="2006600"/>
                  </a:lnTo>
                  <a:lnTo>
                    <a:pt x="4150266" y="2006600"/>
                  </a:lnTo>
                  <a:lnTo>
                    <a:pt x="4138539" y="1993900"/>
                  </a:lnTo>
                  <a:close/>
                </a:path>
                <a:path w="5217159" h="2082800">
                  <a:moveTo>
                    <a:pt x="4661950" y="1968500"/>
                  </a:moveTo>
                  <a:lnTo>
                    <a:pt x="4540239" y="1968500"/>
                  </a:lnTo>
                  <a:lnTo>
                    <a:pt x="4540239" y="2006600"/>
                  </a:lnTo>
                  <a:lnTo>
                    <a:pt x="4661950" y="2006600"/>
                  </a:lnTo>
                  <a:lnTo>
                    <a:pt x="4661950" y="1968500"/>
                  </a:lnTo>
                  <a:close/>
                </a:path>
                <a:path w="5217159" h="2082800">
                  <a:moveTo>
                    <a:pt x="4375589" y="1955800"/>
                  </a:moveTo>
                  <a:lnTo>
                    <a:pt x="4331060" y="1981200"/>
                  </a:lnTo>
                  <a:lnTo>
                    <a:pt x="4323782" y="1993900"/>
                  </a:lnTo>
                  <a:lnTo>
                    <a:pt x="4483000" y="1993900"/>
                  </a:lnTo>
                  <a:lnTo>
                    <a:pt x="4483000" y="1981200"/>
                  </a:lnTo>
                  <a:lnTo>
                    <a:pt x="4427869" y="1981200"/>
                  </a:lnTo>
                  <a:lnTo>
                    <a:pt x="4401349" y="1968500"/>
                  </a:lnTo>
                  <a:lnTo>
                    <a:pt x="4375589" y="1955800"/>
                  </a:lnTo>
                  <a:close/>
                </a:path>
                <a:path w="5217159" h="2082800">
                  <a:moveTo>
                    <a:pt x="4955838" y="1435100"/>
                  </a:moveTo>
                  <a:lnTo>
                    <a:pt x="4710808" y="1435100"/>
                  </a:lnTo>
                  <a:lnTo>
                    <a:pt x="4716941" y="1447800"/>
                  </a:lnTo>
                  <a:lnTo>
                    <a:pt x="4719190" y="1447800"/>
                  </a:lnTo>
                  <a:lnTo>
                    <a:pt x="4719190" y="1485900"/>
                  </a:lnTo>
                  <a:lnTo>
                    <a:pt x="4905932" y="1485900"/>
                  </a:lnTo>
                  <a:lnTo>
                    <a:pt x="5037884" y="1562100"/>
                  </a:lnTo>
                  <a:lnTo>
                    <a:pt x="5040903" y="1562100"/>
                  </a:lnTo>
                  <a:lnTo>
                    <a:pt x="5040914" y="1574800"/>
                  </a:lnTo>
                  <a:lnTo>
                    <a:pt x="5037895" y="1574800"/>
                  </a:lnTo>
                  <a:lnTo>
                    <a:pt x="4993613" y="1600200"/>
                  </a:lnTo>
                  <a:lnTo>
                    <a:pt x="5007358" y="1625600"/>
                  </a:lnTo>
                  <a:lnTo>
                    <a:pt x="5019370" y="1638300"/>
                  </a:lnTo>
                  <a:lnTo>
                    <a:pt x="5029630" y="1651000"/>
                  </a:lnTo>
                  <a:lnTo>
                    <a:pt x="5038119" y="1663700"/>
                  </a:lnTo>
                  <a:lnTo>
                    <a:pt x="5104542" y="1663700"/>
                  </a:lnTo>
                  <a:lnTo>
                    <a:pt x="5113639" y="1676400"/>
                  </a:lnTo>
                  <a:lnTo>
                    <a:pt x="5119772" y="1676400"/>
                  </a:lnTo>
                  <a:lnTo>
                    <a:pt x="5122021" y="1689100"/>
                  </a:lnTo>
                  <a:lnTo>
                    <a:pt x="5122021" y="1790700"/>
                  </a:lnTo>
                  <a:lnTo>
                    <a:pt x="5119772" y="1790700"/>
                  </a:lnTo>
                  <a:lnTo>
                    <a:pt x="5113639" y="1803400"/>
                  </a:lnTo>
                  <a:lnTo>
                    <a:pt x="5038129" y="1803400"/>
                  </a:lnTo>
                  <a:lnTo>
                    <a:pt x="5029639" y="1816100"/>
                  </a:lnTo>
                  <a:lnTo>
                    <a:pt x="5019376" y="1828800"/>
                  </a:lnTo>
                  <a:lnTo>
                    <a:pt x="5007360" y="1854200"/>
                  </a:lnTo>
                  <a:lnTo>
                    <a:pt x="4993613" y="1866900"/>
                  </a:lnTo>
                  <a:lnTo>
                    <a:pt x="5032740" y="1892300"/>
                  </a:lnTo>
                  <a:lnTo>
                    <a:pt x="5039023" y="1892300"/>
                  </a:lnTo>
                  <a:lnTo>
                    <a:pt x="5041117" y="1905000"/>
                  </a:lnTo>
                  <a:lnTo>
                    <a:pt x="5032740" y="1905000"/>
                  </a:lnTo>
                  <a:lnTo>
                    <a:pt x="4900890" y="1981200"/>
                  </a:lnTo>
                  <a:lnTo>
                    <a:pt x="4893602" y="1993900"/>
                  </a:lnTo>
                  <a:lnTo>
                    <a:pt x="5100285" y="1993900"/>
                  </a:lnTo>
                  <a:lnTo>
                    <a:pt x="5122097" y="1981200"/>
                  </a:lnTo>
                  <a:lnTo>
                    <a:pt x="5161014" y="1955800"/>
                  </a:lnTo>
                  <a:lnTo>
                    <a:pt x="5216535" y="1892300"/>
                  </a:lnTo>
                  <a:lnTo>
                    <a:pt x="5216535" y="1574800"/>
                  </a:lnTo>
                  <a:lnTo>
                    <a:pt x="5181168" y="1536700"/>
                  </a:lnTo>
                  <a:lnTo>
                    <a:pt x="5150561" y="1511300"/>
                  </a:lnTo>
                  <a:lnTo>
                    <a:pt x="5133770" y="1498600"/>
                  </a:lnTo>
                  <a:lnTo>
                    <a:pt x="5009387" y="1498600"/>
                  </a:lnTo>
                  <a:lnTo>
                    <a:pt x="4991042" y="1485900"/>
                  </a:lnTo>
                  <a:lnTo>
                    <a:pt x="4975962" y="1473200"/>
                  </a:lnTo>
                  <a:lnTo>
                    <a:pt x="4964925" y="1460500"/>
                  </a:lnTo>
                  <a:lnTo>
                    <a:pt x="4958146" y="1447800"/>
                  </a:lnTo>
                  <a:lnTo>
                    <a:pt x="4955838" y="1435100"/>
                  </a:lnTo>
                  <a:close/>
                </a:path>
                <a:path w="5217159" h="2082800">
                  <a:moveTo>
                    <a:pt x="4675458" y="1955800"/>
                  </a:moveTo>
                  <a:lnTo>
                    <a:pt x="4526727" y="1955800"/>
                  </a:lnTo>
                  <a:lnTo>
                    <a:pt x="4533879" y="1968500"/>
                  </a:lnTo>
                  <a:lnTo>
                    <a:pt x="4668306" y="1968500"/>
                  </a:lnTo>
                  <a:lnTo>
                    <a:pt x="4675458" y="1955800"/>
                  </a:lnTo>
                  <a:close/>
                </a:path>
                <a:path w="5217159" h="2082800">
                  <a:moveTo>
                    <a:pt x="4784557" y="1930400"/>
                  </a:moveTo>
                  <a:lnTo>
                    <a:pt x="4417634" y="1930400"/>
                  </a:lnTo>
                  <a:lnTo>
                    <a:pt x="4449788" y="1943100"/>
                  </a:lnTo>
                  <a:lnTo>
                    <a:pt x="4483159" y="1955800"/>
                  </a:lnTo>
                  <a:lnTo>
                    <a:pt x="4719031" y="1955800"/>
                  </a:lnTo>
                  <a:lnTo>
                    <a:pt x="4752403" y="1943100"/>
                  </a:lnTo>
                  <a:lnTo>
                    <a:pt x="4784557" y="1930400"/>
                  </a:lnTo>
                  <a:close/>
                </a:path>
                <a:path w="5217159" h="2082800">
                  <a:moveTo>
                    <a:pt x="4937213" y="1879600"/>
                  </a:moveTo>
                  <a:lnTo>
                    <a:pt x="4264978" y="1879600"/>
                  </a:lnTo>
                  <a:lnTo>
                    <a:pt x="4230165" y="1905000"/>
                  </a:lnTo>
                  <a:lnTo>
                    <a:pt x="4316191" y="1943100"/>
                  </a:lnTo>
                  <a:lnTo>
                    <a:pt x="4351037" y="1930400"/>
                  </a:lnTo>
                  <a:lnTo>
                    <a:pt x="4359063" y="1930400"/>
                  </a:lnTo>
                  <a:lnTo>
                    <a:pt x="4368258" y="1917700"/>
                  </a:lnTo>
                  <a:lnTo>
                    <a:pt x="4943350" y="1917700"/>
                  </a:lnTo>
                  <a:lnTo>
                    <a:pt x="4972025" y="1905000"/>
                  </a:lnTo>
                  <a:lnTo>
                    <a:pt x="4937213" y="1879600"/>
                  </a:lnTo>
                  <a:close/>
                </a:path>
                <a:path w="5217159" h="2082800">
                  <a:moveTo>
                    <a:pt x="4943350" y="1917700"/>
                  </a:moveTo>
                  <a:lnTo>
                    <a:pt x="4833932" y="1917700"/>
                  </a:lnTo>
                  <a:lnTo>
                    <a:pt x="4843128" y="1930400"/>
                  </a:lnTo>
                  <a:lnTo>
                    <a:pt x="4851153" y="1930400"/>
                  </a:lnTo>
                  <a:lnTo>
                    <a:pt x="4885999" y="1943100"/>
                  </a:lnTo>
                  <a:lnTo>
                    <a:pt x="4943350" y="1917700"/>
                  </a:lnTo>
                  <a:close/>
                </a:path>
                <a:path w="5217159" h="2082800">
                  <a:moveTo>
                    <a:pt x="4824403" y="1917700"/>
                  </a:moveTo>
                  <a:lnTo>
                    <a:pt x="4377787" y="1917700"/>
                  </a:lnTo>
                  <a:lnTo>
                    <a:pt x="4386812" y="1930400"/>
                  </a:lnTo>
                  <a:lnTo>
                    <a:pt x="4815378" y="1930400"/>
                  </a:lnTo>
                  <a:lnTo>
                    <a:pt x="4824403" y="1917700"/>
                  </a:lnTo>
                  <a:close/>
                </a:path>
                <a:path w="5217159" h="2082800">
                  <a:moveTo>
                    <a:pt x="4928990" y="1866900"/>
                  </a:moveTo>
                  <a:lnTo>
                    <a:pt x="4273201" y="1866900"/>
                  </a:lnTo>
                  <a:lnTo>
                    <a:pt x="4270625" y="1879600"/>
                  </a:lnTo>
                  <a:lnTo>
                    <a:pt x="4931566" y="1879600"/>
                  </a:lnTo>
                  <a:lnTo>
                    <a:pt x="4928990" y="1866900"/>
                  </a:lnTo>
                  <a:close/>
                </a:path>
                <a:path w="5217159" h="2082800">
                  <a:moveTo>
                    <a:pt x="4538306" y="1600200"/>
                  </a:moveTo>
                  <a:lnTo>
                    <a:pt x="4272616" y="1600200"/>
                  </a:lnTo>
                  <a:lnTo>
                    <a:pt x="4268779" y="1612900"/>
                  </a:lnTo>
                  <a:lnTo>
                    <a:pt x="4250771" y="1625600"/>
                  </a:lnTo>
                  <a:lnTo>
                    <a:pt x="4235701" y="1651000"/>
                  </a:lnTo>
                  <a:lnTo>
                    <a:pt x="4223617" y="1663700"/>
                  </a:lnTo>
                  <a:lnTo>
                    <a:pt x="4214569" y="1689100"/>
                  </a:lnTo>
                  <a:lnTo>
                    <a:pt x="4210897" y="1689100"/>
                  </a:lnTo>
                  <a:lnTo>
                    <a:pt x="4204574" y="1701800"/>
                  </a:lnTo>
                  <a:lnTo>
                    <a:pt x="4137498" y="1701800"/>
                  </a:lnTo>
                  <a:lnTo>
                    <a:pt x="4137431" y="1765300"/>
                  </a:lnTo>
                  <a:lnTo>
                    <a:pt x="4196253" y="1765300"/>
                  </a:lnTo>
                  <a:lnTo>
                    <a:pt x="4204574" y="1778000"/>
                  </a:lnTo>
                  <a:lnTo>
                    <a:pt x="4214569" y="1778000"/>
                  </a:lnTo>
                  <a:lnTo>
                    <a:pt x="4223617" y="1803400"/>
                  </a:lnTo>
                  <a:lnTo>
                    <a:pt x="4235701" y="1816100"/>
                  </a:lnTo>
                  <a:lnTo>
                    <a:pt x="4250771" y="1841500"/>
                  </a:lnTo>
                  <a:lnTo>
                    <a:pt x="4268779" y="1854200"/>
                  </a:lnTo>
                  <a:lnTo>
                    <a:pt x="4272616" y="1866900"/>
                  </a:lnTo>
                  <a:lnTo>
                    <a:pt x="4538306" y="1866900"/>
                  </a:lnTo>
                  <a:lnTo>
                    <a:pt x="4481837" y="1854200"/>
                  </a:lnTo>
                  <a:lnTo>
                    <a:pt x="4433962" y="1828800"/>
                  </a:lnTo>
                  <a:lnTo>
                    <a:pt x="4396953" y="1803400"/>
                  </a:lnTo>
                  <a:lnTo>
                    <a:pt x="4373083" y="1765300"/>
                  </a:lnTo>
                  <a:lnTo>
                    <a:pt x="4364621" y="1739900"/>
                  </a:lnTo>
                  <a:lnTo>
                    <a:pt x="4373083" y="1701800"/>
                  </a:lnTo>
                  <a:lnTo>
                    <a:pt x="4396953" y="1663700"/>
                  </a:lnTo>
                  <a:lnTo>
                    <a:pt x="4433962" y="1638300"/>
                  </a:lnTo>
                  <a:lnTo>
                    <a:pt x="4481837" y="1612900"/>
                  </a:lnTo>
                  <a:lnTo>
                    <a:pt x="4538306" y="1600200"/>
                  </a:lnTo>
                  <a:close/>
                </a:path>
                <a:path w="5217159" h="2082800">
                  <a:moveTo>
                    <a:pt x="4929574" y="1600200"/>
                  </a:moveTo>
                  <a:lnTo>
                    <a:pt x="4663895" y="1600200"/>
                  </a:lnTo>
                  <a:lnTo>
                    <a:pt x="4720365" y="1612900"/>
                  </a:lnTo>
                  <a:lnTo>
                    <a:pt x="4768240" y="1638300"/>
                  </a:lnTo>
                  <a:lnTo>
                    <a:pt x="4805248" y="1663700"/>
                  </a:lnTo>
                  <a:lnTo>
                    <a:pt x="4829119" y="1701800"/>
                  </a:lnTo>
                  <a:lnTo>
                    <a:pt x="4837581" y="1739900"/>
                  </a:lnTo>
                  <a:lnTo>
                    <a:pt x="4829119" y="1765300"/>
                  </a:lnTo>
                  <a:lnTo>
                    <a:pt x="4805248" y="1803400"/>
                  </a:lnTo>
                  <a:lnTo>
                    <a:pt x="4768240" y="1828800"/>
                  </a:lnTo>
                  <a:lnTo>
                    <a:pt x="4720365" y="1854200"/>
                  </a:lnTo>
                  <a:lnTo>
                    <a:pt x="4663895" y="1866900"/>
                  </a:lnTo>
                  <a:lnTo>
                    <a:pt x="4929575" y="1866900"/>
                  </a:lnTo>
                  <a:lnTo>
                    <a:pt x="4933411" y="1854200"/>
                  </a:lnTo>
                  <a:lnTo>
                    <a:pt x="4951420" y="1841500"/>
                  </a:lnTo>
                  <a:lnTo>
                    <a:pt x="4966491" y="1816100"/>
                  </a:lnTo>
                  <a:lnTo>
                    <a:pt x="4978574" y="1803400"/>
                  </a:lnTo>
                  <a:lnTo>
                    <a:pt x="4987621" y="1778000"/>
                  </a:lnTo>
                  <a:lnTo>
                    <a:pt x="4997617" y="1778000"/>
                  </a:lnTo>
                  <a:lnTo>
                    <a:pt x="5005937" y="1765300"/>
                  </a:lnTo>
                  <a:lnTo>
                    <a:pt x="5064781" y="1765300"/>
                  </a:lnTo>
                  <a:lnTo>
                    <a:pt x="5064781" y="1701800"/>
                  </a:lnTo>
                  <a:lnTo>
                    <a:pt x="4997612" y="1701800"/>
                  </a:lnTo>
                  <a:lnTo>
                    <a:pt x="4991289" y="1689100"/>
                  </a:lnTo>
                  <a:lnTo>
                    <a:pt x="4987621" y="1689100"/>
                  </a:lnTo>
                  <a:lnTo>
                    <a:pt x="4978569" y="1663700"/>
                  </a:lnTo>
                  <a:lnTo>
                    <a:pt x="4966486" y="1651000"/>
                  </a:lnTo>
                  <a:lnTo>
                    <a:pt x="4951418" y="1625600"/>
                  </a:lnTo>
                  <a:lnTo>
                    <a:pt x="4933411" y="1612900"/>
                  </a:lnTo>
                  <a:lnTo>
                    <a:pt x="4929574" y="1600200"/>
                  </a:lnTo>
                  <a:close/>
                </a:path>
                <a:path w="5217159" h="2082800">
                  <a:moveTo>
                    <a:pt x="4601100" y="1625600"/>
                  </a:moveTo>
                  <a:lnTo>
                    <a:pt x="4544505" y="1638300"/>
                  </a:lnTo>
                  <a:lnTo>
                    <a:pt x="4495309" y="1651000"/>
                  </a:lnTo>
                  <a:lnTo>
                    <a:pt x="4456487" y="1676400"/>
                  </a:lnTo>
                  <a:lnTo>
                    <a:pt x="4421859" y="1739900"/>
                  </a:lnTo>
                  <a:lnTo>
                    <a:pt x="4431012" y="1765300"/>
                  </a:lnTo>
                  <a:lnTo>
                    <a:pt x="4456487" y="1790700"/>
                  </a:lnTo>
                  <a:lnTo>
                    <a:pt x="4495309" y="1816100"/>
                  </a:lnTo>
                  <a:lnTo>
                    <a:pt x="4544505" y="1828800"/>
                  </a:lnTo>
                  <a:lnTo>
                    <a:pt x="4601100" y="1841500"/>
                  </a:lnTo>
                  <a:lnTo>
                    <a:pt x="4657696" y="1828800"/>
                  </a:lnTo>
                  <a:lnTo>
                    <a:pt x="4706892" y="1816100"/>
                  </a:lnTo>
                  <a:lnTo>
                    <a:pt x="4745714" y="1790700"/>
                  </a:lnTo>
                  <a:lnTo>
                    <a:pt x="4771189" y="1765300"/>
                  </a:lnTo>
                  <a:lnTo>
                    <a:pt x="4780342" y="1739900"/>
                  </a:lnTo>
                  <a:lnTo>
                    <a:pt x="4771189" y="1701800"/>
                  </a:lnTo>
                  <a:lnTo>
                    <a:pt x="4745714" y="1676400"/>
                  </a:lnTo>
                  <a:lnTo>
                    <a:pt x="4706892" y="1651000"/>
                  </a:lnTo>
                  <a:lnTo>
                    <a:pt x="4657696" y="1638300"/>
                  </a:lnTo>
                  <a:lnTo>
                    <a:pt x="4601100" y="1625600"/>
                  </a:lnTo>
                  <a:close/>
                </a:path>
                <a:path w="5217159" h="2082800">
                  <a:moveTo>
                    <a:pt x="4316482" y="1524000"/>
                  </a:moveTo>
                  <a:lnTo>
                    <a:pt x="4230389" y="1574800"/>
                  </a:lnTo>
                  <a:lnTo>
                    <a:pt x="4264978" y="1587500"/>
                  </a:lnTo>
                  <a:lnTo>
                    <a:pt x="4270625" y="1600200"/>
                  </a:lnTo>
                  <a:lnTo>
                    <a:pt x="4931561" y="1600200"/>
                  </a:lnTo>
                  <a:lnTo>
                    <a:pt x="4937213" y="1587500"/>
                  </a:lnTo>
                  <a:lnTo>
                    <a:pt x="4971802" y="1574800"/>
                  </a:lnTo>
                  <a:lnTo>
                    <a:pt x="4928755" y="1549400"/>
                  </a:lnTo>
                  <a:lnTo>
                    <a:pt x="4359061" y="1549400"/>
                  </a:lnTo>
                  <a:lnTo>
                    <a:pt x="4351037" y="1536700"/>
                  </a:lnTo>
                  <a:lnTo>
                    <a:pt x="4316482" y="1524000"/>
                  </a:lnTo>
                  <a:close/>
                </a:path>
                <a:path w="5217159" h="2082800">
                  <a:moveTo>
                    <a:pt x="4719033" y="1511300"/>
                  </a:moveTo>
                  <a:lnTo>
                    <a:pt x="4483153" y="1511300"/>
                  </a:lnTo>
                  <a:lnTo>
                    <a:pt x="4449779" y="1524000"/>
                  </a:lnTo>
                  <a:lnTo>
                    <a:pt x="4417627" y="1536700"/>
                  </a:lnTo>
                  <a:lnTo>
                    <a:pt x="4386812" y="1549400"/>
                  </a:lnTo>
                  <a:lnTo>
                    <a:pt x="4815378" y="1549400"/>
                  </a:lnTo>
                  <a:lnTo>
                    <a:pt x="4784561" y="1536700"/>
                  </a:lnTo>
                  <a:lnTo>
                    <a:pt x="4752407" y="1524000"/>
                  </a:lnTo>
                  <a:lnTo>
                    <a:pt x="4719033" y="1511300"/>
                  </a:lnTo>
                  <a:close/>
                </a:path>
                <a:path w="5217159" h="2082800">
                  <a:moveTo>
                    <a:pt x="4885709" y="1524000"/>
                  </a:moveTo>
                  <a:lnTo>
                    <a:pt x="4851142" y="1536700"/>
                  </a:lnTo>
                  <a:lnTo>
                    <a:pt x="4843123" y="1549400"/>
                  </a:lnTo>
                  <a:lnTo>
                    <a:pt x="4928755" y="1549400"/>
                  </a:lnTo>
                  <a:lnTo>
                    <a:pt x="4885709" y="1524000"/>
                  </a:lnTo>
                  <a:close/>
                </a:path>
                <a:path w="5217159" h="2082800">
                  <a:moveTo>
                    <a:pt x="4455103" y="1485900"/>
                  </a:moveTo>
                  <a:lnTo>
                    <a:pt x="4336728" y="1485900"/>
                  </a:lnTo>
                  <a:lnTo>
                    <a:pt x="4375599" y="1511300"/>
                  </a:lnTo>
                  <a:lnTo>
                    <a:pt x="4401353" y="1498600"/>
                  </a:lnTo>
                  <a:lnTo>
                    <a:pt x="4427871" y="1498600"/>
                  </a:lnTo>
                  <a:lnTo>
                    <a:pt x="4455103" y="1485900"/>
                  </a:lnTo>
                  <a:close/>
                </a:path>
                <a:path w="5217159" h="2082800">
                  <a:moveTo>
                    <a:pt x="4663627" y="1498600"/>
                  </a:moveTo>
                  <a:lnTo>
                    <a:pt x="4538561" y="1498600"/>
                  </a:lnTo>
                  <a:lnTo>
                    <a:pt x="4533879" y="1511300"/>
                  </a:lnTo>
                  <a:lnTo>
                    <a:pt x="4668306" y="1511300"/>
                  </a:lnTo>
                  <a:lnTo>
                    <a:pt x="4663627" y="1498600"/>
                  </a:lnTo>
                  <a:close/>
                </a:path>
                <a:path w="5217159" h="2082800">
                  <a:moveTo>
                    <a:pt x="4865462" y="1485900"/>
                  </a:moveTo>
                  <a:lnTo>
                    <a:pt x="4747094" y="1485900"/>
                  </a:lnTo>
                  <a:lnTo>
                    <a:pt x="4774330" y="1498600"/>
                  </a:lnTo>
                  <a:lnTo>
                    <a:pt x="4800849" y="1498600"/>
                  </a:lnTo>
                  <a:lnTo>
                    <a:pt x="4826603" y="1511300"/>
                  </a:lnTo>
                  <a:lnTo>
                    <a:pt x="4865462" y="1485900"/>
                  </a:lnTo>
                  <a:close/>
                </a:path>
                <a:path w="5217159" h="2082800">
                  <a:moveTo>
                    <a:pt x="5216535" y="1308100"/>
                  </a:moveTo>
                  <a:lnTo>
                    <a:pt x="4637886" y="1308100"/>
                  </a:lnTo>
                  <a:lnTo>
                    <a:pt x="4674541" y="1320800"/>
                  </a:lnTo>
                  <a:lnTo>
                    <a:pt x="4757423" y="1320800"/>
                  </a:lnTo>
                  <a:lnTo>
                    <a:pt x="4765124" y="1333500"/>
                  </a:lnTo>
                  <a:lnTo>
                    <a:pt x="4769333" y="1333500"/>
                  </a:lnTo>
                  <a:lnTo>
                    <a:pt x="4769331" y="1346200"/>
                  </a:lnTo>
                  <a:lnTo>
                    <a:pt x="4890190" y="1346200"/>
                  </a:lnTo>
                  <a:lnTo>
                    <a:pt x="4893242" y="1358900"/>
                  </a:lnTo>
                  <a:lnTo>
                    <a:pt x="4890179" y="1371600"/>
                  </a:lnTo>
                  <a:lnTo>
                    <a:pt x="5142692" y="1371600"/>
                  </a:lnTo>
                  <a:lnTo>
                    <a:pt x="5161037" y="1384300"/>
                  </a:lnTo>
                  <a:lnTo>
                    <a:pt x="5185122" y="1409700"/>
                  </a:lnTo>
                  <a:lnTo>
                    <a:pt x="5195654" y="1422400"/>
                  </a:lnTo>
                  <a:lnTo>
                    <a:pt x="5192636" y="1447800"/>
                  </a:lnTo>
                  <a:lnTo>
                    <a:pt x="5176072" y="1473200"/>
                  </a:lnTo>
                  <a:lnTo>
                    <a:pt x="5216535" y="1511300"/>
                  </a:lnTo>
                  <a:lnTo>
                    <a:pt x="5216535" y="1308100"/>
                  </a:lnTo>
                  <a:close/>
                </a:path>
                <a:path w="5217159" h="2082800">
                  <a:moveTo>
                    <a:pt x="4661950" y="1473200"/>
                  </a:moveTo>
                  <a:lnTo>
                    <a:pt x="4540239" y="1473200"/>
                  </a:lnTo>
                  <a:lnTo>
                    <a:pt x="4540239" y="1498600"/>
                  </a:lnTo>
                  <a:lnTo>
                    <a:pt x="4661950" y="1498600"/>
                  </a:lnTo>
                  <a:lnTo>
                    <a:pt x="4661950" y="1473200"/>
                  </a:lnTo>
                  <a:close/>
                </a:path>
                <a:path w="5217159" h="2082800">
                  <a:moveTo>
                    <a:pt x="5110956" y="1460500"/>
                  </a:moveTo>
                  <a:lnTo>
                    <a:pt x="5041126" y="1460500"/>
                  </a:lnTo>
                  <a:lnTo>
                    <a:pt x="5051928" y="1473200"/>
                  </a:lnTo>
                  <a:lnTo>
                    <a:pt x="5100148" y="1473200"/>
                  </a:lnTo>
                  <a:lnTo>
                    <a:pt x="5110956" y="1460500"/>
                  </a:lnTo>
                  <a:close/>
                </a:path>
                <a:path w="5217159" h="2082800">
                  <a:moveTo>
                    <a:pt x="5120567" y="1409700"/>
                  </a:moveTo>
                  <a:lnTo>
                    <a:pt x="5023622" y="1409700"/>
                  </a:lnTo>
                  <a:lnTo>
                    <a:pt x="5017838" y="1422400"/>
                  </a:lnTo>
                  <a:lnTo>
                    <a:pt x="5014285" y="1422400"/>
                  </a:lnTo>
                  <a:lnTo>
                    <a:pt x="5013076" y="1435100"/>
                  </a:lnTo>
                  <a:lnTo>
                    <a:pt x="5014285" y="1447800"/>
                  </a:lnTo>
                  <a:lnTo>
                    <a:pt x="5017838" y="1447800"/>
                  </a:lnTo>
                  <a:lnTo>
                    <a:pt x="5023622" y="1460500"/>
                  </a:lnTo>
                  <a:lnTo>
                    <a:pt x="5120567" y="1460500"/>
                  </a:lnTo>
                  <a:lnTo>
                    <a:pt x="5134370" y="1447800"/>
                  </a:lnTo>
                  <a:lnTo>
                    <a:pt x="5138971" y="1435100"/>
                  </a:lnTo>
                  <a:lnTo>
                    <a:pt x="5134370" y="1422400"/>
                  </a:lnTo>
                  <a:lnTo>
                    <a:pt x="5120567" y="1409700"/>
                  </a:lnTo>
                  <a:close/>
                </a:path>
                <a:path w="5217159" h="2082800">
                  <a:moveTo>
                    <a:pt x="5100148" y="1397000"/>
                  </a:moveTo>
                  <a:lnTo>
                    <a:pt x="5051932" y="1397000"/>
                  </a:lnTo>
                  <a:lnTo>
                    <a:pt x="5041127" y="1409700"/>
                  </a:lnTo>
                  <a:lnTo>
                    <a:pt x="5110956" y="1409700"/>
                  </a:lnTo>
                  <a:lnTo>
                    <a:pt x="5100148" y="1397000"/>
                  </a:lnTo>
                  <a:close/>
                </a:path>
                <a:path w="5217159" h="2082800">
                  <a:moveTo>
                    <a:pt x="4839067" y="1346200"/>
                  </a:moveTo>
                  <a:lnTo>
                    <a:pt x="4757100" y="1346200"/>
                  </a:lnTo>
                  <a:lnTo>
                    <a:pt x="4746968" y="1358900"/>
                  </a:lnTo>
                  <a:lnTo>
                    <a:pt x="4836003" y="1358900"/>
                  </a:lnTo>
                  <a:lnTo>
                    <a:pt x="4839067" y="134620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915">
              <a:lnSpc>
                <a:spcPct val="100000"/>
              </a:lnSpc>
              <a:spcBef>
                <a:spcPts val="100"/>
              </a:spcBef>
            </a:pPr>
            <a:r>
              <a:rPr dirty="0"/>
              <a:t>datos</a:t>
            </a:r>
            <a:r>
              <a:rPr spc="-40" dirty="0"/>
              <a:t> </a:t>
            </a:r>
            <a:r>
              <a:rPr dirty="0"/>
              <a:t>&lt;-</a:t>
            </a:r>
            <a:r>
              <a:rPr spc="-35" dirty="0"/>
              <a:t> </a:t>
            </a:r>
            <a:r>
              <a:rPr spc="-10" dirty="0"/>
              <a:t>data(“iris”)</a:t>
            </a:r>
          </a:p>
          <a:p>
            <a:pPr marL="208915" marR="5080">
              <a:lnSpc>
                <a:spcPts val="2020"/>
              </a:lnSpc>
              <a:spcBef>
                <a:spcPts val="1910"/>
              </a:spcBef>
            </a:pPr>
            <a:r>
              <a:rPr dirty="0"/>
              <a:t>res</a:t>
            </a:r>
            <a:r>
              <a:rPr spc="-60" dirty="0"/>
              <a:t> </a:t>
            </a:r>
            <a:r>
              <a:rPr dirty="0"/>
              <a:t>&lt;-</a:t>
            </a:r>
            <a:r>
              <a:rPr spc="-50" dirty="0"/>
              <a:t> </a:t>
            </a:r>
            <a:r>
              <a:rPr dirty="0"/>
              <a:t>apply(datos,</a:t>
            </a:r>
            <a:r>
              <a:rPr spc="-50" dirty="0"/>
              <a:t> </a:t>
            </a:r>
            <a:r>
              <a:rPr dirty="0"/>
              <a:t>1,</a:t>
            </a:r>
            <a:r>
              <a:rPr spc="-45" dirty="0"/>
              <a:t> </a:t>
            </a:r>
            <a:r>
              <a:rPr spc="-10" dirty="0"/>
              <a:t>function(x) </a:t>
            </a:r>
            <a:r>
              <a:rPr dirty="0"/>
              <a:t>sum(is.na(x)))</a:t>
            </a:r>
            <a:r>
              <a:rPr spc="-7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dirty="0"/>
              <a:t>ncol(datos)</a:t>
            </a:r>
            <a:r>
              <a:rPr spc="-70" dirty="0"/>
              <a:t> </a:t>
            </a:r>
            <a:r>
              <a:rPr dirty="0"/>
              <a:t>*</a:t>
            </a:r>
            <a:r>
              <a:rPr spc="-70" dirty="0"/>
              <a:t> </a:t>
            </a:r>
            <a:r>
              <a:rPr spc="-25" dirty="0"/>
              <a:t>100</a:t>
            </a:r>
          </a:p>
          <a:p>
            <a:pPr marL="208915" marR="1233805">
              <a:lnSpc>
                <a:spcPts val="3910"/>
              </a:lnSpc>
              <a:spcBef>
                <a:spcPts val="254"/>
              </a:spcBef>
            </a:pPr>
            <a:r>
              <a:rPr dirty="0"/>
              <a:t>mal</a:t>
            </a:r>
            <a:r>
              <a:rPr spc="-30" dirty="0"/>
              <a:t> </a:t>
            </a:r>
            <a:r>
              <a:rPr dirty="0"/>
              <a:t>&lt;-</a:t>
            </a:r>
            <a:r>
              <a:rPr spc="-30" dirty="0"/>
              <a:t> </a:t>
            </a:r>
            <a:r>
              <a:rPr dirty="0"/>
              <a:t>(res</a:t>
            </a:r>
            <a:r>
              <a:rPr spc="-30" dirty="0"/>
              <a:t> </a:t>
            </a:r>
            <a:r>
              <a:rPr dirty="0"/>
              <a:t>&gt;</a:t>
            </a:r>
            <a:r>
              <a:rPr spc="-25" dirty="0"/>
              <a:t> 5) </a:t>
            </a:r>
            <a:r>
              <a:rPr dirty="0"/>
              <a:t>filtrados</a:t>
            </a:r>
            <a:r>
              <a:rPr spc="-70" dirty="0"/>
              <a:t> </a:t>
            </a:r>
            <a:r>
              <a:rPr dirty="0"/>
              <a:t>&lt;-</a:t>
            </a:r>
            <a:r>
              <a:rPr spc="-55" dirty="0"/>
              <a:t> </a:t>
            </a:r>
            <a:r>
              <a:rPr spc="-10" dirty="0"/>
              <a:t>datos[!mal,]</a:t>
            </a:r>
          </a:p>
          <a:p>
            <a:pPr marL="297815" indent="-292100">
              <a:lnSpc>
                <a:spcPts val="3190"/>
              </a:lnSpc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b="0" spc="-160" dirty="0">
                <a:latin typeface="Arial"/>
                <a:cs typeface="Arial"/>
              </a:rPr>
              <a:t>Asignación</a:t>
            </a:r>
            <a:r>
              <a:rPr sz="2800" b="0" spc="-100" dirty="0">
                <a:latin typeface="Arial"/>
                <a:cs typeface="Arial"/>
              </a:rPr>
              <a:t> </a:t>
            </a:r>
            <a:r>
              <a:rPr sz="2800" b="0" spc="-145" dirty="0">
                <a:latin typeface="Arial"/>
                <a:cs typeface="Arial"/>
              </a:rPr>
              <a:t>de</a:t>
            </a:r>
            <a:r>
              <a:rPr sz="2800" b="0" spc="-114" dirty="0">
                <a:latin typeface="Arial"/>
                <a:cs typeface="Arial"/>
              </a:rPr>
              <a:t> </a:t>
            </a:r>
            <a:r>
              <a:rPr sz="2800" b="0" spc="-155" dirty="0">
                <a:latin typeface="Arial"/>
                <a:cs typeface="Arial"/>
              </a:rPr>
              <a:t>valores</a:t>
            </a:r>
            <a:r>
              <a:rPr sz="2800" b="0" spc="-100" dirty="0">
                <a:latin typeface="Arial"/>
                <a:cs typeface="Arial"/>
              </a:rPr>
              <a:t> </a:t>
            </a:r>
            <a:r>
              <a:rPr sz="2800" b="0" spc="-60" dirty="0">
                <a:latin typeface="Arial"/>
                <a:cs typeface="Arial"/>
              </a:rPr>
              <a:t>fijos</a:t>
            </a:r>
            <a:r>
              <a:rPr sz="2800" b="0" spc="-105" dirty="0">
                <a:latin typeface="Arial"/>
                <a:cs typeface="Arial"/>
              </a:rPr>
              <a:t> </a:t>
            </a:r>
            <a:r>
              <a:rPr sz="2800" b="0" spc="-50" dirty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  <a:p>
            <a:pPr marL="255270">
              <a:lnSpc>
                <a:spcPct val="100000"/>
              </a:lnSpc>
              <a:spcBef>
                <a:spcPts val="240"/>
              </a:spcBef>
            </a:pPr>
            <a:r>
              <a:rPr sz="2800" b="0" spc="-145" dirty="0">
                <a:latin typeface="Arial"/>
                <a:cs typeface="Arial"/>
              </a:rPr>
              <a:t>de</a:t>
            </a:r>
            <a:r>
              <a:rPr sz="2800" b="0" spc="-140" dirty="0">
                <a:latin typeface="Arial"/>
                <a:cs typeface="Arial"/>
              </a:rPr>
              <a:t> </a:t>
            </a:r>
            <a:r>
              <a:rPr sz="2800" b="0" spc="-10" dirty="0">
                <a:latin typeface="Arial"/>
                <a:cs typeface="Arial"/>
              </a:rPr>
              <a:t>referencia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pc="-10" dirty="0"/>
              <a:t>Transformación</a:t>
            </a:r>
          </a:p>
          <a:p>
            <a:pPr marL="816610">
              <a:lnSpc>
                <a:spcPct val="100000"/>
              </a:lnSpc>
              <a:spcBef>
                <a:spcPts val="745"/>
              </a:spcBef>
            </a:pPr>
            <a:r>
              <a:rPr sz="2800" dirty="0">
                <a:solidFill>
                  <a:srgbClr val="FF0000"/>
                </a:solidFill>
              </a:rPr>
              <a:t>Datos</a:t>
            </a:r>
            <a:r>
              <a:rPr sz="2800" spc="-50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perdidos: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786643" y="271779"/>
            <a:ext cx="20453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80" dirty="0">
                <a:latin typeface="Arial"/>
                <a:cs typeface="Arial"/>
              </a:rPr>
              <a:t>Imputación: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90055" y="271779"/>
            <a:ext cx="28384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10590" algn="l"/>
                <a:tab pos="1657350" algn="l"/>
              </a:tabLst>
            </a:pPr>
            <a:r>
              <a:rPr sz="2800" spc="-25" dirty="0">
                <a:latin typeface="Arial"/>
                <a:cs typeface="Arial"/>
              </a:rPr>
              <a:t>uso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5" dirty="0">
                <a:latin typeface="Arial"/>
                <a:cs typeface="Arial"/>
              </a:rPr>
              <a:t>de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35" dirty="0">
                <a:latin typeface="Arial"/>
                <a:cs typeface="Arial"/>
              </a:rPr>
              <a:t>técnicas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72393" y="561339"/>
            <a:ext cx="49568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19935" algn="l"/>
                <a:tab pos="2556510" algn="l"/>
                <a:tab pos="3269615" algn="l"/>
              </a:tabLst>
            </a:pPr>
            <a:r>
              <a:rPr sz="2800" spc="-10" dirty="0">
                <a:latin typeface="Arial"/>
                <a:cs typeface="Arial"/>
              </a:rPr>
              <a:t>estadísticas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0" dirty="0">
                <a:latin typeface="Arial"/>
                <a:cs typeface="Arial"/>
              </a:rPr>
              <a:t>o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5" dirty="0">
                <a:latin typeface="Arial"/>
                <a:cs typeface="Arial"/>
              </a:rPr>
              <a:t>de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25" dirty="0">
                <a:latin typeface="Arial"/>
                <a:cs typeface="Arial"/>
              </a:rPr>
              <a:t>aprendizaje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72393" y="866139"/>
            <a:ext cx="49561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13889" algn="l"/>
                <a:tab pos="2813685" algn="l"/>
                <a:tab pos="4535170" algn="l"/>
              </a:tabLst>
            </a:pPr>
            <a:r>
              <a:rPr sz="2800" spc="-10" dirty="0">
                <a:latin typeface="Arial"/>
                <a:cs typeface="Arial"/>
              </a:rPr>
              <a:t>automático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0" dirty="0">
                <a:latin typeface="Arial"/>
                <a:cs typeface="Arial"/>
              </a:rPr>
              <a:t>para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0" dirty="0">
                <a:latin typeface="Arial"/>
                <a:cs typeface="Arial"/>
              </a:rPr>
              <a:t>“adivinar”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14" dirty="0">
                <a:latin typeface="Arial"/>
                <a:cs typeface="Arial"/>
              </a:rPr>
              <a:t>los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891968" y="1844773"/>
            <a:ext cx="5252085" cy="3298825"/>
            <a:chOff x="3891968" y="1844773"/>
            <a:chExt cx="5252085" cy="3298825"/>
          </a:xfrm>
        </p:grpSpPr>
        <p:sp>
          <p:nvSpPr>
            <p:cNvPr id="8" name="object 8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91968" y="1844773"/>
              <a:ext cx="5217160" cy="2743200"/>
            </a:xfrm>
            <a:custGeom>
              <a:avLst/>
              <a:gdLst/>
              <a:ahLst/>
              <a:cxnLst/>
              <a:rect l="l" t="t" r="r" b="b"/>
              <a:pathLst>
                <a:path w="5217159" h="2743200">
                  <a:moveTo>
                    <a:pt x="5216535" y="0"/>
                  </a:moveTo>
                  <a:lnTo>
                    <a:pt x="0" y="0"/>
                  </a:lnTo>
                  <a:lnTo>
                    <a:pt x="0" y="2743199"/>
                  </a:lnTo>
                  <a:lnTo>
                    <a:pt x="4041176" y="2743199"/>
                  </a:lnTo>
                  <a:lnTo>
                    <a:pt x="4026095" y="2730499"/>
                  </a:lnTo>
                  <a:lnTo>
                    <a:pt x="4015054" y="2717799"/>
                  </a:lnTo>
                  <a:lnTo>
                    <a:pt x="4008270" y="2692399"/>
                  </a:lnTo>
                  <a:lnTo>
                    <a:pt x="4005960" y="2679699"/>
                  </a:lnTo>
                  <a:lnTo>
                    <a:pt x="4007266" y="2666999"/>
                  </a:lnTo>
                  <a:lnTo>
                    <a:pt x="4011120" y="2654299"/>
                  </a:lnTo>
                  <a:lnTo>
                    <a:pt x="4017431" y="2641599"/>
                  </a:lnTo>
                  <a:lnTo>
                    <a:pt x="4026107" y="2628899"/>
                  </a:lnTo>
                  <a:lnTo>
                    <a:pt x="3990113" y="2590799"/>
                  </a:lnTo>
                  <a:lnTo>
                    <a:pt x="3958538" y="2552699"/>
                  </a:lnTo>
                  <a:lnTo>
                    <a:pt x="3931498" y="2514599"/>
                  </a:lnTo>
                  <a:lnTo>
                    <a:pt x="3909111" y="2463799"/>
                  </a:lnTo>
                  <a:lnTo>
                    <a:pt x="3891494" y="2425699"/>
                  </a:lnTo>
                  <a:lnTo>
                    <a:pt x="3878765" y="2374899"/>
                  </a:lnTo>
                  <a:lnTo>
                    <a:pt x="3871042" y="2324099"/>
                  </a:lnTo>
                  <a:lnTo>
                    <a:pt x="3868441" y="2285999"/>
                  </a:lnTo>
                  <a:lnTo>
                    <a:pt x="3871244" y="2235199"/>
                  </a:lnTo>
                  <a:lnTo>
                    <a:pt x="3879578" y="2184399"/>
                  </a:lnTo>
                  <a:lnTo>
                    <a:pt x="3893325" y="2133599"/>
                  </a:lnTo>
                  <a:lnTo>
                    <a:pt x="3912371" y="2095499"/>
                  </a:lnTo>
                  <a:lnTo>
                    <a:pt x="3936599" y="2044699"/>
                  </a:lnTo>
                  <a:lnTo>
                    <a:pt x="3965896" y="2006599"/>
                  </a:lnTo>
                  <a:lnTo>
                    <a:pt x="4000144" y="1968499"/>
                  </a:lnTo>
                  <a:lnTo>
                    <a:pt x="4039228" y="1930399"/>
                  </a:lnTo>
                  <a:lnTo>
                    <a:pt x="4083033" y="1892299"/>
                  </a:lnTo>
                  <a:lnTo>
                    <a:pt x="4121878" y="1866899"/>
                  </a:lnTo>
                  <a:lnTo>
                    <a:pt x="4162832" y="1841499"/>
                  </a:lnTo>
                  <a:lnTo>
                    <a:pt x="4205742" y="1816099"/>
                  </a:lnTo>
                  <a:lnTo>
                    <a:pt x="4250456" y="1790699"/>
                  </a:lnTo>
                  <a:lnTo>
                    <a:pt x="4344681" y="1765299"/>
                  </a:lnTo>
                  <a:lnTo>
                    <a:pt x="4444285" y="1739899"/>
                  </a:lnTo>
                  <a:lnTo>
                    <a:pt x="4495722" y="1739899"/>
                  </a:lnTo>
                  <a:lnTo>
                    <a:pt x="4548044" y="1727199"/>
                  </a:lnTo>
                  <a:lnTo>
                    <a:pt x="5216535" y="1727199"/>
                  </a:lnTo>
                  <a:lnTo>
                    <a:pt x="5216535" y="0"/>
                  </a:lnTo>
                  <a:close/>
                </a:path>
                <a:path w="5217159" h="2743200">
                  <a:moveTo>
                    <a:pt x="4268349" y="2590799"/>
                  </a:moveTo>
                  <a:lnTo>
                    <a:pt x="4172187" y="2590799"/>
                  </a:lnTo>
                  <a:lnTo>
                    <a:pt x="4192816" y="2603499"/>
                  </a:lnTo>
                  <a:lnTo>
                    <a:pt x="4211161" y="2616199"/>
                  </a:lnTo>
                  <a:lnTo>
                    <a:pt x="4226240" y="2628899"/>
                  </a:lnTo>
                  <a:lnTo>
                    <a:pt x="4237277" y="2641599"/>
                  </a:lnTo>
                  <a:lnTo>
                    <a:pt x="4244057" y="2654299"/>
                  </a:lnTo>
                  <a:lnTo>
                    <a:pt x="4246365" y="2679699"/>
                  </a:lnTo>
                  <a:lnTo>
                    <a:pt x="4244057" y="2692399"/>
                  </a:lnTo>
                  <a:lnTo>
                    <a:pt x="4237277" y="2717799"/>
                  </a:lnTo>
                  <a:lnTo>
                    <a:pt x="4226240" y="2730499"/>
                  </a:lnTo>
                  <a:lnTo>
                    <a:pt x="4211161" y="2743199"/>
                  </a:lnTo>
                  <a:lnTo>
                    <a:pt x="4876314" y="2743199"/>
                  </a:lnTo>
                  <a:lnTo>
                    <a:pt x="4978476" y="2705099"/>
                  </a:lnTo>
                  <a:lnTo>
                    <a:pt x="5020394" y="2679699"/>
                  </a:lnTo>
                  <a:lnTo>
                    <a:pt x="4500484" y="2679699"/>
                  </a:lnTo>
                  <a:lnTo>
                    <a:pt x="4491387" y="2666999"/>
                  </a:lnTo>
                  <a:lnTo>
                    <a:pt x="4485251" y="2666999"/>
                  </a:lnTo>
                  <a:lnTo>
                    <a:pt x="4483000" y="2654299"/>
                  </a:lnTo>
                  <a:lnTo>
                    <a:pt x="4483000" y="2616199"/>
                  </a:lnTo>
                  <a:lnTo>
                    <a:pt x="4301312" y="2616199"/>
                  </a:lnTo>
                  <a:lnTo>
                    <a:pt x="4268349" y="2590799"/>
                  </a:lnTo>
                  <a:close/>
                </a:path>
                <a:path w="5217159" h="2743200">
                  <a:moveTo>
                    <a:pt x="5216535" y="2578099"/>
                  </a:moveTo>
                  <a:lnTo>
                    <a:pt x="5211079" y="2590799"/>
                  </a:lnTo>
                  <a:lnTo>
                    <a:pt x="5190359" y="2616199"/>
                  </a:lnTo>
                  <a:lnTo>
                    <a:pt x="5168120" y="2628899"/>
                  </a:lnTo>
                  <a:lnTo>
                    <a:pt x="5144384" y="2654299"/>
                  </a:lnTo>
                  <a:lnTo>
                    <a:pt x="5119169" y="2679699"/>
                  </a:lnTo>
                  <a:lnTo>
                    <a:pt x="5092697" y="2692399"/>
                  </a:lnTo>
                  <a:lnTo>
                    <a:pt x="5065206" y="2717799"/>
                  </a:lnTo>
                  <a:lnTo>
                    <a:pt x="5036744" y="2730499"/>
                  </a:lnTo>
                  <a:lnTo>
                    <a:pt x="5007362" y="2743199"/>
                  </a:lnTo>
                  <a:lnTo>
                    <a:pt x="5216535" y="2743199"/>
                  </a:lnTo>
                  <a:lnTo>
                    <a:pt x="5216535" y="2578099"/>
                  </a:lnTo>
                  <a:close/>
                </a:path>
                <a:path w="5217159" h="2743200">
                  <a:moveTo>
                    <a:pt x="4150270" y="2717799"/>
                  </a:moveTo>
                  <a:lnTo>
                    <a:pt x="4102059" y="2717799"/>
                  </a:lnTo>
                  <a:lnTo>
                    <a:pt x="4113786" y="2730499"/>
                  </a:lnTo>
                  <a:lnTo>
                    <a:pt x="4138541" y="2730499"/>
                  </a:lnTo>
                  <a:lnTo>
                    <a:pt x="4150270" y="2717799"/>
                  </a:lnTo>
                  <a:close/>
                </a:path>
                <a:path w="5217159" h="2743200">
                  <a:moveTo>
                    <a:pt x="4184363" y="2692399"/>
                  </a:moveTo>
                  <a:lnTo>
                    <a:pt x="4067962" y="2692399"/>
                  </a:lnTo>
                  <a:lnTo>
                    <a:pt x="4073745" y="2705099"/>
                  </a:lnTo>
                  <a:lnTo>
                    <a:pt x="4081645" y="2717799"/>
                  </a:lnTo>
                  <a:lnTo>
                    <a:pt x="4170679" y="2717799"/>
                  </a:lnTo>
                  <a:lnTo>
                    <a:pt x="4178580" y="2705099"/>
                  </a:lnTo>
                  <a:lnTo>
                    <a:pt x="4184363" y="2692399"/>
                  </a:lnTo>
                  <a:close/>
                </a:path>
                <a:path w="5217159" h="2743200">
                  <a:moveTo>
                    <a:pt x="4184363" y="2654299"/>
                  </a:moveTo>
                  <a:lnTo>
                    <a:pt x="4067962" y="2654299"/>
                  </a:lnTo>
                  <a:lnTo>
                    <a:pt x="4064409" y="2666999"/>
                  </a:lnTo>
                  <a:lnTo>
                    <a:pt x="4063199" y="2679699"/>
                  </a:lnTo>
                  <a:lnTo>
                    <a:pt x="4064409" y="2692399"/>
                  </a:lnTo>
                  <a:lnTo>
                    <a:pt x="4187916" y="2692399"/>
                  </a:lnTo>
                  <a:lnTo>
                    <a:pt x="4189125" y="2679699"/>
                  </a:lnTo>
                  <a:lnTo>
                    <a:pt x="4187916" y="2666999"/>
                  </a:lnTo>
                  <a:lnTo>
                    <a:pt x="4184363" y="2654299"/>
                  </a:lnTo>
                  <a:close/>
                </a:path>
                <a:path w="5217159" h="2743200">
                  <a:moveTo>
                    <a:pt x="4826603" y="2578099"/>
                  </a:moveTo>
                  <a:lnTo>
                    <a:pt x="4800849" y="2590799"/>
                  </a:lnTo>
                  <a:lnTo>
                    <a:pt x="4774330" y="2603499"/>
                  </a:lnTo>
                  <a:lnTo>
                    <a:pt x="4747094" y="2603499"/>
                  </a:lnTo>
                  <a:lnTo>
                    <a:pt x="4719190" y="2616199"/>
                  </a:lnTo>
                  <a:lnTo>
                    <a:pt x="4719190" y="2654299"/>
                  </a:lnTo>
                  <a:lnTo>
                    <a:pt x="4716941" y="2666999"/>
                  </a:lnTo>
                  <a:lnTo>
                    <a:pt x="4710808" y="2666999"/>
                  </a:lnTo>
                  <a:lnTo>
                    <a:pt x="4701711" y="2679699"/>
                  </a:lnTo>
                  <a:lnTo>
                    <a:pt x="5020394" y="2679699"/>
                  </a:lnTo>
                  <a:lnTo>
                    <a:pt x="5059783" y="2654299"/>
                  </a:lnTo>
                  <a:lnTo>
                    <a:pt x="5096466" y="2628899"/>
                  </a:lnTo>
                  <a:lnTo>
                    <a:pt x="5113367" y="2616199"/>
                  </a:lnTo>
                  <a:lnTo>
                    <a:pt x="4871142" y="2616199"/>
                  </a:lnTo>
                  <a:lnTo>
                    <a:pt x="4826603" y="2578099"/>
                  </a:lnTo>
                  <a:close/>
                </a:path>
                <a:path w="5217159" h="2743200">
                  <a:moveTo>
                    <a:pt x="4170679" y="2641599"/>
                  </a:moveTo>
                  <a:lnTo>
                    <a:pt x="4081645" y="2641599"/>
                  </a:lnTo>
                  <a:lnTo>
                    <a:pt x="4073745" y="2654299"/>
                  </a:lnTo>
                  <a:lnTo>
                    <a:pt x="4178580" y="2654299"/>
                  </a:lnTo>
                  <a:lnTo>
                    <a:pt x="4170679" y="2641599"/>
                  </a:lnTo>
                  <a:close/>
                </a:path>
                <a:path w="5217159" h="2743200">
                  <a:moveTo>
                    <a:pt x="4150266" y="2628899"/>
                  </a:moveTo>
                  <a:lnTo>
                    <a:pt x="4102055" y="2628899"/>
                  </a:lnTo>
                  <a:lnTo>
                    <a:pt x="4091250" y="2641599"/>
                  </a:lnTo>
                  <a:lnTo>
                    <a:pt x="4161070" y="2641599"/>
                  </a:lnTo>
                  <a:lnTo>
                    <a:pt x="4150266" y="2628899"/>
                  </a:lnTo>
                  <a:close/>
                </a:path>
                <a:path w="5217159" h="2743200">
                  <a:moveTo>
                    <a:pt x="4668306" y="2578099"/>
                  </a:moveTo>
                  <a:lnTo>
                    <a:pt x="4533879" y="2578099"/>
                  </a:lnTo>
                  <a:lnTo>
                    <a:pt x="4538561" y="2590799"/>
                  </a:lnTo>
                  <a:lnTo>
                    <a:pt x="4540239" y="2603499"/>
                  </a:lnTo>
                  <a:lnTo>
                    <a:pt x="4540239" y="2628899"/>
                  </a:lnTo>
                  <a:lnTo>
                    <a:pt x="4661950" y="2628899"/>
                  </a:lnTo>
                  <a:lnTo>
                    <a:pt x="4661950" y="2603499"/>
                  </a:lnTo>
                  <a:lnTo>
                    <a:pt x="4663627" y="2590799"/>
                  </a:lnTo>
                  <a:lnTo>
                    <a:pt x="4668306" y="2578099"/>
                  </a:lnTo>
                  <a:close/>
                </a:path>
                <a:path w="5217159" h="2743200">
                  <a:moveTo>
                    <a:pt x="4375589" y="2578099"/>
                  </a:moveTo>
                  <a:lnTo>
                    <a:pt x="4331060" y="2616199"/>
                  </a:lnTo>
                  <a:lnTo>
                    <a:pt x="4483000" y="2616199"/>
                  </a:lnTo>
                  <a:lnTo>
                    <a:pt x="4455103" y="2603499"/>
                  </a:lnTo>
                  <a:lnTo>
                    <a:pt x="4427869" y="2603499"/>
                  </a:lnTo>
                  <a:lnTo>
                    <a:pt x="4401349" y="2590799"/>
                  </a:lnTo>
                  <a:lnTo>
                    <a:pt x="4375589" y="2578099"/>
                  </a:lnTo>
                  <a:close/>
                </a:path>
                <a:path w="5217159" h="2743200">
                  <a:moveTo>
                    <a:pt x="4955838" y="1892299"/>
                  </a:moveTo>
                  <a:lnTo>
                    <a:pt x="4710808" y="1892299"/>
                  </a:lnTo>
                  <a:lnTo>
                    <a:pt x="4716941" y="1904999"/>
                  </a:lnTo>
                  <a:lnTo>
                    <a:pt x="4719190" y="1904999"/>
                  </a:lnTo>
                  <a:lnTo>
                    <a:pt x="4719190" y="1955799"/>
                  </a:lnTo>
                  <a:lnTo>
                    <a:pt x="4905932" y="1955799"/>
                  </a:lnTo>
                  <a:lnTo>
                    <a:pt x="5037884" y="2057399"/>
                  </a:lnTo>
                  <a:lnTo>
                    <a:pt x="5040903" y="2057399"/>
                  </a:lnTo>
                  <a:lnTo>
                    <a:pt x="5040914" y="2070099"/>
                  </a:lnTo>
                  <a:lnTo>
                    <a:pt x="5037895" y="2082799"/>
                  </a:lnTo>
                  <a:lnTo>
                    <a:pt x="4993613" y="2108199"/>
                  </a:lnTo>
                  <a:lnTo>
                    <a:pt x="5007358" y="2133599"/>
                  </a:lnTo>
                  <a:lnTo>
                    <a:pt x="5019370" y="2146299"/>
                  </a:lnTo>
                  <a:lnTo>
                    <a:pt x="5029630" y="2171699"/>
                  </a:lnTo>
                  <a:lnTo>
                    <a:pt x="5038119" y="2197099"/>
                  </a:lnTo>
                  <a:lnTo>
                    <a:pt x="5113639" y="2197099"/>
                  </a:lnTo>
                  <a:lnTo>
                    <a:pt x="5119772" y="2209799"/>
                  </a:lnTo>
                  <a:lnTo>
                    <a:pt x="5122021" y="2209799"/>
                  </a:lnTo>
                  <a:lnTo>
                    <a:pt x="5122021" y="2349499"/>
                  </a:lnTo>
                  <a:lnTo>
                    <a:pt x="5119772" y="2362199"/>
                  </a:lnTo>
                  <a:lnTo>
                    <a:pt x="5113639" y="2362199"/>
                  </a:lnTo>
                  <a:lnTo>
                    <a:pt x="5104542" y="2374899"/>
                  </a:lnTo>
                  <a:lnTo>
                    <a:pt x="5038129" y="2374899"/>
                  </a:lnTo>
                  <a:lnTo>
                    <a:pt x="5029639" y="2400299"/>
                  </a:lnTo>
                  <a:lnTo>
                    <a:pt x="5019376" y="2412999"/>
                  </a:lnTo>
                  <a:lnTo>
                    <a:pt x="5007360" y="2438399"/>
                  </a:lnTo>
                  <a:lnTo>
                    <a:pt x="4993613" y="2451099"/>
                  </a:lnTo>
                  <a:lnTo>
                    <a:pt x="5032740" y="2489199"/>
                  </a:lnTo>
                  <a:lnTo>
                    <a:pt x="5039023" y="2489199"/>
                  </a:lnTo>
                  <a:lnTo>
                    <a:pt x="5041117" y="2501899"/>
                  </a:lnTo>
                  <a:lnTo>
                    <a:pt x="5039023" y="2501899"/>
                  </a:lnTo>
                  <a:lnTo>
                    <a:pt x="5032740" y="2514599"/>
                  </a:lnTo>
                  <a:lnTo>
                    <a:pt x="4900890" y="2616199"/>
                  </a:lnTo>
                  <a:lnTo>
                    <a:pt x="5113367" y="2616199"/>
                  </a:lnTo>
                  <a:lnTo>
                    <a:pt x="5130268" y="2603499"/>
                  </a:lnTo>
                  <a:lnTo>
                    <a:pt x="5161014" y="2565399"/>
                  </a:lnTo>
                  <a:lnTo>
                    <a:pt x="5216535" y="2489199"/>
                  </a:lnTo>
                  <a:lnTo>
                    <a:pt x="5216535" y="2082799"/>
                  </a:lnTo>
                  <a:lnTo>
                    <a:pt x="5194956" y="2044699"/>
                  </a:lnTo>
                  <a:lnTo>
                    <a:pt x="5181168" y="2019299"/>
                  </a:lnTo>
                  <a:lnTo>
                    <a:pt x="5166365" y="2006599"/>
                  </a:lnTo>
                  <a:lnTo>
                    <a:pt x="5150561" y="1981199"/>
                  </a:lnTo>
                  <a:lnTo>
                    <a:pt x="5052406" y="1981199"/>
                  </a:lnTo>
                  <a:lnTo>
                    <a:pt x="5030015" y="1968499"/>
                  </a:lnTo>
                  <a:lnTo>
                    <a:pt x="5009387" y="1968499"/>
                  </a:lnTo>
                  <a:lnTo>
                    <a:pt x="4991042" y="1955799"/>
                  </a:lnTo>
                  <a:lnTo>
                    <a:pt x="4975962" y="1943099"/>
                  </a:lnTo>
                  <a:lnTo>
                    <a:pt x="4964925" y="1930399"/>
                  </a:lnTo>
                  <a:lnTo>
                    <a:pt x="4958146" y="1904999"/>
                  </a:lnTo>
                  <a:lnTo>
                    <a:pt x="4955838" y="1892299"/>
                  </a:lnTo>
                  <a:close/>
                </a:path>
                <a:path w="5217159" h="2743200">
                  <a:moveTo>
                    <a:pt x="4836003" y="1777999"/>
                  </a:moveTo>
                  <a:lnTo>
                    <a:pt x="4491687" y="1777999"/>
                  </a:lnTo>
                  <a:lnTo>
                    <a:pt x="4438981" y="1790699"/>
                  </a:lnTo>
                  <a:lnTo>
                    <a:pt x="4338446" y="1816099"/>
                  </a:lnTo>
                  <a:lnTo>
                    <a:pt x="4290967" y="1828799"/>
                  </a:lnTo>
                  <a:lnTo>
                    <a:pt x="4245580" y="1854199"/>
                  </a:lnTo>
                  <a:lnTo>
                    <a:pt x="4202461" y="1866899"/>
                  </a:lnTo>
                  <a:lnTo>
                    <a:pt x="4161786" y="1892299"/>
                  </a:lnTo>
                  <a:lnTo>
                    <a:pt x="4123728" y="1917699"/>
                  </a:lnTo>
                  <a:lnTo>
                    <a:pt x="4088463" y="1955799"/>
                  </a:lnTo>
                  <a:lnTo>
                    <a:pt x="4056167" y="1981199"/>
                  </a:lnTo>
                  <a:lnTo>
                    <a:pt x="4027015" y="2019299"/>
                  </a:lnTo>
                  <a:lnTo>
                    <a:pt x="4001181" y="2044699"/>
                  </a:lnTo>
                  <a:lnTo>
                    <a:pt x="3978841" y="2082799"/>
                  </a:lnTo>
                  <a:lnTo>
                    <a:pt x="3960170" y="2120899"/>
                  </a:lnTo>
                  <a:lnTo>
                    <a:pt x="3945343" y="2158999"/>
                  </a:lnTo>
                  <a:lnTo>
                    <a:pt x="3934536" y="2197099"/>
                  </a:lnTo>
                  <a:lnTo>
                    <a:pt x="3927923" y="2247899"/>
                  </a:lnTo>
                  <a:lnTo>
                    <a:pt x="3925680" y="2285999"/>
                  </a:lnTo>
                  <a:lnTo>
                    <a:pt x="3928751" y="2336799"/>
                  </a:lnTo>
                  <a:lnTo>
                    <a:pt x="3937859" y="2374899"/>
                  </a:lnTo>
                  <a:lnTo>
                    <a:pt x="3952846" y="2425699"/>
                  </a:lnTo>
                  <a:lnTo>
                    <a:pt x="3973554" y="2476499"/>
                  </a:lnTo>
                  <a:lnTo>
                    <a:pt x="3999826" y="2514599"/>
                  </a:lnTo>
                  <a:lnTo>
                    <a:pt x="4031505" y="2552699"/>
                  </a:lnTo>
                  <a:lnTo>
                    <a:pt x="4068432" y="2603499"/>
                  </a:lnTo>
                  <a:lnTo>
                    <a:pt x="4081948" y="2590799"/>
                  </a:lnTo>
                  <a:lnTo>
                    <a:pt x="4268349" y="2590799"/>
                  </a:lnTo>
                  <a:lnTo>
                    <a:pt x="4169460" y="2514599"/>
                  </a:lnTo>
                  <a:lnTo>
                    <a:pt x="4163174" y="2501899"/>
                  </a:lnTo>
                  <a:lnTo>
                    <a:pt x="4161081" y="2501899"/>
                  </a:lnTo>
                  <a:lnTo>
                    <a:pt x="4163177" y="2489199"/>
                  </a:lnTo>
                  <a:lnTo>
                    <a:pt x="4169460" y="2489199"/>
                  </a:lnTo>
                  <a:lnTo>
                    <a:pt x="4208589" y="2451099"/>
                  </a:lnTo>
                  <a:lnTo>
                    <a:pt x="4194841" y="2438399"/>
                  </a:lnTo>
                  <a:lnTo>
                    <a:pt x="4182826" y="2412999"/>
                  </a:lnTo>
                  <a:lnTo>
                    <a:pt x="4172562" y="2400299"/>
                  </a:lnTo>
                  <a:lnTo>
                    <a:pt x="4164072" y="2374899"/>
                  </a:lnTo>
                  <a:lnTo>
                    <a:pt x="4093921" y="2374899"/>
                  </a:lnTo>
                  <a:lnTo>
                    <a:pt x="4083189" y="2362199"/>
                  </a:lnTo>
                  <a:lnTo>
                    <a:pt x="4080169" y="2362199"/>
                  </a:lnTo>
                  <a:lnTo>
                    <a:pt x="4080282" y="2209799"/>
                  </a:lnTo>
                  <a:lnTo>
                    <a:pt x="4082531" y="2209799"/>
                  </a:lnTo>
                  <a:lnTo>
                    <a:pt x="4088664" y="2197099"/>
                  </a:lnTo>
                  <a:lnTo>
                    <a:pt x="4164072" y="2197099"/>
                  </a:lnTo>
                  <a:lnTo>
                    <a:pt x="4172562" y="2171699"/>
                  </a:lnTo>
                  <a:lnTo>
                    <a:pt x="4182826" y="2146299"/>
                  </a:lnTo>
                  <a:lnTo>
                    <a:pt x="4194841" y="2133599"/>
                  </a:lnTo>
                  <a:lnTo>
                    <a:pt x="4208589" y="2108199"/>
                  </a:lnTo>
                  <a:lnTo>
                    <a:pt x="4164307" y="2082799"/>
                  </a:lnTo>
                  <a:lnTo>
                    <a:pt x="4161288" y="2070099"/>
                  </a:lnTo>
                  <a:lnTo>
                    <a:pt x="4161288" y="2057399"/>
                  </a:lnTo>
                  <a:lnTo>
                    <a:pt x="4164307" y="2057399"/>
                  </a:lnTo>
                  <a:lnTo>
                    <a:pt x="4296258" y="1955799"/>
                  </a:lnTo>
                  <a:lnTo>
                    <a:pt x="4483000" y="1955799"/>
                  </a:lnTo>
                  <a:lnTo>
                    <a:pt x="4483000" y="1904999"/>
                  </a:lnTo>
                  <a:lnTo>
                    <a:pt x="4485251" y="1904999"/>
                  </a:lnTo>
                  <a:lnTo>
                    <a:pt x="4491387" y="1892299"/>
                  </a:lnTo>
                  <a:lnTo>
                    <a:pt x="4955838" y="1892299"/>
                  </a:lnTo>
                  <a:lnTo>
                    <a:pt x="4958146" y="1866899"/>
                  </a:lnTo>
                  <a:lnTo>
                    <a:pt x="4964925" y="1854199"/>
                  </a:lnTo>
                  <a:lnTo>
                    <a:pt x="4975962" y="1841499"/>
                  </a:lnTo>
                  <a:lnTo>
                    <a:pt x="4991042" y="1828799"/>
                  </a:lnTo>
                  <a:lnTo>
                    <a:pt x="5009387" y="1816099"/>
                  </a:lnTo>
                  <a:lnTo>
                    <a:pt x="4857066" y="1816099"/>
                  </a:lnTo>
                  <a:lnTo>
                    <a:pt x="4849721" y="1803399"/>
                  </a:lnTo>
                  <a:lnTo>
                    <a:pt x="4839067" y="1803399"/>
                  </a:lnTo>
                  <a:lnTo>
                    <a:pt x="4836003" y="1790699"/>
                  </a:lnTo>
                  <a:lnTo>
                    <a:pt x="4836003" y="1777999"/>
                  </a:lnTo>
                  <a:close/>
                </a:path>
                <a:path w="5217159" h="2743200">
                  <a:moveTo>
                    <a:pt x="4719031" y="2565399"/>
                  </a:moveTo>
                  <a:lnTo>
                    <a:pt x="4483159" y="2565399"/>
                  </a:lnTo>
                  <a:lnTo>
                    <a:pt x="4517635" y="2578099"/>
                  </a:lnTo>
                  <a:lnTo>
                    <a:pt x="4684556" y="2578099"/>
                  </a:lnTo>
                  <a:lnTo>
                    <a:pt x="4719031" y="2565399"/>
                  </a:lnTo>
                  <a:close/>
                </a:path>
                <a:path w="5217159" h="2743200">
                  <a:moveTo>
                    <a:pt x="4931566" y="2463799"/>
                  </a:moveTo>
                  <a:lnTo>
                    <a:pt x="4270625" y="2463799"/>
                  </a:lnTo>
                  <a:lnTo>
                    <a:pt x="4264978" y="2476499"/>
                  </a:lnTo>
                  <a:lnTo>
                    <a:pt x="4230165" y="2501899"/>
                  </a:lnTo>
                  <a:lnTo>
                    <a:pt x="4316191" y="2565399"/>
                  </a:lnTo>
                  <a:lnTo>
                    <a:pt x="4351037" y="2539999"/>
                  </a:lnTo>
                  <a:lnTo>
                    <a:pt x="4359063" y="2527299"/>
                  </a:lnTo>
                  <a:lnTo>
                    <a:pt x="4937615" y="2527299"/>
                  </a:lnTo>
                  <a:lnTo>
                    <a:pt x="4972025" y="2501899"/>
                  </a:lnTo>
                  <a:lnTo>
                    <a:pt x="4937213" y="2476499"/>
                  </a:lnTo>
                  <a:lnTo>
                    <a:pt x="4931566" y="2463799"/>
                  </a:lnTo>
                  <a:close/>
                </a:path>
                <a:path w="5217159" h="2743200">
                  <a:moveTo>
                    <a:pt x="4824403" y="2527299"/>
                  </a:moveTo>
                  <a:lnTo>
                    <a:pt x="4377787" y="2527299"/>
                  </a:lnTo>
                  <a:lnTo>
                    <a:pt x="4386812" y="2539999"/>
                  </a:lnTo>
                  <a:lnTo>
                    <a:pt x="4417634" y="2552699"/>
                  </a:lnTo>
                  <a:lnTo>
                    <a:pt x="4449788" y="2565399"/>
                  </a:lnTo>
                  <a:lnTo>
                    <a:pt x="4752403" y="2565399"/>
                  </a:lnTo>
                  <a:lnTo>
                    <a:pt x="4784557" y="2552699"/>
                  </a:lnTo>
                  <a:lnTo>
                    <a:pt x="4815378" y="2539999"/>
                  </a:lnTo>
                  <a:lnTo>
                    <a:pt x="4824403" y="2527299"/>
                  </a:lnTo>
                  <a:close/>
                </a:path>
                <a:path w="5217159" h="2743200">
                  <a:moveTo>
                    <a:pt x="4937615" y="2527299"/>
                  </a:moveTo>
                  <a:lnTo>
                    <a:pt x="4843128" y="2527299"/>
                  </a:lnTo>
                  <a:lnTo>
                    <a:pt x="4851153" y="2539999"/>
                  </a:lnTo>
                  <a:lnTo>
                    <a:pt x="4885999" y="2565399"/>
                  </a:lnTo>
                  <a:lnTo>
                    <a:pt x="4937615" y="2527299"/>
                  </a:lnTo>
                  <a:close/>
                </a:path>
                <a:path w="5217159" h="2743200">
                  <a:moveTo>
                    <a:pt x="4546943" y="2108199"/>
                  </a:moveTo>
                  <a:lnTo>
                    <a:pt x="4272616" y="2108199"/>
                  </a:lnTo>
                  <a:lnTo>
                    <a:pt x="4268779" y="2120899"/>
                  </a:lnTo>
                  <a:lnTo>
                    <a:pt x="4250771" y="2146299"/>
                  </a:lnTo>
                  <a:lnTo>
                    <a:pt x="4235701" y="2171699"/>
                  </a:lnTo>
                  <a:lnTo>
                    <a:pt x="4223617" y="2197099"/>
                  </a:lnTo>
                  <a:lnTo>
                    <a:pt x="4214569" y="2222499"/>
                  </a:lnTo>
                  <a:lnTo>
                    <a:pt x="4210897" y="2222499"/>
                  </a:lnTo>
                  <a:lnTo>
                    <a:pt x="4204574" y="2235199"/>
                  </a:lnTo>
                  <a:lnTo>
                    <a:pt x="4137498" y="2235199"/>
                  </a:lnTo>
                  <a:lnTo>
                    <a:pt x="4137431" y="2324099"/>
                  </a:lnTo>
                  <a:lnTo>
                    <a:pt x="4186588" y="2324099"/>
                  </a:lnTo>
                  <a:lnTo>
                    <a:pt x="4196253" y="2336799"/>
                  </a:lnTo>
                  <a:lnTo>
                    <a:pt x="4210897" y="2336799"/>
                  </a:lnTo>
                  <a:lnTo>
                    <a:pt x="4223617" y="2374899"/>
                  </a:lnTo>
                  <a:lnTo>
                    <a:pt x="4250771" y="2425699"/>
                  </a:lnTo>
                  <a:lnTo>
                    <a:pt x="4268779" y="2451099"/>
                  </a:lnTo>
                  <a:lnTo>
                    <a:pt x="4272616" y="2451099"/>
                  </a:lnTo>
                  <a:lnTo>
                    <a:pt x="4273201" y="2463799"/>
                  </a:lnTo>
                  <a:lnTo>
                    <a:pt x="4546943" y="2463799"/>
                  </a:lnTo>
                  <a:lnTo>
                    <a:pt x="4497193" y="2438399"/>
                  </a:lnTo>
                  <a:lnTo>
                    <a:pt x="4453281" y="2425699"/>
                  </a:lnTo>
                  <a:lnTo>
                    <a:pt x="4416638" y="2400299"/>
                  </a:lnTo>
                  <a:lnTo>
                    <a:pt x="4388693" y="2362199"/>
                  </a:lnTo>
                  <a:lnTo>
                    <a:pt x="4370878" y="2324099"/>
                  </a:lnTo>
                  <a:lnTo>
                    <a:pt x="4364621" y="2285999"/>
                  </a:lnTo>
                  <a:lnTo>
                    <a:pt x="4370878" y="2247899"/>
                  </a:lnTo>
                  <a:lnTo>
                    <a:pt x="4388693" y="2209799"/>
                  </a:lnTo>
                  <a:lnTo>
                    <a:pt x="4416638" y="2171699"/>
                  </a:lnTo>
                  <a:lnTo>
                    <a:pt x="4453281" y="2146299"/>
                  </a:lnTo>
                  <a:lnTo>
                    <a:pt x="4497193" y="2120899"/>
                  </a:lnTo>
                  <a:lnTo>
                    <a:pt x="4546943" y="2108199"/>
                  </a:lnTo>
                  <a:close/>
                </a:path>
                <a:path w="5217159" h="2743200">
                  <a:moveTo>
                    <a:pt x="4929574" y="2108199"/>
                  </a:moveTo>
                  <a:lnTo>
                    <a:pt x="4655258" y="2108199"/>
                  </a:lnTo>
                  <a:lnTo>
                    <a:pt x="4705008" y="2120899"/>
                  </a:lnTo>
                  <a:lnTo>
                    <a:pt x="4748920" y="2146299"/>
                  </a:lnTo>
                  <a:lnTo>
                    <a:pt x="4785564" y="2171699"/>
                  </a:lnTo>
                  <a:lnTo>
                    <a:pt x="4813508" y="2209799"/>
                  </a:lnTo>
                  <a:lnTo>
                    <a:pt x="4831324" y="2247899"/>
                  </a:lnTo>
                  <a:lnTo>
                    <a:pt x="4837581" y="2285999"/>
                  </a:lnTo>
                  <a:lnTo>
                    <a:pt x="4831324" y="2324099"/>
                  </a:lnTo>
                  <a:lnTo>
                    <a:pt x="4813508" y="2362199"/>
                  </a:lnTo>
                  <a:lnTo>
                    <a:pt x="4785564" y="2400299"/>
                  </a:lnTo>
                  <a:lnTo>
                    <a:pt x="4748920" y="2425699"/>
                  </a:lnTo>
                  <a:lnTo>
                    <a:pt x="4705008" y="2438399"/>
                  </a:lnTo>
                  <a:lnTo>
                    <a:pt x="4655258" y="2463799"/>
                  </a:lnTo>
                  <a:lnTo>
                    <a:pt x="4928990" y="2463799"/>
                  </a:lnTo>
                  <a:lnTo>
                    <a:pt x="4929575" y="2451099"/>
                  </a:lnTo>
                  <a:lnTo>
                    <a:pt x="4933411" y="2451099"/>
                  </a:lnTo>
                  <a:lnTo>
                    <a:pt x="4966491" y="2400299"/>
                  </a:lnTo>
                  <a:lnTo>
                    <a:pt x="4987621" y="2349499"/>
                  </a:lnTo>
                  <a:lnTo>
                    <a:pt x="4991294" y="2336799"/>
                  </a:lnTo>
                  <a:lnTo>
                    <a:pt x="5005937" y="2336799"/>
                  </a:lnTo>
                  <a:lnTo>
                    <a:pt x="5015603" y="2324099"/>
                  </a:lnTo>
                  <a:lnTo>
                    <a:pt x="5064781" y="2324099"/>
                  </a:lnTo>
                  <a:lnTo>
                    <a:pt x="5064781" y="2235199"/>
                  </a:lnTo>
                  <a:lnTo>
                    <a:pt x="4997612" y="2235199"/>
                  </a:lnTo>
                  <a:lnTo>
                    <a:pt x="4991289" y="2222499"/>
                  </a:lnTo>
                  <a:lnTo>
                    <a:pt x="4987621" y="2222499"/>
                  </a:lnTo>
                  <a:lnTo>
                    <a:pt x="4978569" y="2197099"/>
                  </a:lnTo>
                  <a:lnTo>
                    <a:pt x="4966486" y="2171699"/>
                  </a:lnTo>
                  <a:lnTo>
                    <a:pt x="4951418" y="2146299"/>
                  </a:lnTo>
                  <a:lnTo>
                    <a:pt x="4933411" y="2120899"/>
                  </a:lnTo>
                  <a:lnTo>
                    <a:pt x="4929574" y="2108199"/>
                  </a:lnTo>
                  <a:close/>
                </a:path>
                <a:path w="5217159" h="2743200">
                  <a:moveTo>
                    <a:pt x="4601100" y="2146299"/>
                  </a:moveTo>
                  <a:lnTo>
                    <a:pt x="4544505" y="2158999"/>
                  </a:lnTo>
                  <a:lnTo>
                    <a:pt x="4495309" y="2171699"/>
                  </a:lnTo>
                  <a:lnTo>
                    <a:pt x="4456487" y="2209799"/>
                  </a:lnTo>
                  <a:lnTo>
                    <a:pt x="4421859" y="2285999"/>
                  </a:lnTo>
                  <a:lnTo>
                    <a:pt x="4431012" y="2324099"/>
                  </a:lnTo>
                  <a:lnTo>
                    <a:pt x="4456487" y="2362199"/>
                  </a:lnTo>
                  <a:lnTo>
                    <a:pt x="4495309" y="2387599"/>
                  </a:lnTo>
                  <a:lnTo>
                    <a:pt x="4544505" y="2412999"/>
                  </a:lnTo>
                  <a:lnTo>
                    <a:pt x="4657696" y="2412999"/>
                  </a:lnTo>
                  <a:lnTo>
                    <a:pt x="4706892" y="2387599"/>
                  </a:lnTo>
                  <a:lnTo>
                    <a:pt x="4745714" y="2362199"/>
                  </a:lnTo>
                  <a:lnTo>
                    <a:pt x="4771189" y="2324099"/>
                  </a:lnTo>
                  <a:lnTo>
                    <a:pt x="4780342" y="2285999"/>
                  </a:lnTo>
                  <a:lnTo>
                    <a:pt x="4771189" y="2235199"/>
                  </a:lnTo>
                  <a:lnTo>
                    <a:pt x="4745714" y="2209799"/>
                  </a:lnTo>
                  <a:lnTo>
                    <a:pt x="4706892" y="2171699"/>
                  </a:lnTo>
                  <a:lnTo>
                    <a:pt x="4657696" y="2158999"/>
                  </a:lnTo>
                  <a:lnTo>
                    <a:pt x="4601100" y="2146299"/>
                  </a:lnTo>
                  <a:close/>
                </a:path>
                <a:path w="5217159" h="2743200">
                  <a:moveTo>
                    <a:pt x="4931561" y="2095499"/>
                  </a:moveTo>
                  <a:lnTo>
                    <a:pt x="4270625" y="2095499"/>
                  </a:lnTo>
                  <a:lnTo>
                    <a:pt x="4273201" y="2108199"/>
                  </a:lnTo>
                  <a:lnTo>
                    <a:pt x="4928986" y="2108199"/>
                  </a:lnTo>
                  <a:lnTo>
                    <a:pt x="4931561" y="2095499"/>
                  </a:lnTo>
                  <a:close/>
                </a:path>
                <a:path w="5217159" h="2743200">
                  <a:moveTo>
                    <a:pt x="4316482" y="2006599"/>
                  </a:moveTo>
                  <a:lnTo>
                    <a:pt x="4230389" y="2070099"/>
                  </a:lnTo>
                  <a:lnTo>
                    <a:pt x="4264978" y="2095499"/>
                  </a:lnTo>
                  <a:lnTo>
                    <a:pt x="4937213" y="2095499"/>
                  </a:lnTo>
                  <a:lnTo>
                    <a:pt x="4971802" y="2070099"/>
                  </a:lnTo>
                  <a:lnTo>
                    <a:pt x="4920146" y="2031999"/>
                  </a:lnTo>
                  <a:lnTo>
                    <a:pt x="4351037" y="2031999"/>
                  </a:lnTo>
                  <a:lnTo>
                    <a:pt x="4316482" y="2006599"/>
                  </a:lnTo>
                  <a:close/>
                </a:path>
                <a:path w="5217159" h="2743200">
                  <a:moveTo>
                    <a:pt x="4719033" y="1993899"/>
                  </a:moveTo>
                  <a:lnTo>
                    <a:pt x="4483153" y="1993899"/>
                  </a:lnTo>
                  <a:lnTo>
                    <a:pt x="4449779" y="2006599"/>
                  </a:lnTo>
                  <a:lnTo>
                    <a:pt x="4417627" y="2019299"/>
                  </a:lnTo>
                  <a:lnTo>
                    <a:pt x="4386812" y="2031999"/>
                  </a:lnTo>
                  <a:lnTo>
                    <a:pt x="4815378" y="2031999"/>
                  </a:lnTo>
                  <a:lnTo>
                    <a:pt x="4784561" y="2019299"/>
                  </a:lnTo>
                  <a:lnTo>
                    <a:pt x="4752407" y="2006599"/>
                  </a:lnTo>
                  <a:lnTo>
                    <a:pt x="4719033" y="1993899"/>
                  </a:lnTo>
                  <a:close/>
                </a:path>
                <a:path w="5217159" h="2743200">
                  <a:moveTo>
                    <a:pt x="4885709" y="2006599"/>
                  </a:moveTo>
                  <a:lnTo>
                    <a:pt x="4851142" y="2031999"/>
                  </a:lnTo>
                  <a:lnTo>
                    <a:pt x="4920146" y="2031999"/>
                  </a:lnTo>
                  <a:lnTo>
                    <a:pt x="4885709" y="2006599"/>
                  </a:lnTo>
                  <a:close/>
                </a:path>
                <a:path w="5217159" h="2743200">
                  <a:moveTo>
                    <a:pt x="4668306" y="1981199"/>
                  </a:moveTo>
                  <a:lnTo>
                    <a:pt x="4533879" y="1981199"/>
                  </a:lnTo>
                  <a:lnTo>
                    <a:pt x="4526727" y="1993899"/>
                  </a:lnTo>
                  <a:lnTo>
                    <a:pt x="4675458" y="1993899"/>
                  </a:lnTo>
                  <a:lnTo>
                    <a:pt x="4668306" y="1981199"/>
                  </a:lnTo>
                  <a:close/>
                </a:path>
                <a:path w="5217159" h="2743200">
                  <a:moveTo>
                    <a:pt x="4455103" y="1955799"/>
                  </a:moveTo>
                  <a:lnTo>
                    <a:pt x="4336728" y="1955799"/>
                  </a:lnTo>
                  <a:lnTo>
                    <a:pt x="4375599" y="1981199"/>
                  </a:lnTo>
                  <a:lnTo>
                    <a:pt x="4401353" y="1981199"/>
                  </a:lnTo>
                  <a:lnTo>
                    <a:pt x="4427871" y="1968499"/>
                  </a:lnTo>
                  <a:lnTo>
                    <a:pt x="4455103" y="1955799"/>
                  </a:lnTo>
                  <a:close/>
                </a:path>
                <a:path w="5217159" h="2743200">
                  <a:moveTo>
                    <a:pt x="4661950" y="1930399"/>
                  </a:moveTo>
                  <a:lnTo>
                    <a:pt x="4540239" y="1930399"/>
                  </a:lnTo>
                  <a:lnTo>
                    <a:pt x="4540239" y="1968499"/>
                  </a:lnTo>
                  <a:lnTo>
                    <a:pt x="4538561" y="1981199"/>
                  </a:lnTo>
                  <a:lnTo>
                    <a:pt x="4663627" y="1981199"/>
                  </a:lnTo>
                  <a:lnTo>
                    <a:pt x="4661950" y="1968499"/>
                  </a:lnTo>
                  <a:lnTo>
                    <a:pt x="4661950" y="1930399"/>
                  </a:lnTo>
                  <a:close/>
                </a:path>
                <a:path w="5217159" h="2743200">
                  <a:moveTo>
                    <a:pt x="4865462" y="1955799"/>
                  </a:moveTo>
                  <a:lnTo>
                    <a:pt x="4747094" y="1955799"/>
                  </a:lnTo>
                  <a:lnTo>
                    <a:pt x="4774330" y="1968499"/>
                  </a:lnTo>
                  <a:lnTo>
                    <a:pt x="4800849" y="1981199"/>
                  </a:lnTo>
                  <a:lnTo>
                    <a:pt x="4826603" y="1981199"/>
                  </a:lnTo>
                  <a:lnTo>
                    <a:pt x="4865462" y="1955799"/>
                  </a:lnTo>
                  <a:close/>
                </a:path>
                <a:path w="5217159" h="2743200">
                  <a:moveTo>
                    <a:pt x="5133770" y="1968499"/>
                  </a:moveTo>
                  <a:lnTo>
                    <a:pt x="5120254" y="1968499"/>
                  </a:lnTo>
                  <a:lnTo>
                    <a:pt x="5106037" y="1981199"/>
                  </a:lnTo>
                  <a:lnTo>
                    <a:pt x="5150561" y="1981199"/>
                  </a:lnTo>
                  <a:lnTo>
                    <a:pt x="5133770" y="1968499"/>
                  </a:lnTo>
                  <a:close/>
                </a:path>
                <a:path w="5217159" h="2743200">
                  <a:moveTo>
                    <a:pt x="5216535" y="1765299"/>
                  </a:moveTo>
                  <a:lnTo>
                    <a:pt x="4879536" y="1765299"/>
                  </a:lnTo>
                  <a:lnTo>
                    <a:pt x="4890190" y="1777999"/>
                  </a:lnTo>
                  <a:lnTo>
                    <a:pt x="4893242" y="1777999"/>
                  </a:lnTo>
                  <a:lnTo>
                    <a:pt x="4893242" y="1790699"/>
                  </a:lnTo>
                  <a:lnTo>
                    <a:pt x="4890179" y="1803399"/>
                  </a:lnTo>
                  <a:lnTo>
                    <a:pt x="5122064" y="1803399"/>
                  </a:lnTo>
                  <a:lnTo>
                    <a:pt x="5142692" y="1816099"/>
                  </a:lnTo>
                  <a:lnTo>
                    <a:pt x="5161037" y="1828799"/>
                  </a:lnTo>
                  <a:lnTo>
                    <a:pt x="5185122" y="1854199"/>
                  </a:lnTo>
                  <a:lnTo>
                    <a:pt x="5195654" y="1879599"/>
                  </a:lnTo>
                  <a:lnTo>
                    <a:pt x="5192636" y="1917699"/>
                  </a:lnTo>
                  <a:lnTo>
                    <a:pt x="5176072" y="1943099"/>
                  </a:lnTo>
                  <a:lnTo>
                    <a:pt x="5216535" y="1981199"/>
                  </a:lnTo>
                  <a:lnTo>
                    <a:pt x="5216535" y="1765299"/>
                  </a:lnTo>
                  <a:close/>
                </a:path>
                <a:path w="5217159" h="2743200">
                  <a:moveTo>
                    <a:pt x="5088418" y="1930399"/>
                  </a:moveTo>
                  <a:lnTo>
                    <a:pt x="5063657" y="1930399"/>
                  </a:lnTo>
                  <a:lnTo>
                    <a:pt x="5076040" y="1943099"/>
                  </a:lnTo>
                  <a:lnTo>
                    <a:pt x="5088418" y="1930399"/>
                  </a:lnTo>
                  <a:close/>
                </a:path>
                <a:path w="5217159" h="2743200">
                  <a:moveTo>
                    <a:pt x="5120567" y="1854199"/>
                  </a:moveTo>
                  <a:lnTo>
                    <a:pt x="5031522" y="1854199"/>
                  </a:lnTo>
                  <a:lnTo>
                    <a:pt x="5023622" y="1866899"/>
                  </a:lnTo>
                  <a:lnTo>
                    <a:pt x="5017838" y="1866899"/>
                  </a:lnTo>
                  <a:lnTo>
                    <a:pt x="5014285" y="1879599"/>
                  </a:lnTo>
                  <a:lnTo>
                    <a:pt x="5013076" y="1892299"/>
                  </a:lnTo>
                  <a:lnTo>
                    <a:pt x="5014285" y="1904999"/>
                  </a:lnTo>
                  <a:lnTo>
                    <a:pt x="5017838" y="1904999"/>
                  </a:lnTo>
                  <a:lnTo>
                    <a:pt x="5023622" y="1917699"/>
                  </a:lnTo>
                  <a:lnTo>
                    <a:pt x="5031522" y="1917699"/>
                  </a:lnTo>
                  <a:lnTo>
                    <a:pt x="5041126" y="1930399"/>
                  </a:lnTo>
                  <a:lnTo>
                    <a:pt x="5110956" y="1930399"/>
                  </a:lnTo>
                  <a:lnTo>
                    <a:pt x="5120567" y="1917699"/>
                  </a:lnTo>
                  <a:lnTo>
                    <a:pt x="5134370" y="1904999"/>
                  </a:lnTo>
                  <a:lnTo>
                    <a:pt x="5138971" y="1892299"/>
                  </a:lnTo>
                  <a:lnTo>
                    <a:pt x="5134370" y="1866899"/>
                  </a:lnTo>
                  <a:lnTo>
                    <a:pt x="5120567" y="1854199"/>
                  </a:lnTo>
                  <a:close/>
                </a:path>
                <a:path w="5217159" h="2743200">
                  <a:moveTo>
                    <a:pt x="5100148" y="1841499"/>
                  </a:moveTo>
                  <a:lnTo>
                    <a:pt x="5051932" y="1841499"/>
                  </a:lnTo>
                  <a:lnTo>
                    <a:pt x="5041127" y="1854199"/>
                  </a:lnTo>
                  <a:lnTo>
                    <a:pt x="5110956" y="1854199"/>
                  </a:lnTo>
                  <a:lnTo>
                    <a:pt x="5100148" y="1841499"/>
                  </a:lnTo>
                  <a:close/>
                </a:path>
                <a:path w="5217159" h="2743200">
                  <a:moveTo>
                    <a:pt x="5030015" y="1803399"/>
                  </a:moveTo>
                  <a:lnTo>
                    <a:pt x="4879536" y="1803399"/>
                  </a:lnTo>
                  <a:lnTo>
                    <a:pt x="4872158" y="1816099"/>
                  </a:lnTo>
                  <a:lnTo>
                    <a:pt x="5009387" y="1816099"/>
                  </a:lnTo>
                  <a:lnTo>
                    <a:pt x="5030015" y="1803399"/>
                  </a:lnTo>
                  <a:close/>
                </a:path>
                <a:path w="5217159" h="2743200">
                  <a:moveTo>
                    <a:pt x="5216535" y="1727199"/>
                  </a:moveTo>
                  <a:lnTo>
                    <a:pt x="4674541" y="1727199"/>
                  </a:lnTo>
                  <a:lnTo>
                    <a:pt x="4710937" y="1739899"/>
                  </a:lnTo>
                  <a:lnTo>
                    <a:pt x="4757423" y="1739899"/>
                  </a:lnTo>
                  <a:lnTo>
                    <a:pt x="4765124" y="1752599"/>
                  </a:lnTo>
                  <a:lnTo>
                    <a:pt x="4769333" y="1752599"/>
                  </a:lnTo>
                  <a:lnTo>
                    <a:pt x="4769331" y="1765299"/>
                  </a:lnTo>
                  <a:lnTo>
                    <a:pt x="4764917" y="1777999"/>
                  </a:lnTo>
                  <a:lnTo>
                    <a:pt x="4839067" y="1777999"/>
                  </a:lnTo>
                  <a:lnTo>
                    <a:pt x="4849721" y="1765299"/>
                  </a:lnTo>
                  <a:lnTo>
                    <a:pt x="5216535" y="1765299"/>
                  </a:lnTo>
                  <a:lnTo>
                    <a:pt x="5216535" y="172719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983236" y="1158747"/>
            <a:ext cx="4803775" cy="3255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100"/>
              </a:spcBef>
            </a:pPr>
            <a:r>
              <a:rPr sz="2800" spc="-155" dirty="0">
                <a:latin typeface="Arial"/>
                <a:cs typeface="Arial"/>
              </a:rPr>
              <a:t>valores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perdidos</a:t>
            </a:r>
            <a:endParaRPr sz="2800">
              <a:latin typeface="Arial"/>
              <a:cs typeface="Arial"/>
            </a:endParaRPr>
          </a:p>
          <a:p>
            <a:pPr marL="12700" marR="1506220">
              <a:lnSpc>
                <a:spcPts val="1989"/>
              </a:lnSpc>
              <a:spcBef>
                <a:spcPts val="2625"/>
              </a:spcBef>
            </a:pPr>
            <a:r>
              <a:rPr sz="1800" b="1" spc="-10" dirty="0">
                <a:latin typeface="Courier New"/>
                <a:cs typeface="Courier New"/>
              </a:rPr>
              <a:t>install.packages(“mice”) requiere(mice)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714"/>
              </a:spcBef>
            </a:pPr>
            <a:r>
              <a:rPr sz="1800" b="1" dirty="0">
                <a:latin typeface="Courier New"/>
                <a:cs typeface="Courier New"/>
              </a:rPr>
              <a:t>datos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&lt;-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airquality</a:t>
            </a:r>
            <a:endParaRPr sz="1800">
              <a:latin typeface="Courier New"/>
              <a:cs typeface="Courier New"/>
            </a:endParaRPr>
          </a:p>
          <a:p>
            <a:pPr marL="12700" marR="5080">
              <a:lnSpc>
                <a:spcPct val="90300"/>
              </a:lnSpc>
              <a:spcBef>
                <a:spcPts val="1839"/>
              </a:spcBef>
            </a:pPr>
            <a:r>
              <a:rPr sz="1800" b="1" dirty="0">
                <a:latin typeface="Courier New"/>
                <a:cs typeface="Courier New"/>
              </a:rPr>
              <a:t>aggr_plot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&lt;-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aggr(datos[,1:4], </a:t>
            </a:r>
            <a:r>
              <a:rPr sz="1800" b="1" dirty="0">
                <a:latin typeface="Courier New"/>
                <a:cs typeface="Courier New"/>
              </a:rPr>
              <a:t>col=c('blue','red'),</a:t>
            </a:r>
            <a:r>
              <a:rPr sz="1800" b="1" spc="-204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numbers=TRUE, </a:t>
            </a:r>
            <a:r>
              <a:rPr sz="1800" b="1" dirty="0">
                <a:latin typeface="Courier New"/>
                <a:cs typeface="Courier New"/>
              </a:rPr>
              <a:t>sortVars=TRUE,</a:t>
            </a:r>
            <a:r>
              <a:rPr sz="1800" b="1" spc="-15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labels=names(data), </a:t>
            </a:r>
            <a:r>
              <a:rPr sz="1800" b="1" dirty="0">
                <a:latin typeface="Courier New"/>
                <a:cs typeface="Courier New"/>
              </a:rPr>
              <a:t>cex.axis=.5,</a:t>
            </a:r>
            <a:r>
              <a:rPr sz="1800" b="1" spc="-9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gap=1,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ylab=c("Gráfico </a:t>
            </a:r>
            <a:r>
              <a:rPr sz="1800" b="1" dirty="0">
                <a:latin typeface="Courier New"/>
                <a:cs typeface="Courier New"/>
              </a:rPr>
              <a:t>de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datos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perdidos","Patrón"))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pc="-10" dirty="0"/>
              <a:t>Transformación</a:t>
            </a:r>
          </a:p>
          <a:p>
            <a:pPr marL="816610">
              <a:lnSpc>
                <a:spcPct val="100000"/>
              </a:lnSpc>
              <a:spcBef>
                <a:spcPts val="745"/>
              </a:spcBef>
            </a:pPr>
            <a:r>
              <a:rPr sz="2800" dirty="0">
                <a:solidFill>
                  <a:srgbClr val="FF0000"/>
                </a:solidFill>
              </a:rPr>
              <a:t>Datos</a:t>
            </a:r>
            <a:r>
              <a:rPr sz="2800" spc="-50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perdidos: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786643" y="271779"/>
            <a:ext cx="52419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  <a:tab pos="2415540" algn="l"/>
                <a:tab pos="3313429" algn="l"/>
                <a:tab pos="4060825" algn="l"/>
              </a:tabLst>
            </a:pPr>
            <a:r>
              <a:rPr sz="2800" spc="-10" dirty="0">
                <a:latin typeface="Arial"/>
                <a:cs typeface="Arial"/>
              </a:rPr>
              <a:t>Imputación: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5" dirty="0">
                <a:latin typeface="Arial"/>
                <a:cs typeface="Arial"/>
              </a:rPr>
              <a:t>uso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5" dirty="0">
                <a:latin typeface="Arial"/>
                <a:cs typeface="Arial"/>
              </a:rPr>
              <a:t>de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35" dirty="0">
                <a:latin typeface="Arial"/>
                <a:cs typeface="Arial"/>
              </a:rPr>
              <a:t>técnicas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72393" y="561339"/>
            <a:ext cx="49568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19935" algn="l"/>
                <a:tab pos="2556510" algn="l"/>
                <a:tab pos="3269615" algn="l"/>
              </a:tabLst>
            </a:pPr>
            <a:r>
              <a:rPr sz="2800" spc="-10" dirty="0">
                <a:latin typeface="Arial"/>
                <a:cs typeface="Arial"/>
              </a:rPr>
              <a:t>estadísticas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0" dirty="0">
                <a:latin typeface="Arial"/>
                <a:cs typeface="Arial"/>
              </a:rPr>
              <a:t>o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5" dirty="0">
                <a:latin typeface="Arial"/>
                <a:cs typeface="Arial"/>
              </a:rPr>
              <a:t>de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25" dirty="0">
                <a:latin typeface="Arial"/>
                <a:cs typeface="Arial"/>
              </a:rPr>
              <a:t>aprendizaje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72393" y="866139"/>
            <a:ext cx="49561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13889" algn="l"/>
                <a:tab pos="2813685" algn="l"/>
                <a:tab pos="4535170" algn="l"/>
              </a:tabLst>
            </a:pPr>
            <a:r>
              <a:rPr sz="2800" spc="-10" dirty="0">
                <a:latin typeface="Arial"/>
                <a:cs typeface="Arial"/>
              </a:rPr>
              <a:t>automático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0" dirty="0">
                <a:latin typeface="Arial"/>
                <a:cs typeface="Arial"/>
              </a:rPr>
              <a:t>para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0" dirty="0">
                <a:latin typeface="Arial"/>
                <a:cs typeface="Arial"/>
              </a:rPr>
              <a:t>“adivinar”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14" dirty="0">
                <a:latin typeface="Arial"/>
                <a:cs typeface="Arial"/>
              </a:rPr>
              <a:t>los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72393" y="1158747"/>
            <a:ext cx="24003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55" dirty="0">
                <a:latin typeface="Arial"/>
                <a:cs typeface="Arial"/>
              </a:rPr>
              <a:t>valores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perdidos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5171113" y="1824550"/>
            <a:ext cx="1003300" cy="2933065"/>
            <a:chOff x="5171113" y="1824550"/>
            <a:chExt cx="1003300" cy="2933065"/>
          </a:xfrm>
        </p:grpSpPr>
        <p:sp>
          <p:nvSpPr>
            <p:cNvPr id="9" name="object 9"/>
            <p:cNvSpPr/>
            <p:nvPr/>
          </p:nvSpPr>
          <p:spPr>
            <a:xfrm>
              <a:off x="5254492" y="1826982"/>
              <a:ext cx="199390" cy="2927985"/>
            </a:xfrm>
            <a:custGeom>
              <a:avLst/>
              <a:gdLst/>
              <a:ahLst/>
              <a:cxnLst/>
              <a:rect l="l" t="t" r="r" b="b"/>
              <a:pathLst>
                <a:path w="199389" h="2927985">
                  <a:moveTo>
                    <a:pt x="199395" y="0"/>
                  </a:moveTo>
                  <a:lnTo>
                    <a:pt x="0" y="0"/>
                  </a:lnTo>
                  <a:lnTo>
                    <a:pt x="0" y="2927721"/>
                  </a:lnTo>
                  <a:lnTo>
                    <a:pt x="199395" y="2927721"/>
                  </a:lnTo>
                  <a:lnTo>
                    <a:pt x="19939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54492" y="1826982"/>
              <a:ext cx="199390" cy="2927985"/>
            </a:xfrm>
            <a:custGeom>
              <a:avLst/>
              <a:gdLst/>
              <a:ahLst/>
              <a:cxnLst/>
              <a:rect l="l" t="t" r="r" b="b"/>
              <a:pathLst>
                <a:path w="199389" h="2927985">
                  <a:moveTo>
                    <a:pt x="0" y="2927721"/>
                  </a:moveTo>
                  <a:lnTo>
                    <a:pt x="199395" y="2927721"/>
                  </a:lnTo>
                  <a:lnTo>
                    <a:pt x="199395" y="0"/>
                  </a:lnTo>
                  <a:lnTo>
                    <a:pt x="0" y="0"/>
                  </a:lnTo>
                  <a:lnTo>
                    <a:pt x="0" y="2927721"/>
                  </a:lnTo>
                  <a:close/>
                </a:path>
              </a:pathLst>
            </a:custGeom>
            <a:ln w="48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93793" y="4200786"/>
              <a:ext cx="199390" cy="554355"/>
            </a:xfrm>
            <a:custGeom>
              <a:avLst/>
              <a:gdLst/>
              <a:ahLst/>
              <a:cxnLst/>
              <a:rect l="l" t="t" r="r" b="b"/>
              <a:pathLst>
                <a:path w="199389" h="554354">
                  <a:moveTo>
                    <a:pt x="199395" y="0"/>
                  </a:moveTo>
                  <a:lnTo>
                    <a:pt x="0" y="0"/>
                  </a:lnTo>
                  <a:lnTo>
                    <a:pt x="0" y="553917"/>
                  </a:lnTo>
                  <a:lnTo>
                    <a:pt x="199395" y="553917"/>
                  </a:lnTo>
                  <a:lnTo>
                    <a:pt x="19939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93793" y="4200786"/>
              <a:ext cx="199390" cy="554355"/>
            </a:xfrm>
            <a:custGeom>
              <a:avLst/>
              <a:gdLst/>
              <a:ahLst/>
              <a:cxnLst/>
              <a:rect l="l" t="t" r="r" b="b"/>
              <a:pathLst>
                <a:path w="199389" h="554354">
                  <a:moveTo>
                    <a:pt x="0" y="553917"/>
                  </a:moveTo>
                  <a:lnTo>
                    <a:pt x="199395" y="553917"/>
                  </a:lnTo>
                  <a:lnTo>
                    <a:pt x="199395" y="0"/>
                  </a:lnTo>
                  <a:lnTo>
                    <a:pt x="0" y="0"/>
                  </a:lnTo>
                  <a:lnTo>
                    <a:pt x="0" y="553917"/>
                  </a:lnTo>
                  <a:close/>
                </a:path>
              </a:pathLst>
            </a:custGeom>
            <a:ln w="47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33093" y="4200786"/>
              <a:ext cx="199390" cy="554355"/>
            </a:xfrm>
            <a:custGeom>
              <a:avLst/>
              <a:gdLst/>
              <a:ahLst/>
              <a:cxnLst/>
              <a:rect l="l" t="t" r="r" b="b"/>
              <a:pathLst>
                <a:path w="199389" h="554354">
                  <a:moveTo>
                    <a:pt x="199395" y="0"/>
                  </a:moveTo>
                  <a:lnTo>
                    <a:pt x="0" y="0"/>
                  </a:lnTo>
                  <a:lnTo>
                    <a:pt x="0" y="553917"/>
                  </a:lnTo>
                  <a:lnTo>
                    <a:pt x="199395" y="553917"/>
                  </a:lnTo>
                  <a:lnTo>
                    <a:pt x="19939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33093" y="4200786"/>
              <a:ext cx="199390" cy="554355"/>
            </a:xfrm>
            <a:custGeom>
              <a:avLst/>
              <a:gdLst/>
              <a:ahLst/>
              <a:cxnLst/>
              <a:rect l="l" t="t" r="r" b="b"/>
              <a:pathLst>
                <a:path w="199389" h="554354">
                  <a:moveTo>
                    <a:pt x="0" y="553917"/>
                  </a:moveTo>
                  <a:lnTo>
                    <a:pt x="199395" y="553917"/>
                  </a:lnTo>
                  <a:lnTo>
                    <a:pt x="199395" y="0"/>
                  </a:lnTo>
                  <a:lnTo>
                    <a:pt x="0" y="0"/>
                  </a:lnTo>
                  <a:lnTo>
                    <a:pt x="0" y="553917"/>
                  </a:lnTo>
                  <a:close/>
                </a:path>
              </a:pathLst>
            </a:custGeom>
            <a:ln w="47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972329" y="4359079"/>
              <a:ext cx="199390" cy="396240"/>
            </a:xfrm>
            <a:custGeom>
              <a:avLst/>
              <a:gdLst/>
              <a:ahLst/>
              <a:cxnLst/>
              <a:rect l="l" t="t" r="r" b="b"/>
              <a:pathLst>
                <a:path w="199389" h="396239">
                  <a:moveTo>
                    <a:pt x="199395" y="0"/>
                  </a:moveTo>
                  <a:lnTo>
                    <a:pt x="0" y="0"/>
                  </a:lnTo>
                  <a:lnTo>
                    <a:pt x="0" y="395625"/>
                  </a:lnTo>
                  <a:lnTo>
                    <a:pt x="199395" y="395625"/>
                  </a:lnTo>
                  <a:lnTo>
                    <a:pt x="19939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71113" y="2333412"/>
              <a:ext cx="1000760" cy="2421890"/>
            </a:xfrm>
            <a:custGeom>
              <a:avLst/>
              <a:gdLst/>
              <a:ahLst/>
              <a:cxnLst/>
              <a:rect l="l" t="t" r="r" b="b"/>
              <a:pathLst>
                <a:path w="1000760" h="2421890">
                  <a:moveTo>
                    <a:pt x="801216" y="2421291"/>
                  </a:moveTo>
                  <a:lnTo>
                    <a:pt x="1000612" y="2421291"/>
                  </a:lnTo>
                  <a:lnTo>
                    <a:pt x="1000612" y="2025666"/>
                  </a:lnTo>
                  <a:lnTo>
                    <a:pt x="801216" y="2025666"/>
                  </a:lnTo>
                  <a:lnTo>
                    <a:pt x="801216" y="2421291"/>
                  </a:lnTo>
                  <a:close/>
                </a:path>
                <a:path w="1000760" h="2421890">
                  <a:moveTo>
                    <a:pt x="46718" y="2421291"/>
                  </a:moveTo>
                  <a:lnTo>
                    <a:pt x="46718" y="0"/>
                  </a:lnTo>
                </a:path>
                <a:path w="1000760" h="2421890">
                  <a:moveTo>
                    <a:pt x="46718" y="2421291"/>
                  </a:moveTo>
                  <a:lnTo>
                    <a:pt x="0" y="2421291"/>
                  </a:lnTo>
                </a:path>
                <a:path w="1000760" h="2421890">
                  <a:moveTo>
                    <a:pt x="46718" y="1815968"/>
                  </a:moveTo>
                  <a:lnTo>
                    <a:pt x="0" y="1815968"/>
                  </a:lnTo>
                </a:path>
                <a:path w="1000760" h="2421890">
                  <a:moveTo>
                    <a:pt x="46718" y="1210645"/>
                  </a:moveTo>
                  <a:lnTo>
                    <a:pt x="0" y="1210645"/>
                  </a:lnTo>
                </a:path>
                <a:path w="1000760" h="2421890">
                  <a:moveTo>
                    <a:pt x="46718" y="605322"/>
                  </a:moveTo>
                  <a:lnTo>
                    <a:pt x="0" y="605322"/>
                  </a:lnTo>
                </a:path>
                <a:path w="1000760" h="2421890">
                  <a:moveTo>
                    <a:pt x="46718" y="0"/>
                  </a:moveTo>
                  <a:lnTo>
                    <a:pt x="0" y="0"/>
                  </a:lnTo>
                </a:path>
              </a:pathLst>
            </a:custGeom>
            <a:ln w="44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836186" y="2854150"/>
            <a:ext cx="116839" cy="87376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790"/>
              </a:lnSpc>
            </a:pPr>
            <a:r>
              <a:rPr sz="700" spc="-65" dirty="0">
                <a:latin typeface="Helvetica"/>
                <a:cs typeface="Helvetica"/>
              </a:rPr>
              <a:t>Gráfico</a:t>
            </a:r>
            <a:r>
              <a:rPr sz="700" spc="-15" dirty="0">
                <a:latin typeface="Helvetica"/>
                <a:cs typeface="Helvetica"/>
              </a:rPr>
              <a:t> </a:t>
            </a:r>
            <a:r>
              <a:rPr sz="700" spc="-70" dirty="0">
                <a:latin typeface="Helvetica"/>
                <a:cs typeface="Helvetica"/>
              </a:rPr>
              <a:t>de</a:t>
            </a:r>
            <a:r>
              <a:rPr sz="700" spc="-10" dirty="0">
                <a:latin typeface="Helvetica"/>
                <a:cs typeface="Helvetica"/>
              </a:rPr>
              <a:t> </a:t>
            </a:r>
            <a:r>
              <a:rPr sz="700" spc="-65" dirty="0">
                <a:latin typeface="Helvetica"/>
                <a:cs typeface="Helvetica"/>
              </a:rPr>
              <a:t>datos</a:t>
            </a:r>
            <a:r>
              <a:rPr sz="700" spc="-15" dirty="0">
                <a:latin typeface="Helvetica"/>
                <a:cs typeface="Helvetica"/>
              </a:rPr>
              <a:t> </a:t>
            </a:r>
            <a:r>
              <a:rPr sz="700" spc="-50" dirty="0">
                <a:latin typeface="Helvetica"/>
                <a:cs typeface="Helvetica"/>
              </a:rPr>
              <a:t>perdidos</a:t>
            </a:r>
            <a:endParaRPr sz="700">
              <a:latin typeface="Helvetica"/>
              <a:cs typeface="Helvetic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63029" y="4711118"/>
            <a:ext cx="64769" cy="87630"/>
          </a:xfrm>
          <a:prstGeom prst="rect">
            <a:avLst/>
          </a:prstGeom>
        </p:spPr>
        <p:txBody>
          <a:bodyPr vert="vert270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300" spc="-20" dirty="0">
                <a:latin typeface="Helvetica"/>
                <a:cs typeface="Helvetica"/>
              </a:rPr>
              <a:t>0.00</a:t>
            </a:r>
            <a:endParaRPr sz="300">
              <a:latin typeface="Helvetica"/>
              <a:cs typeface="Helvetic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63029" y="4105795"/>
            <a:ext cx="64769" cy="87630"/>
          </a:xfrm>
          <a:prstGeom prst="rect">
            <a:avLst/>
          </a:prstGeom>
        </p:spPr>
        <p:txBody>
          <a:bodyPr vert="vert270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300" spc="-20" dirty="0">
                <a:latin typeface="Helvetica"/>
                <a:cs typeface="Helvetica"/>
              </a:rPr>
              <a:t>0.05</a:t>
            </a:r>
            <a:endParaRPr sz="300">
              <a:latin typeface="Helvetica"/>
              <a:cs typeface="Helvetic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63029" y="3500472"/>
            <a:ext cx="64769" cy="87630"/>
          </a:xfrm>
          <a:prstGeom prst="rect">
            <a:avLst/>
          </a:prstGeom>
        </p:spPr>
        <p:txBody>
          <a:bodyPr vert="vert270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300" spc="-20" dirty="0">
                <a:latin typeface="Helvetica"/>
                <a:cs typeface="Helvetica"/>
              </a:rPr>
              <a:t>0.10</a:t>
            </a:r>
            <a:endParaRPr sz="300">
              <a:latin typeface="Helvetica"/>
              <a:cs typeface="Helvetic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063029" y="2895149"/>
            <a:ext cx="64769" cy="87630"/>
          </a:xfrm>
          <a:prstGeom prst="rect">
            <a:avLst/>
          </a:prstGeom>
        </p:spPr>
        <p:txBody>
          <a:bodyPr vert="vert270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300" spc="-20" dirty="0">
                <a:latin typeface="Helvetica"/>
                <a:cs typeface="Helvetica"/>
              </a:rPr>
              <a:t>0.15</a:t>
            </a:r>
            <a:endParaRPr sz="300">
              <a:latin typeface="Helvetica"/>
              <a:cs typeface="Helvetic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63029" y="2289826"/>
            <a:ext cx="64769" cy="87630"/>
          </a:xfrm>
          <a:prstGeom prst="rect">
            <a:avLst/>
          </a:prstGeom>
        </p:spPr>
        <p:txBody>
          <a:bodyPr vert="vert270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300" spc="-20" dirty="0">
                <a:latin typeface="Helvetica"/>
                <a:cs typeface="Helvetica"/>
              </a:rPr>
              <a:t>0.20</a:t>
            </a:r>
            <a:endParaRPr sz="300">
              <a:latin typeface="Helvetica"/>
              <a:cs typeface="Helvetic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25495" y="4818265"/>
            <a:ext cx="64769" cy="118745"/>
          </a:xfrm>
          <a:prstGeom prst="rect">
            <a:avLst/>
          </a:prstGeom>
        </p:spPr>
        <p:txBody>
          <a:bodyPr vert="vert270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300" spc="-25" dirty="0">
                <a:latin typeface="Helvetica"/>
                <a:cs typeface="Helvetica"/>
              </a:rPr>
              <a:t>Ozone</a:t>
            </a:r>
            <a:endParaRPr sz="300">
              <a:latin typeface="Helvetica"/>
              <a:cs typeface="Helvetic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564795" y="4818214"/>
            <a:ext cx="64769" cy="130175"/>
          </a:xfrm>
          <a:prstGeom prst="rect">
            <a:avLst/>
          </a:prstGeom>
        </p:spPr>
        <p:txBody>
          <a:bodyPr vert="vert270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300" spc="-25" dirty="0">
                <a:latin typeface="Helvetica"/>
                <a:cs typeface="Helvetica"/>
              </a:rPr>
              <a:t>Solar.R</a:t>
            </a:r>
            <a:endParaRPr sz="300">
              <a:latin typeface="Helvetica"/>
              <a:cs typeface="Helvetic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804096" y="4818258"/>
            <a:ext cx="64769" cy="97790"/>
          </a:xfrm>
          <a:prstGeom prst="rect">
            <a:avLst/>
          </a:prstGeom>
        </p:spPr>
        <p:txBody>
          <a:bodyPr vert="vert270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300" spc="-20" dirty="0">
                <a:latin typeface="Helvetica"/>
                <a:cs typeface="Helvetica"/>
              </a:rPr>
              <a:t>Wind</a:t>
            </a:r>
            <a:endParaRPr sz="300">
              <a:latin typeface="Helvetica"/>
              <a:cs typeface="Helvetic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43332" y="4818264"/>
            <a:ext cx="64769" cy="102870"/>
          </a:xfrm>
          <a:prstGeom prst="rect">
            <a:avLst/>
          </a:prstGeom>
        </p:spPr>
        <p:txBody>
          <a:bodyPr vert="vert270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300" spc="-35" dirty="0">
                <a:latin typeface="Helvetica"/>
                <a:cs typeface="Helvetica"/>
              </a:rPr>
              <a:t>Temp</a:t>
            </a:r>
            <a:endParaRPr sz="300">
              <a:latin typeface="Helvetica"/>
              <a:cs typeface="Helvetica"/>
            </a:endParaRPr>
          </a:p>
        </p:txBody>
      </p: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6299598" y="1824693"/>
          <a:ext cx="990600" cy="2927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7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8" name="object 28"/>
          <p:cNvSpPr txBox="1"/>
          <p:nvPr/>
        </p:nvSpPr>
        <p:spPr>
          <a:xfrm>
            <a:off x="6107114" y="3170475"/>
            <a:ext cx="116839" cy="2413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790"/>
              </a:lnSpc>
            </a:pPr>
            <a:r>
              <a:rPr sz="700" spc="-60" dirty="0">
                <a:latin typeface="Helvetica"/>
                <a:cs typeface="Helvetica"/>
              </a:rPr>
              <a:t>Patrón</a:t>
            </a:r>
            <a:endParaRPr sz="700">
              <a:latin typeface="Helvetica"/>
              <a:cs typeface="Helvetic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397027" y="4818265"/>
            <a:ext cx="64769" cy="118745"/>
          </a:xfrm>
          <a:prstGeom prst="rect">
            <a:avLst/>
          </a:prstGeom>
        </p:spPr>
        <p:txBody>
          <a:bodyPr vert="vert270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300" spc="-25" dirty="0">
                <a:latin typeface="Helvetica"/>
                <a:cs typeface="Helvetica"/>
              </a:rPr>
              <a:t>Ozone</a:t>
            </a:r>
            <a:endParaRPr sz="300">
              <a:latin typeface="Helvetica"/>
              <a:cs typeface="Helvetic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644633" y="4818214"/>
            <a:ext cx="64769" cy="130175"/>
          </a:xfrm>
          <a:prstGeom prst="rect">
            <a:avLst/>
          </a:prstGeom>
        </p:spPr>
        <p:txBody>
          <a:bodyPr vert="vert270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300" spc="-25" dirty="0">
                <a:latin typeface="Helvetica"/>
                <a:cs typeface="Helvetica"/>
              </a:rPr>
              <a:t>Solar.R</a:t>
            </a:r>
            <a:endParaRPr sz="300">
              <a:latin typeface="Helvetica"/>
              <a:cs typeface="Helvetic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892304" y="4818258"/>
            <a:ext cx="64769" cy="97790"/>
          </a:xfrm>
          <a:prstGeom prst="rect">
            <a:avLst/>
          </a:prstGeom>
        </p:spPr>
        <p:txBody>
          <a:bodyPr vert="vert270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300" spc="-20" dirty="0">
                <a:latin typeface="Helvetica"/>
                <a:cs typeface="Helvetica"/>
              </a:rPr>
              <a:t>Wind</a:t>
            </a:r>
            <a:endParaRPr sz="300">
              <a:latin typeface="Helvetica"/>
              <a:cs typeface="Helvetic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139976" y="4818264"/>
            <a:ext cx="64769" cy="102870"/>
          </a:xfrm>
          <a:prstGeom prst="rect">
            <a:avLst/>
          </a:prstGeom>
        </p:spPr>
        <p:txBody>
          <a:bodyPr vert="vert270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300" spc="-35" dirty="0">
                <a:latin typeface="Helvetica"/>
                <a:cs typeface="Helvetica"/>
              </a:rPr>
              <a:t>Temp</a:t>
            </a:r>
            <a:endParaRPr sz="300">
              <a:latin typeface="Helvetica"/>
              <a:cs typeface="Helvetic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340555" y="1848954"/>
            <a:ext cx="103505" cy="2884170"/>
            <a:chOff x="7340555" y="1848954"/>
            <a:chExt cx="103505" cy="2884170"/>
          </a:xfrm>
        </p:grpSpPr>
        <p:sp>
          <p:nvSpPr>
            <p:cNvPr id="34" name="object 34"/>
            <p:cNvSpPr/>
            <p:nvPr/>
          </p:nvSpPr>
          <p:spPr>
            <a:xfrm>
              <a:off x="7342988" y="4486348"/>
              <a:ext cx="98425" cy="244475"/>
            </a:xfrm>
            <a:custGeom>
              <a:avLst/>
              <a:gdLst/>
              <a:ahLst/>
              <a:cxnLst/>
              <a:rect l="l" t="t" r="r" b="b"/>
              <a:pathLst>
                <a:path w="98425" h="244475">
                  <a:moveTo>
                    <a:pt x="98108" y="0"/>
                  </a:moveTo>
                  <a:lnTo>
                    <a:pt x="0" y="0"/>
                  </a:lnTo>
                  <a:lnTo>
                    <a:pt x="0" y="243950"/>
                  </a:lnTo>
                  <a:lnTo>
                    <a:pt x="98108" y="243950"/>
                  </a:lnTo>
                  <a:lnTo>
                    <a:pt x="9810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342988" y="4486348"/>
              <a:ext cx="98425" cy="244475"/>
            </a:xfrm>
            <a:custGeom>
              <a:avLst/>
              <a:gdLst/>
              <a:ahLst/>
              <a:cxnLst/>
              <a:rect l="l" t="t" r="r" b="b"/>
              <a:pathLst>
                <a:path w="98425" h="244475">
                  <a:moveTo>
                    <a:pt x="0" y="243950"/>
                  </a:moveTo>
                  <a:lnTo>
                    <a:pt x="98108" y="243950"/>
                  </a:lnTo>
                  <a:lnTo>
                    <a:pt x="98108" y="0"/>
                  </a:lnTo>
                  <a:lnTo>
                    <a:pt x="0" y="0"/>
                  </a:lnTo>
                  <a:lnTo>
                    <a:pt x="0" y="243950"/>
                  </a:lnTo>
                  <a:close/>
                </a:path>
              </a:pathLst>
            </a:custGeom>
            <a:ln w="4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342988" y="4193586"/>
              <a:ext cx="32384" cy="244475"/>
            </a:xfrm>
            <a:custGeom>
              <a:avLst/>
              <a:gdLst/>
              <a:ahLst/>
              <a:cxnLst/>
              <a:rect l="l" t="t" r="r" b="b"/>
              <a:pathLst>
                <a:path w="32384" h="244475">
                  <a:moveTo>
                    <a:pt x="32053" y="0"/>
                  </a:moveTo>
                  <a:lnTo>
                    <a:pt x="0" y="0"/>
                  </a:lnTo>
                  <a:lnTo>
                    <a:pt x="0" y="243950"/>
                  </a:lnTo>
                  <a:lnTo>
                    <a:pt x="32053" y="243950"/>
                  </a:lnTo>
                  <a:lnTo>
                    <a:pt x="3205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342988" y="4193586"/>
              <a:ext cx="32384" cy="244475"/>
            </a:xfrm>
            <a:custGeom>
              <a:avLst/>
              <a:gdLst/>
              <a:ahLst/>
              <a:cxnLst/>
              <a:rect l="l" t="t" r="r" b="b"/>
              <a:pathLst>
                <a:path w="32384" h="244475">
                  <a:moveTo>
                    <a:pt x="0" y="243950"/>
                  </a:moveTo>
                  <a:lnTo>
                    <a:pt x="32053" y="243950"/>
                  </a:lnTo>
                  <a:lnTo>
                    <a:pt x="32053" y="0"/>
                  </a:lnTo>
                  <a:lnTo>
                    <a:pt x="0" y="0"/>
                  </a:lnTo>
                  <a:lnTo>
                    <a:pt x="0" y="243950"/>
                  </a:lnTo>
                  <a:close/>
                </a:path>
              </a:pathLst>
            </a:custGeom>
            <a:ln w="48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342988" y="3900825"/>
              <a:ext cx="3810" cy="244475"/>
            </a:xfrm>
            <a:custGeom>
              <a:avLst/>
              <a:gdLst/>
              <a:ahLst/>
              <a:cxnLst/>
              <a:rect l="l" t="t" r="r" b="b"/>
              <a:pathLst>
                <a:path w="3809" h="244475">
                  <a:moveTo>
                    <a:pt x="3763" y="0"/>
                  </a:moveTo>
                  <a:lnTo>
                    <a:pt x="0" y="0"/>
                  </a:lnTo>
                  <a:lnTo>
                    <a:pt x="0" y="243950"/>
                  </a:lnTo>
                  <a:lnTo>
                    <a:pt x="3763" y="243950"/>
                  </a:lnTo>
                  <a:lnTo>
                    <a:pt x="376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342988" y="3900825"/>
              <a:ext cx="3810" cy="244475"/>
            </a:xfrm>
            <a:custGeom>
              <a:avLst/>
              <a:gdLst/>
              <a:ahLst/>
              <a:cxnLst/>
              <a:rect l="l" t="t" r="r" b="b"/>
              <a:pathLst>
                <a:path w="3809" h="244475">
                  <a:moveTo>
                    <a:pt x="0" y="243950"/>
                  </a:moveTo>
                  <a:lnTo>
                    <a:pt x="3763" y="243950"/>
                  </a:lnTo>
                  <a:lnTo>
                    <a:pt x="3763" y="0"/>
                  </a:lnTo>
                  <a:lnTo>
                    <a:pt x="0" y="0"/>
                  </a:lnTo>
                  <a:lnTo>
                    <a:pt x="0" y="243950"/>
                  </a:lnTo>
                  <a:close/>
                </a:path>
              </a:pathLst>
            </a:custGeom>
            <a:ln w="48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342988" y="3608063"/>
              <a:ext cx="3175" cy="244475"/>
            </a:xfrm>
            <a:custGeom>
              <a:avLst/>
              <a:gdLst/>
              <a:ahLst/>
              <a:cxnLst/>
              <a:rect l="l" t="t" r="r" b="b"/>
              <a:pathLst>
                <a:path w="3175" h="244475">
                  <a:moveTo>
                    <a:pt x="2854" y="0"/>
                  </a:moveTo>
                  <a:lnTo>
                    <a:pt x="0" y="0"/>
                  </a:lnTo>
                  <a:lnTo>
                    <a:pt x="0" y="243950"/>
                  </a:lnTo>
                  <a:lnTo>
                    <a:pt x="2854" y="243950"/>
                  </a:lnTo>
                  <a:lnTo>
                    <a:pt x="28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342988" y="3608063"/>
              <a:ext cx="3175" cy="244475"/>
            </a:xfrm>
            <a:custGeom>
              <a:avLst/>
              <a:gdLst/>
              <a:ahLst/>
              <a:cxnLst/>
              <a:rect l="l" t="t" r="r" b="b"/>
              <a:pathLst>
                <a:path w="3175" h="244475">
                  <a:moveTo>
                    <a:pt x="0" y="243950"/>
                  </a:moveTo>
                  <a:lnTo>
                    <a:pt x="2854" y="243950"/>
                  </a:lnTo>
                  <a:lnTo>
                    <a:pt x="2854" y="0"/>
                  </a:lnTo>
                  <a:lnTo>
                    <a:pt x="0" y="0"/>
                  </a:lnTo>
                  <a:lnTo>
                    <a:pt x="0" y="243950"/>
                  </a:lnTo>
                  <a:close/>
                </a:path>
              </a:pathLst>
            </a:custGeom>
            <a:ln w="48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342988" y="3315248"/>
              <a:ext cx="3175" cy="244475"/>
            </a:xfrm>
            <a:custGeom>
              <a:avLst/>
              <a:gdLst/>
              <a:ahLst/>
              <a:cxnLst/>
              <a:rect l="l" t="t" r="r" b="b"/>
              <a:pathLst>
                <a:path w="3175" h="244475">
                  <a:moveTo>
                    <a:pt x="2854" y="0"/>
                  </a:moveTo>
                  <a:lnTo>
                    <a:pt x="0" y="0"/>
                  </a:lnTo>
                  <a:lnTo>
                    <a:pt x="0" y="243950"/>
                  </a:lnTo>
                  <a:lnTo>
                    <a:pt x="2854" y="243950"/>
                  </a:lnTo>
                  <a:lnTo>
                    <a:pt x="28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342988" y="3315248"/>
              <a:ext cx="3175" cy="244475"/>
            </a:xfrm>
            <a:custGeom>
              <a:avLst/>
              <a:gdLst/>
              <a:ahLst/>
              <a:cxnLst/>
              <a:rect l="l" t="t" r="r" b="b"/>
              <a:pathLst>
                <a:path w="3175" h="244475">
                  <a:moveTo>
                    <a:pt x="0" y="243950"/>
                  </a:moveTo>
                  <a:lnTo>
                    <a:pt x="2854" y="243950"/>
                  </a:lnTo>
                  <a:lnTo>
                    <a:pt x="2854" y="0"/>
                  </a:lnTo>
                  <a:lnTo>
                    <a:pt x="0" y="0"/>
                  </a:lnTo>
                  <a:lnTo>
                    <a:pt x="0" y="243950"/>
                  </a:lnTo>
                  <a:close/>
                </a:path>
              </a:pathLst>
            </a:custGeom>
            <a:ln w="48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342988" y="3022487"/>
              <a:ext cx="1270" cy="244475"/>
            </a:xfrm>
            <a:custGeom>
              <a:avLst/>
              <a:gdLst/>
              <a:ahLst/>
              <a:cxnLst/>
              <a:rect l="l" t="t" r="r" b="b"/>
              <a:pathLst>
                <a:path w="1270" h="244475">
                  <a:moveTo>
                    <a:pt x="973" y="0"/>
                  </a:moveTo>
                  <a:lnTo>
                    <a:pt x="0" y="0"/>
                  </a:lnTo>
                  <a:lnTo>
                    <a:pt x="0" y="243950"/>
                  </a:lnTo>
                  <a:lnTo>
                    <a:pt x="973" y="243950"/>
                  </a:lnTo>
                  <a:lnTo>
                    <a:pt x="97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342988" y="3022487"/>
              <a:ext cx="1270" cy="244475"/>
            </a:xfrm>
            <a:custGeom>
              <a:avLst/>
              <a:gdLst/>
              <a:ahLst/>
              <a:cxnLst/>
              <a:rect l="l" t="t" r="r" b="b"/>
              <a:pathLst>
                <a:path w="1270" h="244475">
                  <a:moveTo>
                    <a:pt x="0" y="243950"/>
                  </a:moveTo>
                  <a:lnTo>
                    <a:pt x="973" y="243950"/>
                  </a:lnTo>
                  <a:lnTo>
                    <a:pt x="973" y="0"/>
                  </a:lnTo>
                  <a:lnTo>
                    <a:pt x="0" y="0"/>
                  </a:lnTo>
                  <a:lnTo>
                    <a:pt x="0" y="243950"/>
                  </a:lnTo>
                  <a:close/>
                </a:path>
              </a:pathLst>
            </a:custGeom>
            <a:ln w="48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342988" y="2729725"/>
              <a:ext cx="1270" cy="244475"/>
            </a:xfrm>
            <a:custGeom>
              <a:avLst/>
              <a:gdLst/>
              <a:ahLst/>
              <a:cxnLst/>
              <a:rect l="l" t="t" r="r" b="b"/>
              <a:pathLst>
                <a:path w="1270" h="244475">
                  <a:moveTo>
                    <a:pt x="973" y="0"/>
                  </a:moveTo>
                  <a:lnTo>
                    <a:pt x="0" y="0"/>
                  </a:lnTo>
                  <a:lnTo>
                    <a:pt x="0" y="243950"/>
                  </a:lnTo>
                  <a:lnTo>
                    <a:pt x="973" y="243950"/>
                  </a:lnTo>
                  <a:lnTo>
                    <a:pt x="97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342988" y="2729725"/>
              <a:ext cx="1270" cy="244475"/>
            </a:xfrm>
            <a:custGeom>
              <a:avLst/>
              <a:gdLst/>
              <a:ahLst/>
              <a:cxnLst/>
              <a:rect l="l" t="t" r="r" b="b"/>
              <a:pathLst>
                <a:path w="1270" h="244475">
                  <a:moveTo>
                    <a:pt x="0" y="243950"/>
                  </a:moveTo>
                  <a:lnTo>
                    <a:pt x="973" y="243950"/>
                  </a:lnTo>
                  <a:lnTo>
                    <a:pt x="973" y="0"/>
                  </a:lnTo>
                  <a:lnTo>
                    <a:pt x="0" y="0"/>
                  </a:lnTo>
                  <a:lnTo>
                    <a:pt x="0" y="243950"/>
                  </a:lnTo>
                  <a:close/>
                </a:path>
              </a:pathLst>
            </a:custGeom>
            <a:ln w="48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342988" y="2436964"/>
              <a:ext cx="1270" cy="244475"/>
            </a:xfrm>
            <a:custGeom>
              <a:avLst/>
              <a:gdLst/>
              <a:ahLst/>
              <a:cxnLst/>
              <a:rect l="l" t="t" r="r" b="b"/>
              <a:pathLst>
                <a:path w="1270" h="244475">
                  <a:moveTo>
                    <a:pt x="973" y="0"/>
                  </a:moveTo>
                  <a:lnTo>
                    <a:pt x="0" y="0"/>
                  </a:lnTo>
                  <a:lnTo>
                    <a:pt x="0" y="243950"/>
                  </a:lnTo>
                  <a:lnTo>
                    <a:pt x="973" y="243950"/>
                  </a:lnTo>
                  <a:lnTo>
                    <a:pt x="97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342988" y="2436964"/>
              <a:ext cx="1270" cy="244475"/>
            </a:xfrm>
            <a:custGeom>
              <a:avLst/>
              <a:gdLst/>
              <a:ahLst/>
              <a:cxnLst/>
              <a:rect l="l" t="t" r="r" b="b"/>
              <a:pathLst>
                <a:path w="1270" h="244475">
                  <a:moveTo>
                    <a:pt x="0" y="243950"/>
                  </a:moveTo>
                  <a:lnTo>
                    <a:pt x="973" y="243950"/>
                  </a:lnTo>
                  <a:lnTo>
                    <a:pt x="973" y="0"/>
                  </a:lnTo>
                  <a:lnTo>
                    <a:pt x="0" y="0"/>
                  </a:lnTo>
                  <a:lnTo>
                    <a:pt x="0" y="243950"/>
                  </a:lnTo>
                  <a:close/>
                </a:path>
              </a:pathLst>
            </a:custGeom>
            <a:ln w="48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342988" y="2144202"/>
              <a:ext cx="1270" cy="244475"/>
            </a:xfrm>
            <a:custGeom>
              <a:avLst/>
              <a:gdLst/>
              <a:ahLst/>
              <a:cxnLst/>
              <a:rect l="l" t="t" r="r" b="b"/>
              <a:pathLst>
                <a:path w="1270" h="244475">
                  <a:moveTo>
                    <a:pt x="973" y="0"/>
                  </a:moveTo>
                  <a:lnTo>
                    <a:pt x="0" y="0"/>
                  </a:lnTo>
                  <a:lnTo>
                    <a:pt x="0" y="243950"/>
                  </a:lnTo>
                  <a:lnTo>
                    <a:pt x="973" y="243950"/>
                  </a:lnTo>
                  <a:lnTo>
                    <a:pt x="97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342988" y="2144202"/>
              <a:ext cx="1270" cy="244475"/>
            </a:xfrm>
            <a:custGeom>
              <a:avLst/>
              <a:gdLst/>
              <a:ahLst/>
              <a:cxnLst/>
              <a:rect l="l" t="t" r="r" b="b"/>
              <a:pathLst>
                <a:path w="1270" h="244475">
                  <a:moveTo>
                    <a:pt x="0" y="243950"/>
                  </a:moveTo>
                  <a:lnTo>
                    <a:pt x="973" y="243950"/>
                  </a:lnTo>
                  <a:lnTo>
                    <a:pt x="973" y="0"/>
                  </a:lnTo>
                  <a:lnTo>
                    <a:pt x="0" y="0"/>
                  </a:lnTo>
                  <a:lnTo>
                    <a:pt x="0" y="243950"/>
                  </a:lnTo>
                  <a:close/>
                </a:path>
              </a:pathLst>
            </a:custGeom>
            <a:ln w="48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342988" y="1851388"/>
              <a:ext cx="1270" cy="244475"/>
            </a:xfrm>
            <a:custGeom>
              <a:avLst/>
              <a:gdLst/>
              <a:ahLst/>
              <a:cxnLst/>
              <a:rect l="l" t="t" r="r" b="b"/>
              <a:pathLst>
                <a:path w="1270" h="244475">
                  <a:moveTo>
                    <a:pt x="973" y="0"/>
                  </a:moveTo>
                  <a:lnTo>
                    <a:pt x="0" y="0"/>
                  </a:lnTo>
                  <a:lnTo>
                    <a:pt x="0" y="243950"/>
                  </a:lnTo>
                  <a:lnTo>
                    <a:pt x="973" y="243950"/>
                  </a:lnTo>
                  <a:lnTo>
                    <a:pt x="97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342988" y="1851388"/>
              <a:ext cx="1270" cy="244475"/>
            </a:xfrm>
            <a:custGeom>
              <a:avLst/>
              <a:gdLst/>
              <a:ahLst/>
              <a:cxnLst/>
              <a:rect l="l" t="t" r="r" b="b"/>
              <a:pathLst>
                <a:path w="1270" h="244475">
                  <a:moveTo>
                    <a:pt x="0" y="243950"/>
                  </a:moveTo>
                  <a:lnTo>
                    <a:pt x="973" y="243950"/>
                  </a:lnTo>
                  <a:lnTo>
                    <a:pt x="973" y="0"/>
                  </a:lnTo>
                  <a:lnTo>
                    <a:pt x="0" y="0"/>
                  </a:lnTo>
                  <a:lnTo>
                    <a:pt x="0" y="243950"/>
                  </a:lnTo>
                  <a:close/>
                </a:path>
              </a:pathLst>
            </a:custGeom>
            <a:ln w="48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7477904" y="4553800"/>
            <a:ext cx="26352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40" dirty="0">
                <a:latin typeface="Helvetica"/>
                <a:cs typeface="Helvetica"/>
              </a:rPr>
              <a:t>0.6797</a:t>
            </a:r>
            <a:endParaRPr sz="500">
              <a:latin typeface="Helvetica"/>
              <a:cs typeface="Helvetic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477904" y="4261038"/>
            <a:ext cx="26352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40" dirty="0">
                <a:latin typeface="Helvetica"/>
                <a:cs typeface="Helvetica"/>
              </a:rPr>
              <a:t>0.2222</a:t>
            </a:r>
            <a:endParaRPr sz="500">
              <a:latin typeface="Helvetica"/>
              <a:cs typeface="Helvetic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477904" y="3968277"/>
            <a:ext cx="26352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40" dirty="0">
                <a:latin typeface="Helvetica"/>
                <a:cs typeface="Helvetica"/>
              </a:rPr>
              <a:t>0.0261</a:t>
            </a:r>
            <a:endParaRPr sz="500">
              <a:latin typeface="Helvetica"/>
              <a:cs typeface="Helvetic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477904" y="3675515"/>
            <a:ext cx="26352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40" dirty="0">
                <a:latin typeface="Helvetica"/>
                <a:cs typeface="Helvetica"/>
              </a:rPr>
              <a:t>0.0196</a:t>
            </a:r>
            <a:endParaRPr sz="500">
              <a:latin typeface="Helvetica"/>
              <a:cs typeface="Helvetic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477904" y="3382753"/>
            <a:ext cx="26352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40" dirty="0">
                <a:latin typeface="Helvetica"/>
                <a:cs typeface="Helvetica"/>
              </a:rPr>
              <a:t>0.0196</a:t>
            </a:r>
            <a:endParaRPr sz="500">
              <a:latin typeface="Helvetica"/>
              <a:cs typeface="Helvetic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477904" y="3089939"/>
            <a:ext cx="26352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40" dirty="0">
                <a:latin typeface="Helvetica"/>
                <a:cs typeface="Helvetica"/>
              </a:rPr>
              <a:t>0.0065</a:t>
            </a:r>
            <a:endParaRPr sz="500">
              <a:latin typeface="Helvetica"/>
              <a:cs typeface="Helvetic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477904" y="2797177"/>
            <a:ext cx="26352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40" dirty="0">
                <a:latin typeface="Helvetica"/>
                <a:cs typeface="Helvetica"/>
              </a:rPr>
              <a:t>0.0065</a:t>
            </a:r>
            <a:endParaRPr sz="500">
              <a:latin typeface="Helvetica"/>
              <a:cs typeface="Helvetic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477904" y="2504416"/>
            <a:ext cx="26352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40" dirty="0">
                <a:latin typeface="Helvetica"/>
                <a:cs typeface="Helvetica"/>
              </a:rPr>
              <a:t>0.0065</a:t>
            </a:r>
            <a:endParaRPr sz="500">
              <a:latin typeface="Helvetica"/>
              <a:cs typeface="Helvetica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477904" y="2211654"/>
            <a:ext cx="26352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40" dirty="0">
                <a:latin typeface="Helvetica"/>
                <a:cs typeface="Helvetica"/>
              </a:rPr>
              <a:t>0.0065</a:t>
            </a:r>
            <a:endParaRPr sz="500">
              <a:latin typeface="Helvetica"/>
              <a:cs typeface="Helvetic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477904" y="1918893"/>
            <a:ext cx="26352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40" dirty="0">
                <a:latin typeface="Helvetica"/>
                <a:cs typeface="Helvetica"/>
              </a:rPr>
              <a:t>0.0065</a:t>
            </a:r>
            <a:endParaRPr sz="5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pc="-10" dirty="0"/>
              <a:t>Transformación</a:t>
            </a:r>
          </a:p>
          <a:p>
            <a:pPr marL="816610">
              <a:lnSpc>
                <a:spcPct val="100000"/>
              </a:lnSpc>
              <a:spcBef>
                <a:spcPts val="745"/>
              </a:spcBef>
            </a:pPr>
            <a:r>
              <a:rPr sz="2800" dirty="0">
                <a:solidFill>
                  <a:srgbClr val="FF0000"/>
                </a:solidFill>
              </a:rPr>
              <a:t>Datos</a:t>
            </a:r>
            <a:r>
              <a:rPr sz="2800" spc="-50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perdidos: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786643" y="271779"/>
            <a:ext cx="52419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  <a:tab pos="2415540" algn="l"/>
                <a:tab pos="3313429" algn="l"/>
                <a:tab pos="4060825" algn="l"/>
              </a:tabLst>
            </a:pPr>
            <a:r>
              <a:rPr sz="2800" spc="-10" dirty="0">
                <a:latin typeface="Arial"/>
                <a:cs typeface="Arial"/>
              </a:rPr>
              <a:t>Imputación: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5" dirty="0">
                <a:latin typeface="Arial"/>
                <a:cs typeface="Arial"/>
              </a:rPr>
              <a:t>uso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5" dirty="0">
                <a:latin typeface="Arial"/>
                <a:cs typeface="Arial"/>
              </a:rPr>
              <a:t>de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35" dirty="0">
                <a:latin typeface="Arial"/>
                <a:cs typeface="Arial"/>
              </a:rPr>
              <a:t>técnicas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72393" y="561339"/>
            <a:ext cx="49568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19935" algn="l"/>
                <a:tab pos="2556510" algn="l"/>
                <a:tab pos="3269615" algn="l"/>
              </a:tabLst>
            </a:pPr>
            <a:r>
              <a:rPr sz="2800" spc="-10" dirty="0">
                <a:latin typeface="Arial"/>
                <a:cs typeface="Arial"/>
              </a:rPr>
              <a:t>estadísticas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0" dirty="0">
                <a:latin typeface="Arial"/>
                <a:cs typeface="Arial"/>
              </a:rPr>
              <a:t>o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5" dirty="0">
                <a:latin typeface="Arial"/>
                <a:cs typeface="Arial"/>
              </a:rPr>
              <a:t>de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25" dirty="0">
                <a:latin typeface="Arial"/>
                <a:cs typeface="Arial"/>
              </a:rPr>
              <a:t>aprendizaje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72393" y="866139"/>
            <a:ext cx="49561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13889" algn="l"/>
                <a:tab pos="2813685" algn="l"/>
                <a:tab pos="4535170" algn="l"/>
              </a:tabLst>
            </a:pPr>
            <a:r>
              <a:rPr sz="2800" spc="-10" dirty="0">
                <a:latin typeface="Arial"/>
                <a:cs typeface="Arial"/>
              </a:rPr>
              <a:t>automático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0" dirty="0">
                <a:latin typeface="Arial"/>
                <a:cs typeface="Arial"/>
              </a:rPr>
              <a:t>para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0" dirty="0">
                <a:latin typeface="Arial"/>
                <a:cs typeface="Arial"/>
              </a:rPr>
              <a:t>“adivinar”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14" dirty="0">
                <a:latin typeface="Arial"/>
                <a:cs typeface="Arial"/>
              </a:rPr>
              <a:t>los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72393" y="1158747"/>
            <a:ext cx="24003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55" dirty="0">
                <a:latin typeface="Arial"/>
                <a:cs typeface="Arial"/>
              </a:rPr>
              <a:t>valores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perdidos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891968" y="2004800"/>
            <a:ext cx="5252085" cy="3138805"/>
            <a:chOff x="3891968" y="2004800"/>
            <a:chExt cx="5252085" cy="3138805"/>
          </a:xfrm>
        </p:grpSpPr>
        <p:sp>
          <p:nvSpPr>
            <p:cNvPr id="8" name="object 8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91968" y="2004800"/>
              <a:ext cx="5217160" cy="2082800"/>
            </a:xfrm>
            <a:custGeom>
              <a:avLst/>
              <a:gdLst/>
              <a:ahLst/>
              <a:cxnLst/>
              <a:rect l="l" t="t" r="r" b="b"/>
              <a:pathLst>
                <a:path w="5217159" h="2082800">
                  <a:moveTo>
                    <a:pt x="5216535" y="0"/>
                  </a:moveTo>
                  <a:lnTo>
                    <a:pt x="0" y="0"/>
                  </a:lnTo>
                  <a:lnTo>
                    <a:pt x="0" y="2082800"/>
                  </a:lnTo>
                  <a:lnTo>
                    <a:pt x="4041176" y="2082800"/>
                  </a:lnTo>
                  <a:lnTo>
                    <a:pt x="4026095" y="2070100"/>
                  </a:lnTo>
                  <a:lnTo>
                    <a:pt x="4015054" y="2057400"/>
                  </a:lnTo>
                  <a:lnTo>
                    <a:pt x="4008270" y="2044700"/>
                  </a:lnTo>
                  <a:lnTo>
                    <a:pt x="4005960" y="2032000"/>
                  </a:lnTo>
                  <a:lnTo>
                    <a:pt x="4007266" y="2019300"/>
                  </a:lnTo>
                  <a:lnTo>
                    <a:pt x="4011120" y="2019300"/>
                  </a:lnTo>
                  <a:lnTo>
                    <a:pt x="4017431" y="2006600"/>
                  </a:lnTo>
                  <a:lnTo>
                    <a:pt x="4026107" y="1993900"/>
                  </a:lnTo>
                  <a:lnTo>
                    <a:pt x="3979092" y="1955800"/>
                  </a:lnTo>
                  <a:lnTo>
                    <a:pt x="3940000" y="1917700"/>
                  </a:lnTo>
                  <a:lnTo>
                    <a:pt x="3909111" y="1879600"/>
                  </a:lnTo>
                  <a:lnTo>
                    <a:pt x="3886702" y="1828800"/>
                  </a:lnTo>
                  <a:lnTo>
                    <a:pt x="3873053" y="1778000"/>
                  </a:lnTo>
                  <a:lnTo>
                    <a:pt x="3868441" y="1739900"/>
                  </a:lnTo>
                  <a:lnTo>
                    <a:pt x="3871986" y="1689100"/>
                  </a:lnTo>
                  <a:lnTo>
                    <a:pt x="3882511" y="1651000"/>
                  </a:lnTo>
                  <a:lnTo>
                    <a:pt x="3899852" y="1612900"/>
                  </a:lnTo>
                  <a:lnTo>
                    <a:pt x="3923844" y="1574800"/>
                  </a:lnTo>
                  <a:lnTo>
                    <a:pt x="3954323" y="1536700"/>
                  </a:lnTo>
                  <a:lnTo>
                    <a:pt x="3991124" y="1498600"/>
                  </a:lnTo>
                  <a:lnTo>
                    <a:pt x="4034082" y="1473200"/>
                  </a:lnTo>
                  <a:lnTo>
                    <a:pt x="4083033" y="1435100"/>
                  </a:lnTo>
                  <a:lnTo>
                    <a:pt x="4121878" y="1409700"/>
                  </a:lnTo>
                  <a:lnTo>
                    <a:pt x="4162832" y="1397000"/>
                  </a:lnTo>
                  <a:lnTo>
                    <a:pt x="4205742" y="1384300"/>
                  </a:lnTo>
                  <a:lnTo>
                    <a:pt x="4250456" y="1358900"/>
                  </a:lnTo>
                  <a:lnTo>
                    <a:pt x="4344681" y="1333500"/>
                  </a:lnTo>
                  <a:lnTo>
                    <a:pt x="4393887" y="1333500"/>
                  </a:lnTo>
                  <a:lnTo>
                    <a:pt x="4444285" y="1320800"/>
                  </a:lnTo>
                  <a:lnTo>
                    <a:pt x="4495722" y="1320800"/>
                  </a:lnTo>
                  <a:lnTo>
                    <a:pt x="4548044" y="1308100"/>
                  </a:lnTo>
                  <a:lnTo>
                    <a:pt x="5216535" y="1308100"/>
                  </a:lnTo>
                  <a:lnTo>
                    <a:pt x="5216535" y="0"/>
                  </a:lnTo>
                  <a:close/>
                </a:path>
                <a:path w="5217159" h="2082800">
                  <a:moveTo>
                    <a:pt x="4702408" y="1346200"/>
                  </a:moveTo>
                  <a:lnTo>
                    <a:pt x="4479848" y="1346200"/>
                  </a:lnTo>
                  <a:lnTo>
                    <a:pt x="4421752" y="1358900"/>
                  </a:lnTo>
                  <a:lnTo>
                    <a:pt x="4311821" y="1384300"/>
                  </a:lnTo>
                  <a:lnTo>
                    <a:pt x="4260466" y="1397000"/>
                  </a:lnTo>
                  <a:lnTo>
                    <a:pt x="4211838" y="1422400"/>
                  </a:lnTo>
                  <a:lnTo>
                    <a:pt x="4166179" y="1435100"/>
                  </a:lnTo>
                  <a:lnTo>
                    <a:pt x="4123728" y="1460500"/>
                  </a:lnTo>
                  <a:lnTo>
                    <a:pt x="4084725" y="1485900"/>
                  </a:lnTo>
                  <a:lnTo>
                    <a:pt x="4049411" y="1511300"/>
                  </a:lnTo>
                  <a:lnTo>
                    <a:pt x="4018026" y="1536700"/>
                  </a:lnTo>
                  <a:lnTo>
                    <a:pt x="3968004" y="1600200"/>
                  </a:lnTo>
                  <a:lnTo>
                    <a:pt x="3949848" y="1625600"/>
                  </a:lnTo>
                  <a:lnTo>
                    <a:pt x="3936581" y="1663700"/>
                  </a:lnTo>
                  <a:lnTo>
                    <a:pt x="3928445" y="1701800"/>
                  </a:lnTo>
                  <a:lnTo>
                    <a:pt x="3925680" y="1739900"/>
                  </a:lnTo>
                  <a:lnTo>
                    <a:pt x="3929854" y="1778000"/>
                  </a:lnTo>
                  <a:lnTo>
                    <a:pt x="3942209" y="1816100"/>
                  </a:lnTo>
                  <a:lnTo>
                    <a:pt x="3962494" y="1866900"/>
                  </a:lnTo>
                  <a:lnTo>
                    <a:pt x="3990460" y="1905000"/>
                  </a:lnTo>
                  <a:lnTo>
                    <a:pt x="4025856" y="1943100"/>
                  </a:lnTo>
                  <a:lnTo>
                    <a:pt x="4068432" y="1968500"/>
                  </a:lnTo>
                  <a:lnTo>
                    <a:pt x="4172187" y="1968500"/>
                  </a:lnTo>
                  <a:lnTo>
                    <a:pt x="4192816" y="1981200"/>
                  </a:lnTo>
                  <a:lnTo>
                    <a:pt x="4211161" y="1981200"/>
                  </a:lnTo>
                  <a:lnTo>
                    <a:pt x="4226240" y="1993900"/>
                  </a:lnTo>
                  <a:lnTo>
                    <a:pt x="4237277" y="2006600"/>
                  </a:lnTo>
                  <a:lnTo>
                    <a:pt x="4244057" y="2019300"/>
                  </a:lnTo>
                  <a:lnTo>
                    <a:pt x="4246365" y="2032000"/>
                  </a:lnTo>
                  <a:lnTo>
                    <a:pt x="4244057" y="2044700"/>
                  </a:lnTo>
                  <a:lnTo>
                    <a:pt x="4237277" y="2057400"/>
                  </a:lnTo>
                  <a:lnTo>
                    <a:pt x="4226240" y="2070100"/>
                  </a:lnTo>
                  <a:lnTo>
                    <a:pt x="4211161" y="2082800"/>
                  </a:lnTo>
                  <a:lnTo>
                    <a:pt x="4876314" y="2082800"/>
                  </a:lnTo>
                  <a:lnTo>
                    <a:pt x="4978476" y="2057400"/>
                  </a:lnTo>
                  <a:lnTo>
                    <a:pt x="5030486" y="2032000"/>
                  </a:lnTo>
                  <a:lnTo>
                    <a:pt x="4491387" y="2032000"/>
                  </a:lnTo>
                  <a:lnTo>
                    <a:pt x="4485251" y="2019300"/>
                  </a:lnTo>
                  <a:lnTo>
                    <a:pt x="4483000" y="2019300"/>
                  </a:lnTo>
                  <a:lnTo>
                    <a:pt x="4483000" y="1993900"/>
                  </a:lnTo>
                  <a:lnTo>
                    <a:pt x="4308589" y="1993900"/>
                  </a:lnTo>
                  <a:lnTo>
                    <a:pt x="4301312" y="1981200"/>
                  </a:lnTo>
                  <a:lnTo>
                    <a:pt x="4169460" y="1905000"/>
                  </a:lnTo>
                  <a:lnTo>
                    <a:pt x="4161081" y="1905000"/>
                  </a:lnTo>
                  <a:lnTo>
                    <a:pt x="4163177" y="1892300"/>
                  </a:lnTo>
                  <a:lnTo>
                    <a:pt x="4169460" y="1892300"/>
                  </a:lnTo>
                  <a:lnTo>
                    <a:pt x="4208589" y="1866900"/>
                  </a:lnTo>
                  <a:lnTo>
                    <a:pt x="4194841" y="1854200"/>
                  </a:lnTo>
                  <a:lnTo>
                    <a:pt x="4182826" y="1828800"/>
                  </a:lnTo>
                  <a:lnTo>
                    <a:pt x="4172562" y="1816100"/>
                  </a:lnTo>
                  <a:lnTo>
                    <a:pt x="4164072" y="1803400"/>
                  </a:lnTo>
                  <a:lnTo>
                    <a:pt x="4093921" y="1803400"/>
                  </a:lnTo>
                  <a:lnTo>
                    <a:pt x="4083189" y="1790700"/>
                  </a:lnTo>
                  <a:lnTo>
                    <a:pt x="4080169" y="1790700"/>
                  </a:lnTo>
                  <a:lnTo>
                    <a:pt x="4080282" y="1689100"/>
                  </a:lnTo>
                  <a:lnTo>
                    <a:pt x="4082531" y="1676400"/>
                  </a:lnTo>
                  <a:lnTo>
                    <a:pt x="4088664" y="1676400"/>
                  </a:lnTo>
                  <a:lnTo>
                    <a:pt x="4097760" y="1663700"/>
                  </a:lnTo>
                  <a:lnTo>
                    <a:pt x="4164072" y="1663700"/>
                  </a:lnTo>
                  <a:lnTo>
                    <a:pt x="4172562" y="1651000"/>
                  </a:lnTo>
                  <a:lnTo>
                    <a:pt x="4182826" y="1638300"/>
                  </a:lnTo>
                  <a:lnTo>
                    <a:pt x="4194841" y="1625600"/>
                  </a:lnTo>
                  <a:lnTo>
                    <a:pt x="4208589" y="1600200"/>
                  </a:lnTo>
                  <a:lnTo>
                    <a:pt x="4164307" y="1574800"/>
                  </a:lnTo>
                  <a:lnTo>
                    <a:pt x="4161288" y="1574800"/>
                  </a:lnTo>
                  <a:lnTo>
                    <a:pt x="4161288" y="1562100"/>
                  </a:lnTo>
                  <a:lnTo>
                    <a:pt x="4164307" y="1562100"/>
                  </a:lnTo>
                  <a:lnTo>
                    <a:pt x="4296258" y="1485900"/>
                  </a:lnTo>
                  <a:lnTo>
                    <a:pt x="4483000" y="1485900"/>
                  </a:lnTo>
                  <a:lnTo>
                    <a:pt x="4483000" y="1447800"/>
                  </a:lnTo>
                  <a:lnTo>
                    <a:pt x="4485251" y="1447800"/>
                  </a:lnTo>
                  <a:lnTo>
                    <a:pt x="4491387" y="1435100"/>
                  </a:lnTo>
                  <a:lnTo>
                    <a:pt x="4955838" y="1435100"/>
                  </a:lnTo>
                  <a:lnTo>
                    <a:pt x="4958146" y="1422400"/>
                  </a:lnTo>
                  <a:lnTo>
                    <a:pt x="4964925" y="1409700"/>
                  </a:lnTo>
                  <a:lnTo>
                    <a:pt x="4975962" y="1397000"/>
                  </a:lnTo>
                  <a:lnTo>
                    <a:pt x="4991042" y="1384300"/>
                  </a:lnTo>
                  <a:lnTo>
                    <a:pt x="5009387" y="1371600"/>
                  </a:lnTo>
                  <a:lnTo>
                    <a:pt x="4839067" y="1371600"/>
                  </a:lnTo>
                  <a:lnTo>
                    <a:pt x="4836003" y="1358900"/>
                  </a:lnTo>
                  <a:lnTo>
                    <a:pt x="4735612" y="1358900"/>
                  </a:lnTo>
                  <a:lnTo>
                    <a:pt x="4702408" y="1346200"/>
                  </a:lnTo>
                  <a:close/>
                </a:path>
                <a:path w="5217159" h="2082800">
                  <a:moveTo>
                    <a:pt x="5216535" y="1968500"/>
                  </a:moveTo>
                  <a:lnTo>
                    <a:pt x="5211079" y="1968500"/>
                  </a:lnTo>
                  <a:lnTo>
                    <a:pt x="5190359" y="1981200"/>
                  </a:lnTo>
                  <a:lnTo>
                    <a:pt x="5168120" y="2006600"/>
                  </a:lnTo>
                  <a:lnTo>
                    <a:pt x="5144384" y="2019300"/>
                  </a:lnTo>
                  <a:lnTo>
                    <a:pt x="5092697" y="2044700"/>
                  </a:lnTo>
                  <a:lnTo>
                    <a:pt x="5036744" y="2070100"/>
                  </a:lnTo>
                  <a:lnTo>
                    <a:pt x="5007362" y="2082800"/>
                  </a:lnTo>
                  <a:lnTo>
                    <a:pt x="5216535" y="2082800"/>
                  </a:lnTo>
                  <a:lnTo>
                    <a:pt x="5216535" y="1968500"/>
                  </a:lnTo>
                  <a:close/>
                </a:path>
                <a:path w="5217159" h="2082800">
                  <a:moveTo>
                    <a:pt x="4170679" y="2057400"/>
                  </a:moveTo>
                  <a:lnTo>
                    <a:pt x="4081645" y="2057400"/>
                  </a:lnTo>
                  <a:lnTo>
                    <a:pt x="4091255" y="2070100"/>
                  </a:lnTo>
                  <a:lnTo>
                    <a:pt x="4161075" y="2070100"/>
                  </a:lnTo>
                  <a:lnTo>
                    <a:pt x="4170679" y="2057400"/>
                  </a:lnTo>
                  <a:close/>
                </a:path>
                <a:path w="5217159" h="2082800">
                  <a:moveTo>
                    <a:pt x="4184363" y="2044700"/>
                  </a:moveTo>
                  <a:lnTo>
                    <a:pt x="4067962" y="2044700"/>
                  </a:lnTo>
                  <a:lnTo>
                    <a:pt x="4073745" y="2057400"/>
                  </a:lnTo>
                  <a:lnTo>
                    <a:pt x="4178580" y="2057400"/>
                  </a:lnTo>
                  <a:lnTo>
                    <a:pt x="4184363" y="2044700"/>
                  </a:lnTo>
                  <a:close/>
                </a:path>
                <a:path w="5217159" h="2082800">
                  <a:moveTo>
                    <a:pt x="4189125" y="2032000"/>
                  </a:moveTo>
                  <a:lnTo>
                    <a:pt x="4063199" y="2032000"/>
                  </a:lnTo>
                  <a:lnTo>
                    <a:pt x="4064409" y="2044700"/>
                  </a:lnTo>
                  <a:lnTo>
                    <a:pt x="4187916" y="2044700"/>
                  </a:lnTo>
                  <a:lnTo>
                    <a:pt x="4189125" y="2032000"/>
                  </a:lnTo>
                  <a:close/>
                </a:path>
                <a:path w="5217159" h="2082800">
                  <a:moveTo>
                    <a:pt x="4184363" y="2019300"/>
                  </a:moveTo>
                  <a:lnTo>
                    <a:pt x="4067962" y="2019300"/>
                  </a:lnTo>
                  <a:lnTo>
                    <a:pt x="4064409" y="2032000"/>
                  </a:lnTo>
                  <a:lnTo>
                    <a:pt x="4187916" y="2032000"/>
                  </a:lnTo>
                  <a:lnTo>
                    <a:pt x="4184363" y="2019300"/>
                  </a:lnTo>
                  <a:close/>
                </a:path>
                <a:path w="5217159" h="2082800">
                  <a:moveTo>
                    <a:pt x="4826603" y="1955800"/>
                  </a:moveTo>
                  <a:lnTo>
                    <a:pt x="4800849" y="1968500"/>
                  </a:lnTo>
                  <a:lnTo>
                    <a:pt x="4774330" y="1981200"/>
                  </a:lnTo>
                  <a:lnTo>
                    <a:pt x="4719190" y="1981200"/>
                  </a:lnTo>
                  <a:lnTo>
                    <a:pt x="4719190" y="2019300"/>
                  </a:lnTo>
                  <a:lnTo>
                    <a:pt x="4716941" y="2019300"/>
                  </a:lnTo>
                  <a:lnTo>
                    <a:pt x="4710808" y="2032000"/>
                  </a:lnTo>
                  <a:lnTo>
                    <a:pt x="5030486" y="2032000"/>
                  </a:lnTo>
                  <a:lnTo>
                    <a:pt x="5078474" y="2006600"/>
                  </a:lnTo>
                  <a:lnTo>
                    <a:pt x="5100285" y="1993900"/>
                  </a:lnTo>
                  <a:lnTo>
                    <a:pt x="4878420" y="1993900"/>
                  </a:lnTo>
                  <a:lnTo>
                    <a:pt x="4871142" y="1981200"/>
                  </a:lnTo>
                  <a:lnTo>
                    <a:pt x="4826603" y="1955800"/>
                  </a:lnTo>
                  <a:close/>
                </a:path>
                <a:path w="5217159" h="2082800">
                  <a:moveTo>
                    <a:pt x="4170679" y="2006600"/>
                  </a:moveTo>
                  <a:lnTo>
                    <a:pt x="4081645" y="2006600"/>
                  </a:lnTo>
                  <a:lnTo>
                    <a:pt x="4073745" y="2019300"/>
                  </a:lnTo>
                  <a:lnTo>
                    <a:pt x="4178580" y="2019300"/>
                  </a:lnTo>
                  <a:lnTo>
                    <a:pt x="4170679" y="2006600"/>
                  </a:lnTo>
                  <a:close/>
                </a:path>
                <a:path w="5217159" h="2082800">
                  <a:moveTo>
                    <a:pt x="4138539" y="1993900"/>
                  </a:moveTo>
                  <a:lnTo>
                    <a:pt x="4113784" y="1993900"/>
                  </a:lnTo>
                  <a:lnTo>
                    <a:pt x="4102055" y="2006600"/>
                  </a:lnTo>
                  <a:lnTo>
                    <a:pt x="4150266" y="2006600"/>
                  </a:lnTo>
                  <a:lnTo>
                    <a:pt x="4138539" y="1993900"/>
                  </a:lnTo>
                  <a:close/>
                </a:path>
                <a:path w="5217159" h="2082800">
                  <a:moveTo>
                    <a:pt x="4661950" y="1968500"/>
                  </a:moveTo>
                  <a:lnTo>
                    <a:pt x="4540239" y="1968500"/>
                  </a:lnTo>
                  <a:lnTo>
                    <a:pt x="4540239" y="2006600"/>
                  </a:lnTo>
                  <a:lnTo>
                    <a:pt x="4661950" y="2006600"/>
                  </a:lnTo>
                  <a:lnTo>
                    <a:pt x="4661950" y="1968500"/>
                  </a:lnTo>
                  <a:close/>
                </a:path>
                <a:path w="5217159" h="2082800">
                  <a:moveTo>
                    <a:pt x="4375589" y="1955800"/>
                  </a:moveTo>
                  <a:lnTo>
                    <a:pt x="4331060" y="1981200"/>
                  </a:lnTo>
                  <a:lnTo>
                    <a:pt x="4323782" y="1993900"/>
                  </a:lnTo>
                  <a:lnTo>
                    <a:pt x="4483000" y="1993900"/>
                  </a:lnTo>
                  <a:lnTo>
                    <a:pt x="4483000" y="1981200"/>
                  </a:lnTo>
                  <a:lnTo>
                    <a:pt x="4427869" y="1981200"/>
                  </a:lnTo>
                  <a:lnTo>
                    <a:pt x="4401349" y="1968500"/>
                  </a:lnTo>
                  <a:lnTo>
                    <a:pt x="4375589" y="1955800"/>
                  </a:lnTo>
                  <a:close/>
                </a:path>
                <a:path w="5217159" h="2082800">
                  <a:moveTo>
                    <a:pt x="4955838" y="1435100"/>
                  </a:moveTo>
                  <a:lnTo>
                    <a:pt x="4710808" y="1435100"/>
                  </a:lnTo>
                  <a:lnTo>
                    <a:pt x="4716941" y="1447800"/>
                  </a:lnTo>
                  <a:lnTo>
                    <a:pt x="4719190" y="1447800"/>
                  </a:lnTo>
                  <a:lnTo>
                    <a:pt x="4719190" y="1485900"/>
                  </a:lnTo>
                  <a:lnTo>
                    <a:pt x="4905932" y="1485900"/>
                  </a:lnTo>
                  <a:lnTo>
                    <a:pt x="5037884" y="1562100"/>
                  </a:lnTo>
                  <a:lnTo>
                    <a:pt x="5040903" y="1562100"/>
                  </a:lnTo>
                  <a:lnTo>
                    <a:pt x="5040914" y="1574800"/>
                  </a:lnTo>
                  <a:lnTo>
                    <a:pt x="5037895" y="1574800"/>
                  </a:lnTo>
                  <a:lnTo>
                    <a:pt x="4993613" y="1600200"/>
                  </a:lnTo>
                  <a:lnTo>
                    <a:pt x="5007358" y="1625600"/>
                  </a:lnTo>
                  <a:lnTo>
                    <a:pt x="5019370" y="1638300"/>
                  </a:lnTo>
                  <a:lnTo>
                    <a:pt x="5029630" y="1651000"/>
                  </a:lnTo>
                  <a:lnTo>
                    <a:pt x="5038119" y="1663700"/>
                  </a:lnTo>
                  <a:lnTo>
                    <a:pt x="5104542" y="1663700"/>
                  </a:lnTo>
                  <a:lnTo>
                    <a:pt x="5113639" y="1676400"/>
                  </a:lnTo>
                  <a:lnTo>
                    <a:pt x="5119772" y="1676400"/>
                  </a:lnTo>
                  <a:lnTo>
                    <a:pt x="5122021" y="1689100"/>
                  </a:lnTo>
                  <a:lnTo>
                    <a:pt x="5122021" y="1790700"/>
                  </a:lnTo>
                  <a:lnTo>
                    <a:pt x="5119772" y="1790700"/>
                  </a:lnTo>
                  <a:lnTo>
                    <a:pt x="5113639" y="1803400"/>
                  </a:lnTo>
                  <a:lnTo>
                    <a:pt x="5038129" y="1803400"/>
                  </a:lnTo>
                  <a:lnTo>
                    <a:pt x="5029639" y="1816100"/>
                  </a:lnTo>
                  <a:lnTo>
                    <a:pt x="5019376" y="1828800"/>
                  </a:lnTo>
                  <a:lnTo>
                    <a:pt x="5007360" y="1854200"/>
                  </a:lnTo>
                  <a:lnTo>
                    <a:pt x="4993613" y="1866900"/>
                  </a:lnTo>
                  <a:lnTo>
                    <a:pt x="5032740" y="1892300"/>
                  </a:lnTo>
                  <a:lnTo>
                    <a:pt x="5039023" y="1892300"/>
                  </a:lnTo>
                  <a:lnTo>
                    <a:pt x="5041117" y="1905000"/>
                  </a:lnTo>
                  <a:lnTo>
                    <a:pt x="5032740" y="1905000"/>
                  </a:lnTo>
                  <a:lnTo>
                    <a:pt x="4900890" y="1981200"/>
                  </a:lnTo>
                  <a:lnTo>
                    <a:pt x="4893602" y="1993900"/>
                  </a:lnTo>
                  <a:lnTo>
                    <a:pt x="5100285" y="1993900"/>
                  </a:lnTo>
                  <a:lnTo>
                    <a:pt x="5122097" y="1981200"/>
                  </a:lnTo>
                  <a:lnTo>
                    <a:pt x="5161014" y="1955800"/>
                  </a:lnTo>
                  <a:lnTo>
                    <a:pt x="5216535" y="1892300"/>
                  </a:lnTo>
                  <a:lnTo>
                    <a:pt x="5216535" y="1574800"/>
                  </a:lnTo>
                  <a:lnTo>
                    <a:pt x="5181168" y="1536700"/>
                  </a:lnTo>
                  <a:lnTo>
                    <a:pt x="5150561" y="1511300"/>
                  </a:lnTo>
                  <a:lnTo>
                    <a:pt x="5133770" y="1498600"/>
                  </a:lnTo>
                  <a:lnTo>
                    <a:pt x="5009387" y="1498600"/>
                  </a:lnTo>
                  <a:lnTo>
                    <a:pt x="4991042" y="1485900"/>
                  </a:lnTo>
                  <a:lnTo>
                    <a:pt x="4975962" y="1473200"/>
                  </a:lnTo>
                  <a:lnTo>
                    <a:pt x="4964925" y="1460500"/>
                  </a:lnTo>
                  <a:lnTo>
                    <a:pt x="4958146" y="1447800"/>
                  </a:lnTo>
                  <a:lnTo>
                    <a:pt x="4955838" y="1435100"/>
                  </a:lnTo>
                  <a:close/>
                </a:path>
                <a:path w="5217159" h="2082800">
                  <a:moveTo>
                    <a:pt x="4675458" y="1955800"/>
                  </a:moveTo>
                  <a:lnTo>
                    <a:pt x="4526727" y="1955800"/>
                  </a:lnTo>
                  <a:lnTo>
                    <a:pt x="4533879" y="1968500"/>
                  </a:lnTo>
                  <a:lnTo>
                    <a:pt x="4668306" y="1968500"/>
                  </a:lnTo>
                  <a:lnTo>
                    <a:pt x="4675458" y="1955800"/>
                  </a:lnTo>
                  <a:close/>
                </a:path>
                <a:path w="5217159" h="2082800">
                  <a:moveTo>
                    <a:pt x="4784557" y="1930400"/>
                  </a:moveTo>
                  <a:lnTo>
                    <a:pt x="4417634" y="1930400"/>
                  </a:lnTo>
                  <a:lnTo>
                    <a:pt x="4449788" y="1943100"/>
                  </a:lnTo>
                  <a:lnTo>
                    <a:pt x="4483159" y="1955800"/>
                  </a:lnTo>
                  <a:lnTo>
                    <a:pt x="4719031" y="1955800"/>
                  </a:lnTo>
                  <a:lnTo>
                    <a:pt x="4752403" y="1943100"/>
                  </a:lnTo>
                  <a:lnTo>
                    <a:pt x="4784557" y="1930400"/>
                  </a:lnTo>
                  <a:close/>
                </a:path>
                <a:path w="5217159" h="2082800">
                  <a:moveTo>
                    <a:pt x="4937213" y="1879600"/>
                  </a:moveTo>
                  <a:lnTo>
                    <a:pt x="4264978" y="1879600"/>
                  </a:lnTo>
                  <a:lnTo>
                    <a:pt x="4230165" y="1905000"/>
                  </a:lnTo>
                  <a:lnTo>
                    <a:pt x="4316191" y="1943100"/>
                  </a:lnTo>
                  <a:lnTo>
                    <a:pt x="4351037" y="1930400"/>
                  </a:lnTo>
                  <a:lnTo>
                    <a:pt x="4359063" y="1930400"/>
                  </a:lnTo>
                  <a:lnTo>
                    <a:pt x="4368258" y="1917700"/>
                  </a:lnTo>
                  <a:lnTo>
                    <a:pt x="4943350" y="1917700"/>
                  </a:lnTo>
                  <a:lnTo>
                    <a:pt x="4972025" y="1905000"/>
                  </a:lnTo>
                  <a:lnTo>
                    <a:pt x="4937213" y="1879600"/>
                  </a:lnTo>
                  <a:close/>
                </a:path>
                <a:path w="5217159" h="2082800">
                  <a:moveTo>
                    <a:pt x="4943350" y="1917700"/>
                  </a:moveTo>
                  <a:lnTo>
                    <a:pt x="4833932" y="1917700"/>
                  </a:lnTo>
                  <a:lnTo>
                    <a:pt x="4843128" y="1930400"/>
                  </a:lnTo>
                  <a:lnTo>
                    <a:pt x="4851153" y="1930400"/>
                  </a:lnTo>
                  <a:lnTo>
                    <a:pt x="4885999" y="1943100"/>
                  </a:lnTo>
                  <a:lnTo>
                    <a:pt x="4943350" y="1917700"/>
                  </a:lnTo>
                  <a:close/>
                </a:path>
                <a:path w="5217159" h="2082800">
                  <a:moveTo>
                    <a:pt x="4824403" y="1917700"/>
                  </a:moveTo>
                  <a:lnTo>
                    <a:pt x="4377787" y="1917700"/>
                  </a:lnTo>
                  <a:lnTo>
                    <a:pt x="4386812" y="1930400"/>
                  </a:lnTo>
                  <a:lnTo>
                    <a:pt x="4815378" y="1930400"/>
                  </a:lnTo>
                  <a:lnTo>
                    <a:pt x="4824403" y="1917700"/>
                  </a:lnTo>
                  <a:close/>
                </a:path>
                <a:path w="5217159" h="2082800">
                  <a:moveTo>
                    <a:pt x="4928990" y="1866900"/>
                  </a:moveTo>
                  <a:lnTo>
                    <a:pt x="4273201" y="1866900"/>
                  </a:lnTo>
                  <a:lnTo>
                    <a:pt x="4270625" y="1879600"/>
                  </a:lnTo>
                  <a:lnTo>
                    <a:pt x="4931566" y="1879600"/>
                  </a:lnTo>
                  <a:lnTo>
                    <a:pt x="4928990" y="1866900"/>
                  </a:lnTo>
                  <a:close/>
                </a:path>
                <a:path w="5217159" h="2082800">
                  <a:moveTo>
                    <a:pt x="4538306" y="1600200"/>
                  </a:moveTo>
                  <a:lnTo>
                    <a:pt x="4272616" y="1600200"/>
                  </a:lnTo>
                  <a:lnTo>
                    <a:pt x="4268779" y="1612900"/>
                  </a:lnTo>
                  <a:lnTo>
                    <a:pt x="4250771" y="1625600"/>
                  </a:lnTo>
                  <a:lnTo>
                    <a:pt x="4235701" y="1651000"/>
                  </a:lnTo>
                  <a:lnTo>
                    <a:pt x="4223617" y="1663700"/>
                  </a:lnTo>
                  <a:lnTo>
                    <a:pt x="4214569" y="1689100"/>
                  </a:lnTo>
                  <a:lnTo>
                    <a:pt x="4210897" y="1689100"/>
                  </a:lnTo>
                  <a:lnTo>
                    <a:pt x="4204574" y="1701800"/>
                  </a:lnTo>
                  <a:lnTo>
                    <a:pt x="4137498" y="1701800"/>
                  </a:lnTo>
                  <a:lnTo>
                    <a:pt x="4137431" y="1765300"/>
                  </a:lnTo>
                  <a:lnTo>
                    <a:pt x="4196253" y="1765300"/>
                  </a:lnTo>
                  <a:lnTo>
                    <a:pt x="4204574" y="1778000"/>
                  </a:lnTo>
                  <a:lnTo>
                    <a:pt x="4214569" y="1778000"/>
                  </a:lnTo>
                  <a:lnTo>
                    <a:pt x="4223617" y="1803400"/>
                  </a:lnTo>
                  <a:lnTo>
                    <a:pt x="4235701" y="1816100"/>
                  </a:lnTo>
                  <a:lnTo>
                    <a:pt x="4250771" y="1841500"/>
                  </a:lnTo>
                  <a:lnTo>
                    <a:pt x="4268779" y="1854200"/>
                  </a:lnTo>
                  <a:lnTo>
                    <a:pt x="4272616" y="1866900"/>
                  </a:lnTo>
                  <a:lnTo>
                    <a:pt x="4538306" y="1866900"/>
                  </a:lnTo>
                  <a:lnTo>
                    <a:pt x="4481837" y="1854200"/>
                  </a:lnTo>
                  <a:lnTo>
                    <a:pt x="4433962" y="1828800"/>
                  </a:lnTo>
                  <a:lnTo>
                    <a:pt x="4396953" y="1803400"/>
                  </a:lnTo>
                  <a:lnTo>
                    <a:pt x="4373083" y="1765300"/>
                  </a:lnTo>
                  <a:lnTo>
                    <a:pt x="4364621" y="1739900"/>
                  </a:lnTo>
                  <a:lnTo>
                    <a:pt x="4373083" y="1701800"/>
                  </a:lnTo>
                  <a:lnTo>
                    <a:pt x="4396953" y="1663700"/>
                  </a:lnTo>
                  <a:lnTo>
                    <a:pt x="4433962" y="1638300"/>
                  </a:lnTo>
                  <a:lnTo>
                    <a:pt x="4481837" y="1612900"/>
                  </a:lnTo>
                  <a:lnTo>
                    <a:pt x="4538306" y="1600200"/>
                  </a:lnTo>
                  <a:close/>
                </a:path>
                <a:path w="5217159" h="2082800">
                  <a:moveTo>
                    <a:pt x="4929574" y="1600200"/>
                  </a:moveTo>
                  <a:lnTo>
                    <a:pt x="4663895" y="1600200"/>
                  </a:lnTo>
                  <a:lnTo>
                    <a:pt x="4720365" y="1612900"/>
                  </a:lnTo>
                  <a:lnTo>
                    <a:pt x="4768240" y="1638300"/>
                  </a:lnTo>
                  <a:lnTo>
                    <a:pt x="4805248" y="1663700"/>
                  </a:lnTo>
                  <a:lnTo>
                    <a:pt x="4829119" y="1701800"/>
                  </a:lnTo>
                  <a:lnTo>
                    <a:pt x="4837581" y="1739900"/>
                  </a:lnTo>
                  <a:lnTo>
                    <a:pt x="4829119" y="1765300"/>
                  </a:lnTo>
                  <a:lnTo>
                    <a:pt x="4805248" y="1803400"/>
                  </a:lnTo>
                  <a:lnTo>
                    <a:pt x="4768240" y="1828800"/>
                  </a:lnTo>
                  <a:lnTo>
                    <a:pt x="4720365" y="1854200"/>
                  </a:lnTo>
                  <a:lnTo>
                    <a:pt x="4663895" y="1866900"/>
                  </a:lnTo>
                  <a:lnTo>
                    <a:pt x="4929575" y="1866900"/>
                  </a:lnTo>
                  <a:lnTo>
                    <a:pt x="4933411" y="1854200"/>
                  </a:lnTo>
                  <a:lnTo>
                    <a:pt x="4951420" y="1841500"/>
                  </a:lnTo>
                  <a:lnTo>
                    <a:pt x="4966491" y="1816100"/>
                  </a:lnTo>
                  <a:lnTo>
                    <a:pt x="4978574" y="1803400"/>
                  </a:lnTo>
                  <a:lnTo>
                    <a:pt x="4987621" y="1778000"/>
                  </a:lnTo>
                  <a:lnTo>
                    <a:pt x="4997617" y="1778000"/>
                  </a:lnTo>
                  <a:lnTo>
                    <a:pt x="5005937" y="1765300"/>
                  </a:lnTo>
                  <a:lnTo>
                    <a:pt x="5064781" y="1765300"/>
                  </a:lnTo>
                  <a:lnTo>
                    <a:pt x="5064781" y="1701800"/>
                  </a:lnTo>
                  <a:lnTo>
                    <a:pt x="4997612" y="1701800"/>
                  </a:lnTo>
                  <a:lnTo>
                    <a:pt x="4991289" y="1689100"/>
                  </a:lnTo>
                  <a:lnTo>
                    <a:pt x="4987621" y="1689100"/>
                  </a:lnTo>
                  <a:lnTo>
                    <a:pt x="4978569" y="1663700"/>
                  </a:lnTo>
                  <a:lnTo>
                    <a:pt x="4966486" y="1651000"/>
                  </a:lnTo>
                  <a:lnTo>
                    <a:pt x="4951418" y="1625600"/>
                  </a:lnTo>
                  <a:lnTo>
                    <a:pt x="4933411" y="1612900"/>
                  </a:lnTo>
                  <a:lnTo>
                    <a:pt x="4929574" y="1600200"/>
                  </a:lnTo>
                  <a:close/>
                </a:path>
                <a:path w="5217159" h="2082800">
                  <a:moveTo>
                    <a:pt x="4601100" y="1625600"/>
                  </a:moveTo>
                  <a:lnTo>
                    <a:pt x="4544505" y="1638300"/>
                  </a:lnTo>
                  <a:lnTo>
                    <a:pt x="4495309" y="1651000"/>
                  </a:lnTo>
                  <a:lnTo>
                    <a:pt x="4456487" y="1676400"/>
                  </a:lnTo>
                  <a:lnTo>
                    <a:pt x="4421859" y="1739900"/>
                  </a:lnTo>
                  <a:lnTo>
                    <a:pt x="4431012" y="1765300"/>
                  </a:lnTo>
                  <a:lnTo>
                    <a:pt x="4456487" y="1790700"/>
                  </a:lnTo>
                  <a:lnTo>
                    <a:pt x="4495309" y="1816100"/>
                  </a:lnTo>
                  <a:lnTo>
                    <a:pt x="4544505" y="1828800"/>
                  </a:lnTo>
                  <a:lnTo>
                    <a:pt x="4601100" y="1841500"/>
                  </a:lnTo>
                  <a:lnTo>
                    <a:pt x="4657696" y="1828800"/>
                  </a:lnTo>
                  <a:lnTo>
                    <a:pt x="4706892" y="1816100"/>
                  </a:lnTo>
                  <a:lnTo>
                    <a:pt x="4745714" y="1790700"/>
                  </a:lnTo>
                  <a:lnTo>
                    <a:pt x="4771189" y="1765300"/>
                  </a:lnTo>
                  <a:lnTo>
                    <a:pt x="4780342" y="1739900"/>
                  </a:lnTo>
                  <a:lnTo>
                    <a:pt x="4771189" y="1701800"/>
                  </a:lnTo>
                  <a:lnTo>
                    <a:pt x="4745714" y="1676400"/>
                  </a:lnTo>
                  <a:lnTo>
                    <a:pt x="4706892" y="1651000"/>
                  </a:lnTo>
                  <a:lnTo>
                    <a:pt x="4657696" y="1638300"/>
                  </a:lnTo>
                  <a:lnTo>
                    <a:pt x="4601100" y="1625600"/>
                  </a:lnTo>
                  <a:close/>
                </a:path>
                <a:path w="5217159" h="2082800">
                  <a:moveTo>
                    <a:pt x="4316482" y="1524000"/>
                  </a:moveTo>
                  <a:lnTo>
                    <a:pt x="4230389" y="1574800"/>
                  </a:lnTo>
                  <a:lnTo>
                    <a:pt x="4264978" y="1587500"/>
                  </a:lnTo>
                  <a:lnTo>
                    <a:pt x="4270625" y="1600200"/>
                  </a:lnTo>
                  <a:lnTo>
                    <a:pt x="4931561" y="1600200"/>
                  </a:lnTo>
                  <a:lnTo>
                    <a:pt x="4937213" y="1587500"/>
                  </a:lnTo>
                  <a:lnTo>
                    <a:pt x="4971802" y="1574800"/>
                  </a:lnTo>
                  <a:lnTo>
                    <a:pt x="4928755" y="1549400"/>
                  </a:lnTo>
                  <a:lnTo>
                    <a:pt x="4359061" y="1549400"/>
                  </a:lnTo>
                  <a:lnTo>
                    <a:pt x="4351037" y="1536700"/>
                  </a:lnTo>
                  <a:lnTo>
                    <a:pt x="4316482" y="1524000"/>
                  </a:lnTo>
                  <a:close/>
                </a:path>
                <a:path w="5217159" h="2082800">
                  <a:moveTo>
                    <a:pt x="4719033" y="1511300"/>
                  </a:moveTo>
                  <a:lnTo>
                    <a:pt x="4483153" y="1511300"/>
                  </a:lnTo>
                  <a:lnTo>
                    <a:pt x="4449779" y="1524000"/>
                  </a:lnTo>
                  <a:lnTo>
                    <a:pt x="4417627" y="1536700"/>
                  </a:lnTo>
                  <a:lnTo>
                    <a:pt x="4386812" y="1549400"/>
                  </a:lnTo>
                  <a:lnTo>
                    <a:pt x="4815378" y="1549400"/>
                  </a:lnTo>
                  <a:lnTo>
                    <a:pt x="4784561" y="1536700"/>
                  </a:lnTo>
                  <a:lnTo>
                    <a:pt x="4752407" y="1524000"/>
                  </a:lnTo>
                  <a:lnTo>
                    <a:pt x="4719033" y="1511300"/>
                  </a:lnTo>
                  <a:close/>
                </a:path>
                <a:path w="5217159" h="2082800">
                  <a:moveTo>
                    <a:pt x="4885709" y="1524000"/>
                  </a:moveTo>
                  <a:lnTo>
                    <a:pt x="4851142" y="1536700"/>
                  </a:lnTo>
                  <a:lnTo>
                    <a:pt x="4843123" y="1549400"/>
                  </a:lnTo>
                  <a:lnTo>
                    <a:pt x="4928755" y="1549400"/>
                  </a:lnTo>
                  <a:lnTo>
                    <a:pt x="4885709" y="1524000"/>
                  </a:lnTo>
                  <a:close/>
                </a:path>
                <a:path w="5217159" h="2082800">
                  <a:moveTo>
                    <a:pt x="4455103" y="1485900"/>
                  </a:moveTo>
                  <a:lnTo>
                    <a:pt x="4336728" y="1485900"/>
                  </a:lnTo>
                  <a:lnTo>
                    <a:pt x="4375599" y="1511300"/>
                  </a:lnTo>
                  <a:lnTo>
                    <a:pt x="4401353" y="1498600"/>
                  </a:lnTo>
                  <a:lnTo>
                    <a:pt x="4427871" y="1498600"/>
                  </a:lnTo>
                  <a:lnTo>
                    <a:pt x="4455103" y="1485900"/>
                  </a:lnTo>
                  <a:close/>
                </a:path>
                <a:path w="5217159" h="2082800">
                  <a:moveTo>
                    <a:pt x="4663627" y="1498600"/>
                  </a:moveTo>
                  <a:lnTo>
                    <a:pt x="4538561" y="1498600"/>
                  </a:lnTo>
                  <a:lnTo>
                    <a:pt x="4533879" y="1511300"/>
                  </a:lnTo>
                  <a:lnTo>
                    <a:pt x="4668306" y="1511300"/>
                  </a:lnTo>
                  <a:lnTo>
                    <a:pt x="4663627" y="1498600"/>
                  </a:lnTo>
                  <a:close/>
                </a:path>
                <a:path w="5217159" h="2082800">
                  <a:moveTo>
                    <a:pt x="4865462" y="1485900"/>
                  </a:moveTo>
                  <a:lnTo>
                    <a:pt x="4747094" y="1485900"/>
                  </a:lnTo>
                  <a:lnTo>
                    <a:pt x="4774330" y="1498600"/>
                  </a:lnTo>
                  <a:lnTo>
                    <a:pt x="4800849" y="1498600"/>
                  </a:lnTo>
                  <a:lnTo>
                    <a:pt x="4826603" y="1511300"/>
                  </a:lnTo>
                  <a:lnTo>
                    <a:pt x="4865462" y="1485900"/>
                  </a:lnTo>
                  <a:close/>
                </a:path>
                <a:path w="5217159" h="2082800">
                  <a:moveTo>
                    <a:pt x="5216535" y="1308100"/>
                  </a:moveTo>
                  <a:lnTo>
                    <a:pt x="4637886" y="1308100"/>
                  </a:lnTo>
                  <a:lnTo>
                    <a:pt x="4674541" y="1320800"/>
                  </a:lnTo>
                  <a:lnTo>
                    <a:pt x="4757423" y="1320800"/>
                  </a:lnTo>
                  <a:lnTo>
                    <a:pt x="4765124" y="1333500"/>
                  </a:lnTo>
                  <a:lnTo>
                    <a:pt x="4769333" y="1333500"/>
                  </a:lnTo>
                  <a:lnTo>
                    <a:pt x="4769331" y="1346200"/>
                  </a:lnTo>
                  <a:lnTo>
                    <a:pt x="4890190" y="1346200"/>
                  </a:lnTo>
                  <a:lnTo>
                    <a:pt x="4893242" y="1358900"/>
                  </a:lnTo>
                  <a:lnTo>
                    <a:pt x="4890179" y="1371600"/>
                  </a:lnTo>
                  <a:lnTo>
                    <a:pt x="5142692" y="1371600"/>
                  </a:lnTo>
                  <a:lnTo>
                    <a:pt x="5161037" y="1384300"/>
                  </a:lnTo>
                  <a:lnTo>
                    <a:pt x="5185122" y="1409700"/>
                  </a:lnTo>
                  <a:lnTo>
                    <a:pt x="5195654" y="1422400"/>
                  </a:lnTo>
                  <a:lnTo>
                    <a:pt x="5192636" y="1447800"/>
                  </a:lnTo>
                  <a:lnTo>
                    <a:pt x="5176072" y="1473200"/>
                  </a:lnTo>
                  <a:lnTo>
                    <a:pt x="5216535" y="1511300"/>
                  </a:lnTo>
                  <a:lnTo>
                    <a:pt x="5216535" y="1308100"/>
                  </a:lnTo>
                  <a:close/>
                </a:path>
                <a:path w="5217159" h="2082800">
                  <a:moveTo>
                    <a:pt x="4661950" y="1473200"/>
                  </a:moveTo>
                  <a:lnTo>
                    <a:pt x="4540239" y="1473200"/>
                  </a:lnTo>
                  <a:lnTo>
                    <a:pt x="4540239" y="1498600"/>
                  </a:lnTo>
                  <a:lnTo>
                    <a:pt x="4661950" y="1498600"/>
                  </a:lnTo>
                  <a:lnTo>
                    <a:pt x="4661950" y="1473200"/>
                  </a:lnTo>
                  <a:close/>
                </a:path>
                <a:path w="5217159" h="2082800">
                  <a:moveTo>
                    <a:pt x="5110956" y="1460500"/>
                  </a:moveTo>
                  <a:lnTo>
                    <a:pt x="5041126" y="1460500"/>
                  </a:lnTo>
                  <a:lnTo>
                    <a:pt x="5051928" y="1473200"/>
                  </a:lnTo>
                  <a:lnTo>
                    <a:pt x="5100148" y="1473200"/>
                  </a:lnTo>
                  <a:lnTo>
                    <a:pt x="5110956" y="1460500"/>
                  </a:lnTo>
                  <a:close/>
                </a:path>
                <a:path w="5217159" h="2082800">
                  <a:moveTo>
                    <a:pt x="5120567" y="1409700"/>
                  </a:moveTo>
                  <a:lnTo>
                    <a:pt x="5023622" y="1409700"/>
                  </a:lnTo>
                  <a:lnTo>
                    <a:pt x="5017838" y="1422400"/>
                  </a:lnTo>
                  <a:lnTo>
                    <a:pt x="5014285" y="1422400"/>
                  </a:lnTo>
                  <a:lnTo>
                    <a:pt x="5013076" y="1435100"/>
                  </a:lnTo>
                  <a:lnTo>
                    <a:pt x="5014285" y="1447800"/>
                  </a:lnTo>
                  <a:lnTo>
                    <a:pt x="5017838" y="1447800"/>
                  </a:lnTo>
                  <a:lnTo>
                    <a:pt x="5023622" y="1460500"/>
                  </a:lnTo>
                  <a:lnTo>
                    <a:pt x="5120567" y="1460500"/>
                  </a:lnTo>
                  <a:lnTo>
                    <a:pt x="5134370" y="1447800"/>
                  </a:lnTo>
                  <a:lnTo>
                    <a:pt x="5138971" y="1435100"/>
                  </a:lnTo>
                  <a:lnTo>
                    <a:pt x="5134370" y="1422400"/>
                  </a:lnTo>
                  <a:lnTo>
                    <a:pt x="5120567" y="1409700"/>
                  </a:lnTo>
                  <a:close/>
                </a:path>
                <a:path w="5217159" h="2082800">
                  <a:moveTo>
                    <a:pt x="5100148" y="1397000"/>
                  </a:moveTo>
                  <a:lnTo>
                    <a:pt x="5051932" y="1397000"/>
                  </a:lnTo>
                  <a:lnTo>
                    <a:pt x="5041127" y="1409700"/>
                  </a:lnTo>
                  <a:lnTo>
                    <a:pt x="5110956" y="1409700"/>
                  </a:lnTo>
                  <a:lnTo>
                    <a:pt x="5100148" y="1397000"/>
                  </a:lnTo>
                  <a:close/>
                </a:path>
                <a:path w="5217159" h="2082800">
                  <a:moveTo>
                    <a:pt x="4839067" y="1346200"/>
                  </a:moveTo>
                  <a:lnTo>
                    <a:pt x="4757100" y="1346200"/>
                  </a:lnTo>
                  <a:lnTo>
                    <a:pt x="4746968" y="1358900"/>
                  </a:lnTo>
                  <a:lnTo>
                    <a:pt x="4836003" y="1358900"/>
                  </a:lnTo>
                  <a:lnTo>
                    <a:pt x="4839067" y="134620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983236" y="2023364"/>
            <a:ext cx="5076825" cy="1784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ourier New"/>
                <a:cs typeface="Courier New"/>
              </a:rPr>
              <a:t>requiere(mice)</a:t>
            </a:r>
            <a:endParaRPr sz="1800">
              <a:latin typeface="Courier New"/>
              <a:cs typeface="Courier New"/>
            </a:endParaRPr>
          </a:p>
          <a:p>
            <a:pPr marL="12700" marR="1779270">
              <a:lnSpc>
                <a:spcPts val="3910"/>
              </a:lnSpc>
              <a:spcBef>
                <a:spcPts val="400"/>
              </a:spcBef>
            </a:pPr>
            <a:r>
              <a:rPr sz="1800" b="1" dirty="0">
                <a:latin typeface="Courier New"/>
                <a:cs typeface="Courier New"/>
              </a:rPr>
              <a:t>datos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&lt;-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airquality </a:t>
            </a:r>
            <a:r>
              <a:rPr sz="1800" b="1" dirty="0">
                <a:latin typeface="Courier New"/>
                <a:cs typeface="Courier New"/>
              </a:rPr>
              <a:t>imputados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&lt;-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mice(datos)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1800" b="1" dirty="0">
                <a:latin typeface="Courier New"/>
                <a:cs typeface="Courier New"/>
              </a:rPr>
              <a:t>datos_imputados&lt;–</a:t>
            </a:r>
            <a:r>
              <a:rPr sz="1800" b="1" spc="-18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complete(imputados)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pc="-10" dirty="0"/>
              <a:t>Transformación</a:t>
            </a:r>
          </a:p>
          <a:p>
            <a:pPr marL="686435">
              <a:lnSpc>
                <a:spcPct val="100000"/>
              </a:lnSpc>
              <a:spcBef>
                <a:spcPts val="745"/>
              </a:spcBef>
            </a:pPr>
            <a:r>
              <a:rPr sz="2800" dirty="0">
                <a:solidFill>
                  <a:srgbClr val="FF0000"/>
                </a:solidFill>
              </a:rPr>
              <a:t>Datos</a:t>
            </a:r>
            <a:r>
              <a:rPr sz="2800" spc="-50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anómalos: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786643" y="271779"/>
            <a:ext cx="5243830" cy="1198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75" dirty="0">
                <a:latin typeface="Arial"/>
                <a:cs typeface="Arial"/>
              </a:rPr>
              <a:t>Datos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dispersos</a:t>
            </a:r>
            <a:endParaRPr sz="2800">
              <a:latin typeface="Arial"/>
              <a:cs typeface="Arial"/>
            </a:endParaRPr>
          </a:p>
          <a:p>
            <a:pPr marL="298450" marR="5080" indent="-292735">
              <a:lnSpc>
                <a:spcPct val="71400"/>
              </a:lnSpc>
              <a:spcBef>
                <a:spcPts val="1080"/>
              </a:spcBef>
              <a:buSzPct val="91071"/>
              <a:buFont typeface="Apple SD Gothic Neo Light"/>
              <a:buChar char="■"/>
              <a:tabLst>
                <a:tab pos="298450" algn="l"/>
              </a:tabLst>
            </a:pPr>
            <a:r>
              <a:rPr sz="2800" spc="-190" dirty="0">
                <a:latin typeface="Arial"/>
                <a:cs typeface="Arial"/>
              </a:rPr>
              <a:t>Valores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fuera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de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la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70" dirty="0">
                <a:latin typeface="Arial"/>
                <a:cs typeface="Arial"/>
              </a:rPr>
              <a:t>distribución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40" dirty="0">
                <a:latin typeface="Arial"/>
                <a:cs typeface="Arial"/>
              </a:rPr>
              <a:t>de </a:t>
            </a:r>
            <a:r>
              <a:rPr sz="2800" spc="-145" dirty="0">
                <a:latin typeface="Arial"/>
                <a:cs typeface="Arial"/>
              </a:rPr>
              <a:t>los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891968" y="2004800"/>
            <a:ext cx="5252085" cy="3138805"/>
            <a:chOff x="3891968" y="2004800"/>
            <a:chExt cx="5252085" cy="3138805"/>
          </a:xfrm>
        </p:grpSpPr>
        <p:sp>
          <p:nvSpPr>
            <p:cNvPr id="5" name="object 5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91968" y="2004800"/>
              <a:ext cx="5217160" cy="2082800"/>
            </a:xfrm>
            <a:custGeom>
              <a:avLst/>
              <a:gdLst/>
              <a:ahLst/>
              <a:cxnLst/>
              <a:rect l="l" t="t" r="r" b="b"/>
              <a:pathLst>
                <a:path w="5217159" h="2082800">
                  <a:moveTo>
                    <a:pt x="5216535" y="0"/>
                  </a:moveTo>
                  <a:lnTo>
                    <a:pt x="0" y="0"/>
                  </a:lnTo>
                  <a:lnTo>
                    <a:pt x="0" y="2082800"/>
                  </a:lnTo>
                  <a:lnTo>
                    <a:pt x="4041176" y="2082800"/>
                  </a:lnTo>
                  <a:lnTo>
                    <a:pt x="4026095" y="2070100"/>
                  </a:lnTo>
                  <a:lnTo>
                    <a:pt x="4015054" y="2057400"/>
                  </a:lnTo>
                  <a:lnTo>
                    <a:pt x="4008270" y="2044700"/>
                  </a:lnTo>
                  <a:lnTo>
                    <a:pt x="4005960" y="2032000"/>
                  </a:lnTo>
                  <a:lnTo>
                    <a:pt x="4007266" y="2019300"/>
                  </a:lnTo>
                  <a:lnTo>
                    <a:pt x="4011120" y="2019300"/>
                  </a:lnTo>
                  <a:lnTo>
                    <a:pt x="4017431" y="2006600"/>
                  </a:lnTo>
                  <a:lnTo>
                    <a:pt x="4026107" y="1993900"/>
                  </a:lnTo>
                  <a:lnTo>
                    <a:pt x="3979092" y="1955800"/>
                  </a:lnTo>
                  <a:lnTo>
                    <a:pt x="3940000" y="1917700"/>
                  </a:lnTo>
                  <a:lnTo>
                    <a:pt x="3909111" y="1879600"/>
                  </a:lnTo>
                  <a:lnTo>
                    <a:pt x="3886702" y="1828800"/>
                  </a:lnTo>
                  <a:lnTo>
                    <a:pt x="3873053" y="1778000"/>
                  </a:lnTo>
                  <a:lnTo>
                    <a:pt x="3868441" y="1739900"/>
                  </a:lnTo>
                  <a:lnTo>
                    <a:pt x="3871986" y="1689100"/>
                  </a:lnTo>
                  <a:lnTo>
                    <a:pt x="3882511" y="1651000"/>
                  </a:lnTo>
                  <a:lnTo>
                    <a:pt x="3899852" y="1612900"/>
                  </a:lnTo>
                  <a:lnTo>
                    <a:pt x="3923844" y="1574800"/>
                  </a:lnTo>
                  <a:lnTo>
                    <a:pt x="3954323" y="1536700"/>
                  </a:lnTo>
                  <a:lnTo>
                    <a:pt x="3991124" y="1498600"/>
                  </a:lnTo>
                  <a:lnTo>
                    <a:pt x="4034082" y="1473200"/>
                  </a:lnTo>
                  <a:lnTo>
                    <a:pt x="4083033" y="1435100"/>
                  </a:lnTo>
                  <a:lnTo>
                    <a:pt x="4121878" y="1409700"/>
                  </a:lnTo>
                  <a:lnTo>
                    <a:pt x="4162832" y="1397000"/>
                  </a:lnTo>
                  <a:lnTo>
                    <a:pt x="4205742" y="1384300"/>
                  </a:lnTo>
                  <a:lnTo>
                    <a:pt x="4250456" y="1358900"/>
                  </a:lnTo>
                  <a:lnTo>
                    <a:pt x="4344681" y="1333500"/>
                  </a:lnTo>
                  <a:lnTo>
                    <a:pt x="4393887" y="1333500"/>
                  </a:lnTo>
                  <a:lnTo>
                    <a:pt x="4444285" y="1320800"/>
                  </a:lnTo>
                  <a:lnTo>
                    <a:pt x="4495722" y="1320800"/>
                  </a:lnTo>
                  <a:lnTo>
                    <a:pt x="4548044" y="1308100"/>
                  </a:lnTo>
                  <a:lnTo>
                    <a:pt x="5216535" y="1308100"/>
                  </a:lnTo>
                  <a:lnTo>
                    <a:pt x="5216535" y="0"/>
                  </a:lnTo>
                  <a:close/>
                </a:path>
                <a:path w="5217159" h="2082800">
                  <a:moveTo>
                    <a:pt x="4702408" y="1346200"/>
                  </a:moveTo>
                  <a:lnTo>
                    <a:pt x="4479848" y="1346200"/>
                  </a:lnTo>
                  <a:lnTo>
                    <a:pt x="4421752" y="1358900"/>
                  </a:lnTo>
                  <a:lnTo>
                    <a:pt x="4311821" y="1384300"/>
                  </a:lnTo>
                  <a:lnTo>
                    <a:pt x="4260466" y="1397000"/>
                  </a:lnTo>
                  <a:lnTo>
                    <a:pt x="4211838" y="1422400"/>
                  </a:lnTo>
                  <a:lnTo>
                    <a:pt x="4166179" y="1435100"/>
                  </a:lnTo>
                  <a:lnTo>
                    <a:pt x="4123728" y="1460500"/>
                  </a:lnTo>
                  <a:lnTo>
                    <a:pt x="4084725" y="1485900"/>
                  </a:lnTo>
                  <a:lnTo>
                    <a:pt x="4049411" y="1511300"/>
                  </a:lnTo>
                  <a:lnTo>
                    <a:pt x="4018026" y="1536700"/>
                  </a:lnTo>
                  <a:lnTo>
                    <a:pt x="3968004" y="1600200"/>
                  </a:lnTo>
                  <a:lnTo>
                    <a:pt x="3949848" y="1625600"/>
                  </a:lnTo>
                  <a:lnTo>
                    <a:pt x="3936581" y="1663700"/>
                  </a:lnTo>
                  <a:lnTo>
                    <a:pt x="3928445" y="1701800"/>
                  </a:lnTo>
                  <a:lnTo>
                    <a:pt x="3925680" y="1739900"/>
                  </a:lnTo>
                  <a:lnTo>
                    <a:pt x="3929854" y="1778000"/>
                  </a:lnTo>
                  <a:lnTo>
                    <a:pt x="3942209" y="1816100"/>
                  </a:lnTo>
                  <a:lnTo>
                    <a:pt x="3962494" y="1866900"/>
                  </a:lnTo>
                  <a:lnTo>
                    <a:pt x="3990460" y="1905000"/>
                  </a:lnTo>
                  <a:lnTo>
                    <a:pt x="4025856" y="1943100"/>
                  </a:lnTo>
                  <a:lnTo>
                    <a:pt x="4068432" y="1968500"/>
                  </a:lnTo>
                  <a:lnTo>
                    <a:pt x="4172187" y="1968500"/>
                  </a:lnTo>
                  <a:lnTo>
                    <a:pt x="4192816" y="1981200"/>
                  </a:lnTo>
                  <a:lnTo>
                    <a:pt x="4211161" y="1981200"/>
                  </a:lnTo>
                  <a:lnTo>
                    <a:pt x="4226240" y="1993900"/>
                  </a:lnTo>
                  <a:lnTo>
                    <a:pt x="4237277" y="2006600"/>
                  </a:lnTo>
                  <a:lnTo>
                    <a:pt x="4244057" y="2019300"/>
                  </a:lnTo>
                  <a:lnTo>
                    <a:pt x="4246365" y="2032000"/>
                  </a:lnTo>
                  <a:lnTo>
                    <a:pt x="4244057" y="2044700"/>
                  </a:lnTo>
                  <a:lnTo>
                    <a:pt x="4237277" y="2057400"/>
                  </a:lnTo>
                  <a:lnTo>
                    <a:pt x="4226240" y="2070100"/>
                  </a:lnTo>
                  <a:lnTo>
                    <a:pt x="4211161" y="2082800"/>
                  </a:lnTo>
                  <a:lnTo>
                    <a:pt x="4876314" y="2082800"/>
                  </a:lnTo>
                  <a:lnTo>
                    <a:pt x="4978476" y="2057400"/>
                  </a:lnTo>
                  <a:lnTo>
                    <a:pt x="5030486" y="2032000"/>
                  </a:lnTo>
                  <a:lnTo>
                    <a:pt x="4491387" y="2032000"/>
                  </a:lnTo>
                  <a:lnTo>
                    <a:pt x="4485251" y="2019300"/>
                  </a:lnTo>
                  <a:lnTo>
                    <a:pt x="4483000" y="2019300"/>
                  </a:lnTo>
                  <a:lnTo>
                    <a:pt x="4483000" y="1993900"/>
                  </a:lnTo>
                  <a:lnTo>
                    <a:pt x="4308589" y="1993900"/>
                  </a:lnTo>
                  <a:lnTo>
                    <a:pt x="4301312" y="1981200"/>
                  </a:lnTo>
                  <a:lnTo>
                    <a:pt x="4169460" y="1905000"/>
                  </a:lnTo>
                  <a:lnTo>
                    <a:pt x="4161081" y="1905000"/>
                  </a:lnTo>
                  <a:lnTo>
                    <a:pt x="4163177" y="1892300"/>
                  </a:lnTo>
                  <a:lnTo>
                    <a:pt x="4169460" y="1892300"/>
                  </a:lnTo>
                  <a:lnTo>
                    <a:pt x="4208589" y="1866900"/>
                  </a:lnTo>
                  <a:lnTo>
                    <a:pt x="4194841" y="1854200"/>
                  </a:lnTo>
                  <a:lnTo>
                    <a:pt x="4182826" y="1828800"/>
                  </a:lnTo>
                  <a:lnTo>
                    <a:pt x="4172562" y="1816100"/>
                  </a:lnTo>
                  <a:lnTo>
                    <a:pt x="4164072" y="1803400"/>
                  </a:lnTo>
                  <a:lnTo>
                    <a:pt x="4093921" y="1803400"/>
                  </a:lnTo>
                  <a:lnTo>
                    <a:pt x="4083189" y="1790700"/>
                  </a:lnTo>
                  <a:lnTo>
                    <a:pt x="4080169" y="1790700"/>
                  </a:lnTo>
                  <a:lnTo>
                    <a:pt x="4080282" y="1689100"/>
                  </a:lnTo>
                  <a:lnTo>
                    <a:pt x="4082531" y="1676400"/>
                  </a:lnTo>
                  <a:lnTo>
                    <a:pt x="4088664" y="1676400"/>
                  </a:lnTo>
                  <a:lnTo>
                    <a:pt x="4097760" y="1663700"/>
                  </a:lnTo>
                  <a:lnTo>
                    <a:pt x="4164072" y="1663700"/>
                  </a:lnTo>
                  <a:lnTo>
                    <a:pt x="4172562" y="1651000"/>
                  </a:lnTo>
                  <a:lnTo>
                    <a:pt x="4182826" y="1638300"/>
                  </a:lnTo>
                  <a:lnTo>
                    <a:pt x="4194841" y="1625600"/>
                  </a:lnTo>
                  <a:lnTo>
                    <a:pt x="4208589" y="1600200"/>
                  </a:lnTo>
                  <a:lnTo>
                    <a:pt x="4164307" y="1574800"/>
                  </a:lnTo>
                  <a:lnTo>
                    <a:pt x="4161288" y="1574800"/>
                  </a:lnTo>
                  <a:lnTo>
                    <a:pt x="4161288" y="1562100"/>
                  </a:lnTo>
                  <a:lnTo>
                    <a:pt x="4164307" y="1562100"/>
                  </a:lnTo>
                  <a:lnTo>
                    <a:pt x="4296258" y="1485900"/>
                  </a:lnTo>
                  <a:lnTo>
                    <a:pt x="4483000" y="1485900"/>
                  </a:lnTo>
                  <a:lnTo>
                    <a:pt x="4483000" y="1447800"/>
                  </a:lnTo>
                  <a:lnTo>
                    <a:pt x="4485251" y="1447800"/>
                  </a:lnTo>
                  <a:lnTo>
                    <a:pt x="4491387" y="1435100"/>
                  </a:lnTo>
                  <a:lnTo>
                    <a:pt x="4955838" y="1435100"/>
                  </a:lnTo>
                  <a:lnTo>
                    <a:pt x="4958146" y="1422400"/>
                  </a:lnTo>
                  <a:lnTo>
                    <a:pt x="4964925" y="1409700"/>
                  </a:lnTo>
                  <a:lnTo>
                    <a:pt x="4975962" y="1397000"/>
                  </a:lnTo>
                  <a:lnTo>
                    <a:pt x="4991042" y="1384300"/>
                  </a:lnTo>
                  <a:lnTo>
                    <a:pt x="5009387" y="1371600"/>
                  </a:lnTo>
                  <a:lnTo>
                    <a:pt x="4839067" y="1371600"/>
                  </a:lnTo>
                  <a:lnTo>
                    <a:pt x="4836003" y="1358900"/>
                  </a:lnTo>
                  <a:lnTo>
                    <a:pt x="4735612" y="1358900"/>
                  </a:lnTo>
                  <a:lnTo>
                    <a:pt x="4702408" y="1346200"/>
                  </a:lnTo>
                  <a:close/>
                </a:path>
                <a:path w="5217159" h="2082800">
                  <a:moveTo>
                    <a:pt x="5216535" y="1968500"/>
                  </a:moveTo>
                  <a:lnTo>
                    <a:pt x="5211079" y="1968500"/>
                  </a:lnTo>
                  <a:lnTo>
                    <a:pt x="5190359" y="1981200"/>
                  </a:lnTo>
                  <a:lnTo>
                    <a:pt x="5168120" y="2006600"/>
                  </a:lnTo>
                  <a:lnTo>
                    <a:pt x="5144384" y="2019300"/>
                  </a:lnTo>
                  <a:lnTo>
                    <a:pt x="5092697" y="2044700"/>
                  </a:lnTo>
                  <a:lnTo>
                    <a:pt x="5036744" y="2070100"/>
                  </a:lnTo>
                  <a:lnTo>
                    <a:pt x="5007362" y="2082800"/>
                  </a:lnTo>
                  <a:lnTo>
                    <a:pt x="5216535" y="2082800"/>
                  </a:lnTo>
                  <a:lnTo>
                    <a:pt x="5216535" y="1968500"/>
                  </a:lnTo>
                  <a:close/>
                </a:path>
                <a:path w="5217159" h="2082800">
                  <a:moveTo>
                    <a:pt x="4170679" y="2057400"/>
                  </a:moveTo>
                  <a:lnTo>
                    <a:pt x="4081645" y="2057400"/>
                  </a:lnTo>
                  <a:lnTo>
                    <a:pt x="4091255" y="2070100"/>
                  </a:lnTo>
                  <a:lnTo>
                    <a:pt x="4161075" y="2070100"/>
                  </a:lnTo>
                  <a:lnTo>
                    <a:pt x="4170679" y="2057400"/>
                  </a:lnTo>
                  <a:close/>
                </a:path>
                <a:path w="5217159" h="2082800">
                  <a:moveTo>
                    <a:pt x="4184363" y="2044700"/>
                  </a:moveTo>
                  <a:lnTo>
                    <a:pt x="4067962" y="2044700"/>
                  </a:lnTo>
                  <a:lnTo>
                    <a:pt x="4073745" y="2057400"/>
                  </a:lnTo>
                  <a:lnTo>
                    <a:pt x="4178580" y="2057400"/>
                  </a:lnTo>
                  <a:lnTo>
                    <a:pt x="4184363" y="2044700"/>
                  </a:lnTo>
                  <a:close/>
                </a:path>
                <a:path w="5217159" h="2082800">
                  <a:moveTo>
                    <a:pt x="4189125" y="2032000"/>
                  </a:moveTo>
                  <a:lnTo>
                    <a:pt x="4063199" y="2032000"/>
                  </a:lnTo>
                  <a:lnTo>
                    <a:pt x="4064409" y="2044700"/>
                  </a:lnTo>
                  <a:lnTo>
                    <a:pt x="4187916" y="2044700"/>
                  </a:lnTo>
                  <a:lnTo>
                    <a:pt x="4189125" y="2032000"/>
                  </a:lnTo>
                  <a:close/>
                </a:path>
                <a:path w="5217159" h="2082800">
                  <a:moveTo>
                    <a:pt x="4184363" y="2019300"/>
                  </a:moveTo>
                  <a:lnTo>
                    <a:pt x="4067962" y="2019300"/>
                  </a:lnTo>
                  <a:lnTo>
                    <a:pt x="4064409" y="2032000"/>
                  </a:lnTo>
                  <a:lnTo>
                    <a:pt x="4187916" y="2032000"/>
                  </a:lnTo>
                  <a:lnTo>
                    <a:pt x="4184363" y="2019300"/>
                  </a:lnTo>
                  <a:close/>
                </a:path>
                <a:path w="5217159" h="2082800">
                  <a:moveTo>
                    <a:pt x="4826603" y="1955800"/>
                  </a:moveTo>
                  <a:lnTo>
                    <a:pt x="4800849" y="1968500"/>
                  </a:lnTo>
                  <a:lnTo>
                    <a:pt x="4774330" y="1981200"/>
                  </a:lnTo>
                  <a:lnTo>
                    <a:pt x="4719190" y="1981200"/>
                  </a:lnTo>
                  <a:lnTo>
                    <a:pt x="4719190" y="2019300"/>
                  </a:lnTo>
                  <a:lnTo>
                    <a:pt x="4716941" y="2019300"/>
                  </a:lnTo>
                  <a:lnTo>
                    <a:pt x="4710808" y="2032000"/>
                  </a:lnTo>
                  <a:lnTo>
                    <a:pt x="5030486" y="2032000"/>
                  </a:lnTo>
                  <a:lnTo>
                    <a:pt x="5078474" y="2006600"/>
                  </a:lnTo>
                  <a:lnTo>
                    <a:pt x="5100285" y="1993900"/>
                  </a:lnTo>
                  <a:lnTo>
                    <a:pt x="4878420" y="1993900"/>
                  </a:lnTo>
                  <a:lnTo>
                    <a:pt x="4871142" y="1981200"/>
                  </a:lnTo>
                  <a:lnTo>
                    <a:pt x="4826603" y="1955800"/>
                  </a:lnTo>
                  <a:close/>
                </a:path>
                <a:path w="5217159" h="2082800">
                  <a:moveTo>
                    <a:pt x="4170679" y="2006600"/>
                  </a:moveTo>
                  <a:lnTo>
                    <a:pt x="4081645" y="2006600"/>
                  </a:lnTo>
                  <a:lnTo>
                    <a:pt x="4073745" y="2019300"/>
                  </a:lnTo>
                  <a:lnTo>
                    <a:pt x="4178580" y="2019300"/>
                  </a:lnTo>
                  <a:lnTo>
                    <a:pt x="4170679" y="2006600"/>
                  </a:lnTo>
                  <a:close/>
                </a:path>
                <a:path w="5217159" h="2082800">
                  <a:moveTo>
                    <a:pt x="4138539" y="1993900"/>
                  </a:moveTo>
                  <a:lnTo>
                    <a:pt x="4113784" y="1993900"/>
                  </a:lnTo>
                  <a:lnTo>
                    <a:pt x="4102055" y="2006600"/>
                  </a:lnTo>
                  <a:lnTo>
                    <a:pt x="4150266" y="2006600"/>
                  </a:lnTo>
                  <a:lnTo>
                    <a:pt x="4138539" y="1993900"/>
                  </a:lnTo>
                  <a:close/>
                </a:path>
                <a:path w="5217159" h="2082800">
                  <a:moveTo>
                    <a:pt x="4661950" y="1968500"/>
                  </a:moveTo>
                  <a:lnTo>
                    <a:pt x="4540239" y="1968500"/>
                  </a:lnTo>
                  <a:lnTo>
                    <a:pt x="4540239" y="2006600"/>
                  </a:lnTo>
                  <a:lnTo>
                    <a:pt x="4661950" y="2006600"/>
                  </a:lnTo>
                  <a:lnTo>
                    <a:pt x="4661950" y="1968500"/>
                  </a:lnTo>
                  <a:close/>
                </a:path>
                <a:path w="5217159" h="2082800">
                  <a:moveTo>
                    <a:pt x="4375589" y="1955800"/>
                  </a:moveTo>
                  <a:lnTo>
                    <a:pt x="4331060" y="1981200"/>
                  </a:lnTo>
                  <a:lnTo>
                    <a:pt x="4323782" y="1993900"/>
                  </a:lnTo>
                  <a:lnTo>
                    <a:pt x="4483000" y="1993900"/>
                  </a:lnTo>
                  <a:lnTo>
                    <a:pt x="4483000" y="1981200"/>
                  </a:lnTo>
                  <a:lnTo>
                    <a:pt x="4427869" y="1981200"/>
                  </a:lnTo>
                  <a:lnTo>
                    <a:pt x="4401349" y="1968500"/>
                  </a:lnTo>
                  <a:lnTo>
                    <a:pt x="4375589" y="1955800"/>
                  </a:lnTo>
                  <a:close/>
                </a:path>
                <a:path w="5217159" h="2082800">
                  <a:moveTo>
                    <a:pt x="4955838" y="1435100"/>
                  </a:moveTo>
                  <a:lnTo>
                    <a:pt x="4710808" y="1435100"/>
                  </a:lnTo>
                  <a:lnTo>
                    <a:pt x="4716941" y="1447800"/>
                  </a:lnTo>
                  <a:lnTo>
                    <a:pt x="4719190" y="1447800"/>
                  </a:lnTo>
                  <a:lnTo>
                    <a:pt x="4719190" y="1485900"/>
                  </a:lnTo>
                  <a:lnTo>
                    <a:pt x="4905932" y="1485900"/>
                  </a:lnTo>
                  <a:lnTo>
                    <a:pt x="5037884" y="1562100"/>
                  </a:lnTo>
                  <a:lnTo>
                    <a:pt x="5040903" y="1562100"/>
                  </a:lnTo>
                  <a:lnTo>
                    <a:pt x="5040914" y="1574800"/>
                  </a:lnTo>
                  <a:lnTo>
                    <a:pt x="5037895" y="1574800"/>
                  </a:lnTo>
                  <a:lnTo>
                    <a:pt x="4993613" y="1600200"/>
                  </a:lnTo>
                  <a:lnTo>
                    <a:pt x="5007358" y="1625600"/>
                  </a:lnTo>
                  <a:lnTo>
                    <a:pt x="5019370" y="1638300"/>
                  </a:lnTo>
                  <a:lnTo>
                    <a:pt x="5029630" y="1651000"/>
                  </a:lnTo>
                  <a:lnTo>
                    <a:pt x="5038119" y="1663700"/>
                  </a:lnTo>
                  <a:lnTo>
                    <a:pt x="5104542" y="1663700"/>
                  </a:lnTo>
                  <a:lnTo>
                    <a:pt x="5113639" y="1676400"/>
                  </a:lnTo>
                  <a:lnTo>
                    <a:pt x="5119772" y="1676400"/>
                  </a:lnTo>
                  <a:lnTo>
                    <a:pt x="5122021" y="1689100"/>
                  </a:lnTo>
                  <a:lnTo>
                    <a:pt x="5122021" y="1790700"/>
                  </a:lnTo>
                  <a:lnTo>
                    <a:pt x="5119772" y="1790700"/>
                  </a:lnTo>
                  <a:lnTo>
                    <a:pt x="5113639" y="1803400"/>
                  </a:lnTo>
                  <a:lnTo>
                    <a:pt x="5038129" y="1803400"/>
                  </a:lnTo>
                  <a:lnTo>
                    <a:pt x="5029639" y="1816100"/>
                  </a:lnTo>
                  <a:lnTo>
                    <a:pt x="5019376" y="1828800"/>
                  </a:lnTo>
                  <a:lnTo>
                    <a:pt x="5007360" y="1854200"/>
                  </a:lnTo>
                  <a:lnTo>
                    <a:pt x="4993613" y="1866900"/>
                  </a:lnTo>
                  <a:lnTo>
                    <a:pt x="5032740" y="1892300"/>
                  </a:lnTo>
                  <a:lnTo>
                    <a:pt x="5039023" y="1892300"/>
                  </a:lnTo>
                  <a:lnTo>
                    <a:pt x="5041117" y="1905000"/>
                  </a:lnTo>
                  <a:lnTo>
                    <a:pt x="5032740" y="1905000"/>
                  </a:lnTo>
                  <a:lnTo>
                    <a:pt x="4900890" y="1981200"/>
                  </a:lnTo>
                  <a:lnTo>
                    <a:pt x="4893602" y="1993900"/>
                  </a:lnTo>
                  <a:lnTo>
                    <a:pt x="5100285" y="1993900"/>
                  </a:lnTo>
                  <a:lnTo>
                    <a:pt x="5122097" y="1981200"/>
                  </a:lnTo>
                  <a:lnTo>
                    <a:pt x="5161014" y="1955800"/>
                  </a:lnTo>
                  <a:lnTo>
                    <a:pt x="5216535" y="1892300"/>
                  </a:lnTo>
                  <a:lnTo>
                    <a:pt x="5216535" y="1574800"/>
                  </a:lnTo>
                  <a:lnTo>
                    <a:pt x="5181168" y="1536700"/>
                  </a:lnTo>
                  <a:lnTo>
                    <a:pt x="5150561" y="1511300"/>
                  </a:lnTo>
                  <a:lnTo>
                    <a:pt x="5133770" y="1498600"/>
                  </a:lnTo>
                  <a:lnTo>
                    <a:pt x="5009387" y="1498600"/>
                  </a:lnTo>
                  <a:lnTo>
                    <a:pt x="4991042" y="1485900"/>
                  </a:lnTo>
                  <a:lnTo>
                    <a:pt x="4975962" y="1473200"/>
                  </a:lnTo>
                  <a:lnTo>
                    <a:pt x="4964925" y="1460500"/>
                  </a:lnTo>
                  <a:lnTo>
                    <a:pt x="4958146" y="1447800"/>
                  </a:lnTo>
                  <a:lnTo>
                    <a:pt x="4955838" y="1435100"/>
                  </a:lnTo>
                  <a:close/>
                </a:path>
                <a:path w="5217159" h="2082800">
                  <a:moveTo>
                    <a:pt x="4675458" y="1955800"/>
                  </a:moveTo>
                  <a:lnTo>
                    <a:pt x="4526727" y="1955800"/>
                  </a:lnTo>
                  <a:lnTo>
                    <a:pt x="4533879" y="1968500"/>
                  </a:lnTo>
                  <a:lnTo>
                    <a:pt x="4668306" y="1968500"/>
                  </a:lnTo>
                  <a:lnTo>
                    <a:pt x="4675458" y="1955800"/>
                  </a:lnTo>
                  <a:close/>
                </a:path>
                <a:path w="5217159" h="2082800">
                  <a:moveTo>
                    <a:pt x="4784557" y="1930400"/>
                  </a:moveTo>
                  <a:lnTo>
                    <a:pt x="4417634" y="1930400"/>
                  </a:lnTo>
                  <a:lnTo>
                    <a:pt x="4449788" y="1943100"/>
                  </a:lnTo>
                  <a:lnTo>
                    <a:pt x="4483159" y="1955800"/>
                  </a:lnTo>
                  <a:lnTo>
                    <a:pt x="4719031" y="1955800"/>
                  </a:lnTo>
                  <a:lnTo>
                    <a:pt x="4752403" y="1943100"/>
                  </a:lnTo>
                  <a:lnTo>
                    <a:pt x="4784557" y="1930400"/>
                  </a:lnTo>
                  <a:close/>
                </a:path>
                <a:path w="5217159" h="2082800">
                  <a:moveTo>
                    <a:pt x="4937213" y="1879600"/>
                  </a:moveTo>
                  <a:lnTo>
                    <a:pt x="4264978" y="1879600"/>
                  </a:lnTo>
                  <a:lnTo>
                    <a:pt x="4230165" y="1905000"/>
                  </a:lnTo>
                  <a:lnTo>
                    <a:pt x="4316191" y="1943100"/>
                  </a:lnTo>
                  <a:lnTo>
                    <a:pt x="4351037" y="1930400"/>
                  </a:lnTo>
                  <a:lnTo>
                    <a:pt x="4359063" y="1930400"/>
                  </a:lnTo>
                  <a:lnTo>
                    <a:pt x="4368258" y="1917700"/>
                  </a:lnTo>
                  <a:lnTo>
                    <a:pt x="4943350" y="1917700"/>
                  </a:lnTo>
                  <a:lnTo>
                    <a:pt x="4972025" y="1905000"/>
                  </a:lnTo>
                  <a:lnTo>
                    <a:pt x="4937213" y="1879600"/>
                  </a:lnTo>
                  <a:close/>
                </a:path>
                <a:path w="5217159" h="2082800">
                  <a:moveTo>
                    <a:pt x="4943350" y="1917700"/>
                  </a:moveTo>
                  <a:lnTo>
                    <a:pt x="4833932" y="1917700"/>
                  </a:lnTo>
                  <a:lnTo>
                    <a:pt x="4843128" y="1930400"/>
                  </a:lnTo>
                  <a:lnTo>
                    <a:pt x="4851153" y="1930400"/>
                  </a:lnTo>
                  <a:lnTo>
                    <a:pt x="4885999" y="1943100"/>
                  </a:lnTo>
                  <a:lnTo>
                    <a:pt x="4943350" y="1917700"/>
                  </a:lnTo>
                  <a:close/>
                </a:path>
                <a:path w="5217159" h="2082800">
                  <a:moveTo>
                    <a:pt x="4824403" y="1917700"/>
                  </a:moveTo>
                  <a:lnTo>
                    <a:pt x="4377787" y="1917700"/>
                  </a:lnTo>
                  <a:lnTo>
                    <a:pt x="4386812" y="1930400"/>
                  </a:lnTo>
                  <a:lnTo>
                    <a:pt x="4815378" y="1930400"/>
                  </a:lnTo>
                  <a:lnTo>
                    <a:pt x="4824403" y="1917700"/>
                  </a:lnTo>
                  <a:close/>
                </a:path>
                <a:path w="5217159" h="2082800">
                  <a:moveTo>
                    <a:pt x="4928990" y="1866900"/>
                  </a:moveTo>
                  <a:lnTo>
                    <a:pt x="4273201" y="1866900"/>
                  </a:lnTo>
                  <a:lnTo>
                    <a:pt x="4270625" y="1879600"/>
                  </a:lnTo>
                  <a:lnTo>
                    <a:pt x="4931566" y="1879600"/>
                  </a:lnTo>
                  <a:lnTo>
                    <a:pt x="4928990" y="1866900"/>
                  </a:lnTo>
                  <a:close/>
                </a:path>
                <a:path w="5217159" h="2082800">
                  <a:moveTo>
                    <a:pt x="4538306" y="1600200"/>
                  </a:moveTo>
                  <a:lnTo>
                    <a:pt x="4272616" y="1600200"/>
                  </a:lnTo>
                  <a:lnTo>
                    <a:pt x="4268779" y="1612900"/>
                  </a:lnTo>
                  <a:lnTo>
                    <a:pt x="4250771" y="1625600"/>
                  </a:lnTo>
                  <a:lnTo>
                    <a:pt x="4235701" y="1651000"/>
                  </a:lnTo>
                  <a:lnTo>
                    <a:pt x="4223617" y="1663700"/>
                  </a:lnTo>
                  <a:lnTo>
                    <a:pt x="4214569" y="1689100"/>
                  </a:lnTo>
                  <a:lnTo>
                    <a:pt x="4210897" y="1689100"/>
                  </a:lnTo>
                  <a:lnTo>
                    <a:pt x="4204574" y="1701800"/>
                  </a:lnTo>
                  <a:lnTo>
                    <a:pt x="4137498" y="1701800"/>
                  </a:lnTo>
                  <a:lnTo>
                    <a:pt x="4137431" y="1765300"/>
                  </a:lnTo>
                  <a:lnTo>
                    <a:pt x="4196253" y="1765300"/>
                  </a:lnTo>
                  <a:lnTo>
                    <a:pt x="4204574" y="1778000"/>
                  </a:lnTo>
                  <a:lnTo>
                    <a:pt x="4214569" y="1778000"/>
                  </a:lnTo>
                  <a:lnTo>
                    <a:pt x="4223617" y="1803400"/>
                  </a:lnTo>
                  <a:lnTo>
                    <a:pt x="4235701" y="1816100"/>
                  </a:lnTo>
                  <a:lnTo>
                    <a:pt x="4250771" y="1841500"/>
                  </a:lnTo>
                  <a:lnTo>
                    <a:pt x="4268779" y="1854200"/>
                  </a:lnTo>
                  <a:lnTo>
                    <a:pt x="4272616" y="1866900"/>
                  </a:lnTo>
                  <a:lnTo>
                    <a:pt x="4538306" y="1866900"/>
                  </a:lnTo>
                  <a:lnTo>
                    <a:pt x="4481837" y="1854200"/>
                  </a:lnTo>
                  <a:lnTo>
                    <a:pt x="4433962" y="1828800"/>
                  </a:lnTo>
                  <a:lnTo>
                    <a:pt x="4396953" y="1803400"/>
                  </a:lnTo>
                  <a:lnTo>
                    <a:pt x="4373083" y="1765300"/>
                  </a:lnTo>
                  <a:lnTo>
                    <a:pt x="4364621" y="1739900"/>
                  </a:lnTo>
                  <a:lnTo>
                    <a:pt x="4373083" y="1701800"/>
                  </a:lnTo>
                  <a:lnTo>
                    <a:pt x="4396953" y="1663700"/>
                  </a:lnTo>
                  <a:lnTo>
                    <a:pt x="4433962" y="1638300"/>
                  </a:lnTo>
                  <a:lnTo>
                    <a:pt x="4481837" y="1612900"/>
                  </a:lnTo>
                  <a:lnTo>
                    <a:pt x="4538306" y="1600200"/>
                  </a:lnTo>
                  <a:close/>
                </a:path>
                <a:path w="5217159" h="2082800">
                  <a:moveTo>
                    <a:pt x="4929574" y="1600200"/>
                  </a:moveTo>
                  <a:lnTo>
                    <a:pt x="4663895" y="1600200"/>
                  </a:lnTo>
                  <a:lnTo>
                    <a:pt x="4720365" y="1612900"/>
                  </a:lnTo>
                  <a:lnTo>
                    <a:pt x="4768240" y="1638300"/>
                  </a:lnTo>
                  <a:lnTo>
                    <a:pt x="4805248" y="1663700"/>
                  </a:lnTo>
                  <a:lnTo>
                    <a:pt x="4829119" y="1701800"/>
                  </a:lnTo>
                  <a:lnTo>
                    <a:pt x="4837581" y="1739900"/>
                  </a:lnTo>
                  <a:lnTo>
                    <a:pt x="4829119" y="1765300"/>
                  </a:lnTo>
                  <a:lnTo>
                    <a:pt x="4805248" y="1803400"/>
                  </a:lnTo>
                  <a:lnTo>
                    <a:pt x="4768240" y="1828800"/>
                  </a:lnTo>
                  <a:lnTo>
                    <a:pt x="4720365" y="1854200"/>
                  </a:lnTo>
                  <a:lnTo>
                    <a:pt x="4663895" y="1866900"/>
                  </a:lnTo>
                  <a:lnTo>
                    <a:pt x="4929575" y="1866900"/>
                  </a:lnTo>
                  <a:lnTo>
                    <a:pt x="4933411" y="1854200"/>
                  </a:lnTo>
                  <a:lnTo>
                    <a:pt x="4951420" y="1841500"/>
                  </a:lnTo>
                  <a:lnTo>
                    <a:pt x="4966491" y="1816100"/>
                  </a:lnTo>
                  <a:lnTo>
                    <a:pt x="4978574" y="1803400"/>
                  </a:lnTo>
                  <a:lnTo>
                    <a:pt x="4987621" y="1778000"/>
                  </a:lnTo>
                  <a:lnTo>
                    <a:pt x="4997617" y="1778000"/>
                  </a:lnTo>
                  <a:lnTo>
                    <a:pt x="5005937" y="1765300"/>
                  </a:lnTo>
                  <a:lnTo>
                    <a:pt x="5064781" y="1765300"/>
                  </a:lnTo>
                  <a:lnTo>
                    <a:pt x="5064781" y="1701800"/>
                  </a:lnTo>
                  <a:lnTo>
                    <a:pt x="4997612" y="1701800"/>
                  </a:lnTo>
                  <a:lnTo>
                    <a:pt x="4991289" y="1689100"/>
                  </a:lnTo>
                  <a:lnTo>
                    <a:pt x="4987621" y="1689100"/>
                  </a:lnTo>
                  <a:lnTo>
                    <a:pt x="4978569" y="1663700"/>
                  </a:lnTo>
                  <a:lnTo>
                    <a:pt x="4966486" y="1651000"/>
                  </a:lnTo>
                  <a:lnTo>
                    <a:pt x="4951418" y="1625600"/>
                  </a:lnTo>
                  <a:lnTo>
                    <a:pt x="4933411" y="1612900"/>
                  </a:lnTo>
                  <a:lnTo>
                    <a:pt x="4929574" y="1600200"/>
                  </a:lnTo>
                  <a:close/>
                </a:path>
                <a:path w="5217159" h="2082800">
                  <a:moveTo>
                    <a:pt x="4601100" y="1625600"/>
                  </a:moveTo>
                  <a:lnTo>
                    <a:pt x="4544505" y="1638300"/>
                  </a:lnTo>
                  <a:lnTo>
                    <a:pt x="4495309" y="1651000"/>
                  </a:lnTo>
                  <a:lnTo>
                    <a:pt x="4456487" y="1676400"/>
                  </a:lnTo>
                  <a:lnTo>
                    <a:pt x="4421859" y="1739900"/>
                  </a:lnTo>
                  <a:lnTo>
                    <a:pt x="4431012" y="1765300"/>
                  </a:lnTo>
                  <a:lnTo>
                    <a:pt x="4456487" y="1790700"/>
                  </a:lnTo>
                  <a:lnTo>
                    <a:pt x="4495309" y="1816100"/>
                  </a:lnTo>
                  <a:lnTo>
                    <a:pt x="4544505" y="1828800"/>
                  </a:lnTo>
                  <a:lnTo>
                    <a:pt x="4601100" y="1841500"/>
                  </a:lnTo>
                  <a:lnTo>
                    <a:pt x="4657696" y="1828800"/>
                  </a:lnTo>
                  <a:lnTo>
                    <a:pt x="4706892" y="1816100"/>
                  </a:lnTo>
                  <a:lnTo>
                    <a:pt x="4745714" y="1790700"/>
                  </a:lnTo>
                  <a:lnTo>
                    <a:pt x="4771189" y="1765300"/>
                  </a:lnTo>
                  <a:lnTo>
                    <a:pt x="4780342" y="1739900"/>
                  </a:lnTo>
                  <a:lnTo>
                    <a:pt x="4771189" y="1701800"/>
                  </a:lnTo>
                  <a:lnTo>
                    <a:pt x="4745714" y="1676400"/>
                  </a:lnTo>
                  <a:lnTo>
                    <a:pt x="4706892" y="1651000"/>
                  </a:lnTo>
                  <a:lnTo>
                    <a:pt x="4657696" y="1638300"/>
                  </a:lnTo>
                  <a:lnTo>
                    <a:pt x="4601100" y="1625600"/>
                  </a:lnTo>
                  <a:close/>
                </a:path>
                <a:path w="5217159" h="2082800">
                  <a:moveTo>
                    <a:pt x="4316482" y="1524000"/>
                  </a:moveTo>
                  <a:lnTo>
                    <a:pt x="4230389" y="1574800"/>
                  </a:lnTo>
                  <a:lnTo>
                    <a:pt x="4264978" y="1587500"/>
                  </a:lnTo>
                  <a:lnTo>
                    <a:pt x="4270625" y="1600200"/>
                  </a:lnTo>
                  <a:lnTo>
                    <a:pt x="4931561" y="1600200"/>
                  </a:lnTo>
                  <a:lnTo>
                    <a:pt x="4937213" y="1587500"/>
                  </a:lnTo>
                  <a:lnTo>
                    <a:pt x="4971802" y="1574800"/>
                  </a:lnTo>
                  <a:lnTo>
                    <a:pt x="4928755" y="1549400"/>
                  </a:lnTo>
                  <a:lnTo>
                    <a:pt x="4359061" y="1549400"/>
                  </a:lnTo>
                  <a:lnTo>
                    <a:pt x="4351037" y="1536700"/>
                  </a:lnTo>
                  <a:lnTo>
                    <a:pt x="4316482" y="1524000"/>
                  </a:lnTo>
                  <a:close/>
                </a:path>
                <a:path w="5217159" h="2082800">
                  <a:moveTo>
                    <a:pt x="4719033" y="1511300"/>
                  </a:moveTo>
                  <a:lnTo>
                    <a:pt x="4483153" y="1511300"/>
                  </a:lnTo>
                  <a:lnTo>
                    <a:pt x="4449779" y="1524000"/>
                  </a:lnTo>
                  <a:lnTo>
                    <a:pt x="4417627" y="1536700"/>
                  </a:lnTo>
                  <a:lnTo>
                    <a:pt x="4386812" y="1549400"/>
                  </a:lnTo>
                  <a:lnTo>
                    <a:pt x="4815378" y="1549400"/>
                  </a:lnTo>
                  <a:lnTo>
                    <a:pt x="4784561" y="1536700"/>
                  </a:lnTo>
                  <a:lnTo>
                    <a:pt x="4752407" y="1524000"/>
                  </a:lnTo>
                  <a:lnTo>
                    <a:pt x="4719033" y="1511300"/>
                  </a:lnTo>
                  <a:close/>
                </a:path>
                <a:path w="5217159" h="2082800">
                  <a:moveTo>
                    <a:pt x="4885709" y="1524000"/>
                  </a:moveTo>
                  <a:lnTo>
                    <a:pt x="4851142" y="1536700"/>
                  </a:lnTo>
                  <a:lnTo>
                    <a:pt x="4843123" y="1549400"/>
                  </a:lnTo>
                  <a:lnTo>
                    <a:pt x="4928755" y="1549400"/>
                  </a:lnTo>
                  <a:lnTo>
                    <a:pt x="4885709" y="1524000"/>
                  </a:lnTo>
                  <a:close/>
                </a:path>
                <a:path w="5217159" h="2082800">
                  <a:moveTo>
                    <a:pt x="4455103" y="1485900"/>
                  </a:moveTo>
                  <a:lnTo>
                    <a:pt x="4336728" y="1485900"/>
                  </a:lnTo>
                  <a:lnTo>
                    <a:pt x="4375599" y="1511300"/>
                  </a:lnTo>
                  <a:lnTo>
                    <a:pt x="4401353" y="1498600"/>
                  </a:lnTo>
                  <a:lnTo>
                    <a:pt x="4427871" y="1498600"/>
                  </a:lnTo>
                  <a:lnTo>
                    <a:pt x="4455103" y="1485900"/>
                  </a:lnTo>
                  <a:close/>
                </a:path>
                <a:path w="5217159" h="2082800">
                  <a:moveTo>
                    <a:pt x="4663627" y="1498600"/>
                  </a:moveTo>
                  <a:lnTo>
                    <a:pt x="4538561" y="1498600"/>
                  </a:lnTo>
                  <a:lnTo>
                    <a:pt x="4533879" y="1511300"/>
                  </a:lnTo>
                  <a:lnTo>
                    <a:pt x="4668306" y="1511300"/>
                  </a:lnTo>
                  <a:lnTo>
                    <a:pt x="4663627" y="1498600"/>
                  </a:lnTo>
                  <a:close/>
                </a:path>
                <a:path w="5217159" h="2082800">
                  <a:moveTo>
                    <a:pt x="4865462" y="1485900"/>
                  </a:moveTo>
                  <a:lnTo>
                    <a:pt x="4747094" y="1485900"/>
                  </a:lnTo>
                  <a:lnTo>
                    <a:pt x="4774330" y="1498600"/>
                  </a:lnTo>
                  <a:lnTo>
                    <a:pt x="4800849" y="1498600"/>
                  </a:lnTo>
                  <a:lnTo>
                    <a:pt x="4826603" y="1511300"/>
                  </a:lnTo>
                  <a:lnTo>
                    <a:pt x="4865462" y="1485900"/>
                  </a:lnTo>
                  <a:close/>
                </a:path>
                <a:path w="5217159" h="2082800">
                  <a:moveTo>
                    <a:pt x="5216535" y="1308100"/>
                  </a:moveTo>
                  <a:lnTo>
                    <a:pt x="4637886" y="1308100"/>
                  </a:lnTo>
                  <a:lnTo>
                    <a:pt x="4674541" y="1320800"/>
                  </a:lnTo>
                  <a:lnTo>
                    <a:pt x="4757423" y="1320800"/>
                  </a:lnTo>
                  <a:lnTo>
                    <a:pt x="4765124" y="1333500"/>
                  </a:lnTo>
                  <a:lnTo>
                    <a:pt x="4769333" y="1333500"/>
                  </a:lnTo>
                  <a:lnTo>
                    <a:pt x="4769331" y="1346200"/>
                  </a:lnTo>
                  <a:lnTo>
                    <a:pt x="4890190" y="1346200"/>
                  </a:lnTo>
                  <a:lnTo>
                    <a:pt x="4893242" y="1358900"/>
                  </a:lnTo>
                  <a:lnTo>
                    <a:pt x="4890179" y="1371600"/>
                  </a:lnTo>
                  <a:lnTo>
                    <a:pt x="5142692" y="1371600"/>
                  </a:lnTo>
                  <a:lnTo>
                    <a:pt x="5161037" y="1384300"/>
                  </a:lnTo>
                  <a:lnTo>
                    <a:pt x="5185122" y="1409700"/>
                  </a:lnTo>
                  <a:lnTo>
                    <a:pt x="5195654" y="1422400"/>
                  </a:lnTo>
                  <a:lnTo>
                    <a:pt x="5192636" y="1447800"/>
                  </a:lnTo>
                  <a:lnTo>
                    <a:pt x="5176072" y="1473200"/>
                  </a:lnTo>
                  <a:lnTo>
                    <a:pt x="5216535" y="1511300"/>
                  </a:lnTo>
                  <a:lnTo>
                    <a:pt x="5216535" y="1308100"/>
                  </a:lnTo>
                  <a:close/>
                </a:path>
                <a:path w="5217159" h="2082800">
                  <a:moveTo>
                    <a:pt x="4661950" y="1473200"/>
                  </a:moveTo>
                  <a:lnTo>
                    <a:pt x="4540239" y="1473200"/>
                  </a:lnTo>
                  <a:lnTo>
                    <a:pt x="4540239" y="1498600"/>
                  </a:lnTo>
                  <a:lnTo>
                    <a:pt x="4661950" y="1498600"/>
                  </a:lnTo>
                  <a:lnTo>
                    <a:pt x="4661950" y="1473200"/>
                  </a:lnTo>
                  <a:close/>
                </a:path>
                <a:path w="5217159" h="2082800">
                  <a:moveTo>
                    <a:pt x="5110956" y="1460500"/>
                  </a:moveTo>
                  <a:lnTo>
                    <a:pt x="5041126" y="1460500"/>
                  </a:lnTo>
                  <a:lnTo>
                    <a:pt x="5051928" y="1473200"/>
                  </a:lnTo>
                  <a:lnTo>
                    <a:pt x="5100148" y="1473200"/>
                  </a:lnTo>
                  <a:lnTo>
                    <a:pt x="5110956" y="1460500"/>
                  </a:lnTo>
                  <a:close/>
                </a:path>
                <a:path w="5217159" h="2082800">
                  <a:moveTo>
                    <a:pt x="5120567" y="1409700"/>
                  </a:moveTo>
                  <a:lnTo>
                    <a:pt x="5023622" y="1409700"/>
                  </a:lnTo>
                  <a:lnTo>
                    <a:pt x="5017838" y="1422400"/>
                  </a:lnTo>
                  <a:lnTo>
                    <a:pt x="5014285" y="1422400"/>
                  </a:lnTo>
                  <a:lnTo>
                    <a:pt x="5013076" y="1435100"/>
                  </a:lnTo>
                  <a:lnTo>
                    <a:pt x="5014285" y="1447800"/>
                  </a:lnTo>
                  <a:lnTo>
                    <a:pt x="5017838" y="1447800"/>
                  </a:lnTo>
                  <a:lnTo>
                    <a:pt x="5023622" y="1460500"/>
                  </a:lnTo>
                  <a:lnTo>
                    <a:pt x="5120567" y="1460500"/>
                  </a:lnTo>
                  <a:lnTo>
                    <a:pt x="5134370" y="1447800"/>
                  </a:lnTo>
                  <a:lnTo>
                    <a:pt x="5138971" y="1435100"/>
                  </a:lnTo>
                  <a:lnTo>
                    <a:pt x="5134370" y="1422400"/>
                  </a:lnTo>
                  <a:lnTo>
                    <a:pt x="5120567" y="1409700"/>
                  </a:lnTo>
                  <a:close/>
                </a:path>
                <a:path w="5217159" h="2082800">
                  <a:moveTo>
                    <a:pt x="5100148" y="1397000"/>
                  </a:moveTo>
                  <a:lnTo>
                    <a:pt x="5051932" y="1397000"/>
                  </a:lnTo>
                  <a:lnTo>
                    <a:pt x="5041127" y="1409700"/>
                  </a:lnTo>
                  <a:lnTo>
                    <a:pt x="5110956" y="1409700"/>
                  </a:lnTo>
                  <a:lnTo>
                    <a:pt x="5100148" y="1397000"/>
                  </a:lnTo>
                  <a:close/>
                </a:path>
                <a:path w="5217159" h="2082800">
                  <a:moveTo>
                    <a:pt x="4839067" y="1346200"/>
                  </a:moveTo>
                  <a:lnTo>
                    <a:pt x="4757100" y="1346200"/>
                  </a:lnTo>
                  <a:lnTo>
                    <a:pt x="4746968" y="1358900"/>
                  </a:lnTo>
                  <a:lnTo>
                    <a:pt x="4836003" y="1358900"/>
                  </a:lnTo>
                  <a:lnTo>
                    <a:pt x="4839067" y="134620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08915" marR="1369060">
              <a:lnSpc>
                <a:spcPts val="1900"/>
              </a:lnSpc>
              <a:spcBef>
                <a:spcPts val="380"/>
              </a:spcBef>
            </a:pPr>
            <a:r>
              <a:rPr spc="-10" dirty="0"/>
              <a:t>requiere(outlier) requiere(mvoutlier)</a:t>
            </a:r>
          </a:p>
          <a:p>
            <a:pPr marL="208915">
              <a:lnSpc>
                <a:spcPts val="2030"/>
              </a:lnSpc>
              <a:spcBef>
                <a:spcPts val="1725"/>
              </a:spcBef>
            </a:pPr>
            <a:r>
              <a:rPr dirty="0"/>
              <a:t>datos</a:t>
            </a:r>
            <a:r>
              <a:rPr spc="-40" dirty="0"/>
              <a:t> </a:t>
            </a:r>
            <a:r>
              <a:rPr dirty="0"/>
              <a:t>&lt;-</a:t>
            </a:r>
            <a:r>
              <a:rPr spc="-35" dirty="0"/>
              <a:t> </a:t>
            </a:r>
            <a:r>
              <a:rPr spc="-10" dirty="0"/>
              <a:t>airquality</a:t>
            </a:r>
          </a:p>
          <a:p>
            <a:pPr marL="208915" marR="5080">
              <a:lnSpc>
                <a:spcPts val="1989"/>
              </a:lnSpc>
              <a:spcBef>
                <a:spcPts val="75"/>
              </a:spcBef>
            </a:pPr>
            <a:r>
              <a:rPr dirty="0"/>
              <a:t>#</a:t>
            </a:r>
            <a:r>
              <a:rPr spc="-45" dirty="0"/>
              <a:t> </a:t>
            </a:r>
            <a:r>
              <a:rPr dirty="0"/>
              <a:t>solo</a:t>
            </a:r>
            <a:r>
              <a:rPr spc="-45" dirty="0"/>
              <a:t> </a:t>
            </a:r>
            <a:r>
              <a:rPr dirty="0"/>
              <a:t>en</a:t>
            </a:r>
            <a:r>
              <a:rPr spc="-45" dirty="0"/>
              <a:t> </a:t>
            </a:r>
            <a:r>
              <a:rPr dirty="0"/>
              <a:t>variables</a:t>
            </a:r>
            <a:r>
              <a:rPr spc="-45" dirty="0"/>
              <a:t> </a:t>
            </a:r>
            <a:r>
              <a:rPr spc="-10" dirty="0"/>
              <a:t>continuas </a:t>
            </a:r>
            <a:r>
              <a:rPr dirty="0"/>
              <a:t>anomalos</a:t>
            </a:r>
            <a:r>
              <a:rPr spc="-55" dirty="0"/>
              <a:t> </a:t>
            </a:r>
            <a:r>
              <a:rPr dirty="0"/>
              <a:t>&lt;-</a:t>
            </a:r>
            <a:r>
              <a:rPr spc="-55" dirty="0"/>
              <a:t> </a:t>
            </a:r>
            <a:r>
              <a:rPr spc="-10" dirty="0"/>
              <a:t>outlier(datos)</a:t>
            </a:r>
          </a:p>
          <a:p>
            <a:pPr marL="208915">
              <a:lnSpc>
                <a:spcPct val="100000"/>
              </a:lnSpc>
              <a:spcBef>
                <a:spcPts val="1720"/>
              </a:spcBef>
            </a:pPr>
            <a:r>
              <a:rPr dirty="0"/>
              <a:t>resultados</a:t>
            </a:r>
            <a:r>
              <a:rPr spc="-65" dirty="0"/>
              <a:t> </a:t>
            </a:r>
            <a:r>
              <a:rPr dirty="0"/>
              <a:t>&lt;-</a:t>
            </a:r>
            <a:r>
              <a:rPr spc="-60" dirty="0"/>
              <a:t> </a:t>
            </a:r>
            <a:r>
              <a:rPr spc="-10" dirty="0"/>
              <a:t>uni.plot(datos)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pc="-10" dirty="0"/>
              <a:t>Transformación</a:t>
            </a:r>
          </a:p>
          <a:p>
            <a:pPr marL="686435">
              <a:lnSpc>
                <a:spcPct val="100000"/>
              </a:lnSpc>
              <a:spcBef>
                <a:spcPts val="745"/>
              </a:spcBef>
            </a:pPr>
            <a:r>
              <a:rPr sz="2800" dirty="0">
                <a:solidFill>
                  <a:srgbClr val="FF0000"/>
                </a:solidFill>
              </a:rPr>
              <a:t>Datos</a:t>
            </a:r>
            <a:r>
              <a:rPr sz="2800" spc="-50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anómalos: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3603965" y="882916"/>
            <a:ext cx="5540375" cy="4260850"/>
            <a:chOff x="3603965" y="882916"/>
            <a:chExt cx="5540375" cy="4260850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03965" y="882916"/>
              <a:ext cx="5151917" cy="344611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0"/>
            <a:ext cx="5002530" cy="3938270"/>
          </a:xfrm>
          <a:custGeom>
            <a:avLst/>
            <a:gdLst/>
            <a:ahLst/>
            <a:cxnLst/>
            <a:rect l="l" t="t" r="r" b="b"/>
            <a:pathLst>
              <a:path w="5002530" h="3938270">
                <a:moveTo>
                  <a:pt x="0" y="1704928"/>
                </a:moveTo>
                <a:lnTo>
                  <a:pt x="0" y="3856309"/>
                </a:lnTo>
                <a:lnTo>
                  <a:pt x="579720" y="3937783"/>
                </a:lnTo>
                <a:lnTo>
                  <a:pt x="1255398" y="2957054"/>
                </a:lnTo>
                <a:lnTo>
                  <a:pt x="876220" y="1828073"/>
                </a:lnTo>
                <a:lnTo>
                  <a:pt x="0" y="1704928"/>
                </a:lnTo>
                <a:close/>
              </a:path>
              <a:path w="5002530" h="3938270">
                <a:moveTo>
                  <a:pt x="1716059" y="768286"/>
                </a:moveTo>
                <a:lnTo>
                  <a:pt x="1040381" y="1749016"/>
                </a:lnTo>
                <a:lnTo>
                  <a:pt x="1419558" y="2877996"/>
                </a:lnTo>
                <a:lnTo>
                  <a:pt x="2811966" y="3073687"/>
                </a:lnTo>
                <a:lnTo>
                  <a:pt x="3487644" y="2092957"/>
                </a:lnTo>
                <a:lnTo>
                  <a:pt x="3108467" y="963976"/>
                </a:lnTo>
                <a:lnTo>
                  <a:pt x="1716059" y="768286"/>
                </a:lnTo>
                <a:close/>
              </a:path>
              <a:path w="5002530" h="3938270">
                <a:moveTo>
                  <a:pt x="1331643" y="0"/>
                </a:moveTo>
                <a:lnTo>
                  <a:pt x="0" y="0"/>
                </a:lnTo>
                <a:lnTo>
                  <a:pt x="0" y="1510524"/>
                </a:lnTo>
                <a:lnTo>
                  <a:pt x="875213" y="1633527"/>
                </a:lnTo>
                <a:lnTo>
                  <a:pt x="1550890" y="652797"/>
                </a:lnTo>
                <a:lnTo>
                  <a:pt x="1331643" y="0"/>
                </a:lnTo>
                <a:close/>
              </a:path>
              <a:path w="5002530" h="3938270">
                <a:moveTo>
                  <a:pt x="3995936" y="267493"/>
                </a:moveTo>
                <a:lnTo>
                  <a:pt x="3948860" y="270028"/>
                </a:lnTo>
                <a:lnTo>
                  <a:pt x="3903251" y="277458"/>
                </a:lnTo>
                <a:lnTo>
                  <a:pt x="3859375" y="289519"/>
                </a:lnTo>
                <a:lnTo>
                  <a:pt x="3817494" y="305948"/>
                </a:lnTo>
                <a:lnTo>
                  <a:pt x="3777872" y="326480"/>
                </a:lnTo>
                <a:lnTo>
                  <a:pt x="3740773" y="350853"/>
                </a:lnTo>
                <a:lnTo>
                  <a:pt x="3706460" y="378803"/>
                </a:lnTo>
                <a:lnTo>
                  <a:pt x="3675197" y="410066"/>
                </a:lnTo>
                <a:lnTo>
                  <a:pt x="3647247" y="444379"/>
                </a:lnTo>
                <a:lnTo>
                  <a:pt x="3622874" y="481478"/>
                </a:lnTo>
                <a:lnTo>
                  <a:pt x="3602342" y="521100"/>
                </a:lnTo>
                <a:lnTo>
                  <a:pt x="3585913" y="562980"/>
                </a:lnTo>
                <a:lnTo>
                  <a:pt x="3573852" y="606856"/>
                </a:lnTo>
                <a:lnTo>
                  <a:pt x="3566423" y="652464"/>
                </a:lnTo>
                <a:lnTo>
                  <a:pt x="3563887" y="699541"/>
                </a:lnTo>
                <a:lnTo>
                  <a:pt x="3566423" y="746617"/>
                </a:lnTo>
                <a:lnTo>
                  <a:pt x="3573852" y="792225"/>
                </a:lnTo>
                <a:lnTo>
                  <a:pt x="3585913" y="836102"/>
                </a:lnTo>
                <a:lnTo>
                  <a:pt x="3602342" y="877982"/>
                </a:lnTo>
                <a:lnTo>
                  <a:pt x="3622874" y="917604"/>
                </a:lnTo>
                <a:lnTo>
                  <a:pt x="3647247" y="954703"/>
                </a:lnTo>
                <a:lnTo>
                  <a:pt x="3675197" y="989016"/>
                </a:lnTo>
                <a:lnTo>
                  <a:pt x="3706460" y="1020279"/>
                </a:lnTo>
                <a:lnTo>
                  <a:pt x="3740773" y="1048229"/>
                </a:lnTo>
                <a:lnTo>
                  <a:pt x="3777872" y="1072602"/>
                </a:lnTo>
                <a:lnTo>
                  <a:pt x="3817494" y="1093134"/>
                </a:lnTo>
                <a:lnTo>
                  <a:pt x="3859375" y="1109563"/>
                </a:lnTo>
                <a:lnTo>
                  <a:pt x="3903251" y="1121624"/>
                </a:lnTo>
                <a:lnTo>
                  <a:pt x="3948860" y="1129053"/>
                </a:lnTo>
                <a:lnTo>
                  <a:pt x="3995936" y="1131589"/>
                </a:lnTo>
                <a:lnTo>
                  <a:pt x="4043013" y="1129053"/>
                </a:lnTo>
                <a:lnTo>
                  <a:pt x="4088620" y="1121624"/>
                </a:lnTo>
                <a:lnTo>
                  <a:pt x="4132496" y="1109563"/>
                </a:lnTo>
                <a:lnTo>
                  <a:pt x="4174377" y="1093134"/>
                </a:lnTo>
                <a:lnTo>
                  <a:pt x="4213998" y="1072602"/>
                </a:lnTo>
                <a:lnTo>
                  <a:pt x="4251097" y="1048229"/>
                </a:lnTo>
                <a:lnTo>
                  <a:pt x="4285410" y="1020279"/>
                </a:lnTo>
                <a:lnTo>
                  <a:pt x="4316673" y="989016"/>
                </a:lnTo>
                <a:lnTo>
                  <a:pt x="4344623" y="954703"/>
                </a:lnTo>
                <a:lnTo>
                  <a:pt x="4368996" y="917604"/>
                </a:lnTo>
                <a:lnTo>
                  <a:pt x="4389528" y="877982"/>
                </a:lnTo>
                <a:lnTo>
                  <a:pt x="4405957" y="836102"/>
                </a:lnTo>
                <a:lnTo>
                  <a:pt x="4418018" y="792225"/>
                </a:lnTo>
                <a:lnTo>
                  <a:pt x="4425447" y="746617"/>
                </a:lnTo>
                <a:lnTo>
                  <a:pt x="4427983" y="699541"/>
                </a:lnTo>
                <a:lnTo>
                  <a:pt x="4425466" y="652797"/>
                </a:lnTo>
                <a:lnTo>
                  <a:pt x="4418018" y="606856"/>
                </a:lnTo>
                <a:lnTo>
                  <a:pt x="4405957" y="562980"/>
                </a:lnTo>
                <a:lnTo>
                  <a:pt x="4389529" y="521100"/>
                </a:lnTo>
                <a:lnTo>
                  <a:pt x="4368996" y="481478"/>
                </a:lnTo>
                <a:lnTo>
                  <a:pt x="4344624" y="444379"/>
                </a:lnTo>
                <a:lnTo>
                  <a:pt x="4316674" y="410066"/>
                </a:lnTo>
                <a:lnTo>
                  <a:pt x="4285411" y="378803"/>
                </a:lnTo>
                <a:lnTo>
                  <a:pt x="4251098" y="350853"/>
                </a:lnTo>
                <a:lnTo>
                  <a:pt x="4214000" y="326480"/>
                </a:lnTo>
                <a:lnTo>
                  <a:pt x="4174378" y="305948"/>
                </a:lnTo>
                <a:lnTo>
                  <a:pt x="4132498" y="289519"/>
                </a:lnTo>
                <a:lnTo>
                  <a:pt x="4088622" y="277458"/>
                </a:lnTo>
                <a:lnTo>
                  <a:pt x="4043014" y="270028"/>
                </a:lnTo>
                <a:lnTo>
                  <a:pt x="3995936" y="267493"/>
                </a:lnTo>
                <a:close/>
              </a:path>
              <a:path w="5002530" h="3938270">
                <a:moveTo>
                  <a:pt x="3641270" y="0"/>
                </a:moveTo>
                <a:lnTo>
                  <a:pt x="1520549" y="0"/>
                </a:lnTo>
                <a:lnTo>
                  <a:pt x="1715051" y="579121"/>
                </a:lnTo>
                <a:lnTo>
                  <a:pt x="3107460" y="774811"/>
                </a:lnTo>
                <a:lnTo>
                  <a:pt x="3641270" y="0"/>
                </a:lnTo>
                <a:close/>
              </a:path>
              <a:path w="5002530" h="3938270">
                <a:moveTo>
                  <a:pt x="5001954" y="0"/>
                </a:moveTo>
                <a:lnTo>
                  <a:pt x="4158813" y="0"/>
                </a:lnTo>
                <a:lnTo>
                  <a:pt x="4182288" y="75625"/>
                </a:lnTo>
                <a:lnTo>
                  <a:pt x="4202310" y="116723"/>
                </a:lnTo>
                <a:lnTo>
                  <a:pt x="4226411" y="155244"/>
                </a:lnTo>
                <a:lnTo>
                  <a:pt x="4254310" y="190908"/>
                </a:lnTo>
                <a:lnTo>
                  <a:pt x="4285724" y="223432"/>
                </a:lnTo>
                <a:lnTo>
                  <a:pt x="4320373" y="252534"/>
                </a:lnTo>
                <a:lnTo>
                  <a:pt x="4357973" y="277932"/>
                </a:lnTo>
                <a:lnTo>
                  <a:pt x="4398243" y="299345"/>
                </a:lnTo>
                <a:lnTo>
                  <a:pt x="4440901" y="316490"/>
                </a:lnTo>
                <a:lnTo>
                  <a:pt x="4485665" y="329086"/>
                </a:lnTo>
                <a:lnTo>
                  <a:pt x="4532253" y="336850"/>
                </a:lnTo>
                <a:lnTo>
                  <a:pt x="4580383" y="339501"/>
                </a:lnTo>
                <a:lnTo>
                  <a:pt x="4628513" y="336850"/>
                </a:lnTo>
                <a:lnTo>
                  <a:pt x="4675101" y="329086"/>
                </a:lnTo>
                <a:lnTo>
                  <a:pt x="4719866" y="316490"/>
                </a:lnTo>
                <a:lnTo>
                  <a:pt x="4762524" y="299345"/>
                </a:lnTo>
                <a:lnTo>
                  <a:pt x="4802794" y="277932"/>
                </a:lnTo>
                <a:lnTo>
                  <a:pt x="4840394" y="252534"/>
                </a:lnTo>
                <a:lnTo>
                  <a:pt x="4875043" y="223432"/>
                </a:lnTo>
                <a:lnTo>
                  <a:pt x="4906457" y="190908"/>
                </a:lnTo>
                <a:lnTo>
                  <a:pt x="4934356" y="155244"/>
                </a:lnTo>
                <a:lnTo>
                  <a:pt x="4958458" y="116723"/>
                </a:lnTo>
                <a:lnTo>
                  <a:pt x="4978479" y="75625"/>
                </a:lnTo>
                <a:lnTo>
                  <a:pt x="5001954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46683" y="3165348"/>
            <a:ext cx="245300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Big</a:t>
            </a:r>
            <a:r>
              <a:rPr sz="2000" b="1" spc="-40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Data</a:t>
            </a:r>
            <a:r>
              <a:rPr sz="2000" b="1" spc="-105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spc="-10" dirty="0" err="1">
                <a:solidFill>
                  <a:srgbClr val="00DEA4"/>
                </a:solidFill>
                <a:latin typeface="Arial"/>
                <a:cs typeface="Arial"/>
              </a:rPr>
              <a:t>Aplicado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84084" y="1475739"/>
            <a:ext cx="3286760" cy="160147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 marR="5080">
              <a:lnSpc>
                <a:spcPct val="79300"/>
              </a:lnSpc>
              <a:spcBef>
                <a:spcPts val="1090"/>
              </a:spcBef>
            </a:pPr>
            <a:r>
              <a:rPr dirty="0"/>
              <a:t>La</a:t>
            </a:r>
            <a:r>
              <a:rPr spc="-35" dirty="0"/>
              <a:t> </a:t>
            </a:r>
            <a:r>
              <a:rPr dirty="0"/>
              <a:t>fase</a:t>
            </a:r>
            <a:r>
              <a:rPr spc="-35" dirty="0"/>
              <a:t> </a:t>
            </a:r>
            <a:r>
              <a:rPr spc="-25" dirty="0"/>
              <a:t>de </a:t>
            </a:r>
            <a:r>
              <a:rPr spc="-20" dirty="0"/>
              <a:t>Transformación: </a:t>
            </a:r>
            <a:r>
              <a:rPr spc="-10" dirty="0"/>
              <a:t>Manipulación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797040" y="3943584"/>
            <a:ext cx="2346960" cy="1200150"/>
            <a:chOff x="6797040" y="3943584"/>
            <a:chExt cx="2346960" cy="1200150"/>
          </a:xfrm>
        </p:grpSpPr>
        <p:sp>
          <p:nvSpPr>
            <p:cNvPr id="6" name="object 6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97040" y="4373880"/>
              <a:ext cx="1459992" cy="344423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46790" y="4373843"/>
            <a:ext cx="749345" cy="36530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210564" y="4381676"/>
            <a:ext cx="653415" cy="325755"/>
            <a:chOff x="4210564" y="4381676"/>
            <a:chExt cx="653415" cy="325755"/>
          </a:xfrm>
        </p:grpSpPr>
        <p:sp>
          <p:nvSpPr>
            <p:cNvPr id="10" name="object 10"/>
            <p:cNvSpPr/>
            <p:nvPr/>
          </p:nvSpPr>
          <p:spPr>
            <a:xfrm>
              <a:off x="4372655" y="4519010"/>
              <a:ext cx="109220" cy="46990"/>
            </a:xfrm>
            <a:custGeom>
              <a:avLst/>
              <a:gdLst/>
              <a:ahLst/>
              <a:cxnLst/>
              <a:rect l="l" t="t" r="r" b="b"/>
              <a:pathLst>
                <a:path w="109220" h="46989">
                  <a:moveTo>
                    <a:pt x="109052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109052" y="46456"/>
                  </a:lnTo>
                  <a:lnTo>
                    <a:pt x="109052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09590" y="4502793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7682" y="0"/>
                  </a:moveTo>
                  <a:lnTo>
                    <a:pt x="2554" y="23467"/>
                  </a:lnTo>
                  <a:lnTo>
                    <a:pt x="0" y="38074"/>
                  </a:lnTo>
                  <a:lnTo>
                    <a:pt x="535" y="45564"/>
                  </a:lnTo>
                  <a:lnTo>
                    <a:pt x="30171" y="75625"/>
                  </a:lnTo>
                  <a:lnTo>
                    <a:pt x="37682" y="76227"/>
                  </a:lnTo>
                  <a:lnTo>
                    <a:pt x="53179" y="73081"/>
                  </a:lnTo>
                  <a:lnTo>
                    <a:pt x="65054" y="64856"/>
                  </a:lnTo>
                  <a:lnTo>
                    <a:pt x="72979" y="52778"/>
                  </a:lnTo>
                  <a:lnTo>
                    <a:pt x="75756" y="38074"/>
                  </a:lnTo>
                  <a:lnTo>
                    <a:pt x="72642" y="22651"/>
                  </a:lnTo>
                  <a:lnTo>
                    <a:pt x="64442" y="10758"/>
                  </a:lnTo>
                  <a:lnTo>
                    <a:pt x="52380" y="2808"/>
                  </a:lnTo>
                  <a:lnTo>
                    <a:pt x="37682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45192" y="4397737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613"/>
                  </a:lnTo>
                  <a:lnTo>
                    <a:pt x="236515" y="46613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10564" y="43816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918" y="0"/>
                  </a:moveTo>
                  <a:lnTo>
                    <a:pt x="2654" y="23243"/>
                  </a:lnTo>
                  <a:lnTo>
                    <a:pt x="0" y="37917"/>
                  </a:lnTo>
                  <a:lnTo>
                    <a:pt x="588" y="45409"/>
                  </a:lnTo>
                  <a:lnTo>
                    <a:pt x="30407" y="75390"/>
                  </a:lnTo>
                  <a:lnTo>
                    <a:pt x="37918" y="75992"/>
                  </a:lnTo>
                  <a:lnTo>
                    <a:pt x="45429" y="75390"/>
                  </a:lnTo>
                  <a:lnTo>
                    <a:pt x="75380" y="45425"/>
                  </a:lnTo>
                  <a:lnTo>
                    <a:pt x="75992" y="37917"/>
                  </a:lnTo>
                  <a:lnTo>
                    <a:pt x="75382" y="30391"/>
                  </a:lnTo>
                  <a:lnTo>
                    <a:pt x="45408" y="551"/>
                  </a:lnTo>
                  <a:lnTo>
                    <a:pt x="37918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45192" y="4647022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236515" y="46456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10558" y="4390377"/>
              <a:ext cx="653415" cy="316865"/>
            </a:xfrm>
            <a:custGeom>
              <a:avLst/>
              <a:gdLst/>
              <a:ahLst/>
              <a:cxnLst/>
              <a:rect l="l" t="t" r="r" b="b"/>
              <a:pathLst>
                <a:path w="653414" h="316864">
                  <a:moveTo>
                    <a:pt x="75984" y="278549"/>
                  </a:moveTo>
                  <a:lnTo>
                    <a:pt x="52590" y="243141"/>
                  </a:lnTo>
                  <a:lnTo>
                    <a:pt x="37553" y="240423"/>
                  </a:lnTo>
                  <a:lnTo>
                    <a:pt x="22288" y="243624"/>
                  </a:lnTo>
                  <a:lnTo>
                    <a:pt x="10515" y="251853"/>
                  </a:lnTo>
                  <a:lnTo>
                    <a:pt x="2692" y="263880"/>
                  </a:lnTo>
                  <a:lnTo>
                    <a:pt x="0" y="278511"/>
                  </a:lnTo>
                  <a:lnTo>
                    <a:pt x="584" y="286016"/>
                  </a:lnTo>
                  <a:lnTo>
                    <a:pt x="30403" y="316064"/>
                  </a:lnTo>
                  <a:lnTo>
                    <a:pt x="37922" y="316661"/>
                  </a:lnTo>
                  <a:lnTo>
                    <a:pt x="45427" y="316064"/>
                  </a:lnTo>
                  <a:lnTo>
                    <a:pt x="75984" y="278549"/>
                  </a:lnTo>
                  <a:close/>
                </a:path>
                <a:path w="653414" h="316864">
                  <a:moveTo>
                    <a:pt x="653376" y="150495"/>
                  </a:moveTo>
                  <a:lnTo>
                    <a:pt x="566496" y="0"/>
                  </a:lnTo>
                  <a:lnTo>
                    <a:pt x="392734" y="0"/>
                  </a:lnTo>
                  <a:lnTo>
                    <a:pt x="305854" y="150495"/>
                  </a:lnTo>
                  <a:lnTo>
                    <a:pt x="392734" y="301066"/>
                  </a:lnTo>
                  <a:lnTo>
                    <a:pt x="566496" y="301066"/>
                  </a:lnTo>
                  <a:lnTo>
                    <a:pt x="653376" y="150495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2268" y="118509"/>
            <a:ext cx="3148330" cy="129159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Transformación</a:t>
            </a:r>
            <a:endParaRPr sz="4000">
              <a:latin typeface="Arial Narrow"/>
              <a:cs typeface="Arial Narrow"/>
            </a:endParaRPr>
          </a:p>
          <a:p>
            <a:pPr marL="1040130">
              <a:lnSpc>
                <a:spcPct val="100000"/>
              </a:lnSpc>
              <a:spcBef>
                <a:spcPts val="74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Manipulación: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755070" y="2618713"/>
            <a:ext cx="4389120" cy="2525395"/>
            <a:chOff x="4755070" y="2618713"/>
            <a:chExt cx="4389120" cy="2525395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302441" y="3428743"/>
              <a:ext cx="1534795" cy="365760"/>
            </a:xfrm>
            <a:custGeom>
              <a:avLst/>
              <a:gdLst/>
              <a:ahLst/>
              <a:cxnLst/>
              <a:rect l="l" t="t" r="r" b="b"/>
              <a:pathLst>
                <a:path w="1534795" h="365760">
                  <a:moveTo>
                    <a:pt x="0" y="0"/>
                  </a:moveTo>
                  <a:lnTo>
                    <a:pt x="0" y="248860"/>
                  </a:lnTo>
                  <a:lnTo>
                    <a:pt x="1534670" y="248860"/>
                  </a:lnTo>
                  <a:lnTo>
                    <a:pt x="1534670" y="365181"/>
                  </a:lnTo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02441" y="3428743"/>
              <a:ext cx="0" cy="365760"/>
            </a:xfrm>
            <a:custGeom>
              <a:avLst/>
              <a:gdLst/>
              <a:ahLst/>
              <a:cxnLst/>
              <a:rect l="l" t="t" r="r" b="b"/>
              <a:pathLst>
                <a:path h="365760">
                  <a:moveTo>
                    <a:pt x="0" y="0"/>
                  </a:moveTo>
                  <a:lnTo>
                    <a:pt x="0" y="365181"/>
                  </a:lnTo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67770" y="3428743"/>
              <a:ext cx="1534795" cy="365760"/>
            </a:xfrm>
            <a:custGeom>
              <a:avLst/>
              <a:gdLst/>
              <a:ahLst/>
              <a:cxnLst/>
              <a:rect l="l" t="t" r="r" b="b"/>
              <a:pathLst>
                <a:path w="1534795" h="365760">
                  <a:moveTo>
                    <a:pt x="1534670" y="0"/>
                  </a:moveTo>
                  <a:lnTo>
                    <a:pt x="1534670" y="248860"/>
                  </a:lnTo>
                  <a:lnTo>
                    <a:pt x="0" y="248860"/>
                  </a:lnTo>
                  <a:lnTo>
                    <a:pt x="0" y="365181"/>
                  </a:lnTo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674621" y="2631413"/>
              <a:ext cx="1256030" cy="797560"/>
            </a:xfrm>
            <a:custGeom>
              <a:avLst/>
              <a:gdLst/>
              <a:ahLst/>
              <a:cxnLst/>
              <a:rect l="l" t="t" r="r" b="b"/>
              <a:pathLst>
                <a:path w="1256029" h="797560">
                  <a:moveTo>
                    <a:pt x="1175906" y="0"/>
                  </a:moveTo>
                  <a:lnTo>
                    <a:pt x="79733" y="0"/>
                  </a:lnTo>
                  <a:lnTo>
                    <a:pt x="48697" y="6265"/>
                  </a:lnTo>
                  <a:lnTo>
                    <a:pt x="23353" y="23352"/>
                  </a:lnTo>
                  <a:lnTo>
                    <a:pt x="6265" y="48696"/>
                  </a:lnTo>
                  <a:lnTo>
                    <a:pt x="0" y="79731"/>
                  </a:lnTo>
                  <a:lnTo>
                    <a:pt x="0" y="717598"/>
                  </a:lnTo>
                  <a:lnTo>
                    <a:pt x="6265" y="748633"/>
                  </a:lnTo>
                  <a:lnTo>
                    <a:pt x="23353" y="773977"/>
                  </a:lnTo>
                  <a:lnTo>
                    <a:pt x="48697" y="791064"/>
                  </a:lnTo>
                  <a:lnTo>
                    <a:pt x="79733" y="797330"/>
                  </a:lnTo>
                  <a:lnTo>
                    <a:pt x="1175906" y="797330"/>
                  </a:lnTo>
                  <a:lnTo>
                    <a:pt x="1206942" y="791064"/>
                  </a:lnTo>
                  <a:lnTo>
                    <a:pt x="1232285" y="773977"/>
                  </a:lnTo>
                  <a:lnTo>
                    <a:pt x="1249373" y="748633"/>
                  </a:lnTo>
                  <a:lnTo>
                    <a:pt x="1255638" y="717598"/>
                  </a:lnTo>
                  <a:lnTo>
                    <a:pt x="1255638" y="79731"/>
                  </a:lnTo>
                  <a:lnTo>
                    <a:pt x="1249373" y="48696"/>
                  </a:lnTo>
                  <a:lnTo>
                    <a:pt x="1232285" y="23352"/>
                  </a:lnTo>
                  <a:lnTo>
                    <a:pt x="1206942" y="6265"/>
                  </a:lnTo>
                  <a:lnTo>
                    <a:pt x="1175906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674621" y="2631413"/>
              <a:ext cx="1256030" cy="797560"/>
            </a:xfrm>
            <a:custGeom>
              <a:avLst/>
              <a:gdLst/>
              <a:ahLst/>
              <a:cxnLst/>
              <a:rect l="l" t="t" r="r" b="b"/>
              <a:pathLst>
                <a:path w="1256029" h="797560">
                  <a:moveTo>
                    <a:pt x="0" y="79732"/>
                  </a:moveTo>
                  <a:lnTo>
                    <a:pt x="6265" y="48697"/>
                  </a:lnTo>
                  <a:lnTo>
                    <a:pt x="23353" y="23353"/>
                  </a:lnTo>
                  <a:lnTo>
                    <a:pt x="48697" y="6265"/>
                  </a:lnTo>
                  <a:lnTo>
                    <a:pt x="79732" y="0"/>
                  </a:lnTo>
                  <a:lnTo>
                    <a:pt x="1175906" y="0"/>
                  </a:lnTo>
                  <a:lnTo>
                    <a:pt x="1206941" y="6265"/>
                  </a:lnTo>
                  <a:lnTo>
                    <a:pt x="1232286" y="23353"/>
                  </a:lnTo>
                  <a:lnTo>
                    <a:pt x="1249373" y="48697"/>
                  </a:lnTo>
                  <a:lnTo>
                    <a:pt x="1255639" y="79732"/>
                  </a:lnTo>
                  <a:lnTo>
                    <a:pt x="1255639" y="717598"/>
                  </a:lnTo>
                  <a:lnTo>
                    <a:pt x="1249373" y="748634"/>
                  </a:lnTo>
                  <a:lnTo>
                    <a:pt x="1232286" y="773977"/>
                  </a:lnTo>
                  <a:lnTo>
                    <a:pt x="1206941" y="791065"/>
                  </a:lnTo>
                  <a:lnTo>
                    <a:pt x="1175906" y="797331"/>
                  </a:lnTo>
                  <a:lnTo>
                    <a:pt x="79732" y="797331"/>
                  </a:lnTo>
                  <a:lnTo>
                    <a:pt x="48697" y="791065"/>
                  </a:lnTo>
                  <a:lnTo>
                    <a:pt x="23353" y="773977"/>
                  </a:lnTo>
                  <a:lnTo>
                    <a:pt x="6265" y="748634"/>
                  </a:lnTo>
                  <a:lnTo>
                    <a:pt x="0" y="717598"/>
                  </a:lnTo>
                  <a:lnTo>
                    <a:pt x="0" y="79732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14137" y="2763951"/>
              <a:ext cx="1256030" cy="797560"/>
            </a:xfrm>
            <a:custGeom>
              <a:avLst/>
              <a:gdLst/>
              <a:ahLst/>
              <a:cxnLst/>
              <a:rect l="l" t="t" r="r" b="b"/>
              <a:pathLst>
                <a:path w="1256029" h="797560">
                  <a:moveTo>
                    <a:pt x="1175906" y="0"/>
                  </a:moveTo>
                  <a:lnTo>
                    <a:pt x="79733" y="0"/>
                  </a:lnTo>
                  <a:lnTo>
                    <a:pt x="48697" y="6265"/>
                  </a:lnTo>
                  <a:lnTo>
                    <a:pt x="23353" y="23353"/>
                  </a:lnTo>
                  <a:lnTo>
                    <a:pt x="6265" y="48697"/>
                  </a:lnTo>
                  <a:lnTo>
                    <a:pt x="0" y="79733"/>
                  </a:lnTo>
                  <a:lnTo>
                    <a:pt x="0" y="717598"/>
                  </a:lnTo>
                  <a:lnTo>
                    <a:pt x="6265" y="748634"/>
                  </a:lnTo>
                  <a:lnTo>
                    <a:pt x="23353" y="773978"/>
                  </a:lnTo>
                  <a:lnTo>
                    <a:pt x="48697" y="791065"/>
                  </a:lnTo>
                  <a:lnTo>
                    <a:pt x="79733" y="797331"/>
                  </a:lnTo>
                  <a:lnTo>
                    <a:pt x="1175906" y="797331"/>
                  </a:lnTo>
                  <a:lnTo>
                    <a:pt x="1206942" y="791065"/>
                  </a:lnTo>
                  <a:lnTo>
                    <a:pt x="1232286" y="773978"/>
                  </a:lnTo>
                  <a:lnTo>
                    <a:pt x="1249374" y="748634"/>
                  </a:lnTo>
                  <a:lnTo>
                    <a:pt x="1255640" y="717598"/>
                  </a:lnTo>
                  <a:lnTo>
                    <a:pt x="1255640" y="79733"/>
                  </a:lnTo>
                  <a:lnTo>
                    <a:pt x="1249374" y="48697"/>
                  </a:lnTo>
                  <a:lnTo>
                    <a:pt x="1232286" y="23353"/>
                  </a:lnTo>
                  <a:lnTo>
                    <a:pt x="1206942" y="6265"/>
                  </a:lnTo>
                  <a:lnTo>
                    <a:pt x="1175906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14137" y="2763951"/>
              <a:ext cx="1256030" cy="797560"/>
            </a:xfrm>
            <a:custGeom>
              <a:avLst/>
              <a:gdLst/>
              <a:ahLst/>
              <a:cxnLst/>
              <a:rect l="l" t="t" r="r" b="b"/>
              <a:pathLst>
                <a:path w="1256029" h="797560">
                  <a:moveTo>
                    <a:pt x="0" y="79732"/>
                  </a:moveTo>
                  <a:lnTo>
                    <a:pt x="6265" y="48697"/>
                  </a:lnTo>
                  <a:lnTo>
                    <a:pt x="23353" y="23353"/>
                  </a:lnTo>
                  <a:lnTo>
                    <a:pt x="48697" y="6265"/>
                  </a:lnTo>
                  <a:lnTo>
                    <a:pt x="79732" y="0"/>
                  </a:lnTo>
                  <a:lnTo>
                    <a:pt x="1175906" y="0"/>
                  </a:lnTo>
                  <a:lnTo>
                    <a:pt x="1206941" y="6265"/>
                  </a:lnTo>
                  <a:lnTo>
                    <a:pt x="1232286" y="23353"/>
                  </a:lnTo>
                  <a:lnTo>
                    <a:pt x="1249373" y="48697"/>
                  </a:lnTo>
                  <a:lnTo>
                    <a:pt x="1255639" y="79732"/>
                  </a:lnTo>
                  <a:lnTo>
                    <a:pt x="1255639" y="717598"/>
                  </a:lnTo>
                  <a:lnTo>
                    <a:pt x="1249373" y="748634"/>
                  </a:lnTo>
                  <a:lnTo>
                    <a:pt x="1232286" y="773977"/>
                  </a:lnTo>
                  <a:lnTo>
                    <a:pt x="1206941" y="791065"/>
                  </a:lnTo>
                  <a:lnTo>
                    <a:pt x="1175906" y="797331"/>
                  </a:lnTo>
                  <a:lnTo>
                    <a:pt x="79732" y="797331"/>
                  </a:lnTo>
                  <a:lnTo>
                    <a:pt x="48697" y="791065"/>
                  </a:lnTo>
                  <a:lnTo>
                    <a:pt x="23353" y="773977"/>
                  </a:lnTo>
                  <a:lnTo>
                    <a:pt x="6265" y="748634"/>
                  </a:lnTo>
                  <a:lnTo>
                    <a:pt x="0" y="717598"/>
                  </a:lnTo>
                  <a:lnTo>
                    <a:pt x="0" y="79732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171835" y="174243"/>
            <a:ext cx="36703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50" dirty="0">
                <a:latin typeface="Arial"/>
                <a:cs typeface="Arial"/>
              </a:rPr>
              <a:t>Transformar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los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datos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y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57585" y="466851"/>
            <a:ext cx="43719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14" dirty="0">
                <a:latin typeface="Arial"/>
                <a:cs typeface="Arial"/>
              </a:rPr>
              <a:t>prepararlos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60" dirty="0">
                <a:latin typeface="Arial"/>
                <a:cs typeface="Arial"/>
              </a:rPr>
              <a:t>para</a:t>
            </a:r>
            <a:r>
              <a:rPr sz="2800" spc="-120" dirty="0">
                <a:latin typeface="Arial"/>
                <a:cs typeface="Arial"/>
              </a:rPr>
              <a:t> la </a:t>
            </a:r>
            <a:r>
              <a:rPr sz="2800" spc="-215" dirty="0">
                <a:latin typeface="Arial"/>
                <a:cs typeface="Arial"/>
              </a:rPr>
              <a:t>carga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en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el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71835" y="771651"/>
            <a:ext cx="4481830" cy="894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100"/>
              </a:spcBef>
            </a:pPr>
            <a:r>
              <a:rPr sz="2800" spc="-160" dirty="0">
                <a:latin typeface="Arial"/>
                <a:cs typeface="Arial"/>
              </a:rPr>
              <a:t>almacén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2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80" dirty="0">
                <a:latin typeface="Arial"/>
                <a:cs typeface="Arial"/>
              </a:rPr>
              <a:t>Adecuados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60" dirty="0">
                <a:latin typeface="Arial"/>
                <a:cs typeface="Arial"/>
              </a:rPr>
              <a:t>para</a:t>
            </a:r>
            <a:r>
              <a:rPr sz="2800" spc="-125" dirty="0">
                <a:latin typeface="Arial"/>
                <a:cs typeface="Arial"/>
              </a:rPr>
              <a:t> la </a:t>
            </a:r>
            <a:r>
              <a:rPr sz="2800" spc="-95" dirty="0">
                <a:latin typeface="Arial"/>
                <a:cs typeface="Arial"/>
              </a:rPr>
              <a:t>aplicación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57585" y="1518411"/>
            <a:ext cx="388810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45" dirty="0">
                <a:latin typeface="Arial"/>
                <a:cs typeface="Arial"/>
              </a:rPr>
              <a:t>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modelos </a:t>
            </a:r>
            <a:r>
              <a:rPr sz="2800" spc="-145" dirty="0">
                <a:latin typeface="Arial"/>
                <a:cs typeface="Arial"/>
              </a:rPr>
              <a:t>de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inteligencia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57585" y="1811019"/>
            <a:ext cx="11912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35" dirty="0">
                <a:latin typeface="Arial"/>
                <a:cs typeface="Arial"/>
              </a:rPr>
              <a:t>artificial</a:t>
            </a:r>
            <a:endParaRPr sz="2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35544" y="3028188"/>
            <a:ext cx="10128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40" dirty="0">
                <a:latin typeface="Arial"/>
                <a:cs typeface="Arial"/>
              </a:rPr>
              <a:t>Manipulación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127252" y="3781225"/>
            <a:ext cx="1421130" cy="955675"/>
            <a:chOff x="4127252" y="3781225"/>
            <a:chExt cx="1421130" cy="955675"/>
          </a:xfrm>
        </p:grpSpPr>
        <p:sp>
          <p:nvSpPr>
            <p:cNvPr id="19" name="object 19"/>
            <p:cNvSpPr/>
            <p:nvPr/>
          </p:nvSpPr>
          <p:spPr>
            <a:xfrm>
              <a:off x="4139952" y="3793925"/>
              <a:ext cx="1256030" cy="797560"/>
            </a:xfrm>
            <a:custGeom>
              <a:avLst/>
              <a:gdLst/>
              <a:ahLst/>
              <a:cxnLst/>
              <a:rect l="l" t="t" r="r" b="b"/>
              <a:pathLst>
                <a:path w="1256029" h="797560">
                  <a:moveTo>
                    <a:pt x="1175905" y="0"/>
                  </a:moveTo>
                  <a:lnTo>
                    <a:pt x="79731" y="0"/>
                  </a:lnTo>
                  <a:lnTo>
                    <a:pt x="48696" y="6265"/>
                  </a:lnTo>
                  <a:lnTo>
                    <a:pt x="23352" y="23353"/>
                  </a:lnTo>
                  <a:lnTo>
                    <a:pt x="6265" y="48696"/>
                  </a:lnTo>
                  <a:lnTo>
                    <a:pt x="0" y="79732"/>
                  </a:lnTo>
                  <a:lnTo>
                    <a:pt x="0" y="717598"/>
                  </a:lnTo>
                  <a:lnTo>
                    <a:pt x="6265" y="748634"/>
                  </a:lnTo>
                  <a:lnTo>
                    <a:pt x="23352" y="773978"/>
                  </a:lnTo>
                  <a:lnTo>
                    <a:pt x="48696" y="791065"/>
                  </a:lnTo>
                  <a:lnTo>
                    <a:pt x="79731" y="797331"/>
                  </a:lnTo>
                  <a:lnTo>
                    <a:pt x="1175905" y="797331"/>
                  </a:lnTo>
                  <a:lnTo>
                    <a:pt x="1206941" y="791065"/>
                  </a:lnTo>
                  <a:lnTo>
                    <a:pt x="1232285" y="773978"/>
                  </a:lnTo>
                  <a:lnTo>
                    <a:pt x="1249372" y="748634"/>
                  </a:lnTo>
                  <a:lnTo>
                    <a:pt x="1255638" y="717598"/>
                  </a:lnTo>
                  <a:lnTo>
                    <a:pt x="1255638" y="79732"/>
                  </a:lnTo>
                  <a:lnTo>
                    <a:pt x="1249372" y="48696"/>
                  </a:lnTo>
                  <a:lnTo>
                    <a:pt x="1232285" y="23353"/>
                  </a:lnTo>
                  <a:lnTo>
                    <a:pt x="1206941" y="6265"/>
                  </a:lnTo>
                  <a:lnTo>
                    <a:pt x="117590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139952" y="3793925"/>
              <a:ext cx="1256030" cy="797560"/>
            </a:xfrm>
            <a:custGeom>
              <a:avLst/>
              <a:gdLst/>
              <a:ahLst/>
              <a:cxnLst/>
              <a:rect l="l" t="t" r="r" b="b"/>
              <a:pathLst>
                <a:path w="1256029" h="797560">
                  <a:moveTo>
                    <a:pt x="0" y="79732"/>
                  </a:moveTo>
                  <a:lnTo>
                    <a:pt x="6265" y="48697"/>
                  </a:lnTo>
                  <a:lnTo>
                    <a:pt x="23353" y="23353"/>
                  </a:lnTo>
                  <a:lnTo>
                    <a:pt x="48697" y="6265"/>
                  </a:lnTo>
                  <a:lnTo>
                    <a:pt x="79732" y="0"/>
                  </a:lnTo>
                  <a:lnTo>
                    <a:pt x="1175906" y="0"/>
                  </a:lnTo>
                  <a:lnTo>
                    <a:pt x="1206941" y="6265"/>
                  </a:lnTo>
                  <a:lnTo>
                    <a:pt x="1232286" y="23353"/>
                  </a:lnTo>
                  <a:lnTo>
                    <a:pt x="1249373" y="48697"/>
                  </a:lnTo>
                  <a:lnTo>
                    <a:pt x="1255639" y="79732"/>
                  </a:lnTo>
                  <a:lnTo>
                    <a:pt x="1255639" y="717598"/>
                  </a:lnTo>
                  <a:lnTo>
                    <a:pt x="1249373" y="748634"/>
                  </a:lnTo>
                  <a:lnTo>
                    <a:pt x="1232286" y="773977"/>
                  </a:lnTo>
                  <a:lnTo>
                    <a:pt x="1206941" y="791065"/>
                  </a:lnTo>
                  <a:lnTo>
                    <a:pt x="1175906" y="797331"/>
                  </a:lnTo>
                  <a:lnTo>
                    <a:pt x="79732" y="797331"/>
                  </a:lnTo>
                  <a:lnTo>
                    <a:pt x="48697" y="791065"/>
                  </a:lnTo>
                  <a:lnTo>
                    <a:pt x="23353" y="773977"/>
                  </a:lnTo>
                  <a:lnTo>
                    <a:pt x="6265" y="748634"/>
                  </a:lnTo>
                  <a:lnTo>
                    <a:pt x="0" y="717598"/>
                  </a:lnTo>
                  <a:lnTo>
                    <a:pt x="0" y="79732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279466" y="3926465"/>
              <a:ext cx="1256030" cy="797560"/>
            </a:xfrm>
            <a:custGeom>
              <a:avLst/>
              <a:gdLst/>
              <a:ahLst/>
              <a:cxnLst/>
              <a:rect l="l" t="t" r="r" b="b"/>
              <a:pathLst>
                <a:path w="1256029" h="797560">
                  <a:moveTo>
                    <a:pt x="1175906" y="0"/>
                  </a:moveTo>
                  <a:lnTo>
                    <a:pt x="79733" y="0"/>
                  </a:lnTo>
                  <a:lnTo>
                    <a:pt x="48697" y="6265"/>
                  </a:lnTo>
                  <a:lnTo>
                    <a:pt x="23353" y="23353"/>
                  </a:lnTo>
                  <a:lnTo>
                    <a:pt x="6265" y="48697"/>
                  </a:lnTo>
                  <a:lnTo>
                    <a:pt x="0" y="79732"/>
                  </a:lnTo>
                  <a:lnTo>
                    <a:pt x="0" y="717598"/>
                  </a:lnTo>
                  <a:lnTo>
                    <a:pt x="6265" y="748634"/>
                  </a:lnTo>
                  <a:lnTo>
                    <a:pt x="23353" y="773977"/>
                  </a:lnTo>
                  <a:lnTo>
                    <a:pt x="48697" y="791065"/>
                  </a:lnTo>
                  <a:lnTo>
                    <a:pt x="79733" y="797331"/>
                  </a:lnTo>
                  <a:lnTo>
                    <a:pt x="1175906" y="797331"/>
                  </a:lnTo>
                  <a:lnTo>
                    <a:pt x="1206942" y="791065"/>
                  </a:lnTo>
                  <a:lnTo>
                    <a:pt x="1232285" y="773977"/>
                  </a:lnTo>
                  <a:lnTo>
                    <a:pt x="1249373" y="748634"/>
                  </a:lnTo>
                  <a:lnTo>
                    <a:pt x="1255638" y="717598"/>
                  </a:lnTo>
                  <a:lnTo>
                    <a:pt x="1255638" y="79732"/>
                  </a:lnTo>
                  <a:lnTo>
                    <a:pt x="1249373" y="48697"/>
                  </a:lnTo>
                  <a:lnTo>
                    <a:pt x="1232285" y="23353"/>
                  </a:lnTo>
                  <a:lnTo>
                    <a:pt x="1206942" y="6265"/>
                  </a:lnTo>
                  <a:lnTo>
                    <a:pt x="1175906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279466" y="3926465"/>
              <a:ext cx="1256030" cy="797560"/>
            </a:xfrm>
            <a:custGeom>
              <a:avLst/>
              <a:gdLst/>
              <a:ahLst/>
              <a:cxnLst/>
              <a:rect l="l" t="t" r="r" b="b"/>
              <a:pathLst>
                <a:path w="1256029" h="797560">
                  <a:moveTo>
                    <a:pt x="0" y="79732"/>
                  </a:moveTo>
                  <a:lnTo>
                    <a:pt x="6265" y="48697"/>
                  </a:lnTo>
                  <a:lnTo>
                    <a:pt x="23353" y="23353"/>
                  </a:lnTo>
                  <a:lnTo>
                    <a:pt x="48697" y="6265"/>
                  </a:lnTo>
                  <a:lnTo>
                    <a:pt x="79732" y="0"/>
                  </a:lnTo>
                  <a:lnTo>
                    <a:pt x="1175906" y="0"/>
                  </a:lnTo>
                  <a:lnTo>
                    <a:pt x="1206941" y="6265"/>
                  </a:lnTo>
                  <a:lnTo>
                    <a:pt x="1232286" y="23353"/>
                  </a:lnTo>
                  <a:lnTo>
                    <a:pt x="1249373" y="48697"/>
                  </a:lnTo>
                  <a:lnTo>
                    <a:pt x="1255639" y="79732"/>
                  </a:lnTo>
                  <a:lnTo>
                    <a:pt x="1255639" y="717598"/>
                  </a:lnTo>
                  <a:lnTo>
                    <a:pt x="1249373" y="748634"/>
                  </a:lnTo>
                  <a:lnTo>
                    <a:pt x="1232286" y="773977"/>
                  </a:lnTo>
                  <a:lnTo>
                    <a:pt x="1206941" y="791065"/>
                  </a:lnTo>
                  <a:lnTo>
                    <a:pt x="1175906" y="797331"/>
                  </a:lnTo>
                  <a:lnTo>
                    <a:pt x="79732" y="797331"/>
                  </a:lnTo>
                  <a:lnTo>
                    <a:pt x="48697" y="791065"/>
                  </a:lnTo>
                  <a:lnTo>
                    <a:pt x="23353" y="773977"/>
                  </a:lnTo>
                  <a:lnTo>
                    <a:pt x="6265" y="748634"/>
                  </a:lnTo>
                  <a:lnTo>
                    <a:pt x="0" y="717598"/>
                  </a:lnTo>
                  <a:lnTo>
                    <a:pt x="0" y="79732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395508" y="4189476"/>
            <a:ext cx="102361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65" dirty="0">
                <a:latin typeface="Arial"/>
                <a:cs typeface="Arial"/>
              </a:rPr>
              <a:t>Discretización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661921" y="3781225"/>
            <a:ext cx="1421130" cy="955675"/>
            <a:chOff x="5661921" y="3781225"/>
            <a:chExt cx="1421130" cy="955675"/>
          </a:xfrm>
        </p:grpSpPr>
        <p:sp>
          <p:nvSpPr>
            <p:cNvPr id="25" name="object 25"/>
            <p:cNvSpPr/>
            <p:nvPr/>
          </p:nvSpPr>
          <p:spPr>
            <a:xfrm>
              <a:off x="5674621" y="3793925"/>
              <a:ext cx="1256030" cy="797560"/>
            </a:xfrm>
            <a:custGeom>
              <a:avLst/>
              <a:gdLst/>
              <a:ahLst/>
              <a:cxnLst/>
              <a:rect l="l" t="t" r="r" b="b"/>
              <a:pathLst>
                <a:path w="1256029" h="797560">
                  <a:moveTo>
                    <a:pt x="1175906" y="0"/>
                  </a:moveTo>
                  <a:lnTo>
                    <a:pt x="79733" y="0"/>
                  </a:lnTo>
                  <a:lnTo>
                    <a:pt x="48697" y="6265"/>
                  </a:lnTo>
                  <a:lnTo>
                    <a:pt x="23353" y="23353"/>
                  </a:lnTo>
                  <a:lnTo>
                    <a:pt x="6265" y="48696"/>
                  </a:lnTo>
                  <a:lnTo>
                    <a:pt x="0" y="79732"/>
                  </a:lnTo>
                  <a:lnTo>
                    <a:pt x="0" y="717598"/>
                  </a:lnTo>
                  <a:lnTo>
                    <a:pt x="6265" y="748634"/>
                  </a:lnTo>
                  <a:lnTo>
                    <a:pt x="23353" y="773978"/>
                  </a:lnTo>
                  <a:lnTo>
                    <a:pt x="48697" y="791065"/>
                  </a:lnTo>
                  <a:lnTo>
                    <a:pt x="79733" y="797331"/>
                  </a:lnTo>
                  <a:lnTo>
                    <a:pt x="1175906" y="797331"/>
                  </a:lnTo>
                  <a:lnTo>
                    <a:pt x="1206942" y="791065"/>
                  </a:lnTo>
                  <a:lnTo>
                    <a:pt x="1232285" y="773978"/>
                  </a:lnTo>
                  <a:lnTo>
                    <a:pt x="1249373" y="748634"/>
                  </a:lnTo>
                  <a:lnTo>
                    <a:pt x="1255638" y="717598"/>
                  </a:lnTo>
                  <a:lnTo>
                    <a:pt x="1255638" y="79732"/>
                  </a:lnTo>
                  <a:lnTo>
                    <a:pt x="1249373" y="48696"/>
                  </a:lnTo>
                  <a:lnTo>
                    <a:pt x="1232285" y="23353"/>
                  </a:lnTo>
                  <a:lnTo>
                    <a:pt x="1206942" y="6265"/>
                  </a:lnTo>
                  <a:lnTo>
                    <a:pt x="1175906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674621" y="3793925"/>
              <a:ext cx="1256030" cy="797560"/>
            </a:xfrm>
            <a:custGeom>
              <a:avLst/>
              <a:gdLst/>
              <a:ahLst/>
              <a:cxnLst/>
              <a:rect l="l" t="t" r="r" b="b"/>
              <a:pathLst>
                <a:path w="1256029" h="797560">
                  <a:moveTo>
                    <a:pt x="0" y="79732"/>
                  </a:moveTo>
                  <a:lnTo>
                    <a:pt x="6265" y="48697"/>
                  </a:lnTo>
                  <a:lnTo>
                    <a:pt x="23353" y="23353"/>
                  </a:lnTo>
                  <a:lnTo>
                    <a:pt x="48697" y="6265"/>
                  </a:lnTo>
                  <a:lnTo>
                    <a:pt x="79732" y="0"/>
                  </a:lnTo>
                  <a:lnTo>
                    <a:pt x="1175906" y="0"/>
                  </a:lnTo>
                  <a:lnTo>
                    <a:pt x="1206941" y="6265"/>
                  </a:lnTo>
                  <a:lnTo>
                    <a:pt x="1232286" y="23353"/>
                  </a:lnTo>
                  <a:lnTo>
                    <a:pt x="1249373" y="48697"/>
                  </a:lnTo>
                  <a:lnTo>
                    <a:pt x="1255639" y="79732"/>
                  </a:lnTo>
                  <a:lnTo>
                    <a:pt x="1255639" y="717598"/>
                  </a:lnTo>
                  <a:lnTo>
                    <a:pt x="1249373" y="748634"/>
                  </a:lnTo>
                  <a:lnTo>
                    <a:pt x="1232286" y="773977"/>
                  </a:lnTo>
                  <a:lnTo>
                    <a:pt x="1206941" y="791065"/>
                  </a:lnTo>
                  <a:lnTo>
                    <a:pt x="1175906" y="797331"/>
                  </a:lnTo>
                  <a:lnTo>
                    <a:pt x="79732" y="797331"/>
                  </a:lnTo>
                  <a:lnTo>
                    <a:pt x="48697" y="791065"/>
                  </a:lnTo>
                  <a:lnTo>
                    <a:pt x="23353" y="773977"/>
                  </a:lnTo>
                  <a:lnTo>
                    <a:pt x="6265" y="748634"/>
                  </a:lnTo>
                  <a:lnTo>
                    <a:pt x="0" y="717598"/>
                  </a:lnTo>
                  <a:lnTo>
                    <a:pt x="0" y="79732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814137" y="3926465"/>
              <a:ext cx="1256030" cy="797560"/>
            </a:xfrm>
            <a:custGeom>
              <a:avLst/>
              <a:gdLst/>
              <a:ahLst/>
              <a:cxnLst/>
              <a:rect l="l" t="t" r="r" b="b"/>
              <a:pathLst>
                <a:path w="1256029" h="797560">
                  <a:moveTo>
                    <a:pt x="1175906" y="0"/>
                  </a:moveTo>
                  <a:lnTo>
                    <a:pt x="79733" y="0"/>
                  </a:lnTo>
                  <a:lnTo>
                    <a:pt x="48697" y="6265"/>
                  </a:lnTo>
                  <a:lnTo>
                    <a:pt x="23353" y="23353"/>
                  </a:lnTo>
                  <a:lnTo>
                    <a:pt x="6265" y="48697"/>
                  </a:lnTo>
                  <a:lnTo>
                    <a:pt x="0" y="79732"/>
                  </a:lnTo>
                  <a:lnTo>
                    <a:pt x="0" y="717598"/>
                  </a:lnTo>
                  <a:lnTo>
                    <a:pt x="6265" y="748634"/>
                  </a:lnTo>
                  <a:lnTo>
                    <a:pt x="23353" y="773977"/>
                  </a:lnTo>
                  <a:lnTo>
                    <a:pt x="48697" y="791065"/>
                  </a:lnTo>
                  <a:lnTo>
                    <a:pt x="79733" y="797331"/>
                  </a:lnTo>
                  <a:lnTo>
                    <a:pt x="1175906" y="797331"/>
                  </a:lnTo>
                  <a:lnTo>
                    <a:pt x="1206942" y="791065"/>
                  </a:lnTo>
                  <a:lnTo>
                    <a:pt x="1232286" y="773977"/>
                  </a:lnTo>
                  <a:lnTo>
                    <a:pt x="1249374" y="748634"/>
                  </a:lnTo>
                  <a:lnTo>
                    <a:pt x="1255640" y="717598"/>
                  </a:lnTo>
                  <a:lnTo>
                    <a:pt x="1255640" y="79732"/>
                  </a:lnTo>
                  <a:lnTo>
                    <a:pt x="1249374" y="48697"/>
                  </a:lnTo>
                  <a:lnTo>
                    <a:pt x="1232286" y="23353"/>
                  </a:lnTo>
                  <a:lnTo>
                    <a:pt x="1206942" y="6265"/>
                  </a:lnTo>
                  <a:lnTo>
                    <a:pt x="1175906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814137" y="3926465"/>
              <a:ext cx="1256030" cy="797560"/>
            </a:xfrm>
            <a:custGeom>
              <a:avLst/>
              <a:gdLst/>
              <a:ahLst/>
              <a:cxnLst/>
              <a:rect l="l" t="t" r="r" b="b"/>
              <a:pathLst>
                <a:path w="1256029" h="797560">
                  <a:moveTo>
                    <a:pt x="0" y="79732"/>
                  </a:moveTo>
                  <a:lnTo>
                    <a:pt x="6265" y="48697"/>
                  </a:lnTo>
                  <a:lnTo>
                    <a:pt x="23353" y="23353"/>
                  </a:lnTo>
                  <a:lnTo>
                    <a:pt x="48697" y="6265"/>
                  </a:lnTo>
                  <a:lnTo>
                    <a:pt x="79732" y="0"/>
                  </a:lnTo>
                  <a:lnTo>
                    <a:pt x="1175906" y="0"/>
                  </a:lnTo>
                  <a:lnTo>
                    <a:pt x="1206941" y="6265"/>
                  </a:lnTo>
                  <a:lnTo>
                    <a:pt x="1232286" y="23353"/>
                  </a:lnTo>
                  <a:lnTo>
                    <a:pt x="1249373" y="48697"/>
                  </a:lnTo>
                  <a:lnTo>
                    <a:pt x="1255639" y="79732"/>
                  </a:lnTo>
                  <a:lnTo>
                    <a:pt x="1255639" y="717598"/>
                  </a:lnTo>
                  <a:lnTo>
                    <a:pt x="1249373" y="748634"/>
                  </a:lnTo>
                  <a:lnTo>
                    <a:pt x="1232286" y="773977"/>
                  </a:lnTo>
                  <a:lnTo>
                    <a:pt x="1206941" y="791065"/>
                  </a:lnTo>
                  <a:lnTo>
                    <a:pt x="1175906" y="797331"/>
                  </a:lnTo>
                  <a:lnTo>
                    <a:pt x="79732" y="797331"/>
                  </a:lnTo>
                  <a:lnTo>
                    <a:pt x="48697" y="791065"/>
                  </a:lnTo>
                  <a:lnTo>
                    <a:pt x="23353" y="773977"/>
                  </a:lnTo>
                  <a:lnTo>
                    <a:pt x="6265" y="748634"/>
                  </a:lnTo>
                  <a:lnTo>
                    <a:pt x="0" y="717598"/>
                  </a:lnTo>
                  <a:lnTo>
                    <a:pt x="0" y="79732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917827" y="4091940"/>
            <a:ext cx="1048385" cy="42799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indent="60960">
              <a:lnSpc>
                <a:spcPts val="1490"/>
              </a:lnSpc>
              <a:spcBef>
                <a:spcPts val="305"/>
              </a:spcBef>
            </a:pPr>
            <a:r>
              <a:rPr sz="1400" spc="-90" dirty="0">
                <a:latin typeface="Arial"/>
                <a:cs typeface="Arial"/>
              </a:rPr>
              <a:t>Selección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de </a:t>
            </a:r>
            <a:r>
              <a:rPr sz="1400" spc="-75" dirty="0">
                <a:latin typeface="Arial"/>
                <a:cs typeface="Arial"/>
              </a:rPr>
              <a:t>características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196590" y="3781225"/>
            <a:ext cx="1421130" cy="955675"/>
            <a:chOff x="7196590" y="3781225"/>
            <a:chExt cx="1421130" cy="955675"/>
          </a:xfrm>
        </p:grpSpPr>
        <p:sp>
          <p:nvSpPr>
            <p:cNvPr id="31" name="object 31"/>
            <p:cNvSpPr/>
            <p:nvPr/>
          </p:nvSpPr>
          <p:spPr>
            <a:xfrm>
              <a:off x="7209290" y="3793925"/>
              <a:ext cx="1256030" cy="797560"/>
            </a:xfrm>
            <a:custGeom>
              <a:avLst/>
              <a:gdLst/>
              <a:ahLst/>
              <a:cxnLst/>
              <a:rect l="l" t="t" r="r" b="b"/>
              <a:pathLst>
                <a:path w="1256029" h="797560">
                  <a:moveTo>
                    <a:pt x="1175906" y="0"/>
                  </a:moveTo>
                  <a:lnTo>
                    <a:pt x="79733" y="0"/>
                  </a:lnTo>
                  <a:lnTo>
                    <a:pt x="48697" y="6265"/>
                  </a:lnTo>
                  <a:lnTo>
                    <a:pt x="23353" y="23353"/>
                  </a:lnTo>
                  <a:lnTo>
                    <a:pt x="6265" y="48696"/>
                  </a:lnTo>
                  <a:lnTo>
                    <a:pt x="0" y="79732"/>
                  </a:lnTo>
                  <a:lnTo>
                    <a:pt x="0" y="717598"/>
                  </a:lnTo>
                  <a:lnTo>
                    <a:pt x="6265" y="748634"/>
                  </a:lnTo>
                  <a:lnTo>
                    <a:pt x="23353" y="773978"/>
                  </a:lnTo>
                  <a:lnTo>
                    <a:pt x="48697" y="791065"/>
                  </a:lnTo>
                  <a:lnTo>
                    <a:pt x="79733" y="797331"/>
                  </a:lnTo>
                  <a:lnTo>
                    <a:pt x="1175906" y="797331"/>
                  </a:lnTo>
                  <a:lnTo>
                    <a:pt x="1206942" y="791065"/>
                  </a:lnTo>
                  <a:lnTo>
                    <a:pt x="1232286" y="773978"/>
                  </a:lnTo>
                  <a:lnTo>
                    <a:pt x="1249374" y="748634"/>
                  </a:lnTo>
                  <a:lnTo>
                    <a:pt x="1255640" y="717598"/>
                  </a:lnTo>
                  <a:lnTo>
                    <a:pt x="1255640" y="79732"/>
                  </a:lnTo>
                  <a:lnTo>
                    <a:pt x="1249374" y="48696"/>
                  </a:lnTo>
                  <a:lnTo>
                    <a:pt x="1232286" y="23353"/>
                  </a:lnTo>
                  <a:lnTo>
                    <a:pt x="1206942" y="6265"/>
                  </a:lnTo>
                  <a:lnTo>
                    <a:pt x="1175906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209290" y="3793925"/>
              <a:ext cx="1256030" cy="797560"/>
            </a:xfrm>
            <a:custGeom>
              <a:avLst/>
              <a:gdLst/>
              <a:ahLst/>
              <a:cxnLst/>
              <a:rect l="l" t="t" r="r" b="b"/>
              <a:pathLst>
                <a:path w="1256029" h="797560">
                  <a:moveTo>
                    <a:pt x="0" y="79732"/>
                  </a:moveTo>
                  <a:lnTo>
                    <a:pt x="6265" y="48697"/>
                  </a:lnTo>
                  <a:lnTo>
                    <a:pt x="23353" y="23353"/>
                  </a:lnTo>
                  <a:lnTo>
                    <a:pt x="48697" y="6265"/>
                  </a:lnTo>
                  <a:lnTo>
                    <a:pt x="79732" y="0"/>
                  </a:lnTo>
                  <a:lnTo>
                    <a:pt x="1175906" y="0"/>
                  </a:lnTo>
                  <a:lnTo>
                    <a:pt x="1206941" y="6265"/>
                  </a:lnTo>
                  <a:lnTo>
                    <a:pt x="1232286" y="23353"/>
                  </a:lnTo>
                  <a:lnTo>
                    <a:pt x="1249373" y="48697"/>
                  </a:lnTo>
                  <a:lnTo>
                    <a:pt x="1255639" y="79732"/>
                  </a:lnTo>
                  <a:lnTo>
                    <a:pt x="1255639" y="717598"/>
                  </a:lnTo>
                  <a:lnTo>
                    <a:pt x="1249373" y="748634"/>
                  </a:lnTo>
                  <a:lnTo>
                    <a:pt x="1232286" y="773977"/>
                  </a:lnTo>
                  <a:lnTo>
                    <a:pt x="1206941" y="791065"/>
                  </a:lnTo>
                  <a:lnTo>
                    <a:pt x="1175906" y="797331"/>
                  </a:lnTo>
                  <a:lnTo>
                    <a:pt x="79732" y="797331"/>
                  </a:lnTo>
                  <a:lnTo>
                    <a:pt x="48697" y="791065"/>
                  </a:lnTo>
                  <a:lnTo>
                    <a:pt x="23353" y="773977"/>
                  </a:lnTo>
                  <a:lnTo>
                    <a:pt x="6265" y="748634"/>
                  </a:lnTo>
                  <a:lnTo>
                    <a:pt x="0" y="717598"/>
                  </a:lnTo>
                  <a:lnTo>
                    <a:pt x="0" y="79732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348808" y="3926465"/>
              <a:ext cx="1256030" cy="797560"/>
            </a:xfrm>
            <a:custGeom>
              <a:avLst/>
              <a:gdLst/>
              <a:ahLst/>
              <a:cxnLst/>
              <a:rect l="l" t="t" r="r" b="b"/>
              <a:pathLst>
                <a:path w="1256029" h="797560">
                  <a:moveTo>
                    <a:pt x="1175906" y="0"/>
                  </a:moveTo>
                  <a:lnTo>
                    <a:pt x="79733" y="0"/>
                  </a:lnTo>
                  <a:lnTo>
                    <a:pt x="48697" y="6265"/>
                  </a:lnTo>
                  <a:lnTo>
                    <a:pt x="23353" y="23353"/>
                  </a:lnTo>
                  <a:lnTo>
                    <a:pt x="6265" y="48697"/>
                  </a:lnTo>
                  <a:lnTo>
                    <a:pt x="0" y="79732"/>
                  </a:lnTo>
                  <a:lnTo>
                    <a:pt x="0" y="717598"/>
                  </a:lnTo>
                  <a:lnTo>
                    <a:pt x="6265" y="748634"/>
                  </a:lnTo>
                  <a:lnTo>
                    <a:pt x="23353" y="773977"/>
                  </a:lnTo>
                  <a:lnTo>
                    <a:pt x="48697" y="791065"/>
                  </a:lnTo>
                  <a:lnTo>
                    <a:pt x="79733" y="797331"/>
                  </a:lnTo>
                  <a:lnTo>
                    <a:pt x="1175906" y="797331"/>
                  </a:lnTo>
                  <a:lnTo>
                    <a:pt x="1206942" y="791065"/>
                  </a:lnTo>
                  <a:lnTo>
                    <a:pt x="1232285" y="773977"/>
                  </a:lnTo>
                  <a:lnTo>
                    <a:pt x="1249373" y="748634"/>
                  </a:lnTo>
                  <a:lnTo>
                    <a:pt x="1255638" y="717598"/>
                  </a:lnTo>
                  <a:lnTo>
                    <a:pt x="1255638" y="79732"/>
                  </a:lnTo>
                  <a:lnTo>
                    <a:pt x="1249373" y="48697"/>
                  </a:lnTo>
                  <a:lnTo>
                    <a:pt x="1232285" y="23353"/>
                  </a:lnTo>
                  <a:lnTo>
                    <a:pt x="1206942" y="6265"/>
                  </a:lnTo>
                  <a:lnTo>
                    <a:pt x="1175906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348808" y="3926465"/>
              <a:ext cx="1256030" cy="797560"/>
            </a:xfrm>
            <a:custGeom>
              <a:avLst/>
              <a:gdLst/>
              <a:ahLst/>
              <a:cxnLst/>
              <a:rect l="l" t="t" r="r" b="b"/>
              <a:pathLst>
                <a:path w="1256029" h="797560">
                  <a:moveTo>
                    <a:pt x="0" y="79732"/>
                  </a:moveTo>
                  <a:lnTo>
                    <a:pt x="6265" y="48697"/>
                  </a:lnTo>
                  <a:lnTo>
                    <a:pt x="23353" y="23353"/>
                  </a:lnTo>
                  <a:lnTo>
                    <a:pt x="48697" y="6265"/>
                  </a:lnTo>
                  <a:lnTo>
                    <a:pt x="79732" y="0"/>
                  </a:lnTo>
                  <a:lnTo>
                    <a:pt x="1175906" y="0"/>
                  </a:lnTo>
                  <a:lnTo>
                    <a:pt x="1206941" y="6265"/>
                  </a:lnTo>
                  <a:lnTo>
                    <a:pt x="1232286" y="23353"/>
                  </a:lnTo>
                  <a:lnTo>
                    <a:pt x="1249373" y="48697"/>
                  </a:lnTo>
                  <a:lnTo>
                    <a:pt x="1255639" y="79732"/>
                  </a:lnTo>
                  <a:lnTo>
                    <a:pt x="1255639" y="717598"/>
                  </a:lnTo>
                  <a:lnTo>
                    <a:pt x="1249373" y="748634"/>
                  </a:lnTo>
                  <a:lnTo>
                    <a:pt x="1232286" y="773977"/>
                  </a:lnTo>
                  <a:lnTo>
                    <a:pt x="1206941" y="791065"/>
                  </a:lnTo>
                  <a:lnTo>
                    <a:pt x="1175906" y="797331"/>
                  </a:lnTo>
                  <a:lnTo>
                    <a:pt x="79732" y="797331"/>
                  </a:lnTo>
                  <a:lnTo>
                    <a:pt x="48697" y="791065"/>
                  </a:lnTo>
                  <a:lnTo>
                    <a:pt x="23353" y="773977"/>
                  </a:lnTo>
                  <a:lnTo>
                    <a:pt x="6265" y="748634"/>
                  </a:lnTo>
                  <a:lnTo>
                    <a:pt x="0" y="717598"/>
                  </a:lnTo>
                  <a:lnTo>
                    <a:pt x="0" y="79732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7902553" y="4189476"/>
            <a:ext cx="1485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484" dirty="0">
                <a:latin typeface="Arial"/>
                <a:cs typeface="Arial"/>
              </a:rPr>
              <a:t>…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268" y="118509"/>
            <a:ext cx="3148330" cy="129159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pc="-10" dirty="0"/>
              <a:t>Transformación</a:t>
            </a:r>
          </a:p>
          <a:p>
            <a:pPr marL="925830">
              <a:lnSpc>
                <a:spcPct val="100000"/>
              </a:lnSpc>
              <a:spcBef>
                <a:spcPts val="745"/>
              </a:spcBef>
            </a:pPr>
            <a:r>
              <a:rPr sz="2800" spc="-10" dirty="0">
                <a:solidFill>
                  <a:srgbClr val="FF0000"/>
                </a:solidFill>
              </a:rPr>
              <a:t>Discretización: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4297945" y="2491537"/>
            <a:ext cx="4846320" cy="2652395"/>
            <a:chOff x="4297945" y="2491537"/>
            <a:chExt cx="4846320" cy="2652395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7945" y="2491537"/>
              <a:ext cx="4076500" cy="152037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171835" y="393699"/>
            <a:ext cx="33026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65" dirty="0">
                <a:latin typeface="Arial"/>
                <a:cs typeface="Arial"/>
              </a:rPr>
              <a:t>Transforma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14" dirty="0">
                <a:latin typeface="Arial"/>
                <a:cs typeface="Arial"/>
              </a:rPr>
              <a:t>variables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57585" y="683259"/>
            <a:ext cx="32315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25" dirty="0">
                <a:latin typeface="Arial"/>
                <a:cs typeface="Arial"/>
              </a:rPr>
              <a:t>continuas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en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discretas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71835" y="1140459"/>
            <a:ext cx="47612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220" dirty="0">
                <a:latin typeface="Arial"/>
                <a:cs typeface="Arial"/>
              </a:rPr>
              <a:t>Uso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técnicas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14" dirty="0">
                <a:latin typeface="Arial"/>
                <a:cs typeface="Arial"/>
              </a:rPr>
              <a:t>aprendizaje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57585" y="1433067"/>
            <a:ext cx="3378835" cy="75692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 marR="5080">
              <a:lnSpc>
                <a:spcPct val="71400"/>
              </a:lnSpc>
              <a:spcBef>
                <a:spcPts val="1060"/>
              </a:spcBef>
            </a:pPr>
            <a:r>
              <a:rPr sz="2800" spc="-90" dirty="0">
                <a:latin typeface="Arial"/>
                <a:cs typeface="Arial"/>
              </a:rPr>
              <a:t>automático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55" dirty="0">
                <a:latin typeface="Arial"/>
                <a:cs typeface="Arial"/>
              </a:rPr>
              <a:t>para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dividir </a:t>
            </a:r>
            <a:r>
              <a:rPr sz="2800" spc="-95" dirty="0">
                <a:latin typeface="Arial"/>
                <a:cs typeface="Arial"/>
              </a:rPr>
              <a:t>intervalos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continuos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268" y="118509"/>
            <a:ext cx="3148330" cy="129159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pc="-10" dirty="0"/>
              <a:t>Transformación</a:t>
            </a:r>
          </a:p>
          <a:p>
            <a:pPr marL="925830">
              <a:lnSpc>
                <a:spcPct val="100000"/>
              </a:lnSpc>
              <a:spcBef>
                <a:spcPts val="745"/>
              </a:spcBef>
            </a:pPr>
            <a:r>
              <a:rPr sz="2800" spc="-10" dirty="0">
                <a:solidFill>
                  <a:srgbClr val="FF0000"/>
                </a:solidFill>
              </a:rPr>
              <a:t>Discretización: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3891968" y="2132681"/>
            <a:ext cx="5252085" cy="3011170"/>
            <a:chOff x="3891968" y="2132681"/>
            <a:chExt cx="5252085" cy="3011170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91968" y="2132681"/>
              <a:ext cx="5217160" cy="2527300"/>
            </a:xfrm>
            <a:custGeom>
              <a:avLst/>
              <a:gdLst/>
              <a:ahLst/>
              <a:cxnLst/>
              <a:rect l="l" t="t" r="r" b="b"/>
              <a:pathLst>
                <a:path w="5217159" h="2527300">
                  <a:moveTo>
                    <a:pt x="5216533" y="0"/>
                  </a:moveTo>
                  <a:lnTo>
                    <a:pt x="0" y="0"/>
                  </a:lnTo>
                  <a:lnTo>
                    <a:pt x="0" y="2527300"/>
                  </a:lnTo>
                  <a:lnTo>
                    <a:pt x="4041175" y="2527300"/>
                  </a:lnTo>
                  <a:lnTo>
                    <a:pt x="4026093" y="2514600"/>
                  </a:lnTo>
                  <a:lnTo>
                    <a:pt x="4015052" y="2501900"/>
                  </a:lnTo>
                  <a:lnTo>
                    <a:pt x="4008269" y="2489200"/>
                  </a:lnTo>
                  <a:lnTo>
                    <a:pt x="4005959" y="2463800"/>
                  </a:lnTo>
                  <a:lnTo>
                    <a:pt x="4007264" y="2451100"/>
                  </a:lnTo>
                  <a:lnTo>
                    <a:pt x="4011119" y="2438400"/>
                  </a:lnTo>
                  <a:lnTo>
                    <a:pt x="4017430" y="2425700"/>
                  </a:lnTo>
                  <a:lnTo>
                    <a:pt x="4026105" y="2425700"/>
                  </a:lnTo>
                  <a:lnTo>
                    <a:pt x="3985328" y="2387600"/>
                  </a:lnTo>
                  <a:lnTo>
                    <a:pt x="3950343" y="2336800"/>
                  </a:lnTo>
                  <a:lnTo>
                    <a:pt x="3921326" y="2298700"/>
                  </a:lnTo>
                  <a:lnTo>
                    <a:pt x="3898452" y="2247900"/>
                  </a:lnTo>
                  <a:lnTo>
                    <a:pt x="3881896" y="2197100"/>
                  </a:lnTo>
                  <a:lnTo>
                    <a:pt x="3871834" y="2159000"/>
                  </a:lnTo>
                  <a:lnTo>
                    <a:pt x="3868441" y="2108200"/>
                  </a:lnTo>
                  <a:lnTo>
                    <a:pt x="3871244" y="2057400"/>
                  </a:lnTo>
                  <a:lnTo>
                    <a:pt x="3879577" y="2019300"/>
                  </a:lnTo>
                  <a:lnTo>
                    <a:pt x="3893324" y="1968500"/>
                  </a:lnTo>
                  <a:lnTo>
                    <a:pt x="3912370" y="1930400"/>
                  </a:lnTo>
                  <a:lnTo>
                    <a:pt x="3936599" y="1892300"/>
                  </a:lnTo>
                  <a:lnTo>
                    <a:pt x="3965895" y="1854200"/>
                  </a:lnTo>
                  <a:lnTo>
                    <a:pt x="4000143" y="1816100"/>
                  </a:lnTo>
                  <a:lnTo>
                    <a:pt x="4039227" y="1778000"/>
                  </a:lnTo>
                  <a:lnTo>
                    <a:pt x="4083032" y="1739900"/>
                  </a:lnTo>
                  <a:lnTo>
                    <a:pt x="4121877" y="1714500"/>
                  </a:lnTo>
                  <a:lnTo>
                    <a:pt x="4162831" y="1701800"/>
                  </a:lnTo>
                  <a:lnTo>
                    <a:pt x="4205741" y="1676400"/>
                  </a:lnTo>
                  <a:lnTo>
                    <a:pt x="4250455" y="1663700"/>
                  </a:lnTo>
                  <a:lnTo>
                    <a:pt x="4296819" y="1638300"/>
                  </a:lnTo>
                  <a:lnTo>
                    <a:pt x="4393886" y="1612899"/>
                  </a:lnTo>
                  <a:lnTo>
                    <a:pt x="4444284" y="1612899"/>
                  </a:lnTo>
                  <a:lnTo>
                    <a:pt x="4495721" y="1600199"/>
                  </a:lnTo>
                  <a:lnTo>
                    <a:pt x="5216533" y="1600199"/>
                  </a:lnTo>
                  <a:lnTo>
                    <a:pt x="5216533" y="0"/>
                  </a:lnTo>
                  <a:close/>
                </a:path>
                <a:path w="5217159" h="2527300">
                  <a:moveTo>
                    <a:pt x="4268348" y="2387600"/>
                  </a:moveTo>
                  <a:lnTo>
                    <a:pt x="4172186" y="2387600"/>
                  </a:lnTo>
                  <a:lnTo>
                    <a:pt x="4192814" y="2400300"/>
                  </a:lnTo>
                  <a:lnTo>
                    <a:pt x="4211159" y="2413000"/>
                  </a:lnTo>
                  <a:lnTo>
                    <a:pt x="4226239" y="2425700"/>
                  </a:lnTo>
                  <a:lnTo>
                    <a:pt x="4237276" y="2438400"/>
                  </a:lnTo>
                  <a:lnTo>
                    <a:pt x="4244056" y="2451100"/>
                  </a:lnTo>
                  <a:lnTo>
                    <a:pt x="4246364" y="2463800"/>
                  </a:lnTo>
                  <a:lnTo>
                    <a:pt x="4244056" y="2489200"/>
                  </a:lnTo>
                  <a:lnTo>
                    <a:pt x="4237276" y="2501900"/>
                  </a:lnTo>
                  <a:lnTo>
                    <a:pt x="4226239" y="2514600"/>
                  </a:lnTo>
                  <a:lnTo>
                    <a:pt x="4211159" y="2527300"/>
                  </a:lnTo>
                  <a:lnTo>
                    <a:pt x="4876314" y="2527300"/>
                  </a:lnTo>
                  <a:lnTo>
                    <a:pt x="4978474" y="2489200"/>
                  </a:lnTo>
                  <a:lnTo>
                    <a:pt x="5030485" y="2463800"/>
                  </a:lnTo>
                  <a:lnTo>
                    <a:pt x="4491385" y="2463800"/>
                  </a:lnTo>
                  <a:lnTo>
                    <a:pt x="4485250" y="2451100"/>
                  </a:lnTo>
                  <a:lnTo>
                    <a:pt x="4482999" y="2451100"/>
                  </a:lnTo>
                  <a:lnTo>
                    <a:pt x="4482999" y="2413000"/>
                  </a:lnTo>
                  <a:lnTo>
                    <a:pt x="4301310" y="2413000"/>
                  </a:lnTo>
                  <a:lnTo>
                    <a:pt x="4268348" y="2387600"/>
                  </a:lnTo>
                  <a:close/>
                </a:path>
                <a:path w="5217159" h="2527300">
                  <a:moveTo>
                    <a:pt x="5216533" y="2374900"/>
                  </a:moveTo>
                  <a:lnTo>
                    <a:pt x="5211077" y="2387600"/>
                  </a:lnTo>
                  <a:lnTo>
                    <a:pt x="5190358" y="2413000"/>
                  </a:lnTo>
                  <a:lnTo>
                    <a:pt x="5168119" y="2425700"/>
                  </a:lnTo>
                  <a:lnTo>
                    <a:pt x="5144383" y="2451100"/>
                  </a:lnTo>
                  <a:lnTo>
                    <a:pt x="5119169" y="2463800"/>
                  </a:lnTo>
                  <a:lnTo>
                    <a:pt x="5092696" y="2489200"/>
                  </a:lnTo>
                  <a:lnTo>
                    <a:pt x="5065204" y="2501900"/>
                  </a:lnTo>
                  <a:lnTo>
                    <a:pt x="5036743" y="2514600"/>
                  </a:lnTo>
                  <a:lnTo>
                    <a:pt x="5007361" y="2527300"/>
                  </a:lnTo>
                  <a:lnTo>
                    <a:pt x="5216533" y="2527300"/>
                  </a:lnTo>
                  <a:lnTo>
                    <a:pt x="5216533" y="2374900"/>
                  </a:lnTo>
                  <a:close/>
                </a:path>
                <a:path w="5217159" h="2527300">
                  <a:moveTo>
                    <a:pt x="4161074" y="2501900"/>
                  </a:moveTo>
                  <a:lnTo>
                    <a:pt x="4091254" y="2501900"/>
                  </a:lnTo>
                  <a:lnTo>
                    <a:pt x="4102058" y="2514600"/>
                  </a:lnTo>
                  <a:lnTo>
                    <a:pt x="4150269" y="2514600"/>
                  </a:lnTo>
                  <a:lnTo>
                    <a:pt x="4161074" y="2501900"/>
                  </a:lnTo>
                  <a:close/>
                </a:path>
                <a:path w="5217159" h="2527300">
                  <a:moveTo>
                    <a:pt x="4178578" y="2489200"/>
                  </a:moveTo>
                  <a:lnTo>
                    <a:pt x="4073745" y="2489200"/>
                  </a:lnTo>
                  <a:lnTo>
                    <a:pt x="4081645" y="2501900"/>
                  </a:lnTo>
                  <a:lnTo>
                    <a:pt x="4170678" y="2501900"/>
                  </a:lnTo>
                  <a:lnTo>
                    <a:pt x="4178578" y="2489200"/>
                  </a:lnTo>
                  <a:close/>
                </a:path>
                <a:path w="5217159" h="2527300">
                  <a:moveTo>
                    <a:pt x="4189124" y="2463800"/>
                  </a:moveTo>
                  <a:lnTo>
                    <a:pt x="4063199" y="2463800"/>
                  </a:lnTo>
                  <a:lnTo>
                    <a:pt x="4064409" y="2476500"/>
                  </a:lnTo>
                  <a:lnTo>
                    <a:pt x="4067962" y="2489200"/>
                  </a:lnTo>
                  <a:lnTo>
                    <a:pt x="4184362" y="2489200"/>
                  </a:lnTo>
                  <a:lnTo>
                    <a:pt x="4187914" y="2476500"/>
                  </a:lnTo>
                  <a:lnTo>
                    <a:pt x="4189124" y="2463800"/>
                  </a:lnTo>
                  <a:close/>
                </a:path>
                <a:path w="5217159" h="2527300">
                  <a:moveTo>
                    <a:pt x="4178578" y="2438400"/>
                  </a:moveTo>
                  <a:lnTo>
                    <a:pt x="4073745" y="2438400"/>
                  </a:lnTo>
                  <a:lnTo>
                    <a:pt x="4067962" y="2451100"/>
                  </a:lnTo>
                  <a:lnTo>
                    <a:pt x="4064409" y="2463800"/>
                  </a:lnTo>
                  <a:lnTo>
                    <a:pt x="4187914" y="2463800"/>
                  </a:lnTo>
                  <a:lnTo>
                    <a:pt x="4184362" y="2451100"/>
                  </a:lnTo>
                  <a:lnTo>
                    <a:pt x="4178578" y="2438400"/>
                  </a:lnTo>
                  <a:close/>
                </a:path>
                <a:path w="5217159" h="2527300">
                  <a:moveTo>
                    <a:pt x="4826601" y="2374900"/>
                  </a:moveTo>
                  <a:lnTo>
                    <a:pt x="4800847" y="2387600"/>
                  </a:lnTo>
                  <a:lnTo>
                    <a:pt x="4774329" y="2400300"/>
                  </a:lnTo>
                  <a:lnTo>
                    <a:pt x="4747093" y="2400300"/>
                  </a:lnTo>
                  <a:lnTo>
                    <a:pt x="4719189" y="2413000"/>
                  </a:lnTo>
                  <a:lnTo>
                    <a:pt x="4719189" y="2451100"/>
                  </a:lnTo>
                  <a:lnTo>
                    <a:pt x="4716940" y="2451100"/>
                  </a:lnTo>
                  <a:lnTo>
                    <a:pt x="4710807" y="2463800"/>
                  </a:lnTo>
                  <a:lnTo>
                    <a:pt x="5030485" y="2463800"/>
                  </a:lnTo>
                  <a:lnTo>
                    <a:pt x="5078473" y="2438400"/>
                  </a:lnTo>
                  <a:lnTo>
                    <a:pt x="5107555" y="2413000"/>
                  </a:lnTo>
                  <a:lnTo>
                    <a:pt x="4871140" y="2413000"/>
                  </a:lnTo>
                  <a:lnTo>
                    <a:pt x="4826601" y="2374900"/>
                  </a:lnTo>
                  <a:close/>
                </a:path>
                <a:path w="5217159" h="2527300">
                  <a:moveTo>
                    <a:pt x="4161069" y="2425700"/>
                  </a:moveTo>
                  <a:lnTo>
                    <a:pt x="4091249" y="2425700"/>
                  </a:lnTo>
                  <a:lnTo>
                    <a:pt x="4081645" y="2438400"/>
                  </a:lnTo>
                  <a:lnTo>
                    <a:pt x="4170678" y="2438400"/>
                  </a:lnTo>
                  <a:lnTo>
                    <a:pt x="4161069" y="2425700"/>
                  </a:lnTo>
                  <a:close/>
                </a:path>
                <a:path w="5217159" h="2527300">
                  <a:moveTo>
                    <a:pt x="4661950" y="2387600"/>
                  </a:moveTo>
                  <a:lnTo>
                    <a:pt x="4540239" y="2387600"/>
                  </a:lnTo>
                  <a:lnTo>
                    <a:pt x="4540239" y="2425700"/>
                  </a:lnTo>
                  <a:lnTo>
                    <a:pt x="4661950" y="2425700"/>
                  </a:lnTo>
                  <a:lnTo>
                    <a:pt x="4661950" y="2387600"/>
                  </a:lnTo>
                  <a:close/>
                </a:path>
                <a:path w="5217159" h="2527300">
                  <a:moveTo>
                    <a:pt x="4375588" y="2374900"/>
                  </a:moveTo>
                  <a:lnTo>
                    <a:pt x="4331059" y="2413000"/>
                  </a:lnTo>
                  <a:lnTo>
                    <a:pt x="4482999" y="2413000"/>
                  </a:lnTo>
                  <a:lnTo>
                    <a:pt x="4455101" y="2400300"/>
                  </a:lnTo>
                  <a:lnTo>
                    <a:pt x="4427868" y="2400300"/>
                  </a:lnTo>
                  <a:lnTo>
                    <a:pt x="4401347" y="2387600"/>
                  </a:lnTo>
                  <a:lnTo>
                    <a:pt x="4375588" y="2374900"/>
                  </a:lnTo>
                  <a:close/>
                </a:path>
                <a:path w="5217159" h="2527300">
                  <a:moveTo>
                    <a:pt x="4955837" y="1739900"/>
                  </a:moveTo>
                  <a:lnTo>
                    <a:pt x="4701710" y="1739900"/>
                  </a:lnTo>
                  <a:lnTo>
                    <a:pt x="4710807" y="1752600"/>
                  </a:lnTo>
                  <a:lnTo>
                    <a:pt x="4716940" y="1752600"/>
                  </a:lnTo>
                  <a:lnTo>
                    <a:pt x="4719189" y="1765300"/>
                  </a:lnTo>
                  <a:lnTo>
                    <a:pt x="4719189" y="1803400"/>
                  </a:lnTo>
                  <a:lnTo>
                    <a:pt x="4905931" y="1803400"/>
                  </a:lnTo>
                  <a:lnTo>
                    <a:pt x="5037882" y="1892300"/>
                  </a:lnTo>
                  <a:lnTo>
                    <a:pt x="5040901" y="1905000"/>
                  </a:lnTo>
                  <a:lnTo>
                    <a:pt x="5040913" y="1917700"/>
                  </a:lnTo>
                  <a:lnTo>
                    <a:pt x="5037894" y="1917700"/>
                  </a:lnTo>
                  <a:lnTo>
                    <a:pt x="4993612" y="1943100"/>
                  </a:lnTo>
                  <a:lnTo>
                    <a:pt x="5007357" y="1968500"/>
                  </a:lnTo>
                  <a:lnTo>
                    <a:pt x="5019369" y="1981200"/>
                  </a:lnTo>
                  <a:lnTo>
                    <a:pt x="5029629" y="2006600"/>
                  </a:lnTo>
                  <a:lnTo>
                    <a:pt x="5038117" y="2019300"/>
                  </a:lnTo>
                  <a:lnTo>
                    <a:pt x="5104541" y="2019300"/>
                  </a:lnTo>
                  <a:lnTo>
                    <a:pt x="5113638" y="2032000"/>
                  </a:lnTo>
                  <a:lnTo>
                    <a:pt x="5119771" y="2032000"/>
                  </a:lnTo>
                  <a:lnTo>
                    <a:pt x="5122020" y="2044700"/>
                  </a:lnTo>
                  <a:lnTo>
                    <a:pt x="5122020" y="2171700"/>
                  </a:lnTo>
                  <a:lnTo>
                    <a:pt x="5119771" y="2171700"/>
                  </a:lnTo>
                  <a:lnTo>
                    <a:pt x="5113638" y="2184400"/>
                  </a:lnTo>
                  <a:lnTo>
                    <a:pt x="5038129" y="2184400"/>
                  </a:lnTo>
                  <a:lnTo>
                    <a:pt x="5029638" y="2209800"/>
                  </a:lnTo>
                  <a:lnTo>
                    <a:pt x="5019374" y="2222500"/>
                  </a:lnTo>
                  <a:lnTo>
                    <a:pt x="5007359" y="2247900"/>
                  </a:lnTo>
                  <a:lnTo>
                    <a:pt x="4993612" y="2260600"/>
                  </a:lnTo>
                  <a:lnTo>
                    <a:pt x="5032740" y="2286000"/>
                  </a:lnTo>
                  <a:lnTo>
                    <a:pt x="5039022" y="2298700"/>
                  </a:lnTo>
                  <a:lnTo>
                    <a:pt x="5041117" y="2298700"/>
                  </a:lnTo>
                  <a:lnTo>
                    <a:pt x="5039022" y="2311400"/>
                  </a:lnTo>
                  <a:lnTo>
                    <a:pt x="5032740" y="2311400"/>
                  </a:lnTo>
                  <a:lnTo>
                    <a:pt x="4900889" y="2413000"/>
                  </a:lnTo>
                  <a:lnTo>
                    <a:pt x="5107555" y="2413000"/>
                  </a:lnTo>
                  <a:lnTo>
                    <a:pt x="5122096" y="2400300"/>
                  </a:lnTo>
                  <a:lnTo>
                    <a:pt x="5161013" y="2362200"/>
                  </a:lnTo>
                  <a:lnTo>
                    <a:pt x="5216533" y="2298700"/>
                  </a:lnTo>
                  <a:lnTo>
                    <a:pt x="5216533" y="1917700"/>
                  </a:lnTo>
                  <a:lnTo>
                    <a:pt x="5194955" y="1879600"/>
                  </a:lnTo>
                  <a:lnTo>
                    <a:pt x="5181166" y="1866900"/>
                  </a:lnTo>
                  <a:lnTo>
                    <a:pt x="5166364" y="1854200"/>
                  </a:lnTo>
                  <a:lnTo>
                    <a:pt x="5150560" y="1828800"/>
                  </a:lnTo>
                  <a:lnTo>
                    <a:pt x="5052405" y="1828800"/>
                  </a:lnTo>
                  <a:lnTo>
                    <a:pt x="5030014" y="1816100"/>
                  </a:lnTo>
                  <a:lnTo>
                    <a:pt x="5009385" y="1816100"/>
                  </a:lnTo>
                  <a:lnTo>
                    <a:pt x="4991041" y="1803400"/>
                  </a:lnTo>
                  <a:lnTo>
                    <a:pt x="4975961" y="1790700"/>
                  </a:lnTo>
                  <a:lnTo>
                    <a:pt x="4964924" y="1778000"/>
                  </a:lnTo>
                  <a:lnTo>
                    <a:pt x="4958144" y="1765300"/>
                  </a:lnTo>
                  <a:lnTo>
                    <a:pt x="4955837" y="1739900"/>
                  </a:lnTo>
                  <a:close/>
                </a:path>
                <a:path w="5217159" h="2527300">
                  <a:moveTo>
                    <a:pt x="4702407" y="1638300"/>
                  </a:moveTo>
                  <a:lnTo>
                    <a:pt x="4491687" y="1638300"/>
                  </a:lnTo>
                  <a:lnTo>
                    <a:pt x="4438981" y="1651000"/>
                  </a:lnTo>
                  <a:lnTo>
                    <a:pt x="4338445" y="1676400"/>
                  </a:lnTo>
                  <a:lnTo>
                    <a:pt x="4290966" y="1689100"/>
                  </a:lnTo>
                  <a:lnTo>
                    <a:pt x="4245579" y="1701800"/>
                  </a:lnTo>
                  <a:lnTo>
                    <a:pt x="4202460" y="1727200"/>
                  </a:lnTo>
                  <a:lnTo>
                    <a:pt x="4161785" y="1752600"/>
                  </a:lnTo>
                  <a:lnTo>
                    <a:pt x="4123727" y="1778000"/>
                  </a:lnTo>
                  <a:lnTo>
                    <a:pt x="4088462" y="1803400"/>
                  </a:lnTo>
                  <a:lnTo>
                    <a:pt x="4056166" y="1828800"/>
                  </a:lnTo>
                  <a:lnTo>
                    <a:pt x="4027014" y="1854200"/>
                  </a:lnTo>
                  <a:lnTo>
                    <a:pt x="4001180" y="1892300"/>
                  </a:lnTo>
                  <a:lnTo>
                    <a:pt x="3978840" y="1917700"/>
                  </a:lnTo>
                  <a:lnTo>
                    <a:pt x="3960169" y="1955800"/>
                  </a:lnTo>
                  <a:lnTo>
                    <a:pt x="3945342" y="1993900"/>
                  </a:lnTo>
                  <a:lnTo>
                    <a:pt x="3934535" y="2032000"/>
                  </a:lnTo>
                  <a:lnTo>
                    <a:pt x="3927922" y="2070100"/>
                  </a:lnTo>
                  <a:lnTo>
                    <a:pt x="3925679" y="2108200"/>
                  </a:lnTo>
                  <a:lnTo>
                    <a:pt x="3928750" y="2146300"/>
                  </a:lnTo>
                  <a:lnTo>
                    <a:pt x="3937857" y="2197100"/>
                  </a:lnTo>
                  <a:lnTo>
                    <a:pt x="3952844" y="2235200"/>
                  </a:lnTo>
                  <a:lnTo>
                    <a:pt x="3973553" y="2273300"/>
                  </a:lnTo>
                  <a:lnTo>
                    <a:pt x="3999825" y="2324100"/>
                  </a:lnTo>
                  <a:lnTo>
                    <a:pt x="4031503" y="2362200"/>
                  </a:lnTo>
                  <a:lnTo>
                    <a:pt x="4068431" y="2400300"/>
                  </a:lnTo>
                  <a:lnTo>
                    <a:pt x="4081947" y="2387600"/>
                  </a:lnTo>
                  <a:lnTo>
                    <a:pt x="4268348" y="2387600"/>
                  </a:lnTo>
                  <a:lnTo>
                    <a:pt x="4169459" y="2311400"/>
                  </a:lnTo>
                  <a:lnTo>
                    <a:pt x="4163173" y="2311400"/>
                  </a:lnTo>
                  <a:lnTo>
                    <a:pt x="4161079" y="2298700"/>
                  </a:lnTo>
                  <a:lnTo>
                    <a:pt x="4163176" y="2298700"/>
                  </a:lnTo>
                  <a:lnTo>
                    <a:pt x="4169459" y="2286000"/>
                  </a:lnTo>
                  <a:lnTo>
                    <a:pt x="4208588" y="2260600"/>
                  </a:lnTo>
                  <a:lnTo>
                    <a:pt x="4194840" y="2247900"/>
                  </a:lnTo>
                  <a:lnTo>
                    <a:pt x="4182824" y="2222500"/>
                  </a:lnTo>
                  <a:lnTo>
                    <a:pt x="4172561" y="2209800"/>
                  </a:lnTo>
                  <a:lnTo>
                    <a:pt x="4164070" y="2184400"/>
                  </a:lnTo>
                  <a:lnTo>
                    <a:pt x="4093919" y="2184400"/>
                  </a:lnTo>
                  <a:lnTo>
                    <a:pt x="4083188" y="2171700"/>
                  </a:lnTo>
                  <a:lnTo>
                    <a:pt x="4080169" y="2171700"/>
                  </a:lnTo>
                  <a:lnTo>
                    <a:pt x="4080281" y="2044700"/>
                  </a:lnTo>
                  <a:lnTo>
                    <a:pt x="4082530" y="2032000"/>
                  </a:lnTo>
                  <a:lnTo>
                    <a:pt x="4088663" y="2032000"/>
                  </a:lnTo>
                  <a:lnTo>
                    <a:pt x="4097760" y="2019300"/>
                  </a:lnTo>
                  <a:lnTo>
                    <a:pt x="4164070" y="2019300"/>
                  </a:lnTo>
                  <a:lnTo>
                    <a:pt x="4172561" y="2006600"/>
                  </a:lnTo>
                  <a:lnTo>
                    <a:pt x="4182824" y="1981200"/>
                  </a:lnTo>
                  <a:lnTo>
                    <a:pt x="4194840" y="1968500"/>
                  </a:lnTo>
                  <a:lnTo>
                    <a:pt x="4208588" y="1943100"/>
                  </a:lnTo>
                  <a:lnTo>
                    <a:pt x="4164307" y="1917700"/>
                  </a:lnTo>
                  <a:lnTo>
                    <a:pt x="4161287" y="1917700"/>
                  </a:lnTo>
                  <a:lnTo>
                    <a:pt x="4161287" y="1905000"/>
                  </a:lnTo>
                  <a:lnTo>
                    <a:pt x="4164307" y="1892300"/>
                  </a:lnTo>
                  <a:lnTo>
                    <a:pt x="4296257" y="1803400"/>
                  </a:lnTo>
                  <a:lnTo>
                    <a:pt x="4482999" y="1803400"/>
                  </a:lnTo>
                  <a:lnTo>
                    <a:pt x="4482999" y="1765300"/>
                  </a:lnTo>
                  <a:lnTo>
                    <a:pt x="4485250" y="1752600"/>
                  </a:lnTo>
                  <a:lnTo>
                    <a:pt x="4491385" y="1752600"/>
                  </a:lnTo>
                  <a:lnTo>
                    <a:pt x="4500483" y="1739900"/>
                  </a:lnTo>
                  <a:lnTo>
                    <a:pt x="4955837" y="1739900"/>
                  </a:lnTo>
                  <a:lnTo>
                    <a:pt x="4958144" y="1727200"/>
                  </a:lnTo>
                  <a:lnTo>
                    <a:pt x="4964924" y="1714500"/>
                  </a:lnTo>
                  <a:lnTo>
                    <a:pt x="4975961" y="1701800"/>
                  </a:lnTo>
                  <a:lnTo>
                    <a:pt x="4991041" y="1689100"/>
                  </a:lnTo>
                  <a:lnTo>
                    <a:pt x="5009385" y="1676400"/>
                  </a:lnTo>
                  <a:lnTo>
                    <a:pt x="4857065" y="1676400"/>
                  </a:lnTo>
                  <a:lnTo>
                    <a:pt x="4849719" y="1663700"/>
                  </a:lnTo>
                  <a:lnTo>
                    <a:pt x="4839065" y="1663700"/>
                  </a:lnTo>
                  <a:lnTo>
                    <a:pt x="4836003" y="1651000"/>
                  </a:lnTo>
                  <a:lnTo>
                    <a:pt x="4735612" y="1651000"/>
                  </a:lnTo>
                  <a:lnTo>
                    <a:pt x="4702407" y="1638300"/>
                  </a:lnTo>
                  <a:close/>
                </a:path>
                <a:path w="5217159" h="2527300">
                  <a:moveTo>
                    <a:pt x="4668305" y="2374900"/>
                  </a:moveTo>
                  <a:lnTo>
                    <a:pt x="4533879" y="2374900"/>
                  </a:lnTo>
                  <a:lnTo>
                    <a:pt x="4538561" y="2387600"/>
                  </a:lnTo>
                  <a:lnTo>
                    <a:pt x="4663627" y="2387600"/>
                  </a:lnTo>
                  <a:lnTo>
                    <a:pt x="4668305" y="2374900"/>
                  </a:lnTo>
                  <a:close/>
                </a:path>
                <a:path w="5217159" h="2527300">
                  <a:moveTo>
                    <a:pt x="4719030" y="2362200"/>
                  </a:moveTo>
                  <a:lnTo>
                    <a:pt x="4483158" y="2362200"/>
                  </a:lnTo>
                  <a:lnTo>
                    <a:pt x="4517633" y="2374900"/>
                  </a:lnTo>
                  <a:lnTo>
                    <a:pt x="4684555" y="2374900"/>
                  </a:lnTo>
                  <a:lnTo>
                    <a:pt x="4719030" y="2362200"/>
                  </a:lnTo>
                  <a:close/>
                </a:path>
                <a:path w="5217159" h="2527300">
                  <a:moveTo>
                    <a:pt x="4937212" y="2273300"/>
                  </a:moveTo>
                  <a:lnTo>
                    <a:pt x="4264977" y="2273300"/>
                  </a:lnTo>
                  <a:lnTo>
                    <a:pt x="4230164" y="2298700"/>
                  </a:lnTo>
                  <a:lnTo>
                    <a:pt x="4316190" y="2362200"/>
                  </a:lnTo>
                  <a:lnTo>
                    <a:pt x="4351037" y="2336800"/>
                  </a:lnTo>
                  <a:lnTo>
                    <a:pt x="4920409" y="2336800"/>
                  </a:lnTo>
                  <a:lnTo>
                    <a:pt x="4972024" y="2298700"/>
                  </a:lnTo>
                  <a:lnTo>
                    <a:pt x="4937212" y="2273300"/>
                  </a:lnTo>
                  <a:close/>
                </a:path>
                <a:path w="5217159" h="2527300">
                  <a:moveTo>
                    <a:pt x="4815377" y="2336800"/>
                  </a:moveTo>
                  <a:lnTo>
                    <a:pt x="4386812" y="2336800"/>
                  </a:lnTo>
                  <a:lnTo>
                    <a:pt x="4417633" y="2349500"/>
                  </a:lnTo>
                  <a:lnTo>
                    <a:pt x="4449787" y="2362200"/>
                  </a:lnTo>
                  <a:lnTo>
                    <a:pt x="4752402" y="2362200"/>
                  </a:lnTo>
                  <a:lnTo>
                    <a:pt x="4784556" y="2349500"/>
                  </a:lnTo>
                  <a:lnTo>
                    <a:pt x="4815377" y="2336800"/>
                  </a:lnTo>
                  <a:close/>
                </a:path>
                <a:path w="5217159" h="2527300">
                  <a:moveTo>
                    <a:pt x="4920409" y="2336800"/>
                  </a:moveTo>
                  <a:lnTo>
                    <a:pt x="4851152" y="2336800"/>
                  </a:lnTo>
                  <a:lnTo>
                    <a:pt x="4885998" y="2362200"/>
                  </a:lnTo>
                  <a:lnTo>
                    <a:pt x="4920409" y="2336800"/>
                  </a:lnTo>
                  <a:close/>
                </a:path>
                <a:path w="5217159" h="2527300">
                  <a:moveTo>
                    <a:pt x="4546942" y="1943100"/>
                  </a:moveTo>
                  <a:lnTo>
                    <a:pt x="4273200" y="1943100"/>
                  </a:lnTo>
                  <a:lnTo>
                    <a:pt x="4272615" y="1955800"/>
                  </a:lnTo>
                  <a:lnTo>
                    <a:pt x="4268778" y="1955800"/>
                  </a:lnTo>
                  <a:lnTo>
                    <a:pt x="4250770" y="1981200"/>
                  </a:lnTo>
                  <a:lnTo>
                    <a:pt x="4235700" y="1993900"/>
                  </a:lnTo>
                  <a:lnTo>
                    <a:pt x="4223616" y="2019300"/>
                  </a:lnTo>
                  <a:lnTo>
                    <a:pt x="4214569" y="2044700"/>
                  </a:lnTo>
                  <a:lnTo>
                    <a:pt x="4210896" y="2057400"/>
                  </a:lnTo>
                  <a:lnTo>
                    <a:pt x="4137497" y="2057400"/>
                  </a:lnTo>
                  <a:lnTo>
                    <a:pt x="4137430" y="2146300"/>
                  </a:lnTo>
                  <a:lnTo>
                    <a:pt x="4204573" y="2146300"/>
                  </a:lnTo>
                  <a:lnTo>
                    <a:pt x="4210896" y="2159000"/>
                  </a:lnTo>
                  <a:lnTo>
                    <a:pt x="4214569" y="2159000"/>
                  </a:lnTo>
                  <a:lnTo>
                    <a:pt x="4223616" y="2184400"/>
                  </a:lnTo>
                  <a:lnTo>
                    <a:pt x="4235700" y="2209800"/>
                  </a:lnTo>
                  <a:lnTo>
                    <a:pt x="4250770" y="2235200"/>
                  </a:lnTo>
                  <a:lnTo>
                    <a:pt x="4268778" y="2260600"/>
                  </a:lnTo>
                  <a:lnTo>
                    <a:pt x="4272615" y="2260600"/>
                  </a:lnTo>
                  <a:lnTo>
                    <a:pt x="4273200" y="2273300"/>
                  </a:lnTo>
                  <a:lnTo>
                    <a:pt x="4601100" y="2273300"/>
                  </a:lnTo>
                  <a:lnTo>
                    <a:pt x="4546942" y="2260600"/>
                  </a:lnTo>
                  <a:lnTo>
                    <a:pt x="4497192" y="2247900"/>
                  </a:lnTo>
                  <a:lnTo>
                    <a:pt x="4453280" y="2235200"/>
                  </a:lnTo>
                  <a:lnTo>
                    <a:pt x="4416637" y="2209800"/>
                  </a:lnTo>
                  <a:lnTo>
                    <a:pt x="4388692" y="2171700"/>
                  </a:lnTo>
                  <a:lnTo>
                    <a:pt x="4364620" y="2108200"/>
                  </a:lnTo>
                  <a:lnTo>
                    <a:pt x="4370876" y="2070100"/>
                  </a:lnTo>
                  <a:lnTo>
                    <a:pt x="4388692" y="2032000"/>
                  </a:lnTo>
                  <a:lnTo>
                    <a:pt x="4416637" y="2006600"/>
                  </a:lnTo>
                  <a:lnTo>
                    <a:pt x="4453280" y="1981200"/>
                  </a:lnTo>
                  <a:lnTo>
                    <a:pt x="4497192" y="1955800"/>
                  </a:lnTo>
                  <a:lnTo>
                    <a:pt x="4546942" y="1943100"/>
                  </a:lnTo>
                  <a:close/>
                </a:path>
                <a:path w="5217159" h="2527300">
                  <a:moveTo>
                    <a:pt x="4928985" y="1943100"/>
                  </a:moveTo>
                  <a:lnTo>
                    <a:pt x="4655258" y="1943100"/>
                  </a:lnTo>
                  <a:lnTo>
                    <a:pt x="4705007" y="1955800"/>
                  </a:lnTo>
                  <a:lnTo>
                    <a:pt x="4748919" y="1981200"/>
                  </a:lnTo>
                  <a:lnTo>
                    <a:pt x="4785563" y="2006600"/>
                  </a:lnTo>
                  <a:lnTo>
                    <a:pt x="4813507" y="2032000"/>
                  </a:lnTo>
                  <a:lnTo>
                    <a:pt x="4831323" y="2070100"/>
                  </a:lnTo>
                  <a:lnTo>
                    <a:pt x="4837579" y="2108200"/>
                  </a:lnTo>
                  <a:lnTo>
                    <a:pt x="4831323" y="2146300"/>
                  </a:lnTo>
                  <a:lnTo>
                    <a:pt x="4785563" y="2209800"/>
                  </a:lnTo>
                  <a:lnTo>
                    <a:pt x="4748919" y="2235200"/>
                  </a:lnTo>
                  <a:lnTo>
                    <a:pt x="4705007" y="2247900"/>
                  </a:lnTo>
                  <a:lnTo>
                    <a:pt x="4655258" y="2260600"/>
                  </a:lnTo>
                  <a:lnTo>
                    <a:pt x="4601100" y="2273300"/>
                  </a:lnTo>
                  <a:lnTo>
                    <a:pt x="4928989" y="2273300"/>
                  </a:lnTo>
                  <a:lnTo>
                    <a:pt x="4929574" y="2260600"/>
                  </a:lnTo>
                  <a:lnTo>
                    <a:pt x="4933410" y="2260600"/>
                  </a:lnTo>
                  <a:lnTo>
                    <a:pt x="4951419" y="2235200"/>
                  </a:lnTo>
                  <a:lnTo>
                    <a:pt x="4966489" y="2209800"/>
                  </a:lnTo>
                  <a:lnTo>
                    <a:pt x="4978573" y="2184400"/>
                  </a:lnTo>
                  <a:lnTo>
                    <a:pt x="4987620" y="2159000"/>
                  </a:lnTo>
                  <a:lnTo>
                    <a:pt x="4991292" y="2159000"/>
                  </a:lnTo>
                  <a:lnTo>
                    <a:pt x="4997616" y="2146300"/>
                  </a:lnTo>
                  <a:lnTo>
                    <a:pt x="5064780" y="2146300"/>
                  </a:lnTo>
                  <a:lnTo>
                    <a:pt x="5064780" y="2057400"/>
                  </a:lnTo>
                  <a:lnTo>
                    <a:pt x="4991288" y="2057400"/>
                  </a:lnTo>
                  <a:lnTo>
                    <a:pt x="4987620" y="2044700"/>
                  </a:lnTo>
                  <a:lnTo>
                    <a:pt x="4978568" y="2019300"/>
                  </a:lnTo>
                  <a:lnTo>
                    <a:pt x="4966485" y="1993900"/>
                  </a:lnTo>
                  <a:lnTo>
                    <a:pt x="4951417" y="1981200"/>
                  </a:lnTo>
                  <a:lnTo>
                    <a:pt x="4933410" y="1955800"/>
                  </a:lnTo>
                  <a:lnTo>
                    <a:pt x="4929572" y="1955800"/>
                  </a:lnTo>
                  <a:lnTo>
                    <a:pt x="4928985" y="1943100"/>
                  </a:lnTo>
                  <a:close/>
                </a:path>
                <a:path w="5217159" h="2527300">
                  <a:moveTo>
                    <a:pt x="4657695" y="1981200"/>
                  </a:moveTo>
                  <a:lnTo>
                    <a:pt x="4544505" y="1981200"/>
                  </a:lnTo>
                  <a:lnTo>
                    <a:pt x="4495309" y="2006600"/>
                  </a:lnTo>
                  <a:lnTo>
                    <a:pt x="4456486" y="2032000"/>
                  </a:lnTo>
                  <a:lnTo>
                    <a:pt x="4431011" y="2070100"/>
                  </a:lnTo>
                  <a:lnTo>
                    <a:pt x="4421859" y="2108200"/>
                  </a:lnTo>
                  <a:lnTo>
                    <a:pt x="4431011" y="2146300"/>
                  </a:lnTo>
                  <a:lnTo>
                    <a:pt x="4456486" y="2184400"/>
                  </a:lnTo>
                  <a:lnTo>
                    <a:pt x="4495309" y="2209800"/>
                  </a:lnTo>
                  <a:lnTo>
                    <a:pt x="4544505" y="2222500"/>
                  </a:lnTo>
                  <a:lnTo>
                    <a:pt x="4601100" y="2235200"/>
                  </a:lnTo>
                  <a:lnTo>
                    <a:pt x="4657695" y="2222500"/>
                  </a:lnTo>
                  <a:lnTo>
                    <a:pt x="4706891" y="2209800"/>
                  </a:lnTo>
                  <a:lnTo>
                    <a:pt x="4745713" y="2184400"/>
                  </a:lnTo>
                  <a:lnTo>
                    <a:pt x="4771188" y="2146300"/>
                  </a:lnTo>
                  <a:lnTo>
                    <a:pt x="4780340" y="2108200"/>
                  </a:lnTo>
                  <a:lnTo>
                    <a:pt x="4771188" y="2070100"/>
                  </a:lnTo>
                  <a:lnTo>
                    <a:pt x="4745713" y="2032000"/>
                  </a:lnTo>
                  <a:lnTo>
                    <a:pt x="4706891" y="2006600"/>
                  </a:lnTo>
                  <a:lnTo>
                    <a:pt x="4657695" y="1981200"/>
                  </a:lnTo>
                  <a:close/>
                </a:path>
                <a:path w="5217159" h="2527300">
                  <a:moveTo>
                    <a:pt x="4316482" y="1841500"/>
                  </a:moveTo>
                  <a:lnTo>
                    <a:pt x="4230387" y="1905000"/>
                  </a:lnTo>
                  <a:lnTo>
                    <a:pt x="4264977" y="1930400"/>
                  </a:lnTo>
                  <a:lnTo>
                    <a:pt x="4270624" y="1943100"/>
                  </a:lnTo>
                  <a:lnTo>
                    <a:pt x="4931560" y="1943100"/>
                  </a:lnTo>
                  <a:lnTo>
                    <a:pt x="4937212" y="1930400"/>
                  </a:lnTo>
                  <a:lnTo>
                    <a:pt x="4971801" y="1905000"/>
                  </a:lnTo>
                  <a:lnTo>
                    <a:pt x="4937363" y="1879600"/>
                  </a:lnTo>
                  <a:lnTo>
                    <a:pt x="4359060" y="1879600"/>
                  </a:lnTo>
                  <a:lnTo>
                    <a:pt x="4351037" y="1866900"/>
                  </a:lnTo>
                  <a:lnTo>
                    <a:pt x="4316482" y="1841500"/>
                  </a:lnTo>
                  <a:close/>
                </a:path>
                <a:path w="5217159" h="2527300">
                  <a:moveTo>
                    <a:pt x="4719031" y="1841500"/>
                  </a:moveTo>
                  <a:lnTo>
                    <a:pt x="4483152" y="1841500"/>
                  </a:lnTo>
                  <a:lnTo>
                    <a:pt x="4449779" y="1854200"/>
                  </a:lnTo>
                  <a:lnTo>
                    <a:pt x="4417627" y="1866900"/>
                  </a:lnTo>
                  <a:lnTo>
                    <a:pt x="4386812" y="1879600"/>
                  </a:lnTo>
                  <a:lnTo>
                    <a:pt x="4815377" y="1879600"/>
                  </a:lnTo>
                  <a:lnTo>
                    <a:pt x="4784560" y="1866900"/>
                  </a:lnTo>
                  <a:lnTo>
                    <a:pt x="4752406" y="1854200"/>
                  </a:lnTo>
                  <a:lnTo>
                    <a:pt x="4719031" y="1841500"/>
                  </a:lnTo>
                  <a:close/>
                </a:path>
                <a:path w="5217159" h="2527300">
                  <a:moveTo>
                    <a:pt x="4885707" y="1841500"/>
                  </a:moveTo>
                  <a:lnTo>
                    <a:pt x="4851140" y="1866900"/>
                  </a:lnTo>
                  <a:lnTo>
                    <a:pt x="4843122" y="1879600"/>
                  </a:lnTo>
                  <a:lnTo>
                    <a:pt x="4937363" y="1879600"/>
                  </a:lnTo>
                  <a:lnTo>
                    <a:pt x="4885707" y="1841500"/>
                  </a:lnTo>
                  <a:close/>
                </a:path>
                <a:path w="5217159" h="2527300">
                  <a:moveTo>
                    <a:pt x="4675457" y="1828800"/>
                  </a:moveTo>
                  <a:lnTo>
                    <a:pt x="4526726" y="1828800"/>
                  </a:lnTo>
                  <a:lnTo>
                    <a:pt x="4517633" y="1841500"/>
                  </a:lnTo>
                  <a:lnTo>
                    <a:pt x="4684555" y="1841500"/>
                  </a:lnTo>
                  <a:lnTo>
                    <a:pt x="4675457" y="1828800"/>
                  </a:lnTo>
                  <a:close/>
                </a:path>
                <a:path w="5217159" h="2527300">
                  <a:moveTo>
                    <a:pt x="4455101" y="1803400"/>
                  </a:moveTo>
                  <a:lnTo>
                    <a:pt x="4336727" y="1803400"/>
                  </a:lnTo>
                  <a:lnTo>
                    <a:pt x="4375598" y="1828800"/>
                  </a:lnTo>
                  <a:lnTo>
                    <a:pt x="4401352" y="1828800"/>
                  </a:lnTo>
                  <a:lnTo>
                    <a:pt x="4427869" y="1816100"/>
                  </a:lnTo>
                  <a:lnTo>
                    <a:pt x="4455101" y="1803400"/>
                  </a:lnTo>
                  <a:close/>
                </a:path>
                <a:path w="5217159" h="2527300">
                  <a:moveTo>
                    <a:pt x="4661950" y="1778000"/>
                  </a:moveTo>
                  <a:lnTo>
                    <a:pt x="4540239" y="1778000"/>
                  </a:lnTo>
                  <a:lnTo>
                    <a:pt x="4540239" y="1816100"/>
                  </a:lnTo>
                  <a:lnTo>
                    <a:pt x="4538561" y="1828800"/>
                  </a:lnTo>
                  <a:lnTo>
                    <a:pt x="4663627" y="1828800"/>
                  </a:lnTo>
                  <a:lnTo>
                    <a:pt x="4661950" y="1816100"/>
                  </a:lnTo>
                  <a:lnTo>
                    <a:pt x="4661950" y="1778000"/>
                  </a:lnTo>
                  <a:close/>
                </a:path>
                <a:path w="5217159" h="2527300">
                  <a:moveTo>
                    <a:pt x="4865461" y="1803400"/>
                  </a:moveTo>
                  <a:lnTo>
                    <a:pt x="4747093" y="1803400"/>
                  </a:lnTo>
                  <a:lnTo>
                    <a:pt x="4774329" y="1816100"/>
                  </a:lnTo>
                  <a:lnTo>
                    <a:pt x="4800847" y="1828800"/>
                  </a:lnTo>
                  <a:lnTo>
                    <a:pt x="4826601" y="1828800"/>
                  </a:lnTo>
                  <a:lnTo>
                    <a:pt x="4865461" y="1803400"/>
                  </a:lnTo>
                  <a:close/>
                </a:path>
                <a:path w="5217159" h="2527300">
                  <a:moveTo>
                    <a:pt x="5133769" y="1816100"/>
                  </a:moveTo>
                  <a:lnTo>
                    <a:pt x="5120252" y="1816100"/>
                  </a:lnTo>
                  <a:lnTo>
                    <a:pt x="5106036" y="1828800"/>
                  </a:lnTo>
                  <a:lnTo>
                    <a:pt x="5150560" y="1828800"/>
                  </a:lnTo>
                  <a:lnTo>
                    <a:pt x="5133769" y="1816100"/>
                  </a:lnTo>
                  <a:close/>
                </a:path>
                <a:path w="5217159" h="2527300">
                  <a:moveTo>
                    <a:pt x="5216533" y="1625600"/>
                  </a:moveTo>
                  <a:lnTo>
                    <a:pt x="4872156" y="1625599"/>
                  </a:lnTo>
                  <a:lnTo>
                    <a:pt x="4879536" y="1638300"/>
                  </a:lnTo>
                  <a:lnTo>
                    <a:pt x="4890190" y="1638300"/>
                  </a:lnTo>
                  <a:lnTo>
                    <a:pt x="4893241" y="1651000"/>
                  </a:lnTo>
                  <a:lnTo>
                    <a:pt x="4890178" y="1663700"/>
                  </a:lnTo>
                  <a:lnTo>
                    <a:pt x="5122063" y="1663700"/>
                  </a:lnTo>
                  <a:lnTo>
                    <a:pt x="5142691" y="1676400"/>
                  </a:lnTo>
                  <a:lnTo>
                    <a:pt x="5161036" y="1689100"/>
                  </a:lnTo>
                  <a:lnTo>
                    <a:pt x="5185121" y="1714500"/>
                  </a:lnTo>
                  <a:lnTo>
                    <a:pt x="5195653" y="1739900"/>
                  </a:lnTo>
                  <a:lnTo>
                    <a:pt x="5192634" y="1765300"/>
                  </a:lnTo>
                  <a:lnTo>
                    <a:pt x="5176071" y="1790700"/>
                  </a:lnTo>
                  <a:lnTo>
                    <a:pt x="5216533" y="1828800"/>
                  </a:lnTo>
                  <a:lnTo>
                    <a:pt x="5216533" y="1625600"/>
                  </a:lnTo>
                  <a:close/>
                </a:path>
                <a:path w="5217159" h="2527300">
                  <a:moveTo>
                    <a:pt x="5100147" y="1778000"/>
                  </a:moveTo>
                  <a:lnTo>
                    <a:pt x="5051927" y="1778000"/>
                  </a:lnTo>
                  <a:lnTo>
                    <a:pt x="5063656" y="1790700"/>
                  </a:lnTo>
                  <a:lnTo>
                    <a:pt x="5088416" y="1790700"/>
                  </a:lnTo>
                  <a:lnTo>
                    <a:pt x="5100147" y="1778000"/>
                  </a:lnTo>
                  <a:close/>
                </a:path>
                <a:path w="5217159" h="2527300">
                  <a:moveTo>
                    <a:pt x="5110955" y="1701800"/>
                  </a:moveTo>
                  <a:lnTo>
                    <a:pt x="5041126" y="1701800"/>
                  </a:lnTo>
                  <a:lnTo>
                    <a:pt x="5031521" y="1714500"/>
                  </a:lnTo>
                  <a:lnTo>
                    <a:pt x="5023621" y="1714500"/>
                  </a:lnTo>
                  <a:lnTo>
                    <a:pt x="5017837" y="1727200"/>
                  </a:lnTo>
                  <a:lnTo>
                    <a:pt x="5014284" y="1739900"/>
                  </a:lnTo>
                  <a:lnTo>
                    <a:pt x="5013074" y="1739900"/>
                  </a:lnTo>
                  <a:lnTo>
                    <a:pt x="5014284" y="1752600"/>
                  </a:lnTo>
                  <a:lnTo>
                    <a:pt x="5017837" y="1765300"/>
                  </a:lnTo>
                  <a:lnTo>
                    <a:pt x="5023621" y="1765300"/>
                  </a:lnTo>
                  <a:lnTo>
                    <a:pt x="5031521" y="1778000"/>
                  </a:lnTo>
                  <a:lnTo>
                    <a:pt x="5120566" y="1778000"/>
                  </a:lnTo>
                  <a:lnTo>
                    <a:pt x="5134369" y="1765300"/>
                  </a:lnTo>
                  <a:lnTo>
                    <a:pt x="5138970" y="1739900"/>
                  </a:lnTo>
                  <a:lnTo>
                    <a:pt x="5134369" y="1727200"/>
                  </a:lnTo>
                  <a:lnTo>
                    <a:pt x="5120566" y="1714500"/>
                  </a:lnTo>
                  <a:lnTo>
                    <a:pt x="5110955" y="1701800"/>
                  </a:lnTo>
                  <a:close/>
                </a:path>
                <a:path w="5217159" h="2527300">
                  <a:moveTo>
                    <a:pt x="5030014" y="1663700"/>
                  </a:moveTo>
                  <a:lnTo>
                    <a:pt x="4879536" y="1663700"/>
                  </a:lnTo>
                  <a:lnTo>
                    <a:pt x="4872156" y="1676400"/>
                  </a:lnTo>
                  <a:lnTo>
                    <a:pt x="5009385" y="1676400"/>
                  </a:lnTo>
                  <a:lnTo>
                    <a:pt x="5030014" y="1663700"/>
                  </a:lnTo>
                  <a:close/>
                </a:path>
                <a:path w="5217159" h="2527300">
                  <a:moveTo>
                    <a:pt x="4839065" y="1638300"/>
                  </a:moveTo>
                  <a:lnTo>
                    <a:pt x="4757099" y="1638300"/>
                  </a:lnTo>
                  <a:lnTo>
                    <a:pt x="4746967" y="1651000"/>
                  </a:lnTo>
                  <a:lnTo>
                    <a:pt x="4836003" y="1651000"/>
                  </a:lnTo>
                  <a:lnTo>
                    <a:pt x="4839065" y="1638300"/>
                  </a:lnTo>
                  <a:close/>
                </a:path>
                <a:path w="5217159" h="2527300">
                  <a:moveTo>
                    <a:pt x="5216533" y="1600199"/>
                  </a:moveTo>
                  <a:lnTo>
                    <a:pt x="4746948" y="1600199"/>
                  </a:lnTo>
                  <a:lnTo>
                    <a:pt x="4757422" y="1612899"/>
                  </a:lnTo>
                  <a:lnTo>
                    <a:pt x="4765123" y="1612899"/>
                  </a:lnTo>
                  <a:lnTo>
                    <a:pt x="4769332" y="1625599"/>
                  </a:lnTo>
                  <a:lnTo>
                    <a:pt x="4764916" y="1638300"/>
                  </a:lnTo>
                  <a:lnTo>
                    <a:pt x="4849719" y="1638300"/>
                  </a:lnTo>
                  <a:lnTo>
                    <a:pt x="4857065" y="1625599"/>
                  </a:lnTo>
                  <a:lnTo>
                    <a:pt x="5216533" y="1625600"/>
                  </a:lnTo>
                  <a:lnTo>
                    <a:pt x="5216533" y="160019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171835" y="360171"/>
            <a:ext cx="3876040" cy="897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25" dirty="0">
                <a:latin typeface="Arial"/>
                <a:cs typeface="Arial"/>
              </a:rPr>
              <a:t>Ejemplo: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75" dirty="0">
                <a:latin typeface="Arial"/>
                <a:cs typeface="Arial"/>
              </a:rPr>
              <a:t>Datos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Iris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45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25" dirty="0">
                <a:latin typeface="Arial"/>
                <a:cs typeface="Arial"/>
              </a:rPr>
              <a:t>Aplicación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método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60" dirty="0">
                <a:latin typeface="Arial"/>
                <a:cs typeface="Arial"/>
              </a:rPr>
              <a:t>CAIM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10819" rIns="0" bIns="0" rtlCol="0">
            <a:spAutoFit/>
          </a:bodyPr>
          <a:lstStyle/>
          <a:p>
            <a:pPr marL="208915">
              <a:lnSpc>
                <a:spcPts val="2075"/>
              </a:lnSpc>
              <a:spcBef>
                <a:spcPts val="100"/>
              </a:spcBef>
            </a:pPr>
            <a:r>
              <a:rPr spc="-10" dirty="0"/>
              <a:t>data(iris)</a:t>
            </a:r>
          </a:p>
          <a:p>
            <a:pPr marL="208915" marR="687070">
              <a:lnSpc>
                <a:spcPct val="90600"/>
              </a:lnSpc>
              <a:spcBef>
                <a:spcPts val="120"/>
              </a:spcBef>
            </a:pPr>
            <a:r>
              <a:rPr dirty="0"/>
              <a:t>#</a:t>
            </a:r>
            <a:r>
              <a:rPr spc="-40" dirty="0"/>
              <a:t> </a:t>
            </a:r>
            <a:r>
              <a:rPr dirty="0"/>
              <a:t>Método</a:t>
            </a:r>
            <a:r>
              <a:rPr spc="-40" dirty="0"/>
              <a:t> </a:t>
            </a:r>
            <a:r>
              <a:rPr spc="-20" dirty="0"/>
              <a:t>CAIM </a:t>
            </a:r>
            <a:r>
              <a:rPr dirty="0"/>
              <a:t>datosdiscretos_cm</a:t>
            </a:r>
            <a:r>
              <a:rPr spc="-170" dirty="0"/>
              <a:t> </a:t>
            </a:r>
            <a:r>
              <a:rPr spc="-25" dirty="0"/>
              <a:t>&lt;- </a:t>
            </a:r>
            <a:r>
              <a:rPr dirty="0"/>
              <a:t>disc.Topdown(iris,</a:t>
            </a:r>
            <a:r>
              <a:rPr spc="-180" dirty="0"/>
              <a:t> </a:t>
            </a:r>
            <a:r>
              <a:rPr spc="-10" dirty="0"/>
              <a:t>method=1)</a:t>
            </a:r>
          </a:p>
          <a:p>
            <a:pPr marL="208915" marR="5080">
              <a:lnSpc>
                <a:spcPts val="2020"/>
              </a:lnSpc>
              <a:spcBef>
                <a:spcPts val="1814"/>
              </a:spcBef>
            </a:pPr>
            <a:r>
              <a:rPr dirty="0"/>
              <a:t>#</a:t>
            </a:r>
            <a:r>
              <a:rPr spc="-55" dirty="0"/>
              <a:t> </a:t>
            </a:r>
            <a:r>
              <a:rPr dirty="0"/>
              <a:t>se</a:t>
            </a:r>
            <a:r>
              <a:rPr spc="-40" dirty="0"/>
              <a:t> </a:t>
            </a:r>
            <a:r>
              <a:rPr dirty="0"/>
              <a:t>muestran</a:t>
            </a:r>
            <a:r>
              <a:rPr spc="-40" dirty="0"/>
              <a:t> </a:t>
            </a:r>
            <a:r>
              <a:rPr dirty="0"/>
              <a:t>los</a:t>
            </a:r>
            <a:r>
              <a:rPr spc="-45" dirty="0"/>
              <a:t> </a:t>
            </a:r>
            <a:r>
              <a:rPr dirty="0"/>
              <a:t>puntos</a:t>
            </a:r>
            <a:r>
              <a:rPr spc="-40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spc="-10" dirty="0"/>
              <a:t>corte </a:t>
            </a:r>
            <a:r>
              <a:rPr dirty="0"/>
              <a:t>cat("Puntos</a:t>
            </a:r>
            <a:r>
              <a:rPr spc="-65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dirty="0"/>
              <a:t>corte</a:t>
            </a:r>
            <a:r>
              <a:rPr spc="-65" dirty="0"/>
              <a:t> </a:t>
            </a:r>
            <a:r>
              <a:rPr dirty="0"/>
              <a:t>metodo</a:t>
            </a:r>
            <a:r>
              <a:rPr spc="-60" dirty="0"/>
              <a:t> </a:t>
            </a:r>
            <a:r>
              <a:rPr spc="-10" dirty="0"/>
              <a:t>CAIM:</a:t>
            </a:r>
          </a:p>
          <a:p>
            <a:pPr marL="208915">
              <a:lnSpc>
                <a:spcPts val="1764"/>
              </a:lnSpc>
            </a:pPr>
            <a:r>
              <a:rPr spc="-20" dirty="0"/>
              <a:t>\n")</a:t>
            </a:r>
          </a:p>
          <a:p>
            <a:pPr marL="208915">
              <a:lnSpc>
                <a:spcPts val="2075"/>
              </a:lnSpc>
            </a:pPr>
            <a:r>
              <a:rPr spc="-10" dirty="0"/>
              <a:t>print(datosdiscretos_cm$cutp)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268" y="118509"/>
            <a:ext cx="3148330" cy="129159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pc="-10" dirty="0"/>
              <a:t>Transformación</a:t>
            </a:r>
          </a:p>
          <a:p>
            <a:pPr marL="925830">
              <a:lnSpc>
                <a:spcPct val="100000"/>
              </a:lnSpc>
              <a:spcBef>
                <a:spcPts val="745"/>
              </a:spcBef>
            </a:pPr>
            <a:r>
              <a:rPr sz="2800" spc="-10" dirty="0">
                <a:solidFill>
                  <a:srgbClr val="FF0000"/>
                </a:solidFill>
              </a:rPr>
              <a:t>Discretización: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3891968" y="1827881"/>
            <a:ext cx="5252085" cy="3315970"/>
            <a:chOff x="3891968" y="1827881"/>
            <a:chExt cx="5252085" cy="3315970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91968" y="1827881"/>
              <a:ext cx="5217160" cy="2832100"/>
            </a:xfrm>
            <a:custGeom>
              <a:avLst/>
              <a:gdLst/>
              <a:ahLst/>
              <a:cxnLst/>
              <a:rect l="l" t="t" r="r" b="b"/>
              <a:pathLst>
                <a:path w="5217159" h="2832100">
                  <a:moveTo>
                    <a:pt x="5216533" y="0"/>
                  </a:moveTo>
                  <a:lnTo>
                    <a:pt x="0" y="0"/>
                  </a:lnTo>
                  <a:lnTo>
                    <a:pt x="0" y="2832100"/>
                  </a:lnTo>
                  <a:lnTo>
                    <a:pt x="4041175" y="2832100"/>
                  </a:lnTo>
                  <a:lnTo>
                    <a:pt x="4026093" y="2819400"/>
                  </a:lnTo>
                  <a:lnTo>
                    <a:pt x="4015052" y="2806700"/>
                  </a:lnTo>
                  <a:lnTo>
                    <a:pt x="4008269" y="2781300"/>
                  </a:lnTo>
                  <a:lnTo>
                    <a:pt x="4005959" y="2768600"/>
                  </a:lnTo>
                  <a:lnTo>
                    <a:pt x="4007264" y="2755900"/>
                  </a:lnTo>
                  <a:lnTo>
                    <a:pt x="4011119" y="2743200"/>
                  </a:lnTo>
                  <a:lnTo>
                    <a:pt x="4017430" y="2730500"/>
                  </a:lnTo>
                  <a:lnTo>
                    <a:pt x="4026105" y="2717800"/>
                  </a:lnTo>
                  <a:lnTo>
                    <a:pt x="3990112" y="2679700"/>
                  </a:lnTo>
                  <a:lnTo>
                    <a:pt x="3958537" y="2628900"/>
                  </a:lnTo>
                  <a:lnTo>
                    <a:pt x="3931497" y="2590800"/>
                  </a:lnTo>
                  <a:lnTo>
                    <a:pt x="3909110" y="2540000"/>
                  </a:lnTo>
                  <a:lnTo>
                    <a:pt x="3891494" y="2501900"/>
                  </a:lnTo>
                  <a:lnTo>
                    <a:pt x="3878765" y="2451100"/>
                  </a:lnTo>
                  <a:lnTo>
                    <a:pt x="3871042" y="2400300"/>
                  </a:lnTo>
                  <a:lnTo>
                    <a:pt x="3868441" y="2362200"/>
                  </a:lnTo>
                  <a:lnTo>
                    <a:pt x="3870713" y="2311400"/>
                  </a:lnTo>
                  <a:lnTo>
                    <a:pt x="3877474" y="2273300"/>
                  </a:lnTo>
                  <a:lnTo>
                    <a:pt x="3888639" y="2222500"/>
                  </a:lnTo>
                  <a:lnTo>
                    <a:pt x="3904123" y="2184400"/>
                  </a:lnTo>
                  <a:lnTo>
                    <a:pt x="3923844" y="2133600"/>
                  </a:lnTo>
                  <a:lnTo>
                    <a:pt x="3947715" y="2095500"/>
                  </a:lnTo>
                  <a:lnTo>
                    <a:pt x="3975654" y="2057400"/>
                  </a:lnTo>
                  <a:lnTo>
                    <a:pt x="4007576" y="2019300"/>
                  </a:lnTo>
                  <a:lnTo>
                    <a:pt x="4043397" y="1981200"/>
                  </a:lnTo>
                  <a:lnTo>
                    <a:pt x="4083032" y="1955800"/>
                  </a:lnTo>
                  <a:lnTo>
                    <a:pt x="4121877" y="1930400"/>
                  </a:lnTo>
                  <a:lnTo>
                    <a:pt x="4162831" y="1905000"/>
                  </a:lnTo>
                  <a:lnTo>
                    <a:pt x="4205741" y="1879600"/>
                  </a:lnTo>
                  <a:lnTo>
                    <a:pt x="4250455" y="1854200"/>
                  </a:lnTo>
                  <a:lnTo>
                    <a:pt x="4296819" y="1841500"/>
                  </a:lnTo>
                  <a:lnTo>
                    <a:pt x="4344680" y="1816100"/>
                  </a:lnTo>
                  <a:lnTo>
                    <a:pt x="4393886" y="1803400"/>
                  </a:lnTo>
                  <a:lnTo>
                    <a:pt x="4444284" y="1803400"/>
                  </a:lnTo>
                  <a:lnTo>
                    <a:pt x="4495721" y="1790700"/>
                  </a:lnTo>
                  <a:lnTo>
                    <a:pt x="5216533" y="1790700"/>
                  </a:lnTo>
                  <a:lnTo>
                    <a:pt x="5216533" y="0"/>
                  </a:lnTo>
                  <a:close/>
                </a:path>
                <a:path w="5217159" h="2832100">
                  <a:moveTo>
                    <a:pt x="4257360" y="2667000"/>
                  </a:moveTo>
                  <a:lnTo>
                    <a:pt x="4149794" y="2667000"/>
                  </a:lnTo>
                  <a:lnTo>
                    <a:pt x="4172186" y="2679700"/>
                  </a:lnTo>
                  <a:lnTo>
                    <a:pt x="4192814" y="2692400"/>
                  </a:lnTo>
                  <a:lnTo>
                    <a:pt x="4211159" y="2692400"/>
                  </a:lnTo>
                  <a:lnTo>
                    <a:pt x="4226239" y="2717800"/>
                  </a:lnTo>
                  <a:lnTo>
                    <a:pt x="4237276" y="2730500"/>
                  </a:lnTo>
                  <a:lnTo>
                    <a:pt x="4244056" y="2743200"/>
                  </a:lnTo>
                  <a:lnTo>
                    <a:pt x="4246364" y="2768600"/>
                  </a:lnTo>
                  <a:lnTo>
                    <a:pt x="4244056" y="2781300"/>
                  </a:lnTo>
                  <a:lnTo>
                    <a:pt x="4237276" y="2806700"/>
                  </a:lnTo>
                  <a:lnTo>
                    <a:pt x="4226239" y="2819400"/>
                  </a:lnTo>
                  <a:lnTo>
                    <a:pt x="4211159" y="2832100"/>
                  </a:lnTo>
                  <a:lnTo>
                    <a:pt x="4876314" y="2832100"/>
                  </a:lnTo>
                  <a:lnTo>
                    <a:pt x="4978474" y="2794000"/>
                  </a:lnTo>
                  <a:lnTo>
                    <a:pt x="5020394" y="2768600"/>
                  </a:lnTo>
                  <a:lnTo>
                    <a:pt x="4500483" y="2768600"/>
                  </a:lnTo>
                  <a:lnTo>
                    <a:pt x="4491385" y="2755900"/>
                  </a:lnTo>
                  <a:lnTo>
                    <a:pt x="4485250" y="2755900"/>
                  </a:lnTo>
                  <a:lnTo>
                    <a:pt x="4482999" y="2743200"/>
                  </a:lnTo>
                  <a:lnTo>
                    <a:pt x="4482999" y="2705100"/>
                  </a:lnTo>
                  <a:lnTo>
                    <a:pt x="4301310" y="2705100"/>
                  </a:lnTo>
                  <a:lnTo>
                    <a:pt x="4257360" y="2667000"/>
                  </a:lnTo>
                  <a:close/>
                </a:path>
                <a:path w="5217159" h="2832100">
                  <a:moveTo>
                    <a:pt x="5216533" y="2667000"/>
                  </a:moveTo>
                  <a:lnTo>
                    <a:pt x="5211077" y="2679700"/>
                  </a:lnTo>
                  <a:lnTo>
                    <a:pt x="5190358" y="2692400"/>
                  </a:lnTo>
                  <a:lnTo>
                    <a:pt x="5168119" y="2717800"/>
                  </a:lnTo>
                  <a:lnTo>
                    <a:pt x="5144383" y="2743200"/>
                  </a:lnTo>
                  <a:lnTo>
                    <a:pt x="5119169" y="2768600"/>
                  </a:lnTo>
                  <a:lnTo>
                    <a:pt x="5092696" y="2781300"/>
                  </a:lnTo>
                  <a:lnTo>
                    <a:pt x="5065204" y="2806700"/>
                  </a:lnTo>
                  <a:lnTo>
                    <a:pt x="5036743" y="2819400"/>
                  </a:lnTo>
                  <a:lnTo>
                    <a:pt x="5007361" y="2832100"/>
                  </a:lnTo>
                  <a:lnTo>
                    <a:pt x="5216533" y="2832100"/>
                  </a:lnTo>
                  <a:lnTo>
                    <a:pt x="5216533" y="2667000"/>
                  </a:lnTo>
                  <a:close/>
                </a:path>
                <a:path w="5217159" h="2832100">
                  <a:moveTo>
                    <a:pt x="4138539" y="2806700"/>
                  </a:moveTo>
                  <a:lnTo>
                    <a:pt x="4113785" y="2806700"/>
                  </a:lnTo>
                  <a:lnTo>
                    <a:pt x="4126161" y="2819400"/>
                  </a:lnTo>
                  <a:lnTo>
                    <a:pt x="4138539" y="2806700"/>
                  </a:lnTo>
                  <a:close/>
                </a:path>
                <a:path w="5217159" h="2832100">
                  <a:moveTo>
                    <a:pt x="4170678" y="2794000"/>
                  </a:moveTo>
                  <a:lnTo>
                    <a:pt x="4081645" y="2794000"/>
                  </a:lnTo>
                  <a:lnTo>
                    <a:pt x="4091254" y="2806700"/>
                  </a:lnTo>
                  <a:lnTo>
                    <a:pt x="4161074" y="2806700"/>
                  </a:lnTo>
                  <a:lnTo>
                    <a:pt x="4170678" y="2794000"/>
                  </a:lnTo>
                  <a:close/>
                </a:path>
                <a:path w="5217159" h="2832100">
                  <a:moveTo>
                    <a:pt x="4187914" y="2768600"/>
                  </a:moveTo>
                  <a:lnTo>
                    <a:pt x="4064409" y="2768600"/>
                  </a:lnTo>
                  <a:lnTo>
                    <a:pt x="4067962" y="2781300"/>
                  </a:lnTo>
                  <a:lnTo>
                    <a:pt x="4073745" y="2794000"/>
                  </a:lnTo>
                  <a:lnTo>
                    <a:pt x="4178578" y="2794000"/>
                  </a:lnTo>
                  <a:lnTo>
                    <a:pt x="4184362" y="2781300"/>
                  </a:lnTo>
                  <a:lnTo>
                    <a:pt x="4187914" y="2768600"/>
                  </a:lnTo>
                  <a:close/>
                </a:path>
                <a:path w="5217159" h="2832100">
                  <a:moveTo>
                    <a:pt x="4184362" y="2743200"/>
                  </a:moveTo>
                  <a:lnTo>
                    <a:pt x="4067962" y="2743200"/>
                  </a:lnTo>
                  <a:lnTo>
                    <a:pt x="4064409" y="2755900"/>
                  </a:lnTo>
                  <a:lnTo>
                    <a:pt x="4063199" y="2768600"/>
                  </a:lnTo>
                  <a:lnTo>
                    <a:pt x="4189124" y="2768600"/>
                  </a:lnTo>
                  <a:lnTo>
                    <a:pt x="4187914" y="2755900"/>
                  </a:lnTo>
                  <a:lnTo>
                    <a:pt x="4184362" y="2743200"/>
                  </a:lnTo>
                  <a:close/>
                </a:path>
                <a:path w="5217159" h="2832100">
                  <a:moveTo>
                    <a:pt x="4826601" y="2667000"/>
                  </a:moveTo>
                  <a:lnTo>
                    <a:pt x="4800847" y="2679700"/>
                  </a:lnTo>
                  <a:lnTo>
                    <a:pt x="4774329" y="2679700"/>
                  </a:lnTo>
                  <a:lnTo>
                    <a:pt x="4747093" y="2692400"/>
                  </a:lnTo>
                  <a:lnTo>
                    <a:pt x="4719189" y="2705100"/>
                  </a:lnTo>
                  <a:lnTo>
                    <a:pt x="4719189" y="2743200"/>
                  </a:lnTo>
                  <a:lnTo>
                    <a:pt x="4716940" y="2755900"/>
                  </a:lnTo>
                  <a:lnTo>
                    <a:pt x="4710807" y="2755900"/>
                  </a:lnTo>
                  <a:lnTo>
                    <a:pt x="4701710" y="2768600"/>
                  </a:lnTo>
                  <a:lnTo>
                    <a:pt x="5020394" y="2768600"/>
                  </a:lnTo>
                  <a:lnTo>
                    <a:pt x="5059782" y="2743200"/>
                  </a:lnTo>
                  <a:lnTo>
                    <a:pt x="5096465" y="2717800"/>
                  </a:lnTo>
                  <a:lnTo>
                    <a:pt x="5107732" y="2705100"/>
                  </a:lnTo>
                  <a:lnTo>
                    <a:pt x="4871140" y="2705100"/>
                  </a:lnTo>
                  <a:lnTo>
                    <a:pt x="4826601" y="2667000"/>
                  </a:lnTo>
                  <a:close/>
                </a:path>
                <a:path w="5217159" h="2832100">
                  <a:moveTo>
                    <a:pt x="4161069" y="2717800"/>
                  </a:moveTo>
                  <a:lnTo>
                    <a:pt x="4091249" y="2717800"/>
                  </a:lnTo>
                  <a:lnTo>
                    <a:pt x="4081645" y="2730500"/>
                  </a:lnTo>
                  <a:lnTo>
                    <a:pt x="4073745" y="2743200"/>
                  </a:lnTo>
                  <a:lnTo>
                    <a:pt x="4178578" y="2743200"/>
                  </a:lnTo>
                  <a:lnTo>
                    <a:pt x="4170678" y="2730500"/>
                  </a:lnTo>
                  <a:lnTo>
                    <a:pt x="4161069" y="2717800"/>
                  </a:lnTo>
                  <a:close/>
                </a:path>
                <a:path w="5217159" h="2832100">
                  <a:moveTo>
                    <a:pt x="4661950" y="2679700"/>
                  </a:moveTo>
                  <a:lnTo>
                    <a:pt x="4540239" y="2679700"/>
                  </a:lnTo>
                  <a:lnTo>
                    <a:pt x="4540239" y="2717800"/>
                  </a:lnTo>
                  <a:lnTo>
                    <a:pt x="4661950" y="2717800"/>
                  </a:lnTo>
                  <a:lnTo>
                    <a:pt x="4661950" y="2679700"/>
                  </a:lnTo>
                  <a:close/>
                </a:path>
                <a:path w="5217159" h="2832100">
                  <a:moveTo>
                    <a:pt x="4375588" y="2667000"/>
                  </a:moveTo>
                  <a:lnTo>
                    <a:pt x="4331059" y="2705100"/>
                  </a:lnTo>
                  <a:lnTo>
                    <a:pt x="4482999" y="2705100"/>
                  </a:lnTo>
                  <a:lnTo>
                    <a:pt x="4455101" y="2692400"/>
                  </a:lnTo>
                  <a:lnTo>
                    <a:pt x="4427868" y="2679700"/>
                  </a:lnTo>
                  <a:lnTo>
                    <a:pt x="4401347" y="2679700"/>
                  </a:lnTo>
                  <a:lnTo>
                    <a:pt x="4375588" y="2667000"/>
                  </a:lnTo>
                  <a:close/>
                </a:path>
                <a:path w="5217159" h="2832100">
                  <a:moveTo>
                    <a:pt x="4955837" y="1955800"/>
                  </a:moveTo>
                  <a:lnTo>
                    <a:pt x="4710807" y="1955800"/>
                  </a:lnTo>
                  <a:lnTo>
                    <a:pt x="4716940" y="1968500"/>
                  </a:lnTo>
                  <a:lnTo>
                    <a:pt x="4719189" y="1968500"/>
                  </a:lnTo>
                  <a:lnTo>
                    <a:pt x="4719189" y="2019300"/>
                  </a:lnTo>
                  <a:lnTo>
                    <a:pt x="4905931" y="2019300"/>
                  </a:lnTo>
                  <a:lnTo>
                    <a:pt x="5037882" y="2120900"/>
                  </a:lnTo>
                  <a:lnTo>
                    <a:pt x="5040901" y="2133600"/>
                  </a:lnTo>
                  <a:lnTo>
                    <a:pt x="5040913" y="2146300"/>
                  </a:lnTo>
                  <a:lnTo>
                    <a:pt x="5037894" y="2146300"/>
                  </a:lnTo>
                  <a:lnTo>
                    <a:pt x="4993612" y="2184400"/>
                  </a:lnTo>
                  <a:lnTo>
                    <a:pt x="5007357" y="2197100"/>
                  </a:lnTo>
                  <a:lnTo>
                    <a:pt x="5019369" y="2222500"/>
                  </a:lnTo>
                  <a:lnTo>
                    <a:pt x="5029629" y="2247900"/>
                  </a:lnTo>
                  <a:lnTo>
                    <a:pt x="5038117" y="2260600"/>
                  </a:lnTo>
                  <a:lnTo>
                    <a:pt x="5093401" y="2260600"/>
                  </a:lnTo>
                  <a:lnTo>
                    <a:pt x="5104541" y="2273300"/>
                  </a:lnTo>
                  <a:lnTo>
                    <a:pt x="5119771" y="2273300"/>
                  </a:lnTo>
                  <a:lnTo>
                    <a:pt x="5122020" y="2286000"/>
                  </a:lnTo>
                  <a:lnTo>
                    <a:pt x="5122020" y="2425700"/>
                  </a:lnTo>
                  <a:lnTo>
                    <a:pt x="5119771" y="2438400"/>
                  </a:lnTo>
                  <a:lnTo>
                    <a:pt x="5113638" y="2438400"/>
                  </a:lnTo>
                  <a:lnTo>
                    <a:pt x="5104541" y="2451100"/>
                  </a:lnTo>
                  <a:lnTo>
                    <a:pt x="5038129" y="2451100"/>
                  </a:lnTo>
                  <a:lnTo>
                    <a:pt x="5029638" y="2476500"/>
                  </a:lnTo>
                  <a:lnTo>
                    <a:pt x="5019374" y="2489200"/>
                  </a:lnTo>
                  <a:lnTo>
                    <a:pt x="5007359" y="2514600"/>
                  </a:lnTo>
                  <a:lnTo>
                    <a:pt x="4993612" y="2540000"/>
                  </a:lnTo>
                  <a:lnTo>
                    <a:pt x="5032740" y="2565400"/>
                  </a:lnTo>
                  <a:lnTo>
                    <a:pt x="5039022" y="2578100"/>
                  </a:lnTo>
                  <a:lnTo>
                    <a:pt x="5041117" y="2578100"/>
                  </a:lnTo>
                  <a:lnTo>
                    <a:pt x="5039022" y="2590800"/>
                  </a:lnTo>
                  <a:lnTo>
                    <a:pt x="5032740" y="2590800"/>
                  </a:lnTo>
                  <a:lnTo>
                    <a:pt x="4900889" y="2705100"/>
                  </a:lnTo>
                  <a:lnTo>
                    <a:pt x="5107732" y="2705100"/>
                  </a:lnTo>
                  <a:lnTo>
                    <a:pt x="5130267" y="2679700"/>
                  </a:lnTo>
                  <a:lnTo>
                    <a:pt x="5161013" y="2654300"/>
                  </a:lnTo>
                  <a:lnTo>
                    <a:pt x="5216533" y="2578100"/>
                  </a:lnTo>
                  <a:lnTo>
                    <a:pt x="5216533" y="2146300"/>
                  </a:lnTo>
                  <a:lnTo>
                    <a:pt x="5194955" y="2108200"/>
                  </a:lnTo>
                  <a:lnTo>
                    <a:pt x="5181166" y="2082800"/>
                  </a:lnTo>
                  <a:lnTo>
                    <a:pt x="5166364" y="2070100"/>
                  </a:lnTo>
                  <a:lnTo>
                    <a:pt x="5150560" y="2057400"/>
                  </a:lnTo>
                  <a:lnTo>
                    <a:pt x="5142165" y="2044700"/>
                  </a:lnTo>
                  <a:lnTo>
                    <a:pt x="5052405" y="2044700"/>
                  </a:lnTo>
                  <a:lnTo>
                    <a:pt x="5030014" y="2032000"/>
                  </a:lnTo>
                  <a:lnTo>
                    <a:pt x="5009385" y="2032000"/>
                  </a:lnTo>
                  <a:lnTo>
                    <a:pt x="4991041" y="2019300"/>
                  </a:lnTo>
                  <a:lnTo>
                    <a:pt x="4975961" y="2006600"/>
                  </a:lnTo>
                  <a:lnTo>
                    <a:pt x="4964924" y="1981200"/>
                  </a:lnTo>
                  <a:lnTo>
                    <a:pt x="4958144" y="1968500"/>
                  </a:lnTo>
                  <a:lnTo>
                    <a:pt x="4955837" y="1955800"/>
                  </a:lnTo>
                  <a:close/>
                </a:path>
                <a:path w="5217159" h="2832100">
                  <a:moveTo>
                    <a:pt x="4836003" y="1841500"/>
                  </a:moveTo>
                  <a:lnTo>
                    <a:pt x="4446418" y="1841500"/>
                  </a:lnTo>
                  <a:lnTo>
                    <a:pt x="4397454" y="1854200"/>
                  </a:lnTo>
                  <a:lnTo>
                    <a:pt x="4304326" y="1879600"/>
                  </a:lnTo>
                  <a:lnTo>
                    <a:pt x="4260465" y="1905000"/>
                  </a:lnTo>
                  <a:lnTo>
                    <a:pt x="4218608" y="1917700"/>
                  </a:lnTo>
                  <a:lnTo>
                    <a:pt x="4178907" y="1943100"/>
                  </a:lnTo>
                  <a:lnTo>
                    <a:pt x="4141512" y="1968500"/>
                  </a:lnTo>
                  <a:lnTo>
                    <a:pt x="4106575" y="1993900"/>
                  </a:lnTo>
                  <a:lnTo>
                    <a:pt x="4074247" y="2032000"/>
                  </a:lnTo>
                  <a:lnTo>
                    <a:pt x="4044680" y="2057400"/>
                  </a:lnTo>
                  <a:lnTo>
                    <a:pt x="4018025" y="2095500"/>
                  </a:lnTo>
                  <a:lnTo>
                    <a:pt x="3994433" y="2120900"/>
                  </a:lnTo>
                  <a:lnTo>
                    <a:pt x="3974055" y="2159000"/>
                  </a:lnTo>
                  <a:lnTo>
                    <a:pt x="3957043" y="2197100"/>
                  </a:lnTo>
                  <a:lnTo>
                    <a:pt x="3943548" y="2235200"/>
                  </a:lnTo>
                  <a:lnTo>
                    <a:pt x="3933722" y="2273300"/>
                  </a:lnTo>
                  <a:lnTo>
                    <a:pt x="3927715" y="2311400"/>
                  </a:lnTo>
                  <a:lnTo>
                    <a:pt x="3925679" y="2362200"/>
                  </a:lnTo>
                  <a:lnTo>
                    <a:pt x="3928750" y="2413000"/>
                  </a:lnTo>
                  <a:lnTo>
                    <a:pt x="3937857" y="2463800"/>
                  </a:lnTo>
                  <a:lnTo>
                    <a:pt x="3952844" y="2501900"/>
                  </a:lnTo>
                  <a:lnTo>
                    <a:pt x="3973553" y="2552700"/>
                  </a:lnTo>
                  <a:lnTo>
                    <a:pt x="3999825" y="2603500"/>
                  </a:lnTo>
                  <a:lnTo>
                    <a:pt x="4031503" y="2641600"/>
                  </a:lnTo>
                  <a:lnTo>
                    <a:pt x="4068431" y="2679700"/>
                  </a:lnTo>
                  <a:lnTo>
                    <a:pt x="4096164" y="2679700"/>
                  </a:lnTo>
                  <a:lnTo>
                    <a:pt x="4110946" y="2667000"/>
                  </a:lnTo>
                  <a:lnTo>
                    <a:pt x="4257360" y="2667000"/>
                  </a:lnTo>
                  <a:lnTo>
                    <a:pt x="4169459" y="2590800"/>
                  </a:lnTo>
                  <a:lnTo>
                    <a:pt x="4163173" y="2590800"/>
                  </a:lnTo>
                  <a:lnTo>
                    <a:pt x="4161079" y="2578100"/>
                  </a:lnTo>
                  <a:lnTo>
                    <a:pt x="4163176" y="2578100"/>
                  </a:lnTo>
                  <a:lnTo>
                    <a:pt x="4169459" y="2565400"/>
                  </a:lnTo>
                  <a:lnTo>
                    <a:pt x="4208588" y="2540000"/>
                  </a:lnTo>
                  <a:lnTo>
                    <a:pt x="4194840" y="2514600"/>
                  </a:lnTo>
                  <a:lnTo>
                    <a:pt x="4182824" y="2489200"/>
                  </a:lnTo>
                  <a:lnTo>
                    <a:pt x="4172561" y="2476500"/>
                  </a:lnTo>
                  <a:lnTo>
                    <a:pt x="4164070" y="2451100"/>
                  </a:lnTo>
                  <a:lnTo>
                    <a:pt x="4093919" y="2451100"/>
                  </a:lnTo>
                  <a:lnTo>
                    <a:pt x="4083188" y="2438400"/>
                  </a:lnTo>
                  <a:lnTo>
                    <a:pt x="4080169" y="2438400"/>
                  </a:lnTo>
                  <a:lnTo>
                    <a:pt x="4080281" y="2286000"/>
                  </a:lnTo>
                  <a:lnTo>
                    <a:pt x="4082530" y="2273300"/>
                  </a:lnTo>
                  <a:lnTo>
                    <a:pt x="4097760" y="2273300"/>
                  </a:lnTo>
                  <a:lnTo>
                    <a:pt x="4108900" y="2260600"/>
                  </a:lnTo>
                  <a:lnTo>
                    <a:pt x="4164070" y="2260600"/>
                  </a:lnTo>
                  <a:lnTo>
                    <a:pt x="4172561" y="2247900"/>
                  </a:lnTo>
                  <a:lnTo>
                    <a:pt x="4182824" y="2222500"/>
                  </a:lnTo>
                  <a:lnTo>
                    <a:pt x="4194840" y="2197100"/>
                  </a:lnTo>
                  <a:lnTo>
                    <a:pt x="4208588" y="2184400"/>
                  </a:lnTo>
                  <a:lnTo>
                    <a:pt x="4164307" y="2146300"/>
                  </a:lnTo>
                  <a:lnTo>
                    <a:pt x="4161287" y="2146300"/>
                  </a:lnTo>
                  <a:lnTo>
                    <a:pt x="4161287" y="2133600"/>
                  </a:lnTo>
                  <a:lnTo>
                    <a:pt x="4164307" y="2120900"/>
                  </a:lnTo>
                  <a:lnTo>
                    <a:pt x="4296257" y="2019300"/>
                  </a:lnTo>
                  <a:lnTo>
                    <a:pt x="4482999" y="2019300"/>
                  </a:lnTo>
                  <a:lnTo>
                    <a:pt x="4482999" y="1968500"/>
                  </a:lnTo>
                  <a:lnTo>
                    <a:pt x="4485250" y="1968500"/>
                  </a:lnTo>
                  <a:lnTo>
                    <a:pt x="4491385" y="1955800"/>
                  </a:lnTo>
                  <a:lnTo>
                    <a:pt x="4955837" y="1955800"/>
                  </a:lnTo>
                  <a:lnTo>
                    <a:pt x="4958144" y="1930400"/>
                  </a:lnTo>
                  <a:lnTo>
                    <a:pt x="4964924" y="1917700"/>
                  </a:lnTo>
                  <a:lnTo>
                    <a:pt x="4975961" y="1905000"/>
                  </a:lnTo>
                  <a:lnTo>
                    <a:pt x="4991041" y="1879600"/>
                  </a:lnTo>
                  <a:lnTo>
                    <a:pt x="5009385" y="1879600"/>
                  </a:lnTo>
                  <a:lnTo>
                    <a:pt x="5030014" y="1866900"/>
                  </a:lnTo>
                  <a:lnTo>
                    <a:pt x="4849719" y="1866900"/>
                  </a:lnTo>
                  <a:lnTo>
                    <a:pt x="4839065" y="1854200"/>
                  </a:lnTo>
                  <a:lnTo>
                    <a:pt x="4836003" y="1854200"/>
                  </a:lnTo>
                  <a:lnTo>
                    <a:pt x="4836003" y="1841500"/>
                  </a:lnTo>
                  <a:close/>
                </a:path>
                <a:path w="5217159" h="2832100">
                  <a:moveTo>
                    <a:pt x="4668305" y="2667000"/>
                  </a:moveTo>
                  <a:lnTo>
                    <a:pt x="4533879" y="2667000"/>
                  </a:lnTo>
                  <a:lnTo>
                    <a:pt x="4538561" y="2679700"/>
                  </a:lnTo>
                  <a:lnTo>
                    <a:pt x="4663627" y="2679700"/>
                  </a:lnTo>
                  <a:lnTo>
                    <a:pt x="4668305" y="2667000"/>
                  </a:lnTo>
                  <a:close/>
                </a:path>
                <a:path w="5217159" h="2832100">
                  <a:moveTo>
                    <a:pt x="4684555" y="2654300"/>
                  </a:moveTo>
                  <a:lnTo>
                    <a:pt x="4517633" y="2654300"/>
                  </a:lnTo>
                  <a:lnTo>
                    <a:pt x="4526726" y="2667000"/>
                  </a:lnTo>
                  <a:lnTo>
                    <a:pt x="4675457" y="2667000"/>
                  </a:lnTo>
                  <a:lnTo>
                    <a:pt x="4684555" y="2654300"/>
                  </a:lnTo>
                  <a:close/>
                </a:path>
                <a:path w="5217159" h="2832100">
                  <a:moveTo>
                    <a:pt x="4815377" y="2616200"/>
                  </a:moveTo>
                  <a:lnTo>
                    <a:pt x="4386812" y="2616200"/>
                  </a:lnTo>
                  <a:lnTo>
                    <a:pt x="4417633" y="2628900"/>
                  </a:lnTo>
                  <a:lnTo>
                    <a:pt x="4449787" y="2641600"/>
                  </a:lnTo>
                  <a:lnTo>
                    <a:pt x="4483158" y="2654300"/>
                  </a:lnTo>
                  <a:lnTo>
                    <a:pt x="4719030" y="2654300"/>
                  </a:lnTo>
                  <a:lnTo>
                    <a:pt x="4752402" y="2641600"/>
                  </a:lnTo>
                  <a:lnTo>
                    <a:pt x="4784556" y="2628900"/>
                  </a:lnTo>
                  <a:lnTo>
                    <a:pt x="4815377" y="2616200"/>
                  </a:lnTo>
                  <a:close/>
                </a:path>
                <a:path w="5217159" h="2832100">
                  <a:moveTo>
                    <a:pt x="4937212" y="2552700"/>
                  </a:moveTo>
                  <a:lnTo>
                    <a:pt x="4264977" y="2552700"/>
                  </a:lnTo>
                  <a:lnTo>
                    <a:pt x="4230164" y="2578100"/>
                  </a:lnTo>
                  <a:lnTo>
                    <a:pt x="4316190" y="2641600"/>
                  </a:lnTo>
                  <a:lnTo>
                    <a:pt x="4351037" y="2616200"/>
                  </a:lnTo>
                  <a:lnTo>
                    <a:pt x="4920409" y="2616200"/>
                  </a:lnTo>
                  <a:lnTo>
                    <a:pt x="4972024" y="2578100"/>
                  </a:lnTo>
                  <a:lnTo>
                    <a:pt x="4937212" y="2552700"/>
                  </a:lnTo>
                  <a:close/>
                </a:path>
                <a:path w="5217159" h="2832100">
                  <a:moveTo>
                    <a:pt x="4920409" y="2616200"/>
                  </a:moveTo>
                  <a:lnTo>
                    <a:pt x="4851152" y="2616200"/>
                  </a:lnTo>
                  <a:lnTo>
                    <a:pt x="4885998" y="2641600"/>
                  </a:lnTo>
                  <a:lnTo>
                    <a:pt x="4920409" y="2616200"/>
                  </a:lnTo>
                  <a:close/>
                </a:path>
                <a:path w="5217159" h="2832100">
                  <a:moveTo>
                    <a:pt x="4601100" y="2171700"/>
                  </a:moveTo>
                  <a:lnTo>
                    <a:pt x="4273200" y="2171700"/>
                  </a:lnTo>
                  <a:lnTo>
                    <a:pt x="4272615" y="2184400"/>
                  </a:lnTo>
                  <a:lnTo>
                    <a:pt x="4268778" y="2184400"/>
                  </a:lnTo>
                  <a:lnTo>
                    <a:pt x="4250770" y="2209800"/>
                  </a:lnTo>
                  <a:lnTo>
                    <a:pt x="4235700" y="2235200"/>
                  </a:lnTo>
                  <a:lnTo>
                    <a:pt x="4223616" y="2260600"/>
                  </a:lnTo>
                  <a:lnTo>
                    <a:pt x="4214569" y="2298700"/>
                  </a:lnTo>
                  <a:lnTo>
                    <a:pt x="4210896" y="2298700"/>
                  </a:lnTo>
                  <a:lnTo>
                    <a:pt x="4204573" y="2311400"/>
                  </a:lnTo>
                  <a:lnTo>
                    <a:pt x="4137497" y="2311400"/>
                  </a:lnTo>
                  <a:lnTo>
                    <a:pt x="4137430" y="2400300"/>
                  </a:lnTo>
                  <a:lnTo>
                    <a:pt x="4186586" y="2400300"/>
                  </a:lnTo>
                  <a:lnTo>
                    <a:pt x="4196252" y="2413000"/>
                  </a:lnTo>
                  <a:lnTo>
                    <a:pt x="4210896" y="2413000"/>
                  </a:lnTo>
                  <a:lnTo>
                    <a:pt x="4223616" y="2451100"/>
                  </a:lnTo>
                  <a:lnTo>
                    <a:pt x="4250770" y="2501900"/>
                  </a:lnTo>
                  <a:lnTo>
                    <a:pt x="4268778" y="2527300"/>
                  </a:lnTo>
                  <a:lnTo>
                    <a:pt x="4272615" y="2527300"/>
                  </a:lnTo>
                  <a:lnTo>
                    <a:pt x="4273200" y="2540000"/>
                  </a:lnTo>
                  <a:lnTo>
                    <a:pt x="4270624" y="2552700"/>
                  </a:lnTo>
                  <a:lnTo>
                    <a:pt x="4931565" y="2552700"/>
                  </a:lnTo>
                  <a:lnTo>
                    <a:pt x="4928989" y="2540000"/>
                  </a:lnTo>
                  <a:lnTo>
                    <a:pt x="4546942" y="2540000"/>
                  </a:lnTo>
                  <a:lnTo>
                    <a:pt x="4497192" y="2527300"/>
                  </a:lnTo>
                  <a:lnTo>
                    <a:pt x="4453280" y="2501900"/>
                  </a:lnTo>
                  <a:lnTo>
                    <a:pt x="4416637" y="2476500"/>
                  </a:lnTo>
                  <a:lnTo>
                    <a:pt x="4388692" y="2438400"/>
                  </a:lnTo>
                  <a:lnTo>
                    <a:pt x="4370876" y="2400300"/>
                  </a:lnTo>
                  <a:lnTo>
                    <a:pt x="4364620" y="2362200"/>
                  </a:lnTo>
                  <a:lnTo>
                    <a:pt x="4370876" y="2311400"/>
                  </a:lnTo>
                  <a:lnTo>
                    <a:pt x="4388692" y="2273300"/>
                  </a:lnTo>
                  <a:lnTo>
                    <a:pt x="4416637" y="2247900"/>
                  </a:lnTo>
                  <a:lnTo>
                    <a:pt x="4453280" y="2209800"/>
                  </a:lnTo>
                  <a:lnTo>
                    <a:pt x="4497192" y="2197100"/>
                  </a:lnTo>
                  <a:lnTo>
                    <a:pt x="4546942" y="2184400"/>
                  </a:lnTo>
                  <a:lnTo>
                    <a:pt x="4601100" y="2171700"/>
                  </a:lnTo>
                  <a:close/>
                </a:path>
                <a:path w="5217159" h="2832100">
                  <a:moveTo>
                    <a:pt x="4928985" y="2171700"/>
                  </a:moveTo>
                  <a:lnTo>
                    <a:pt x="4601100" y="2171700"/>
                  </a:lnTo>
                  <a:lnTo>
                    <a:pt x="4655258" y="2184400"/>
                  </a:lnTo>
                  <a:lnTo>
                    <a:pt x="4705007" y="2197100"/>
                  </a:lnTo>
                  <a:lnTo>
                    <a:pt x="4748919" y="2209800"/>
                  </a:lnTo>
                  <a:lnTo>
                    <a:pt x="4785563" y="2247900"/>
                  </a:lnTo>
                  <a:lnTo>
                    <a:pt x="4813507" y="2273300"/>
                  </a:lnTo>
                  <a:lnTo>
                    <a:pt x="4831323" y="2311400"/>
                  </a:lnTo>
                  <a:lnTo>
                    <a:pt x="4837579" y="2362200"/>
                  </a:lnTo>
                  <a:lnTo>
                    <a:pt x="4831323" y="2400300"/>
                  </a:lnTo>
                  <a:lnTo>
                    <a:pt x="4813507" y="2438400"/>
                  </a:lnTo>
                  <a:lnTo>
                    <a:pt x="4785563" y="2476500"/>
                  </a:lnTo>
                  <a:lnTo>
                    <a:pt x="4748919" y="2501900"/>
                  </a:lnTo>
                  <a:lnTo>
                    <a:pt x="4705007" y="2527300"/>
                  </a:lnTo>
                  <a:lnTo>
                    <a:pt x="4655258" y="2540000"/>
                  </a:lnTo>
                  <a:lnTo>
                    <a:pt x="4928989" y="2540000"/>
                  </a:lnTo>
                  <a:lnTo>
                    <a:pt x="4929574" y="2527300"/>
                  </a:lnTo>
                  <a:lnTo>
                    <a:pt x="4933410" y="2527300"/>
                  </a:lnTo>
                  <a:lnTo>
                    <a:pt x="4951419" y="2501900"/>
                  </a:lnTo>
                  <a:lnTo>
                    <a:pt x="4966489" y="2476500"/>
                  </a:lnTo>
                  <a:lnTo>
                    <a:pt x="4978573" y="2451100"/>
                  </a:lnTo>
                  <a:lnTo>
                    <a:pt x="4987620" y="2425700"/>
                  </a:lnTo>
                  <a:lnTo>
                    <a:pt x="4991292" y="2413000"/>
                  </a:lnTo>
                  <a:lnTo>
                    <a:pt x="5005937" y="2413000"/>
                  </a:lnTo>
                  <a:lnTo>
                    <a:pt x="5015603" y="2400300"/>
                  </a:lnTo>
                  <a:lnTo>
                    <a:pt x="5064780" y="2400300"/>
                  </a:lnTo>
                  <a:lnTo>
                    <a:pt x="5064780" y="2311400"/>
                  </a:lnTo>
                  <a:lnTo>
                    <a:pt x="4997611" y="2311400"/>
                  </a:lnTo>
                  <a:lnTo>
                    <a:pt x="4991288" y="2298700"/>
                  </a:lnTo>
                  <a:lnTo>
                    <a:pt x="4987620" y="2298700"/>
                  </a:lnTo>
                  <a:lnTo>
                    <a:pt x="4978568" y="2260600"/>
                  </a:lnTo>
                  <a:lnTo>
                    <a:pt x="4966485" y="2235200"/>
                  </a:lnTo>
                  <a:lnTo>
                    <a:pt x="4951417" y="2209800"/>
                  </a:lnTo>
                  <a:lnTo>
                    <a:pt x="4933410" y="2184400"/>
                  </a:lnTo>
                  <a:lnTo>
                    <a:pt x="4929572" y="2184400"/>
                  </a:lnTo>
                  <a:lnTo>
                    <a:pt x="4928985" y="2171700"/>
                  </a:lnTo>
                  <a:close/>
                </a:path>
                <a:path w="5217159" h="2832100">
                  <a:moveTo>
                    <a:pt x="4657695" y="2222500"/>
                  </a:moveTo>
                  <a:lnTo>
                    <a:pt x="4544505" y="2222500"/>
                  </a:lnTo>
                  <a:lnTo>
                    <a:pt x="4495309" y="2247900"/>
                  </a:lnTo>
                  <a:lnTo>
                    <a:pt x="4456486" y="2273300"/>
                  </a:lnTo>
                  <a:lnTo>
                    <a:pt x="4431011" y="2311400"/>
                  </a:lnTo>
                  <a:lnTo>
                    <a:pt x="4421859" y="2362200"/>
                  </a:lnTo>
                  <a:lnTo>
                    <a:pt x="4431011" y="2400300"/>
                  </a:lnTo>
                  <a:lnTo>
                    <a:pt x="4456486" y="2438400"/>
                  </a:lnTo>
                  <a:lnTo>
                    <a:pt x="4495309" y="2476500"/>
                  </a:lnTo>
                  <a:lnTo>
                    <a:pt x="4544505" y="2489200"/>
                  </a:lnTo>
                  <a:lnTo>
                    <a:pt x="4601100" y="2501900"/>
                  </a:lnTo>
                  <a:lnTo>
                    <a:pt x="4657695" y="2489200"/>
                  </a:lnTo>
                  <a:lnTo>
                    <a:pt x="4706891" y="2476500"/>
                  </a:lnTo>
                  <a:lnTo>
                    <a:pt x="4745713" y="2438400"/>
                  </a:lnTo>
                  <a:lnTo>
                    <a:pt x="4771188" y="2400300"/>
                  </a:lnTo>
                  <a:lnTo>
                    <a:pt x="4780340" y="2362200"/>
                  </a:lnTo>
                  <a:lnTo>
                    <a:pt x="4771188" y="2311400"/>
                  </a:lnTo>
                  <a:lnTo>
                    <a:pt x="4745713" y="2273300"/>
                  </a:lnTo>
                  <a:lnTo>
                    <a:pt x="4706891" y="2247900"/>
                  </a:lnTo>
                  <a:lnTo>
                    <a:pt x="4657695" y="2222500"/>
                  </a:lnTo>
                  <a:close/>
                </a:path>
                <a:path w="5217159" h="2832100">
                  <a:moveTo>
                    <a:pt x="4316482" y="2070100"/>
                  </a:moveTo>
                  <a:lnTo>
                    <a:pt x="4230387" y="2133600"/>
                  </a:lnTo>
                  <a:lnTo>
                    <a:pt x="4264977" y="2159000"/>
                  </a:lnTo>
                  <a:lnTo>
                    <a:pt x="4270624" y="2171700"/>
                  </a:lnTo>
                  <a:lnTo>
                    <a:pt x="4931560" y="2171700"/>
                  </a:lnTo>
                  <a:lnTo>
                    <a:pt x="4937212" y="2159000"/>
                  </a:lnTo>
                  <a:lnTo>
                    <a:pt x="4971801" y="2133600"/>
                  </a:lnTo>
                  <a:lnTo>
                    <a:pt x="4937363" y="2108200"/>
                  </a:lnTo>
                  <a:lnTo>
                    <a:pt x="4368253" y="2108200"/>
                  </a:lnTo>
                  <a:lnTo>
                    <a:pt x="4359060" y="2095500"/>
                  </a:lnTo>
                  <a:lnTo>
                    <a:pt x="4351037" y="2095500"/>
                  </a:lnTo>
                  <a:lnTo>
                    <a:pt x="4316482" y="2070100"/>
                  </a:lnTo>
                  <a:close/>
                </a:path>
                <a:path w="5217159" h="2832100">
                  <a:moveTo>
                    <a:pt x="4824402" y="2095500"/>
                  </a:moveTo>
                  <a:lnTo>
                    <a:pt x="4377782" y="2095500"/>
                  </a:lnTo>
                  <a:lnTo>
                    <a:pt x="4368253" y="2108200"/>
                  </a:lnTo>
                  <a:lnTo>
                    <a:pt x="4833929" y="2108200"/>
                  </a:lnTo>
                  <a:lnTo>
                    <a:pt x="4824402" y="2095500"/>
                  </a:lnTo>
                  <a:close/>
                </a:path>
                <a:path w="5217159" h="2832100">
                  <a:moveTo>
                    <a:pt x="4885707" y="2070100"/>
                  </a:moveTo>
                  <a:lnTo>
                    <a:pt x="4851140" y="2095500"/>
                  </a:lnTo>
                  <a:lnTo>
                    <a:pt x="4843122" y="2095500"/>
                  </a:lnTo>
                  <a:lnTo>
                    <a:pt x="4833929" y="2108200"/>
                  </a:lnTo>
                  <a:lnTo>
                    <a:pt x="4937363" y="2108200"/>
                  </a:lnTo>
                  <a:lnTo>
                    <a:pt x="4885707" y="2070100"/>
                  </a:lnTo>
                  <a:close/>
                </a:path>
                <a:path w="5217159" h="2832100">
                  <a:moveTo>
                    <a:pt x="4719031" y="2057400"/>
                  </a:moveTo>
                  <a:lnTo>
                    <a:pt x="4483152" y="2057400"/>
                  </a:lnTo>
                  <a:lnTo>
                    <a:pt x="4449779" y="2070100"/>
                  </a:lnTo>
                  <a:lnTo>
                    <a:pt x="4417627" y="2082800"/>
                  </a:lnTo>
                  <a:lnTo>
                    <a:pt x="4386812" y="2095500"/>
                  </a:lnTo>
                  <a:lnTo>
                    <a:pt x="4815377" y="2095500"/>
                  </a:lnTo>
                  <a:lnTo>
                    <a:pt x="4784560" y="2082800"/>
                  </a:lnTo>
                  <a:lnTo>
                    <a:pt x="4752406" y="2070100"/>
                  </a:lnTo>
                  <a:lnTo>
                    <a:pt x="4719031" y="2057400"/>
                  </a:lnTo>
                  <a:close/>
                </a:path>
                <a:path w="5217159" h="2832100">
                  <a:moveTo>
                    <a:pt x="4455101" y="2019300"/>
                  </a:moveTo>
                  <a:lnTo>
                    <a:pt x="4336727" y="2019300"/>
                  </a:lnTo>
                  <a:lnTo>
                    <a:pt x="4375598" y="2057400"/>
                  </a:lnTo>
                  <a:lnTo>
                    <a:pt x="4401352" y="2044700"/>
                  </a:lnTo>
                  <a:lnTo>
                    <a:pt x="4427869" y="2032000"/>
                  </a:lnTo>
                  <a:lnTo>
                    <a:pt x="4455101" y="2019300"/>
                  </a:lnTo>
                  <a:close/>
                </a:path>
                <a:path w="5217159" h="2832100">
                  <a:moveTo>
                    <a:pt x="4668305" y="2044700"/>
                  </a:moveTo>
                  <a:lnTo>
                    <a:pt x="4533879" y="2044700"/>
                  </a:lnTo>
                  <a:lnTo>
                    <a:pt x="4526726" y="2057400"/>
                  </a:lnTo>
                  <a:lnTo>
                    <a:pt x="4675457" y="2057400"/>
                  </a:lnTo>
                  <a:lnTo>
                    <a:pt x="4668305" y="2044700"/>
                  </a:lnTo>
                  <a:close/>
                </a:path>
                <a:path w="5217159" h="2832100">
                  <a:moveTo>
                    <a:pt x="4865461" y="2019300"/>
                  </a:moveTo>
                  <a:lnTo>
                    <a:pt x="4747093" y="2019300"/>
                  </a:lnTo>
                  <a:lnTo>
                    <a:pt x="4774329" y="2032000"/>
                  </a:lnTo>
                  <a:lnTo>
                    <a:pt x="4800847" y="2044700"/>
                  </a:lnTo>
                  <a:lnTo>
                    <a:pt x="4826601" y="2057400"/>
                  </a:lnTo>
                  <a:lnTo>
                    <a:pt x="4865461" y="2019300"/>
                  </a:lnTo>
                  <a:close/>
                </a:path>
                <a:path w="5217159" h="2832100">
                  <a:moveTo>
                    <a:pt x="5216533" y="1790700"/>
                  </a:moveTo>
                  <a:lnTo>
                    <a:pt x="4710936" y="1790700"/>
                  </a:lnTo>
                  <a:lnTo>
                    <a:pt x="4746948" y="1803400"/>
                  </a:lnTo>
                  <a:lnTo>
                    <a:pt x="4765123" y="1803400"/>
                  </a:lnTo>
                  <a:lnTo>
                    <a:pt x="4769332" y="1816100"/>
                  </a:lnTo>
                  <a:lnTo>
                    <a:pt x="4769330" y="1828800"/>
                  </a:lnTo>
                  <a:lnTo>
                    <a:pt x="4879536" y="1828800"/>
                  </a:lnTo>
                  <a:lnTo>
                    <a:pt x="4890190" y="1841500"/>
                  </a:lnTo>
                  <a:lnTo>
                    <a:pt x="4893241" y="1841500"/>
                  </a:lnTo>
                  <a:lnTo>
                    <a:pt x="4893241" y="1854200"/>
                  </a:lnTo>
                  <a:lnTo>
                    <a:pt x="5099671" y="1854200"/>
                  </a:lnTo>
                  <a:lnTo>
                    <a:pt x="5122063" y="1866900"/>
                  </a:lnTo>
                  <a:lnTo>
                    <a:pt x="5142691" y="1879600"/>
                  </a:lnTo>
                  <a:lnTo>
                    <a:pt x="5161036" y="1879600"/>
                  </a:lnTo>
                  <a:lnTo>
                    <a:pt x="5185121" y="1917700"/>
                  </a:lnTo>
                  <a:lnTo>
                    <a:pt x="5195653" y="1943100"/>
                  </a:lnTo>
                  <a:lnTo>
                    <a:pt x="5192634" y="1968500"/>
                  </a:lnTo>
                  <a:lnTo>
                    <a:pt x="5176071" y="2006600"/>
                  </a:lnTo>
                  <a:lnTo>
                    <a:pt x="5216533" y="2057400"/>
                  </a:lnTo>
                  <a:lnTo>
                    <a:pt x="5216533" y="1790700"/>
                  </a:lnTo>
                  <a:close/>
                </a:path>
                <a:path w="5217159" h="2832100">
                  <a:moveTo>
                    <a:pt x="4661950" y="1993900"/>
                  </a:moveTo>
                  <a:lnTo>
                    <a:pt x="4540239" y="1993900"/>
                  </a:lnTo>
                  <a:lnTo>
                    <a:pt x="4540239" y="2032000"/>
                  </a:lnTo>
                  <a:lnTo>
                    <a:pt x="4538561" y="2044700"/>
                  </a:lnTo>
                  <a:lnTo>
                    <a:pt x="4663627" y="2044700"/>
                  </a:lnTo>
                  <a:lnTo>
                    <a:pt x="4661950" y="2032000"/>
                  </a:lnTo>
                  <a:lnTo>
                    <a:pt x="4661950" y="1993900"/>
                  </a:lnTo>
                  <a:close/>
                </a:path>
                <a:path w="5217159" h="2832100">
                  <a:moveTo>
                    <a:pt x="5133769" y="2032000"/>
                  </a:moveTo>
                  <a:lnTo>
                    <a:pt x="5120252" y="2044700"/>
                  </a:lnTo>
                  <a:lnTo>
                    <a:pt x="5142165" y="2044700"/>
                  </a:lnTo>
                  <a:lnTo>
                    <a:pt x="5133769" y="2032000"/>
                  </a:lnTo>
                  <a:close/>
                </a:path>
                <a:path w="5217159" h="2832100">
                  <a:moveTo>
                    <a:pt x="5088416" y="1993900"/>
                  </a:moveTo>
                  <a:lnTo>
                    <a:pt x="5063656" y="1993900"/>
                  </a:lnTo>
                  <a:lnTo>
                    <a:pt x="5076038" y="2006600"/>
                  </a:lnTo>
                  <a:lnTo>
                    <a:pt x="5088416" y="1993900"/>
                  </a:lnTo>
                  <a:close/>
                </a:path>
                <a:path w="5217159" h="2832100">
                  <a:moveTo>
                    <a:pt x="5110955" y="1905000"/>
                  </a:moveTo>
                  <a:lnTo>
                    <a:pt x="5041126" y="1905000"/>
                  </a:lnTo>
                  <a:lnTo>
                    <a:pt x="5031521" y="1917700"/>
                  </a:lnTo>
                  <a:lnTo>
                    <a:pt x="5023621" y="1930400"/>
                  </a:lnTo>
                  <a:lnTo>
                    <a:pt x="5017837" y="1930400"/>
                  </a:lnTo>
                  <a:lnTo>
                    <a:pt x="5014284" y="1943100"/>
                  </a:lnTo>
                  <a:lnTo>
                    <a:pt x="5013074" y="1955800"/>
                  </a:lnTo>
                  <a:lnTo>
                    <a:pt x="5014284" y="1955800"/>
                  </a:lnTo>
                  <a:lnTo>
                    <a:pt x="5017837" y="1968500"/>
                  </a:lnTo>
                  <a:lnTo>
                    <a:pt x="5023621" y="1981200"/>
                  </a:lnTo>
                  <a:lnTo>
                    <a:pt x="5031521" y="1981200"/>
                  </a:lnTo>
                  <a:lnTo>
                    <a:pt x="5041125" y="1993900"/>
                  </a:lnTo>
                  <a:lnTo>
                    <a:pt x="5110955" y="1993900"/>
                  </a:lnTo>
                  <a:lnTo>
                    <a:pt x="5120566" y="1981200"/>
                  </a:lnTo>
                  <a:lnTo>
                    <a:pt x="5134369" y="1968500"/>
                  </a:lnTo>
                  <a:lnTo>
                    <a:pt x="5138970" y="1955800"/>
                  </a:lnTo>
                  <a:lnTo>
                    <a:pt x="5134369" y="1930400"/>
                  </a:lnTo>
                  <a:lnTo>
                    <a:pt x="5120566" y="1917700"/>
                  </a:lnTo>
                  <a:lnTo>
                    <a:pt x="5110955" y="1905000"/>
                  </a:lnTo>
                  <a:close/>
                </a:path>
                <a:path w="5217159" h="2832100">
                  <a:moveTo>
                    <a:pt x="5052405" y="1854200"/>
                  </a:moveTo>
                  <a:lnTo>
                    <a:pt x="4890178" y="1854200"/>
                  </a:lnTo>
                  <a:lnTo>
                    <a:pt x="4879536" y="1866900"/>
                  </a:lnTo>
                  <a:lnTo>
                    <a:pt x="5030014" y="1866900"/>
                  </a:lnTo>
                  <a:lnTo>
                    <a:pt x="5052405" y="1854200"/>
                  </a:lnTo>
                  <a:close/>
                </a:path>
                <a:path w="5217159" h="2832100">
                  <a:moveTo>
                    <a:pt x="4668842" y="1828800"/>
                  </a:moveTo>
                  <a:lnTo>
                    <a:pt x="4548393" y="1828800"/>
                  </a:lnTo>
                  <a:lnTo>
                    <a:pt x="4496782" y="1841500"/>
                  </a:lnTo>
                  <a:lnTo>
                    <a:pt x="4702407" y="1841500"/>
                  </a:lnTo>
                  <a:lnTo>
                    <a:pt x="4668842" y="1828800"/>
                  </a:lnTo>
                  <a:close/>
                </a:path>
                <a:path w="5217159" h="2832100">
                  <a:moveTo>
                    <a:pt x="4849719" y="1828800"/>
                  </a:moveTo>
                  <a:lnTo>
                    <a:pt x="4764916" y="1828800"/>
                  </a:lnTo>
                  <a:lnTo>
                    <a:pt x="4757099" y="1841500"/>
                  </a:lnTo>
                  <a:lnTo>
                    <a:pt x="4839065" y="1841500"/>
                  </a:lnTo>
                  <a:lnTo>
                    <a:pt x="4849719" y="182880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171835" y="360171"/>
            <a:ext cx="3876040" cy="897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25" dirty="0">
                <a:latin typeface="Arial"/>
                <a:cs typeface="Arial"/>
              </a:rPr>
              <a:t>Ejemplo: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75" dirty="0">
                <a:latin typeface="Arial"/>
                <a:cs typeface="Arial"/>
              </a:rPr>
              <a:t>Datos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Iris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45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25" dirty="0">
                <a:latin typeface="Arial"/>
                <a:cs typeface="Arial"/>
              </a:rPr>
              <a:t>Aplicación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método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60" dirty="0">
                <a:latin typeface="Arial"/>
                <a:cs typeface="Arial"/>
              </a:rPr>
              <a:t>CAIM</a:t>
            </a:r>
            <a:endParaRPr sz="280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964185" y="1851846"/>
          <a:ext cx="3279775" cy="2734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1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2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64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[[1]]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31750">
                        <a:lnSpc>
                          <a:spcPts val="1845"/>
                        </a:lnSpc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[1]</a:t>
                      </a:r>
                      <a:r>
                        <a:rPr sz="1800" b="1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20" dirty="0">
                          <a:latin typeface="Courier New"/>
                          <a:cs typeface="Courier New"/>
                        </a:rPr>
                        <a:t>4.30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45"/>
                        </a:lnSpc>
                      </a:pPr>
                      <a:r>
                        <a:rPr sz="1800" b="1" spc="-20" dirty="0">
                          <a:latin typeface="Courier New"/>
                          <a:cs typeface="Courier New"/>
                        </a:rPr>
                        <a:t>5.55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45"/>
                        </a:lnSpc>
                      </a:pPr>
                      <a:r>
                        <a:rPr sz="1800" b="1" spc="-20" dirty="0">
                          <a:latin typeface="Courier New"/>
                          <a:cs typeface="Courier New"/>
                        </a:rPr>
                        <a:t>6.25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ts val="1845"/>
                        </a:lnSpc>
                      </a:pPr>
                      <a:r>
                        <a:rPr sz="1800" b="1" spc="-20" dirty="0">
                          <a:latin typeface="Courier New"/>
                          <a:cs typeface="Courier New"/>
                        </a:rPr>
                        <a:t>7.90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4060">
                <a:tc>
                  <a:txBody>
                    <a:bodyPr/>
                    <a:lstStyle/>
                    <a:p>
                      <a:pPr marL="31750">
                        <a:lnSpc>
                          <a:spcPts val="2030"/>
                        </a:lnSpc>
                        <a:spcBef>
                          <a:spcPts val="1545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[[2]]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31750">
                        <a:lnSpc>
                          <a:spcPts val="2030"/>
                        </a:lnSpc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[1]</a:t>
                      </a:r>
                      <a:r>
                        <a:rPr sz="1800" b="1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20" dirty="0">
                          <a:latin typeface="Courier New"/>
                          <a:cs typeface="Courier New"/>
                        </a:rPr>
                        <a:t>2.00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62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20" dirty="0">
                          <a:latin typeface="Courier New"/>
                          <a:cs typeface="Courier New"/>
                        </a:rPr>
                        <a:t>2.95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739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20" dirty="0">
                          <a:latin typeface="Courier New"/>
                          <a:cs typeface="Courier New"/>
                        </a:rPr>
                        <a:t>3.05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739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6195" algn="ctr">
                        <a:lnSpc>
                          <a:spcPct val="100000"/>
                        </a:lnSpc>
                      </a:pPr>
                      <a:r>
                        <a:rPr sz="1800" b="1" spc="-20" dirty="0">
                          <a:latin typeface="Courier New"/>
                          <a:cs typeface="Courier New"/>
                        </a:rPr>
                        <a:t>4.40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7399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4710">
                <a:tc>
                  <a:txBody>
                    <a:bodyPr/>
                    <a:lstStyle/>
                    <a:p>
                      <a:pPr marL="31750">
                        <a:lnSpc>
                          <a:spcPts val="2030"/>
                        </a:lnSpc>
                        <a:spcBef>
                          <a:spcPts val="1570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[[3]]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31750">
                        <a:lnSpc>
                          <a:spcPts val="2030"/>
                        </a:lnSpc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[1]</a:t>
                      </a:r>
                      <a:r>
                        <a:rPr sz="1800" b="1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20" dirty="0">
                          <a:latin typeface="Courier New"/>
                          <a:cs typeface="Courier New"/>
                        </a:rPr>
                        <a:t>1.00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93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20" dirty="0">
                          <a:latin typeface="Courier New"/>
                          <a:cs typeface="Courier New"/>
                        </a:rPr>
                        <a:t>2.45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771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20" dirty="0">
                          <a:latin typeface="Courier New"/>
                          <a:cs typeface="Courier New"/>
                        </a:rPr>
                        <a:t>4.75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771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6195" algn="ctr">
                        <a:lnSpc>
                          <a:spcPct val="100000"/>
                        </a:lnSpc>
                      </a:pPr>
                      <a:r>
                        <a:rPr sz="1800" b="1" spc="-20" dirty="0">
                          <a:latin typeface="Courier New"/>
                          <a:cs typeface="Courier New"/>
                        </a:rPr>
                        <a:t>6.90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7716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[[4]]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787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31750">
                        <a:lnSpc>
                          <a:spcPts val="1845"/>
                        </a:lnSpc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[1]</a:t>
                      </a:r>
                      <a:r>
                        <a:rPr sz="1800" b="1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20" dirty="0">
                          <a:latin typeface="Courier New"/>
                          <a:cs typeface="Courier New"/>
                        </a:rPr>
                        <a:t>0.10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45"/>
                        </a:lnSpc>
                      </a:pPr>
                      <a:r>
                        <a:rPr sz="1800" b="1" spc="-20" dirty="0">
                          <a:latin typeface="Courier New"/>
                          <a:cs typeface="Courier New"/>
                        </a:rPr>
                        <a:t>0.80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45"/>
                        </a:lnSpc>
                      </a:pPr>
                      <a:r>
                        <a:rPr sz="1800" b="1" spc="-20" dirty="0">
                          <a:latin typeface="Courier New"/>
                          <a:cs typeface="Courier New"/>
                        </a:rPr>
                        <a:t>1.75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ts val="1845"/>
                        </a:lnSpc>
                      </a:pPr>
                      <a:r>
                        <a:rPr sz="1800" b="1" spc="-20" dirty="0">
                          <a:latin typeface="Courier New"/>
                          <a:cs typeface="Courier New"/>
                        </a:rPr>
                        <a:t>2.50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2268" y="118509"/>
            <a:ext cx="3148330" cy="1584325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Transformación</a:t>
            </a:r>
            <a:endParaRPr sz="4000">
              <a:latin typeface="Arial Narrow"/>
              <a:cs typeface="Arial Narrow"/>
            </a:endParaRPr>
          </a:p>
          <a:p>
            <a:pPr marL="862330" marR="140970" indent="353695">
              <a:lnSpc>
                <a:spcPct val="68600"/>
              </a:lnSpc>
              <a:spcBef>
                <a:spcPts val="180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Selección</a:t>
            </a:r>
            <a:r>
              <a:rPr sz="2800" b="1" spc="-5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de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características: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71835" y="174243"/>
            <a:ext cx="42894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10" dirty="0">
                <a:latin typeface="Arial"/>
                <a:cs typeface="Arial"/>
              </a:rPr>
              <a:t>Obtener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un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subconjunto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de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57585" y="466851"/>
            <a:ext cx="36283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35" dirty="0">
                <a:latin typeface="Arial"/>
                <a:cs typeface="Arial"/>
              </a:rPr>
              <a:t>variables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que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70" dirty="0">
                <a:latin typeface="Arial"/>
                <a:cs typeface="Arial"/>
              </a:rPr>
              <a:t>optimice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el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57585" y="771651"/>
            <a:ext cx="40640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70" dirty="0">
                <a:latin typeface="Arial"/>
                <a:cs typeface="Arial"/>
              </a:rPr>
              <a:t>rendimiento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los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modelos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71835" y="1061211"/>
            <a:ext cx="4446270" cy="225679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298450" marR="800100">
              <a:lnSpc>
                <a:spcPct val="71400"/>
              </a:lnSpc>
              <a:spcBef>
                <a:spcPts val="1060"/>
              </a:spcBef>
            </a:pPr>
            <a:r>
              <a:rPr sz="2800" spc="-145" dirty="0">
                <a:latin typeface="Arial"/>
                <a:cs typeface="Arial"/>
              </a:rPr>
              <a:t>de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inteligencia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artificial </a:t>
            </a:r>
            <a:r>
              <a:rPr sz="2800" spc="-40" dirty="0">
                <a:latin typeface="Arial"/>
                <a:cs typeface="Arial"/>
              </a:rPr>
              <a:t>aplicados</a:t>
            </a:r>
            <a:endParaRPr sz="2800">
              <a:latin typeface="Arial"/>
              <a:cs typeface="Arial"/>
            </a:endParaRPr>
          </a:p>
          <a:p>
            <a:pPr marL="298450" marR="5080" indent="-292735">
              <a:lnSpc>
                <a:spcPct val="71400"/>
              </a:lnSpc>
              <a:spcBef>
                <a:spcPts val="1105"/>
              </a:spcBef>
              <a:buSzPct val="91071"/>
              <a:buFont typeface="Apple SD Gothic Neo Light"/>
              <a:buChar char="■"/>
              <a:tabLst>
                <a:tab pos="298450" algn="l"/>
              </a:tabLst>
            </a:pPr>
            <a:r>
              <a:rPr sz="2800" spc="-220" dirty="0">
                <a:latin typeface="Arial"/>
                <a:cs typeface="Arial"/>
              </a:rPr>
              <a:t>Reduce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la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complejidad </a:t>
            </a:r>
            <a:r>
              <a:rPr sz="2800" spc="-110" dirty="0">
                <a:latin typeface="Arial"/>
                <a:cs typeface="Arial"/>
              </a:rPr>
              <a:t>computacional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del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problema</a:t>
            </a:r>
            <a:endParaRPr sz="2800">
              <a:latin typeface="Arial"/>
              <a:cs typeface="Arial"/>
            </a:endParaRPr>
          </a:p>
          <a:p>
            <a:pPr marL="298450" marR="786130" indent="-292735">
              <a:lnSpc>
                <a:spcPct val="71400"/>
              </a:lnSpc>
              <a:spcBef>
                <a:spcPts val="1105"/>
              </a:spcBef>
              <a:buSzPct val="91071"/>
              <a:buFont typeface="Apple SD Gothic Neo Light"/>
              <a:buChar char="■"/>
              <a:tabLst>
                <a:tab pos="298450" algn="l"/>
              </a:tabLst>
            </a:pPr>
            <a:r>
              <a:rPr sz="2800" spc="-80" dirty="0">
                <a:latin typeface="Arial"/>
                <a:cs typeface="Arial"/>
              </a:rPr>
              <a:t>Mejora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la </a:t>
            </a:r>
            <a:r>
              <a:rPr sz="2800" spc="-165" dirty="0">
                <a:latin typeface="Arial"/>
                <a:cs typeface="Arial"/>
              </a:rPr>
              <a:t>capacidad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55" dirty="0">
                <a:latin typeface="Arial"/>
                <a:cs typeface="Arial"/>
              </a:rPr>
              <a:t>de </a:t>
            </a:r>
            <a:r>
              <a:rPr sz="2800" spc="-75" dirty="0">
                <a:latin typeface="Arial"/>
                <a:cs typeface="Arial"/>
              </a:rPr>
              <a:t>generalización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7010" y="3637689"/>
            <a:ext cx="2544400" cy="98306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2268" y="118509"/>
            <a:ext cx="3148330" cy="1584325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Transformación</a:t>
            </a:r>
            <a:endParaRPr sz="4000">
              <a:latin typeface="Arial Narrow"/>
              <a:cs typeface="Arial Narrow"/>
            </a:endParaRPr>
          </a:p>
          <a:p>
            <a:pPr marL="862330" marR="140970" indent="353695">
              <a:lnSpc>
                <a:spcPct val="68600"/>
              </a:lnSpc>
              <a:spcBef>
                <a:spcPts val="180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Selección</a:t>
            </a:r>
            <a:r>
              <a:rPr sz="2800" b="1" spc="-5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de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características: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99536" y="2387843"/>
            <a:ext cx="5244465" cy="2705100"/>
            <a:chOff x="3899536" y="2387843"/>
            <a:chExt cx="5244465" cy="2705100"/>
          </a:xfrm>
        </p:grpSpPr>
        <p:sp>
          <p:nvSpPr>
            <p:cNvPr id="4" name="object 4"/>
            <p:cNvSpPr/>
            <p:nvPr/>
          </p:nvSpPr>
          <p:spPr>
            <a:xfrm>
              <a:off x="8254885" y="3893027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17010" y="3587133"/>
              <a:ext cx="2544400" cy="98306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899536" y="2387843"/>
              <a:ext cx="5244465" cy="2705100"/>
            </a:xfrm>
            <a:custGeom>
              <a:avLst/>
              <a:gdLst/>
              <a:ahLst/>
              <a:cxnLst/>
              <a:rect l="l" t="t" r="r" b="b"/>
              <a:pathLst>
                <a:path w="5244465" h="2705100">
                  <a:moveTo>
                    <a:pt x="5244463" y="0"/>
                  </a:moveTo>
                  <a:lnTo>
                    <a:pt x="0" y="0"/>
                  </a:lnTo>
                  <a:lnTo>
                    <a:pt x="0" y="2705100"/>
                  </a:lnTo>
                  <a:lnTo>
                    <a:pt x="4091097" y="2705100"/>
                  </a:lnTo>
                  <a:lnTo>
                    <a:pt x="4075829" y="2692400"/>
                  </a:lnTo>
                  <a:lnTo>
                    <a:pt x="4064652" y="2679700"/>
                  </a:lnTo>
                  <a:lnTo>
                    <a:pt x="4057784" y="2654300"/>
                  </a:lnTo>
                  <a:lnTo>
                    <a:pt x="4055446" y="2641600"/>
                  </a:lnTo>
                  <a:lnTo>
                    <a:pt x="4056767" y="2628900"/>
                  </a:lnTo>
                  <a:lnTo>
                    <a:pt x="4060669" y="2616200"/>
                  </a:lnTo>
                  <a:lnTo>
                    <a:pt x="4067058" y="2603500"/>
                  </a:lnTo>
                  <a:lnTo>
                    <a:pt x="4075841" y="2590800"/>
                  </a:lnTo>
                  <a:lnTo>
                    <a:pt x="4039403" y="2552700"/>
                  </a:lnTo>
                  <a:lnTo>
                    <a:pt x="4007438" y="2514600"/>
                  </a:lnTo>
                  <a:lnTo>
                    <a:pt x="3980064" y="2476500"/>
                  </a:lnTo>
                  <a:lnTo>
                    <a:pt x="3957400" y="2438400"/>
                  </a:lnTo>
                  <a:lnTo>
                    <a:pt x="3939566" y="2387600"/>
                  </a:lnTo>
                  <a:lnTo>
                    <a:pt x="3926680" y="2349500"/>
                  </a:lnTo>
                  <a:lnTo>
                    <a:pt x="3918861" y="2298700"/>
                  </a:lnTo>
                  <a:lnTo>
                    <a:pt x="3916229" y="2247900"/>
                  </a:lnTo>
                  <a:lnTo>
                    <a:pt x="3919067" y="2209800"/>
                  </a:lnTo>
                  <a:lnTo>
                    <a:pt x="3927503" y="2159000"/>
                  </a:lnTo>
                  <a:lnTo>
                    <a:pt x="3941420" y="2108200"/>
                  </a:lnTo>
                  <a:lnTo>
                    <a:pt x="3960701" y="2070100"/>
                  </a:lnTo>
                  <a:lnTo>
                    <a:pt x="3985228" y="2019300"/>
                  </a:lnTo>
                  <a:lnTo>
                    <a:pt x="4014886" y="1981200"/>
                  </a:lnTo>
                  <a:lnTo>
                    <a:pt x="4049557" y="1943100"/>
                  </a:lnTo>
                  <a:lnTo>
                    <a:pt x="4089124" y="1905000"/>
                  </a:lnTo>
                  <a:lnTo>
                    <a:pt x="4133470" y="1866900"/>
                  </a:lnTo>
                  <a:lnTo>
                    <a:pt x="4172795" y="1841500"/>
                  </a:lnTo>
                  <a:lnTo>
                    <a:pt x="4214255" y="1816100"/>
                  </a:lnTo>
                  <a:lnTo>
                    <a:pt x="4257695" y="1790700"/>
                  </a:lnTo>
                  <a:lnTo>
                    <a:pt x="4302961" y="1778000"/>
                  </a:lnTo>
                  <a:lnTo>
                    <a:pt x="4349898" y="1752600"/>
                  </a:lnTo>
                  <a:lnTo>
                    <a:pt x="4499185" y="1714500"/>
                  </a:lnTo>
                  <a:lnTo>
                    <a:pt x="4604226" y="1714500"/>
                  </a:lnTo>
                  <a:lnTo>
                    <a:pt x="4657938" y="1701800"/>
                  </a:lnTo>
                  <a:lnTo>
                    <a:pt x="5244463" y="1701800"/>
                  </a:lnTo>
                  <a:lnTo>
                    <a:pt x="5244463" y="0"/>
                  </a:lnTo>
                  <a:close/>
                </a:path>
                <a:path w="5244465" h="2705100">
                  <a:moveTo>
                    <a:pt x="4321076" y="2552700"/>
                  </a:moveTo>
                  <a:lnTo>
                    <a:pt x="4223726" y="2552700"/>
                  </a:lnTo>
                  <a:lnTo>
                    <a:pt x="4244609" y="2565400"/>
                  </a:lnTo>
                  <a:lnTo>
                    <a:pt x="4263181" y="2578100"/>
                  </a:lnTo>
                  <a:lnTo>
                    <a:pt x="4278447" y="2590800"/>
                  </a:lnTo>
                  <a:lnTo>
                    <a:pt x="4289620" y="2603500"/>
                  </a:lnTo>
                  <a:lnTo>
                    <a:pt x="4296484" y="2628900"/>
                  </a:lnTo>
                  <a:lnTo>
                    <a:pt x="4298820" y="2641600"/>
                  </a:lnTo>
                  <a:lnTo>
                    <a:pt x="4296484" y="2654300"/>
                  </a:lnTo>
                  <a:lnTo>
                    <a:pt x="4289620" y="2679700"/>
                  </a:lnTo>
                  <a:lnTo>
                    <a:pt x="4278447" y="2692400"/>
                  </a:lnTo>
                  <a:lnTo>
                    <a:pt x="4263181" y="2705100"/>
                  </a:lnTo>
                  <a:lnTo>
                    <a:pt x="4936553" y="2705100"/>
                  </a:lnTo>
                  <a:lnTo>
                    <a:pt x="5039975" y="2667000"/>
                  </a:lnTo>
                  <a:lnTo>
                    <a:pt x="5082412" y="2641600"/>
                  </a:lnTo>
                  <a:lnTo>
                    <a:pt x="4556078" y="2641600"/>
                  </a:lnTo>
                  <a:lnTo>
                    <a:pt x="4546869" y="2628900"/>
                  </a:lnTo>
                  <a:lnTo>
                    <a:pt x="4540657" y="2628900"/>
                  </a:lnTo>
                  <a:lnTo>
                    <a:pt x="4538379" y="2616200"/>
                  </a:lnTo>
                  <a:lnTo>
                    <a:pt x="4538379" y="2578100"/>
                  </a:lnTo>
                  <a:lnTo>
                    <a:pt x="4354446" y="2578100"/>
                  </a:lnTo>
                  <a:lnTo>
                    <a:pt x="4321076" y="2552700"/>
                  </a:lnTo>
                  <a:close/>
                </a:path>
                <a:path w="5244465" h="2705100">
                  <a:moveTo>
                    <a:pt x="5244463" y="2590800"/>
                  </a:moveTo>
                  <a:lnTo>
                    <a:pt x="5231962" y="2603500"/>
                  </a:lnTo>
                  <a:lnTo>
                    <a:pt x="5207933" y="2616200"/>
                  </a:lnTo>
                  <a:lnTo>
                    <a:pt x="5182407" y="2641600"/>
                  </a:lnTo>
                  <a:lnTo>
                    <a:pt x="5155607" y="2654300"/>
                  </a:lnTo>
                  <a:lnTo>
                    <a:pt x="5127776" y="2679700"/>
                  </a:lnTo>
                  <a:lnTo>
                    <a:pt x="5098963" y="2692400"/>
                  </a:lnTo>
                  <a:lnTo>
                    <a:pt x="5069218" y="2705100"/>
                  </a:lnTo>
                  <a:lnTo>
                    <a:pt x="5244463" y="2705100"/>
                  </a:lnTo>
                  <a:lnTo>
                    <a:pt x="5244463" y="2590800"/>
                  </a:lnTo>
                  <a:close/>
                </a:path>
                <a:path w="5244465" h="2705100">
                  <a:moveTo>
                    <a:pt x="4201538" y="2679700"/>
                  </a:moveTo>
                  <a:lnTo>
                    <a:pt x="4152732" y="2679700"/>
                  </a:lnTo>
                  <a:lnTo>
                    <a:pt x="4164604" y="2692400"/>
                  </a:lnTo>
                  <a:lnTo>
                    <a:pt x="4189664" y="2692400"/>
                  </a:lnTo>
                  <a:lnTo>
                    <a:pt x="4201538" y="2679700"/>
                  </a:lnTo>
                  <a:close/>
                </a:path>
                <a:path w="5244465" h="2705100">
                  <a:moveTo>
                    <a:pt x="4236052" y="2654300"/>
                  </a:moveTo>
                  <a:lnTo>
                    <a:pt x="4118214" y="2654300"/>
                  </a:lnTo>
                  <a:lnTo>
                    <a:pt x="4124068" y="2667000"/>
                  </a:lnTo>
                  <a:lnTo>
                    <a:pt x="4132066" y="2679700"/>
                  </a:lnTo>
                  <a:lnTo>
                    <a:pt x="4222200" y="2679700"/>
                  </a:lnTo>
                  <a:lnTo>
                    <a:pt x="4230198" y="2667000"/>
                  </a:lnTo>
                  <a:lnTo>
                    <a:pt x="4236052" y="2654300"/>
                  </a:lnTo>
                  <a:close/>
                </a:path>
                <a:path w="5244465" h="2705100">
                  <a:moveTo>
                    <a:pt x="4239649" y="2628900"/>
                  </a:moveTo>
                  <a:lnTo>
                    <a:pt x="4114617" y="2628900"/>
                  </a:lnTo>
                  <a:lnTo>
                    <a:pt x="4113392" y="2641600"/>
                  </a:lnTo>
                  <a:lnTo>
                    <a:pt x="4114617" y="2654300"/>
                  </a:lnTo>
                  <a:lnTo>
                    <a:pt x="4239649" y="2654300"/>
                  </a:lnTo>
                  <a:lnTo>
                    <a:pt x="4240874" y="2641600"/>
                  </a:lnTo>
                  <a:lnTo>
                    <a:pt x="4239649" y="2628900"/>
                  </a:lnTo>
                  <a:close/>
                </a:path>
                <a:path w="5244465" h="2705100">
                  <a:moveTo>
                    <a:pt x="5017057" y="1866900"/>
                  </a:moveTo>
                  <a:lnTo>
                    <a:pt x="4769001" y="1866900"/>
                  </a:lnTo>
                  <a:lnTo>
                    <a:pt x="4775210" y="1879600"/>
                  </a:lnTo>
                  <a:lnTo>
                    <a:pt x="4777487" y="1892300"/>
                  </a:lnTo>
                  <a:lnTo>
                    <a:pt x="4777487" y="1930400"/>
                  </a:lnTo>
                  <a:lnTo>
                    <a:pt x="4966535" y="1930400"/>
                  </a:lnTo>
                  <a:lnTo>
                    <a:pt x="5100116" y="2032000"/>
                  </a:lnTo>
                  <a:lnTo>
                    <a:pt x="5103173" y="2032000"/>
                  </a:lnTo>
                  <a:lnTo>
                    <a:pt x="5103183" y="2044700"/>
                  </a:lnTo>
                  <a:lnTo>
                    <a:pt x="5100129" y="2057400"/>
                  </a:lnTo>
                  <a:lnTo>
                    <a:pt x="5055299" y="2082800"/>
                  </a:lnTo>
                  <a:lnTo>
                    <a:pt x="5069215" y="2108200"/>
                  </a:lnTo>
                  <a:lnTo>
                    <a:pt x="5081375" y="2120900"/>
                  </a:lnTo>
                  <a:lnTo>
                    <a:pt x="5091761" y="2146300"/>
                  </a:lnTo>
                  <a:lnTo>
                    <a:pt x="5100355" y="2159000"/>
                  </a:lnTo>
                  <a:lnTo>
                    <a:pt x="5156320" y="2159000"/>
                  </a:lnTo>
                  <a:lnTo>
                    <a:pt x="5167599" y="2171700"/>
                  </a:lnTo>
                  <a:lnTo>
                    <a:pt x="5183017" y="2171700"/>
                  </a:lnTo>
                  <a:lnTo>
                    <a:pt x="5185294" y="2184400"/>
                  </a:lnTo>
                  <a:lnTo>
                    <a:pt x="5185294" y="2324100"/>
                  </a:lnTo>
                  <a:lnTo>
                    <a:pt x="5183017" y="2324100"/>
                  </a:lnTo>
                  <a:lnTo>
                    <a:pt x="5176808" y="2336800"/>
                  </a:lnTo>
                  <a:lnTo>
                    <a:pt x="5100365" y="2336800"/>
                  </a:lnTo>
                  <a:lnTo>
                    <a:pt x="5091770" y="2362200"/>
                  </a:lnTo>
                  <a:lnTo>
                    <a:pt x="5081380" y="2387600"/>
                  </a:lnTo>
                  <a:lnTo>
                    <a:pt x="5069216" y="2400300"/>
                  </a:lnTo>
                  <a:lnTo>
                    <a:pt x="5055299" y="2425700"/>
                  </a:lnTo>
                  <a:lnTo>
                    <a:pt x="5094911" y="2451100"/>
                  </a:lnTo>
                  <a:lnTo>
                    <a:pt x="5101271" y="2451100"/>
                  </a:lnTo>
                  <a:lnTo>
                    <a:pt x="5103391" y="2463800"/>
                  </a:lnTo>
                  <a:lnTo>
                    <a:pt x="5101271" y="2476500"/>
                  </a:lnTo>
                  <a:lnTo>
                    <a:pt x="5094911" y="2476500"/>
                  </a:lnTo>
                  <a:lnTo>
                    <a:pt x="4961431" y="2578100"/>
                  </a:lnTo>
                  <a:lnTo>
                    <a:pt x="4777487" y="2578100"/>
                  </a:lnTo>
                  <a:lnTo>
                    <a:pt x="4777487" y="2616200"/>
                  </a:lnTo>
                  <a:lnTo>
                    <a:pt x="4775210" y="2628900"/>
                  </a:lnTo>
                  <a:lnTo>
                    <a:pt x="4769001" y="2628900"/>
                  </a:lnTo>
                  <a:lnTo>
                    <a:pt x="4759792" y="2641600"/>
                  </a:lnTo>
                  <a:lnTo>
                    <a:pt x="5082412" y="2641600"/>
                  </a:lnTo>
                  <a:lnTo>
                    <a:pt x="5122287" y="2616200"/>
                  </a:lnTo>
                  <a:lnTo>
                    <a:pt x="5159423" y="2590800"/>
                  </a:lnTo>
                  <a:lnTo>
                    <a:pt x="5193642" y="2565400"/>
                  </a:lnTo>
                  <a:lnTo>
                    <a:pt x="5224768" y="2540000"/>
                  </a:lnTo>
                  <a:lnTo>
                    <a:pt x="5244463" y="2501900"/>
                  </a:lnTo>
                  <a:lnTo>
                    <a:pt x="5244463" y="1993900"/>
                  </a:lnTo>
                  <a:lnTo>
                    <a:pt x="5230185" y="1981200"/>
                  </a:lnTo>
                  <a:lnTo>
                    <a:pt x="5214186" y="1955800"/>
                  </a:lnTo>
                  <a:lnTo>
                    <a:pt x="5114818" y="1955800"/>
                  </a:lnTo>
                  <a:lnTo>
                    <a:pt x="5092150" y="1943100"/>
                  </a:lnTo>
                  <a:lnTo>
                    <a:pt x="5071267" y="1943100"/>
                  </a:lnTo>
                  <a:lnTo>
                    <a:pt x="5052696" y="1930400"/>
                  </a:lnTo>
                  <a:lnTo>
                    <a:pt x="5037430" y="1917700"/>
                  </a:lnTo>
                  <a:lnTo>
                    <a:pt x="5026257" y="1905000"/>
                  </a:lnTo>
                  <a:lnTo>
                    <a:pt x="5019393" y="1879600"/>
                  </a:lnTo>
                  <a:lnTo>
                    <a:pt x="5017057" y="1866900"/>
                  </a:lnTo>
                  <a:close/>
                </a:path>
                <a:path w="5244465" h="2705100">
                  <a:moveTo>
                    <a:pt x="4222200" y="2603500"/>
                  </a:moveTo>
                  <a:lnTo>
                    <a:pt x="4132066" y="2603500"/>
                  </a:lnTo>
                  <a:lnTo>
                    <a:pt x="4124068" y="2616200"/>
                  </a:lnTo>
                  <a:lnTo>
                    <a:pt x="4118214" y="2628900"/>
                  </a:lnTo>
                  <a:lnTo>
                    <a:pt x="4236052" y="2628900"/>
                  </a:lnTo>
                  <a:lnTo>
                    <a:pt x="4230198" y="2616200"/>
                  </a:lnTo>
                  <a:lnTo>
                    <a:pt x="4222200" y="2603500"/>
                  </a:lnTo>
                  <a:close/>
                </a:path>
                <a:path w="5244465" h="2705100">
                  <a:moveTo>
                    <a:pt x="4189663" y="2590800"/>
                  </a:moveTo>
                  <a:lnTo>
                    <a:pt x="4164602" y="2590800"/>
                  </a:lnTo>
                  <a:lnTo>
                    <a:pt x="4152728" y="2603500"/>
                  </a:lnTo>
                  <a:lnTo>
                    <a:pt x="4201534" y="2603500"/>
                  </a:lnTo>
                  <a:lnTo>
                    <a:pt x="4189663" y="2590800"/>
                  </a:lnTo>
                  <a:close/>
                </a:path>
                <a:path w="5244465" h="2705100">
                  <a:moveTo>
                    <a:pt x="4721238" y="2552700"/>
                  </a:moveTo>
                  <a:lnTo>
                    <a:pt x="4594627" y="2552700"/>
                  </a:lnTo>
                  <a:lnTo>
                    <a:pt x="4596326" y="2565400"/>
                  </a:lnTo>
                  <a:lnTo>
                    <a:pt x="4596326" y="2603500"/>
                  </a:lnTo>
                  <a:lnTo>
                    <a:pt x="4719540" y="2603500"/>
                  </a:lnTo>
                  <a:lnTo>
                    <a:pt x="4719540" y="2565400"/>
                  </a:lnTo>
                  <a:lnTo>
                    <a:pt x="4721238" y="2552700"/>
                  </a:lnTo>
                  <a:close/>
                </a:path>
                <a:path w="5244465" h="2705100">
                  <a:moveTo>
                    <a:pt x="4429640" y="2540000"/>
                  </a:moveTo>
                  <a:lnTo>
                    <a:pt x="4384563" y="2578100"/>
                  </a:lnTo>
                  <a:lnTo>
                    <a:pt x="4510136" y="2578100"/>
                  </a:lnTo>
                  <a:lnTo>
                    <a:pt x="4482566" y="2565400"/>
                  </a:lnTo>
                  <a:lnTo>
                    <a:pt x="4455718" y="2552700"/>
                  </a:lnTo>
                  <a:lnTo>
                    <a:pt x="4429640" y="2540000"/>
                  </a:lnTo>
                  <a:close/>
                </a:path>
                <a:path w="5244465" h="2705100">
                  <a:moveTo>
                    <a:pt x="4886225" y="2540000"/>
                  </a:moveTo>
                  <a:lnTo>
                    <a:pt x="4860154" y="2552700"/>
                  </a:lnTo>
                  <a:lnTo>
                    <a:pt x="4833308" y="2565400"/>
                  </a:lnTo>
                  <a:lnTo>
                    <a:pt x="4805736" y="2578100"/>
                  </a:lnTo>
                  <a:lnTo>
                    <a:pt x="4931314" y="2578100"/>
                  </a:lnTo>
                  <a:lnTo>
                    <a:pt x="4886225" y="2540000"/>
                  </a:lnTo>
                  <a:close/>
                </a:path>
                <a:path w="5244465" h="2705100">
                  <a:moveTo>
                    <a:pt x="4760497" y="1752600"/>
                  </a:moveTo>
                  <a:lnTo>
                    <a:pt x="4547173" y="1752600"/>
                  </a:lnTo>
                  <a:lnTo>
                    <a:pt x="4493816" y="1765300"/>
                  </a:lnTo>
                  <a:lnTo>
                    <a:pt x="4392039" y="1790700"/>
                  </a:lnTo>
                  <a:lnTo>
                    <a:pt x="4343973" y="1803400"/>
                  </a:lnTo>
                  <a:lnTo>
                    <a:pt x="4298026" y="1828800"/>
                  </a:lnTo>
                  <a:lnTo>
                    <a:pt x="4254375" y="1841500"/>
                  </a:lnTo>
                  <a:lnTo>
                    <a:pt x="4213197" y="1866900"/>
                  </a:lnTo>
                  <a:lnTo>
                    <a:pt x="4174669" y="1892300"/>
                  </a:lnTo>
                  <a:lnTo>
                    <a:pt x="4138969" y="1930400"/>
                  </a:lnTo>
                  <a:lnTo>
                    <a:pt x="4106274" y="1955800"/>
                  </a:lnTo>
                  <a:lnTo>
                    <a:pt x="4076761" y="1993900"/>
                  </a:lnTo>
                  <a:lnTo>
                    <a:pt x="4050608" y="2019300"/>
                  </a:lnTo>
                  <a:lnTo>
                    <a:pt x="4027993" y="2057400"/>
                  </a:lnTo>
                  <a:lnTo>
                    <a:pt x="4009091" y="2095500"/>
                  </a:lnTo>
                  <a:lnTo>
                    <a:pt x="3994081" y="2133600"/>
                  </a:lnTo>
                  <a:lnTo>
                    <a:pt x="3983140" y="2171700"/>
                  </a:lnTo>
                  <a:lnTo>
                    <a:pt x="3976446" y="2209800"/>
                  </a:lnTo>
                  <a:lnTo>
                    <a:pt x="3974175" y="2247900"/>
                  </a:lnTo>
                  <a:lnTo>
                    <a:pt x="3977284" y="2298700"/>
                  </a:lnTo>
                  <a:lnTo>
                    <a:pt x="3986504" y="2349500"/>
                  </a:lnTo>
                  <a:lnTo>
                    <a:pt x="4001676" y="2400300"/>
                  </a:lnTo>
                  <a:lnTo>
                    <a:pt x="4022640" y="2438400"/>
                  </a:lnTo>
                  <a:lnTo>
                    <a:pt x="4049236" y="2476500"/>
                  </a:lnTo>
                  <a:lnTo>
                    <a:pt x="4081306" y="2527300"/>
                  </a:lnTo>
                  <a:lnTo>
                    <a:pt x="4118688" y="2565400"/>
                  </a:lnTo>
                  <a:lnTo>
                    <a:pt x="4132372" y="2552700"/>
                  </a:lnTo>
                  <a:lnTo>
                    <a:pt x="4321076" y="2552700"/>
                  </a:lnTo>
                  <a:lnTo>
                    <a:pt x="4220966" y="2476500"/>
                  </a:lnTo>
                  <a:lnTo>
                    <a:pt x="4214602" y="2476500"/>
                  </a:lnTo>
                  <a:lnTo>
                    <a:pt x="4212482" y="2463800"/>
                  </a:lnTo>
                  <a:lnTo>
                    <a:pt x="4214605" y="2451100"/>
                  </a:lnTo>
                  <a:lnTo>
                    <a:pt x="4220966" y="2451100"/>
                  </a:lnTo>
                  <a:lnTo>
                    <a:pt x="4260578" y="2425700"/>
                  </a:lnTo>
                  <a:lnTo>
                    <a:pt x="4246660" y="2400300"/>
                  </a:lnTo>
                  <a:lnTo>
                    <a:pt x="4234496" y="2387600"/>
                  </a:lnTo>
                  <a:lnTo>
                    <a:pt x="4224106" y="2362200"/>
                  </a:lnTo>
                  <a:lnTo>
                    <a:pt x="4215511" y="2336800"/>
                  </a:lnTo>
                  <a:lnTo>
                    <a:pt x="4133629" y="2336800"/>
                  </a:lnTo>
                  <a:lnTo>
                    <a:pt x="4130572" y="2324100"/>
                  </a:lnTo>
                  <a:lnTo>
                    <a:pt x="4130686" y="2184400"/>
                  </a:lnTo>
                  <a:lnTo>
                    <a:pt x="4132962" y="2171700"/>
                  </a:lnTo>
                  <a:lnTo>
                    <a:pt x="4148380" y="2171700"/>
                  </a:lnTo>
                  <a:lnTo>
                    <a:pt x="4159658" y="2159000"/>
                  </a:lnTo>
                  <a:lnTo>
                    <a:pt x="4215511" y="2159000"/>
                  </a:lnTo>
                  <a:lnTo>
                    <a:pt x="4224106" y="2146300"/>
                  </a:lnTo>
                  <a:lnTo>
                    <a:pt x="4234496" y="2120900"/>
                  </a:lnTo>
                  <a:lnTo>
                    <a:pt x="4246660" y="2108200"/>
                  </a:lnTo>
                  <a:lnTo>
                    <a:pt x="4260578" y="2082800"/>
                  </a:lnTo>
                  <a:lnTo>
                    <a:pt x="4215749" y="2057400"/>
                  </a:lnTo>
                  <a:lnTo>
                    <a:pt x="4212692" y="2044700"/>
                  </a:lnTo>
                  <a:lnTo>
                    <a:pt x="4212692" y="2032000"/>
                  </a:lnTo>
                  <a:lnTo>
                    <a:pt x="4215749" y="2032000"/>
                  </a:lnTo>
                  <a:lnTo>
                    <a:pt x="4349330" y="1930400"/>
                  </a:lnTo>
                  <a:lnTo>
                    <a:pt x="4538379" y="1930400"/>
                  </a:lnTo>
                  <a:lnTo>
                    <a:pt x="4538379" y="1892300"/>
                  </a:lnTo>
                  <a:lnTo>
                    <a:pt x="4540657" y="1879600"/>
                  </a:lnTo>
                  <a:lnTo>
                    <a:pt x="4546869" y="1866900"/>
                  </a:lnTo>
                  <a:lnTo>
                    <a:pt x="5017057" y="1866900"/>
                  </a:lnTo>
                  <a:lnTo>
                    <a:pt x="5019393" y="1841500"/>
                  </a:lnTo>
                  <a:lnTo>
                    <a:pt x="5026257" y="1828800"/>
                  </a:lnTo>
                  <a:lnTo>
                    <a:pt x="5037430" y="1816100"/>
                  </a:lnTo>
                  <a:lnTo>
                    <a:pt x="5052696" y="1803400"/>
                  </a:lnTo>
                  <a:lnTo>
                    <a:pt x="5071267" y="1790700"/>
                  </a:lnTo>
                  <a:lnTo>
                    <a:pt x="4909629" y="1790700"/>
                  </a:lnTo>
                  <a:lnTo>
                    <a:pt x="4898844" y="1778000"/>
                  </a:lnTo>
                  <a:lnTo>
                    <a:pt x="4895743" y="1778000"/>
                  </a:lnTo>
                  <a:lnTo>
                    <a:pt x="4895743" y="1765300"/>
                  </a:lnTo>
                  <a:lnTo>
                    <a:pt x="4794112" y="1765300"/>
                  </a:lnTo>
                  <a:lnTo>
                    <a:pt x="4760497" y="1752600"/>
                  </a:lnTo>
                  <a:close/>
                </a:path>
                <a:path w="5244465" h="2705100">
                  <a:moveTo>
                    <a:pt x="4733214" y="2540000"/>
                  </a:moveTo>
                  <a:lnTo>
                    <a:pt x="4582646" y="2540000"/>
                  </a:lnTo>
                  <a:lnTo>
                    <a:pt x="4589888" y="2552700"/>
                  </a:lnTo>
                  <a:lnTo>
                    <a:pt x="4725974" y="2552700"/>
                  </a:lnTo>
                  <a:lnTo>
                    <a:pt x="4733214" y="2540000"/>
                  </a:lnTo>
                  <a:close/>
                </a:path>
                <a:path w="5244465" h="2705100">
                  <a:moveTo>
                    <a:pt x="4874863" y="2501900"/>
                  </a:moveTo>
                  <a:lnTo>
                    <a:pt x="4441003" y="2501900"/>
                  </a:lnTo>
                  <a:lnTo>
                    <a:pt x="4472205" y="2514600"/>
                  </a:lnTo>
                  <a:lnTo>
                    <a:pt x="4504756" y="2527300"/>
                  </a:lnTo>
                  <a:lnTo>
                    <a:pt x="4538540" y="2540000"/>
                  </a:lnTo>
                  <a:lnTo>
                    <a:pt x="4777325" y="2540000"/>
                  </a:lnTo>
                  <a:lnTo>
                    <a:pt x="4811109" y="2527300"/>
                  </a:lnTo>
                  <a:lnTo>
                    <a:pt x="4843660" y="2514600"/>
                  </a:lnTo>
                  <a:lnTo>
                    <a:pt x="4874863" y="2501900"/>
                  </a:lnTo>
                  <a:close/>
                </a:path>
                <a:path w="5244465" h="2705100">
                  <a:moveTo>
                    <a:pt x="4998203" y="2438400"/>
                  </a:moveTo>
                  <a:lnTo>
                    <a:pt x="4317663" y="2438400"/>
                  </a:lnTo>
                  <a:lnTo>
                    <a:pt x="4282420" y="2463800"/>
                  </a:lnTo>
                  <a:lnTo>
                    <a:pt x="4369509" y="2527300"/>
                  </a:lnTo>
                  <a:lnTo>
                    <a:pt x="4404786" y="2501900"/>
                  </a:lnTo>
                  <a:lnTo>
                    <a:pt x="4981192" y="2501900"/>
                  </a:lnTo>
                  <a:lnTo>
                    <a:pt x="5033445" y="2463800"/>
                  </a:lnTo>
                  <a:lnTo>
                    <a:pt x="4998203" y="2438400"/>
                  </a:lnTo>
                  <a:close/>
                </a:path>
                <a:path w="5244465" h="2705100">
                  <a:moveTo>
                    <a:pt x="4981192" y="2501900"/>
                  </a:moveTo>
                  <a:lnTo>
                    <a:pt x="4911079" y="2501900"/>
                  </a:lnTo>
                  <a:lnTo>
                    <a:pt x="4946356" y="2527300"/>
                  </a:lnTo>
                  <a:lnTo>
                    <a:pt x="4981192" y="2501900"/>
                  </a:lnTo>
                  <a:close/>
                </a:path>
                <a:path w="5244465" h="2705100">
                  <a:moveTo>
                    <a:pt x="4603111" y="2082800"/>
                  </a:moveTo>
                  <a:lnTo>
                    <a:pt x="4325395" y="2082800"/>
                  </a:lnTo>
                  <a:lnTo>
                    <a:pt x="4321511" y="2095500"/>
                  </a:lnTo>
                  <a:lnTo>
                    <a:pt x="4303280" y="2120900"/>
                  </a:lnTo>
                  <a:lnTo>
                    <a:pt x="4288024" y="2146300"/>
                  </a:lnTo>
                  <a:lnTo>
                    <a:pt x="4275791" y="2159000"/>
                  </a:lnTo>
                  <a:lnTo>
                    <a:pt x="4266633" y="2184400"/>
                  </a:lnTo>
                  <a:lnTo>
                    <a:pt x="4262915" y="2197100"/>
                  </a:lnTo>
                  <a:lnTo>
                    <a:pt x="4256513" y="2197100"/>
                  </a:lnTo>
                  <a:lnTo>
                    <a:pt x="4248089" y="2209800"/>
                  </a:lnTo>
                  <a:lnTo>
                    <a:pt x="4188608" y="2209800"/>
                  </a:lnTo>
                  <a:lnTo>
                    <a:pt x="4188541" y="2298700"/>
                  </a:lnTo>
                  <a:lnTo>
                    <a:pt x="4256513" y="2298700"/>
                  </a:lnTo>
                  <a:lnTo>
                    <a:pt x="4262915" y="2311400"/>
                  </a:lnTo>
                  <a:lnTo>
                    <a:pt x="4266633" y="2311400"/>
                  </a:lnTo>
                  <a:lnTo>
                    <a:pt x="4275791" y="2336800"/>
                  </a:lnTo>
                  <a:lnTo>
                    <a:pt x="4288024" y="2362200"/>
                  </a:lnTo>
                  <a:lnTo>
                    <a:pt x="4303280" y="2387600"/>
                  </a:lnTo>
                  <a:lnTo>
                    <a:pt x="4321511" y="2413000"/>
                  </a:lnTo>
                  <a:lnTo>
                    <a:pt x="4325395" y="2413000"/>
                  </a:lnTo>
                  <a:lnTo>
                    <a:pt x="4325987" y="2425700"/>
                  </a:lnTo>
                  <a:lnTo>
                    <a:pt x="4323380" y="2438400"/>
                  </a:lnTo>
                  <a:lnTo>
                    <a:pt x="4992486" y="2438400"/>
                  </a:lnTo>
                  <a:lnTo>
                    <a:pt x="4989878" y="2425700"/>
                  </a:lnTo>
                  <a:lnTo>
                    <a:pt x="4603111" y="2425700"/>
                  </a:lnTo>
                  <a:lnTo>
                    <a:pt x="4552747" y="2413000"/>
                  </a:lnTo>
                  <a:lnTo>
                    <a:pt x="4508292" y="2387600"/>
                  </a:lnTo>
                  <a:lnTo>
                    <a:pt x="4471196" y="2362200"/>
                  </a:lnTo>
                  <a:lnTo>
                    <a:pt x="4442906" y="2324100"/>
                  </a:lnTo>
                  <a:lnTo>
                    <a:pt x="4418537" y="2247900"/>
                  </a:lnTo>
                  <a:lnTo>
                    <a:pt x="4424870" y="2209800"/>
                  </a:lnTo>
                  <a:lnTo>
                    <a:pt x="4442906" y="2171700"/>
                  </a:lnTo>
                  <a:lnTo>
                    <a:pt x="4471196" y="2146300"/>
                  </a:lnTo>
                  <a:lnTo>
                    <a:pt x="4508292" y="2120900"/>
                  </a:lnTo>
                  <a:lnTo>
                    <a:pt x="4552747" y="2095500"/>
                  </a:lnTo>
                  <a:lnTo>
                    <a:pt x="4603111" y="2082800"/>
                  </a:lnTo>
                  <a:close/>
                </a:path>
                <a:path w="5244465" h="2705100">
                  <a:moveTo>
                    <a:pt x="4990468" y="2082800"/>
                  </a:moveTo>
                  <a:lnTo>
                    <a:pt x="4712765" y="2082800"/>
                  </a:lnTo>
                  <a:lnTo>
                    <a:pt x="4763129" y="2095500"/>
                  </a:lnTo>
                  <a:lnTo>
                    <a:pt x="4807584" y="2120900"/>
                  </a:lnTo>
                  <a:lnTo>
                    <a:pt x="4844680" y="2146300"/>
                  </a:lnTo>
                  <a:lnTo>
                    <a:pt x="4872970" y="2171700"/>
                  </a:lnTo>
                  <a:lnTo>
                    <a:pt x="4891005" y="2209800"/>
                  </a:lnTo>
                  <a:lnTo>
                    <a:pt x="4897339" y="2247900"/>
                  </a:lnTo>
                  <a:lnTo>
                    <a:pt x="4891005" y="2298700"/>
                  </a:lnTo>
                  <a:lnTo>
                    <a:pt x="4844680" y="2362200"/>
                  </a:lnTo>
                  <a:lnTo>
                    <a:pt x="4807584" y="2387600"/>
                  </a:lnTo>
                  <a:lnTo>
                    <a:pt x="4763129" y="2413000"/>
                  </a:lnTo>
                  <a:lnTo>
                    <a:pt x="4712765" y="2425700"/>
                  </a:lnTo>
                  <a:lnTo>
                    <a:pt x="4989878" y="2425700"/>
                  </a:lnTo>
                  <a:lnTo>
                    <a:pt x="4990470" y="2413000"/>
                  </a:lnTo>
                  <a:lnTo>
                    <a:pt x="4994353" y="2413000"/>
                  </a:lnTo>
                  <a:lnTo>
                    <a:pt x="5012584" y="2387600"/>
                  </a:lnTo>
                  <a:lnTo>
                    <a:pt x="5027841" y="2362200"/>
                  </a:lnTo>
                  <a:lnTo>
                    <a:pt x="5040074" y="2336800"/>
                  </a:lnTo>
                  <a:lnTo>
                    <a:pt x="5049232" y="2311400"/>
                  </a:lnTo>
                  <a:lnTo>
                    <a:pt x="5052951" y="2311400"/>
                  </a:lnTo>
                  <a:lnTo>
                    <a:pt x="5059352" y="2298700"/>
                  </a:lnTo>
                  <a:lnTo>
                    <a:pt x="5127346" y="2298700"/>
                  </a:lnTo>
                  <a:lnTo>
                    <a:pt x="5127346" y="2209800"/>
                  </a:lnTo>
                  <a:lnTo>
                    <a:pt x="5067775" y="2209800"/>
                  </a:lnTo>
                  <a:lnTo>
                    <a:pt x="5059348" y="2197100"/>
                  </a:lnTo>
                  <a:lnTo>
                    <a:pt x="5052946" y="2197100"/>
                  </a:lnTo>
                  <a:lnTo>
                    <a:pt x="5049232" y="2184400"/>
                  </a:lnTo>
                  <a:lnTo>
                    <a:pt x="5040069" y="2159000"/>
                  </a:lnTo>
                  <a:lnTo>
                    <a:pt x="5027837" y="2146300"/>
                  </a:lnTo>
                  <a:lnTo>
                    <a:pt x="5012583" y="2120900"/>
                  </a:lnTo>
                  <a:lnTo>
                    <a:pt x="4994353" y="2095500"/>
                  </a:lnTo>
                  <a:lnTo>
                    <a:pt x="4990468" y="2082800"/>
                  </a:lnTo>
                  <a:close/>
                </a:path>
                <a:path w="5244465" h="2705100">
                  <a:moveTo>
                    <a:pt x="4715232" y="2120900"/>
                  </a:moveTo>
                  <a:lnTo>
                    <a:pt x="4600644" y="2120900"/>
                  </a:lnTo>
                  <a:lnTo>
                    <a:pt x="4550840" y="2146300"/>
                  </a:lnTo>
                  <a:lnTo>
                    <a:pt x="4511538" y="2171700"/>
                  </a:lnTo>
                  <a:lnTo>
                    <a:pt x="4485748" y="2209800"/>
                  </a:lnTo>
                  <a:lnTo>
                    <a:pt x="4476483" y="2247900"/>
                  </a:lnTo>
                  <a:lnTo>
                    <a:pt x="4485748" y="2298700"/>
                  </a:lnTo>
                  <a:lnTo>
                    <a:pt x="4511538" y="2336800"/>
                  </a:lnTo>
                  <a:lnTo>
                    <a:pt x="4550840" y="2362200"/>
                  </a:lnTo>
                  <a:lnTo>
                    <a:pt x="4600644" y="2374900"/>
                  </a:lnTo>
                  <a:lnTo>
                    <a:pt x="4657938" y="2387600"/>
                  </a:lnTo>
                  <a:lnTo>
                    <a:pt x="4715232" y="2374900"/>
                  </a:lnTo>
                  <a:lnTo>
                    <a:pt x="4765036" y="2362200"/>
                  </a:lnTo>
                  <a:lnTo>
                    <a:pt x="4804338" y="2336800"/>
                  </a:lnTo>
                  <a:lnTo>
                    <a:pt x="4830127" y="2298700"/>
                  </a:lnTo>
                  <a:lnTo>
                    <a:pt x="4839393" y="2247900"/>
                  </a:lnTo>
                  <a:lnTo>
                    <a:pt x="4830127" y="2209800"/>
                  </a:lnTo>
                  <a:lnTo>
                    <a:pt x="4804338" y="2171700"/>
                  </a:lnTo>
                  <a:lnTo>
                    <a:pt x="4765036" y="2146300"/>
                  </a:lnTo>
                  <a:lnTo>
                    <a:pt x="4715232" y="2120900"/>
                  </a:lnTo>
                  <a:close/>
                </a:path>
                <a:path w="5244465" h="2705100">
                  <a:moveTo>
                    <a:pt x="4992481" y="2070100"/>
                  </a:moveTo>
                  <a:lnTo>
                    <a:pt x="4323380" y="2070100"/>
                  </a:lnTo>
                  <a:lnTo>
                    <a:pt x="4325987" y="2082800"/>
                  </a:lnTo>
                  <a:lnTo>
                    <a:pt x="4989873" y="2082800"/>
                  </a:lnTo>
                  <a:lnTo>
                    <a:pt x="4992481" y="2070100"/>
                  </a:lnTo>
                  <a:close/>
                </a:path>
                <a:path w="5244465" h="2705100">
                  <a:moveTo>
                    <a:pt x="4369804" y="1981200"/>
                  </a:moveTo>
                  <a:lnTo>
                    <a:pt x="4282647" y="2044700"/>
                  </a:lnTo>
                  <a:lnTo>
                    <a:pt x="4317663" y="2070100"/>
                  </a:lnTo>
                  <a:lnTo>
                    <a:pt x="4998203" y="2070100"/>
                  </a:lnTo>
                  <a:lnTo>
                    <a:pt x="5033218" y="2044700"/>
                  </a:lnTo>
                  <a:lnTo>
                    <a:pt x="4980924" y="2006600"/>
                  </a:lnTo>
                  <a:lnTo>
                    <a:pt x="4404786" y="2006600"/>
                  </a:lnTo>
                  <a:lnTo>
                    <a:pt x="4369804" y="1981200"/>
                  </a:lnTo>
                  <a:close/>
                </a:path>
                <a:path w="5244465" h="2705100">
                  <a:moveTo>
                    <a:pt x="4777326" y="1968500"/>
                  </a:moveTo>
                  <a:lnTo>
                    <a:pt x="4538533" y="1968500"/>
                  </a:lnTo>
                  <a:lnTo>
                    <a:pt x="4504747" y="1981200"/>
                  </a:lnTo>
                  <a:lnTo>
                    <a:pt x="4472199" y="1993900"/>
                  </a:lnTo>
                  <a:lnTo>
                    <a:pt x="4441003" y="2006600"/>
                  </a:lnTo>
                  <a:lnTo>
                    <a:pt x="4874863" y="2006600"/>
                  </a:lnTo>
                  <a:lnTo>
                    <a:pt x="4843665" y="1993900"/>
                  </a:lnTo>
                  <a:lnTo>
                    <a:pt x="4811113" y="1981200"/>
                  </a:lnTo>
                  <a:lnTo>
                    <a:pt x="4777326" y="1968500"/>
                  </a:lnTo>
                  <a:close/>
                </a:path>
                <a:path w="5244465" h="2705100">
                  <a:moveTo>
                    <a:pt x="4946061" y="1981200"/>
                  </a:moveTo>
                  <a:lnTo>
                    <a:pt x="4911068" y="2006600"/>
                  </a:lnTo>
                  <a:lnTo>
                    <a:pt x="4980924" y="2006600"/>
                  </a:lnTo>
                  <a:lnTo>
                    <a:pt x="4946061" y="1981200"/>
                  </a:lnTo>
                  <a:close/>
                </a:path>
                <a:path w="5244465" h="2705100">
                  <a:moveTo>
                    <a:pt x="4733214" y="1955800"/>
                  </a:moveTo>
                  <a:lnTo>
                    <a:pt x="4582646" y="1955800"/>
                  </a:lnTo>
                  <a:lnTo>
                    <a:pt x="4573441" y="1968500"/>
                  </a:lnTo>
                  <a:lnTo>
                    <a:pt x="4742423" y="1968500"/>
                  </a:lnTo>
                  <a:lnTo>
                    <a:pt x="4733214" y="1955800"/>
                  </a:lnTo>
                  <a:close/>
                </a:path>
                <a:path w="5244465" h="2705100">
                  <a:moveTo>
                    <a:pt x="4510136" y="1930400"/>
                  </a:moveTo>
                  <a:lnTo>
                    <a:pt x="4390299" y="1930400"/>
                  </a:lnTo>
                  <a:lnTo>
                    <a:pt x="4429652" y="1955800"/>
                  </a:lnTo>
                  <a:lnTo>
                    <a:pt x="4455723" y="1955800"/>
                  </a:lnTo>
                  <a:lnTo>
                    <a:pt x="4482568" y="1943100"/>
                  </a:lnTo>
                  <a:lnTo>
                    <a:pt x="4510136" y="1930400"/>
                  </a:lnTo>
                  <a:close/>
                </a:path>
                <a:path w="5244465" h="2705100">
                  <a:moveTo>
                    <a:pt x="4719540" y="1905000"/>
                  </a:moveTo>
                  <a:lnTo>
                    <a:pt x="4596326" y="1905000"/>
                  </a:lnTo>
                  <a:lnTo>
                    <a:pt x="4596326" y="1943100"/>
                  </a:lnTo>
                  <a:lnTo>
                    <a:pt x="4594627" y="1955800"/>
                  </a:lnTo>
                  <a:lnTo>
                    <a:pt x="4721238" y="1955800"/>
                  </a:lnTo>
                  <a:lnTo>
                    <a:pt x="4719540" y="1943100"/>
                  </a:lnTo>
                  <a:lnTo>
                    <a:pt x="4719540" y="1905000"/>
                  </a:lnTo>
                  <a:close/>
                </a:path>
                <a:path w="5244465" h="2705100">
                  <a:moveTo>
                    <a:pt x="4925565" y="1930400"/>
                  </a:moveTo>
                  <a:lnTo>
                    <a:pt x="4805736" y="1930400"/>
                  </a:lnTo>
                  <a:lnTo>
                    <a:pt x="4833308" y="1943100"/>
                  </a:lnTo>
                  <a:lnTo>
                    <a:pt x="4860154" y="1955800"/>
                  </a:lnTo>
                  <a:lnTo>
                    <a:pt x="4886225" y="1955800"/>
                  </a:lnTo>
                  <a:lnTo>
                    <a:pt x="4925565" y="1930400"/>
                  </a:lnTo>
                  <a:close/>
                </a:path>
                <a:path w="5244465" h="2705100">
                  <a:moveTo>
                    <a:pt x="5197187" y="1943100"/>
                  </a:moveTo>
                  <a:lnTo>
                    <a:pt x="5183504" y="1943100"/>
                  </a:lnTo>
                  <a:lnTo>
                    <a:pt x="5169111" y="1955800"/>
                  </a:lnTo>
                  <a:lnTo>
                    <a:pt x="5214186" y="1955800"/>
                  </a:lnTo>
                  <a:lnTo>
                    <a:pt x="5197187" y="1943100"/>
                  </a:lnTo>
                  <a:close/>
                </a:path>
                <a:path w="5244465" h="2705100">
                  <a:moveTo>
                    <a:pt x="5151275" y="1905000"/>
                  </a:moveTo>
                  <a:lnTo>
                    <a:pt x="5126208" y="1905000"/>
                  </a:lnTo>
                  <a:lnTo>
                    <a:pt x="5138743" y="1917700"/>
                  </a:lnTo>
                  <a:lnTo>
                    <a:pt x="5151275" y="1905000"/>
                  </a:lnTo>
                  <a:close/>
                </a:path>
                <a:path w="5244465" h="2705100">
                  <a:moveTo>
                    <a:pt x="5244463" y="1905000"/>
                  </a:moveTo>
                  <a:lnTo>
                    <a:pt x="5240013" y="1917700"/>
                  </a:lnTo>
                  <a:lnTo>
                    <a:pt x="5244463" y="1917700"/>
                  </a:lnTo>
                  <a:lnTo>
                    <a:pt x="5244463" y="1905000"/>
                  </a:lnTo>
                  <a:close/>
                </a:path>
                <a:path w="5244465" h="2705100">
                  <a:moveTo>
                    <a:pt x="5183822" y="1828800"/>
                  </a:moveTo>
                  <a:lnTo>
                    <a:pt x="5093677" y="1828800"/>
                  </a:lnTo>
                  <a:lnTo>
                    <a:pt x="5085679" y="1841500"/>
                  </a:lnTo>
                  <a:lnTo>
                    <a:pt x="5079825" y="1841500"/>
                  </a:lnTo>
                  <a:lnTo>
                    <a:pt x="5076228" y="1854200"/>
                  </a:lnTo>
                  <a:lnTo>
                    <a:pt x="5075003" y="1866900"/>
                  </a:lnTo>
                  <a:lnTo>
                    <a:pt x="5076228" y="1879600"/>
                  </a:lnTo>
                  <a:lnTo>
                    <a:pt x="5079825" y="1879600"/>
                  </a:lnTo>
                  <a:lnTo>
                    <a:pt x="5085679" y="1892300"/>
                  </a:lnTo>
                  <a:lnTo>
                    <a:pt x="5093677" y="1892300"/>
                  </a:lnTo>
                  <a:lnTo>
                    <a:pt x="5103399" y="1905000"/>
                  </a:lnTo>
                  <a:lnTo>
                    <a:pt x="5174092" y="1905000"/>
                  </a:lnTo>
                  <a:lnTo>
                    <a:pt x="5183822" y="1892300"/>
                  </a:lnTo>
                  <a:lnTo>
                    <a:pt x="5197796" y="1879600"/>
                  </a:lnTo>
                  <a:lnTo>
                    <a:pt x="5202454" y="1866900"/>
                  </a:lnTo>
                  <a:lnTo>
                    <a:pt x="5197796" y="1841500"/>
                  </a:lnTo>
                  <a:lnTo>
                    <a:pt x="5183822" y="1828800"/>
                  </a:lnTo>
                  <a:close/>
                </a:path>
                <a:path w="5244465" h="2705100">
                  <a:moveTo>
                    <a:pt x="5163150" y="1816100"/>
                  </a:moveTo>
                  <a:lnTo>
                    <a:pt x="5114339" y="1816100"/>
                  </a:lnTo>
                  <a:lnTo>
                    <a:pt x="5103401" y="1828800"/>
                  </a:lnTo>
                  <a:lnTo>
                    <a:pt x="5174092" y="1828800"/>
                  </a:lnTo>
                  <a:lnTo>
                    <a:pt x="5163150" y="1816100"/>
                  </a:lnTo>
                  <a:close/>
                </a:path>
                <a:path w="5244465" h="2705100">
                  <a:moveTo>
                    <a:pt x="5244463" y="1739900"/>
                  </a:moveTo>
                  <a:lnTo>
                    <a:pt x="4932344" y="1739900"/>
                  </a:lnTo>
                  <a:lnTo>
                    <a:pt x="4939814" y="1752600"/>
                  </a:lnTo>
                  <a:lnTo>
                    <a:pt x="4950599" y="1752600"/>
                  </a:lnTo>
                  <a:lnTo>
                    <a:pt x="4953689" y="1765300"/>
                  </a:lnTo>
                  <a:lnTo>
                    <a:pt x="4953689" y="1778000"/>
                  </a:lnTo>
                  <a:lnTo>
                    <a:pt x="5185337" y="1778000"/>
                  </a:lnTo>
                  <a:lnTo>
                    <a:pt x="5206220" y="1790700"/>
                  </a:lnTo>
                  <a:lnTo>
                    <a:pt x="5224792" y="1803400"/>
                  </a:lnTo>
                  <a:lnTo>
                    <a:pt x="5244463" y="1828800"/>
                  </a:lnTo>
                  <a:lnTo>
                    <a:pt x="5244463" y="1739900"/>
                  </a:lnTo>
                  <a:close/>
                </a:path>
                <a:path w="5244465" h="2705100">
                  <a:moveTo>
                    <a:pt x="5092150" y="1778000"/>
                  </a:moveTo>
                  <a:lnTo>
                    <a:pt x="4950588" y="1778000"/>
                  </a:lnTo>
                  <a:lnTo>
                    <a:pt x="4939814" y="1790700"/>
                  </a:lnTo>
                  <a:lnTo>
                    <a:pt x="5071267" y="1790700"/>
                  </a:lnTo>
                  <a:lnTo>
                    <a:pt x="5092150" y="1778000"/>
                  </a:lnTo>
                  <a:close/>
                </a:path>
                <a:path w="5244465" h="2705100">
                  <a:moveTo>
                    <a:pt x="4898844" y="1752600"/>
                  </a:moveTo>
                  <a:lnTo>
                    <a:pt x="4815865" y="1752600"/>
                  </a:lnTo>
                  <a:lnTo>
                    <a:pt x="4805608" y="1765300"/>
                  </a:lnTo>
                  <a:lnTo>
                    <a:pt x="4895743" y="1765300"/>
                  </a:lnTo>
                  <a:lnTo>
                    <a:pt x="4898844" y="1752600"/>
                  </a:lnTo>
                  <a:close/>
                </a:path>
                <a:path w="5244465" h="2705100">
                  <a:moveTo>
                    <a:pt x="5244463" y="1701800"/>
                  </a:moveTo>
                  <a:lnTo>
                    <a:pt x="4695178" y="1701800"/>
                  </a:lnTo>
                  <a:lnTo>
                    <a:pt x="4732285" y="1714500"/>
                  </a:lnTo>
                  <a:lnTo>
                    <a:pt x="4805588" y="1714500"/>
                  </a:lnTo>
                  <a:lnTo>
                    <a:pt x="4816191" y="1727200"/>
                  </a:lnTo>
                  <a:lnTo>
                    <a:pt x="4823988" y="1727200"/>
                  </a:lnTo>
                  <a:lnTo>
                    <a:pt x="4828248" y="1739900"/>
                  </a:lnTo>
                  <a:lnTo>
                    <a:pt x="4823779" y="1752600"/>
                  </a:lnTo>
                  <a:lnTo>
                    <a:pt x="4909629" y="1752600"/>
                  </a:lnTo>
                  <a:lnTo>
                    <a:pt x="4917066" y="1739900"/>
                  </a:lnTo>
                  <a:lnTo>
                    <a:pt x="5244463" y="1739900"/>
                  </a:lnTo>
                  <a:lnTo>
                    <a:pt x="5244463" y="170180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055244" y="174243"/>
            <a:ext cx="4556125" cy="4798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4020" indent="-320675">
              <a:lnSpc>
                <a:spcPct val="100000"/>
              </a:lnSpc>
              <a:spcBef>
                <a:spcPts val="100"/>
              </a:spcBef>
              <a:buFont typeface="Apple SD Gothic Neo Light"/>
              <a:buChar char="■"/>
              <a:tabLst>
                <a:tab pos="414020" algn="l"/>
              </a:tabLst>
            </a:pPr>
            <a:r>
              <a:rPr sz="2800" spc="-125" dirty="0">
                <a:latin typeface="Arial"/>
                <a:cs typeface="Arial"/>
              </a:rPr>
              <a:t>Ejemplo: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HouseVotes84</a:t>
            </a:r>
            <a:endParaRPr sz="2800">
              <a:latin typeface="Arial"/>
              <a:cs typeface="Arial"/>
            </a:endParaRPr>
          </a:p>
          <a:p>
            <a:pPr marL="414020" indent="-320675">
              <a:lnSpc>
                <a:spcPct val="100000"/>
              </a:lnSpc>
              <a:spcBef>
                <a:spcPts val="140"/>
              </a:spcBef>
              <a:buFont typeface="Apple SD Gothic Neo Light"/>
              <a:buChar char="■"/>
              <a:tabLst>
                <a:tab pos="414020" algn="l"/>
              </a:tabLst>
            </a:pPr>
            <a:r>
              <a:rPr sz="2800" spc="-55" dirty="0">
                <a:latin typeface="Arial"/>
                <a:cs typeface="Arial"/>
              </a:rPr>
              <a:t>Método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90" dirty="0">
                <a:latin typeface="Arial"/>
                <a:cs typeface="Arial"/>
              </a:rPr>
              <a:t>Chi-</a:t>
            </a:r>
            <a:r>
              <a:rPr sz="2800" spc="-50" dirty="0">
                <a:latin typeface="Arial"/>
                <a:cs typeface="Arial"/>
              </a:rPr>
              <a:t>Cuadrado</a:t>
            </a:r>
            <a:endParaRPr sz="2800">
              <a:latin typeface="Arial"/>
              <a:cs typeface="Arial"/>
            </a:endParaRPr>
          </a:p>
          <a:p>
            <a:pPr marL="414020" indent="-320675">
              <a:lnSpc>
                <a:spcPct val="100000"/>
              </a:lnSpc>
              <a:spcBef>
                <a:spcPts val="244"/>
              </a:spcBef>
              <a:buFont typeface="Apple SD Gothic Neo Light"/>
              <a:buChar char="■"/>
              <a:tabLst>
                <a:tab pos="414020" algn="l"/>
              </a:tabLst>
            </a:pPr>
            <a:r>
              <a:rPr sz="2800" spc="-204" dirty="0">
                <a:latin typeface="Arial"/>
                <a:cs typeface="Arial"/>
              </a:rPr>
              <a:t>Gran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cantidad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métodos</a:t>
            </a:r>
            <a:endParaRPr sz="2800">
              <a:latin typeface="Arial"/>
              <a:cs typeface="Arial"/>
            </a:endParaRPr>
          </a:p>
          <a:p>
            <a:pPr marL="871855" marR="5080" lvl="1" indent="-321310">
              <a:lnSpc>
                <a:spcPct val="71400"/>
              </a:lnSpc>
              <a:spcBef>
                <a:spcPts val="1080"/>
              </a:spcBef>
              <a:buFont typeface="Apple SD Gothic Neo Light"/>
              <a:buChar char="■"/>
              <a:tabLst>
                <a:tab pos="871855" algn="l"/>
              </a:tabLst>
            </a:pPr>
            <a:r>
              <a:rPr sz="2800" spc="-130" dirty="0">
                <a:latin typeface="Arial"/>
                <a:cs typeface="Arial"/>
              </a:rPr>
              <a:t>Correlación,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consistencia, </a:t>
            </a:r>
            <a:r>
              <a:rPr sz="2800" spc="-90" dirty="0">
                <a:latin typeface="Arial"/>
                <a:cs typeface="Arial"/>
              </a:rPr>
              <a:t>entropía,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265" dirty="0">
                <a:latin typeface="Arial"/>
                <a:cs typeface="Arial"/>
              </a:rPr>
              <a:t>greedy…</a:t>
            </a:r>
            <a:endParaRPr sz="2800">
              <a:latin typeface="Arial"/>
              <a:cs typeface="Arial"/>
            </a:endParaRPr>
          </a:p>
          <a:p>
            <a:pPr marL="12700" marR="2077720">
              <a:lnSpc>
                <a:spcPts val="2020"/>
              </a:lnSpc>
              <a:spcBef>
                <a:spcPts val="1735"/>
              </a:spcBef>
            </a:pPr>
            <a:r>
              <a:rPr sz="1800" b="1" spc="-10" dirty="0">
                <a:latin typeface="Courier New"/>
                <a:cs typeface="Courier New"/>
              </a:rPr>
              <a:t>data(HouseVotes84) </a:t>
            </a:r>
            <a:r>
              <a:rPr sz="1800" b="1" dirty="0">
                <a:latin typeface="Courier New"/>
                <a:cs typeface="Courier New"/>
              </a:rPr>
              <a:t>weights</a:t>
            </a:r>
            <a:r>
              <a:rPr sz="1800" b="1" spc="-75" dirty="0">
                <a:latin typeface="Courier New"/>
                <a:cs typeface="Courier New"/>
              </a:rPr>
              <a:t> </a:t>
            </a:r>
            <a:r>
              <a:rPr sz="1800" b="1" spc="-25" dirty="0">
                <a:latin typeface="Courier New"/>
                <a:cs typeface="Courier New"/>
              </a:rPr>
              <a:t>&lt;-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1764"/>
              </a:lnSpc>
            </a:pPr>
            <a:r>
              <a:rPr sz="1800" b="1" spc="-10" dirty="0">
                <a:latin typeface="Courier New"/>
                <a:cs typeface="Courier New"/>
              </a:rPr>
              <a:t>chi.squared(Class~.,HouseVotes84)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1945"/>
              </a:lnSpc>
            </a:pPr>
            <a:r>
              <a:rPr sz="1800" b="1" spc="-10" dirty="0">
                <a:latin typeface="Courier New"/>
                <a:cs typeface="Courier New"/>
              </a:rPr>
              <a:t>print(weights)</a:t>
            </a:r>
            <a:endParaRPr sz="1800">
              <a:latin typeface="Courier New"/>
              <a:cs typeface="Courier New"/>
            </a:endParaRPr>
          </a:p>
          <a:p>
            <a:pPr marL="12700" marR="302895">
              <a:lnSpc>
                <a:spcPct val="89600"/>
              </a:lnSpc>
              <a:spcBef>
                <a:spcPts val="90"/>
              </a:spcBef>
            </a:pPr>
            <a:r>
              <a:rPr sz="1800" b="1" dirty="0">
                <a:latin typeface="Courier New"/>
                <a:cs typeface="Courier New"/>
              </a:rPr>
              <a:t>#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se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seleccionan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los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5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mejores </a:t>
            </a:r>
            <a:r>
              <a:rPr sz="1800" b="1" dirty="0">
                <a:latin typeface="Courier New"/>
                <a:cs typeface="Courier New"/>
              </a:rPr>
              <a:t>subset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&lt;-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cutoff.k(weights,5)</a:t>
            </a:r>
            <a:r>
              <a:rPr sz="1800" b="1" spc="50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#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se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muestran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los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seleccionados </a:t>
            </a:r>
            <a:r>
              <a:rPr sz="1800" b="1" dirty="0">
                <a:latin typeface="Courier New"/>
                <a:cs typeface="Courier New"/>
              </a:rPr>
              <a:t>f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spc="-25" dirty="0">
                <a:latin typeface="Courier New"/>
                <a:cs typeface="Courier New"/>
              </a:rPr>
              <a:t>&lt;-</a:t>
            </a:r>
            <a:endParaRPr sz="1800">
              <a:latin typeface="Courier New"/>
              <a:cs typeface="Courier New"/>
            </a:endParaRPr>
          </a:p>
          <a:p>
            <a:pPr marL="12700" marR="29845">
              <a:lnSpc>
                <a:spcPts val="1920"/>
              </a:lnSpc>
              <a:spcBef>
                <a:spcPts val="100"/>
              </a:spcBef>
            </a:pPr>
            <a:r>
              <a:rPr sz="1800" b="1" spc="-10" dirty="0">
                <a:latin typeface="Courier New"/>
                <a:cs typeface="Courier New"/>
              </a:rPr>
              <a:t>as.simple.formula(subset,"Class") print(f)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2268" y="118509"/>
            <a:ext cx="3148330" cy="1584325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Transformación</a:t>
            </a:r>
            <a:endParaRPr sz="4000">
              <a:latin typeface="Arial Narrow"/>
              <a:cs typeface="Arial Narrow"/>
            </a:endParaRPr>
          </a:p>
          <a:p>
            <a:pPr marL="862330" marR="140970" indent="353695">
              <a:lnSpc>
                <a:spcPct val="68600"/>
              </a:lnSpc>
              <a:spcBef>
                <a:spcPts val="180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Selección</a:t>
            </a:r>
            <a:r>
              <a:rPr sz="2800" b="1" spc="-5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de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características: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99536" y="711200"/>
            <a:ext cx="5244465" cy="4432300"/>
            <a:chOff x="3899536" y="711200"/>
            <a:chExt cx="5244465" cy="4432300"/>
          </a:xfrm>
        </p:grpSpPr>
        <p:sp>
          <p:nvSpPr>
            <p:cNvPr id="4" name="object 4"/>
            <p:cNvSpPr/>
            <p:nvPr/>
          </p:nvSpPr>
          <p:spPr>
            <a:xfrm>
              <a:off x="8254885" y="3893027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17010" y="3587133"/>
              <a:ext cx="2544400" cy="98306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899536" y="711200"/>
              <a:ext cx="5244465" cy="4432300"/>
            </a:xfrm>
            <a:custGeom>
              <a:avLst/>
              <a:gdLst/>
              <a:ahLst/>
              <a:cxnLst/>
              <a:rect l="l" t="t" r="r" b="b"/>
              <a:pathLst>
                <a:path w="5244465" h="4432300">
                  <a:moveTo>
                    <a:pt x="5244463" y="0"/>
                  </a:moveTo>
                  <a:lnTo>
                    <a:pt x="0" y="0"/>
                  </a:lnTo>
                  <a:lnTo>
                    <a:pt x="0" y="4432300"/>
                  </a:lnTo>
                  <a:lnTo>
                    <a:pt x="4091097" y="4432300"/>
                  </a:lnTo>
                  <a:lnTo>
                    <a:pt x="4075829" y="4406900"/>
                  </a:lnTo>
                  <a:lnTo>
                    <a:pt x="4064652" y="4381500"/>
                  </a:lnTo>
                  <a:lnTo>
                    <a:pt x="4057784" y="4356100"/>
                  </a:lnTo>
                  <a:lnTo>
                    <a:pt x="4055446" y="4318000"/>
                  </a:lnTo>
                  <a:lnTo>
                    <a:pt x="4056767" y="4305300"/>
                  </a:lnTo>
                  <a:lnTo>
                    <a:pt x="4060669" y="4279900"/>
                  </a:lnTo>
                  <a:lnTo>
                    <a:pt x="4067058" y="4254500"/>
                  </a:lnTo>
                  <a:lnTo>
                    <a:pt x="4075841" y="4241800"/>
                  </a:lnTo>
                  <a:lnTo>
                    <a:pt x="4051058" y="4203700"/>
                  </a:lnTo>
                  <a:lnTo>
                    <a:pt x="4028245" y="4165600"/>
                  </a:lnTo>
                  <a:lnTo>
                    <a:pt x="4007438" y="4114800"/>
                  </a:lnTo>
                  <a:lnTo>
                    <a:pt x="3988671" y="4076700"/>
                  </a:lnTo>
                  <a:lnTo>
                    <a:pt x="3971980" y="4025900"/>
                  </a:lnTo>
                  <a:lnTo>
                    <a:pt x="3957400" y="3975100"/>
                  </a:lnTo>
                  <a:lnTo>
                    <a:pt x="3944967" y="3937000"/>
                  </a:lnTo>
                  <a:lnTo>
                    <a:pt x="3934715" y="3886200"/>
                  </a:lnTo>
                  <a:lnTo>
                    <a:pt x="3926680" y="3835400"/>
                  </a:lnTo>
                  <a:lnTo>
                    <a:pt x="3920897" y="3784600"/>
                  </a:lnTo>
                  <a:lnTo>
                    <a:pt x="3917402" y="3733800"/>
                  </a:lnTo>
                  <a:lnTo>
                    <a:pt x="3916229" y="3683000"/>
                  </a:lnTo>
                  <a:lnTo>
                    <a:pt x="3917404" y="3632200"/>
                  </a:lnTo>
                  <a:lnTo>
                    <a:pt x="3920911" y="3581400"/>
                  </a:lnTo>
                  <a:lnTo>
                    <a:pt x="3926717" y="3530600"/>
                  </a:lnTo>
                  <a:lnTo>
                    <a:pt x="3934792" y="3479800"/>
                  </a:lnTo>
                  <a:lnTo>
                    <a:pt x="3945104" y="3441700"/>
                  </a:lnTo>
                  <a:lnTo>
                    <a:pt x="3957622" y="3390900"/>
                  </a:lnTo>
                  <a:lnTo>
                    <a:pt x="3972316" y="3340100"/>
                  </a:lnTo>
                  <a:lnTo>
                    <a:pt x="3989154" y="3302000"/>
                  </a:lnTo>
                  <a:lnTo>
                    <a:pt x="4008105" y="3251200"/>
                  </a:lnTo>
                  <a:lnTo>
                    <a:pt x="4029138" y="3213100"/>
                  </a:lnTo>
                  <a:lnTo>
                    <a:pt x="4052222" y="3162300"/>
                  </a:lnTo>
                  <a:lnTo>
                    <a:pt x="4077326" y="3124200"/>
                  </a:lnTo>
                  <a:lnTo>
                    <a:pt x="4104419" y="3086100"/>
                  </a:lnTo>
                  <a:lnTo>
                    <a:pt x="4133470" y="3048000"/>
                  </a:lnTo>
                  <a:lnTo>
                    <a:pt x="4169434" y="3009900"/>
                  </a:lnTo>
                  <a:lnTo>
                    <a:pt x="4207203" y="2971800"/>
                  </a:lnTo>
                  <a:lnTo>
                    <a:pt x="4246658" y="2946400"/>
                  </a:lnTo>
                  <a:lnTo>
                    <a:pt x="4287679" y="2908300"/>
                  </a:lnTo>
                  <a:lnTo>
                    <a:pt x="4330148" y="2882900"/>
                  </a:lnTo>
                  <a:lnTo>
                    <a:pt x="4373944" y="2857500"/>
                  </a:lnTo>
                  <a:lnTo>
                    <a:pt x="4418950" y="2832100"/>
                  </a:lnTo>
                  <a:lnTo>
                    <a:pt x="4560027" y="2794000"/>
                  </a:lnTo>
                  <a:lnTo>
                    <a:pt x="5244463" y="2794000"/>
                  </a:lnTo>
                  <a:lnTo>
                    <a:pt x="5244463" y="0"/>
                  </a:lnTo>
                  <a:close/>
                </a:path>
                <a:path w="5244465" h="4432300">
                  <a:moveTo>
                    <a:pt x="4321076" y="4178300"/>
                  </a:moveTo>
                  <a:lnTo>
                    <a:pt x="4201058" y="4178300"/>
                  </a:lnTo>
                  <a:lnTo>
                    <a:pt x="4223726" y="4191000"/>
                  </a:lnTo>
                  <a:lnTo>
                    <a:pt x="4244609" y="4203700"/>
                  </a:lnTo>
                  <a:lnTo>
                    <a:pt x="4278447" y="4241800"/>
                  </a:lnTo>
                  <a:lnTo>
                    <a:pt x="4296484" y="4292600"/>
                  </a:lnTo>
                  <a:lnTo>
                    <a:pt x="4298820" y="4318000"/>
                  </a:lnTo>
                  <a:lnTo>
                    <a:pt x="4296484" y="4356100"/>
                  </a:lnTo>
                  <a:lnTo>
                    <a:pt x="4289620" y="4381500"/>
                  </a:lnTo>
                  <a:lnTo>
                    <a:pt x="4278447" y="4406900"/>
                  </a:lnTo>
                  <a:lnTo>
                    <a:pt x="4263181" y="4432300"/>
                  </a:lnTo>
                  <a:lnTo>
                    <a:pt x="4936553" y="4432300"/>
                  </a:lnTo>
                  <a:lnTo>
                    <a:pt x="5039975" y="4368800"/>
                  </a:lnTo>
                  <a:lnTo>
                    <a:pt x="5075512" y="4343400"/>
                  </a:lnTo>
                  <a:lnTo>
                    <a:pt x="5098031" y="4318000"/>
                  </a:lnTo>
                  <a:lnTo>
                    <a:pt x="4546869" y="4318000"/>
                  </a:lnTo>
                  <a:lnTo>
                    <a:pt x="4540657" y="4305300"/>
                  </a:lnTo>
                  <a:lnTo>
                    <a:pt x="4538379" y="4292600"/>
                  </a:lnTo>
                  <a:lnTo>
                    <a:pt x="4538379" y="4229100"/>
                  </a:lnTo>
                  <a:lnTo>
                    <a:pt x="4361813" y="4229100"/>
                  </a:lnTo>
                  <a:lnTo>
                    <a:pt x="4354446" y="4216400"/>
                  </a:lnTo>
                  <a:lnTo>
                    <a:pt x="4321076" y="4178300"/>
                  </a:lnTo>
                  <a:close/>
                </a:path>
                <a:path w="5244465" h="4432300">
                  <a:moveTo>
                    <a:pt x="5244463" y="4229100"/>
                  </a:moveTo>
                  <a:lnTo>
                    <a:pt x="5231962" y="4254500"/>
                  </a:lnTo>
                  <a:lnTo>
                    <a:pt x="5207933" y="4292600"/>
                  </a:lnTo>
                  <a:lnTo>
                    <a:pt x="5182407" y="4318000"/>
                  </a:lnTo>
                  <a:lnTo>
                    <a:pt x="5155607" y="4356100"/>
                  </a:lnTo>
                  <a:lnTo>
                    <a:pt x="5127776" y="4381500"/>
                  </a:lnTo>
                  <a:lnTo>
                    <a:pt x="5098963" y="4406900"/>
                  </a:lnTo>
                  <a:lnTo>
                    <a:pt x="5069218" y="4432300"/>
                  </a:lnTo>
                  <a:lnTo>
                    <a:pt x="5244463" y="4432300"/>
                  </a:lnTo>
                  <a:lnTo>
                    <a:pt x="5244463" y="4229100"/>
                  </a:lnTo>
                  <a:close/>
                </a:path>
                <a:path w="5244465" h="4432300">
                  <a:moveTo>
                    <a:pt x="4212476" y="4381500"/>
                  </a:moveTo>
                  <a:lnTo>
                    <a:pt x="4141795" y="4381500"/>
                  </a:lnTo>
                  <a:lnTo>
                    <a:pt x="4152732" y="4394200"/>
                  </a:lnTo>
                  <a:lnTo>
                    <a:pt x="4201538" y="4394200"/>
                  </a:lnTo>
                  <a:lnTo>
                    <a:pt x="4212476" y="4381500"/>
                  </a:lnTo>
                  <a:close/>
                </a:path>
                <a:path w="5244465" h="4432300">
                  <a:moveTo>
                    <a:pt x="4212471" y="4254500"/>
                  </a:moveTo>
                  <a:lnTo>
                    <a:pt x="4141790" y="4254500"/>
                  </a:lnTo>
                  <a:lnTo>
                    <a:pt x="4132066" y="4267200"/>
                  </a:lnTo>
                  <a:lnTo>
                    <a:pt x="4124068" y="4279900"/>
                  </a:lnTo>
                  <a:lnTo>
                    <a:pt x="4118214" y="4292600"/>
                  </a:lnTo>
                  <a:lnTo>
                    <a:pt x="4114617" y="4305300"/>
                  </a:lnTo>
                  <a:lnTo>
                    <a:pt x="4113392" y="4318000"/>
                  </a:lnTo>
                  <a:lnTo>
                    <a:pt x="4114617" y="4343400"/>
                  </a:lnTo>
                  <a:lnTo>
                    <a:pt x="4118214" y="4356100"/>
                  </a:lnTo>
                  <a:lnTo>
                    <a:pt x="4124068" y="4368800"/>
                  </a:lnTo>
                  <a:lnTo>
                    <a:pt x="4132066" y="4381500"/>
                  </a:lnTo>
                  <a:lnTo>
                    <a:pt x="4222200" y="4381500"/>
                  </a:lnTo>
                  <a:lnTo>
                    <a:pt x="4230198" y="4368800"/>
                  </a:lnTo>
                  <a:lnTo>
                    <a:pt x="4236052" y="4356100"/>
                  </a:lnTo>
                  <a:lnTo>
                    <a:pt x="4239649" y="4343400"/>
                  </a:lnTo>
                  <a:lnTo>
                    <a:pt x="4240874" y="4318000"/>
                  </a:lnTo>
                  <a:lnTo>
                    <a:pt x="4239649" y="4305300"/>
                  </a:lnTo>
                  <a:lnTo>
                    <a:pt x="4236052" y="4292600"/>
                  </a:lnTo>
                  <a:lnTo>
                    <a:pt x="4230198" y="4279900"/>
                  </a:lnTo>
                  <a:lnTo>
                    <a:pt x="4222200" y="4267200"/>
                  </a:lnTo>
                  <a:lnTo>
                    <a:pt x="4212471" y="4254500"/>
                  </a:lnTo>
                  <a:close/>
                </a:path>
                <a:path w="5244465" h="4432300">
                  <a:moveTo>
                    <a:pt x="4886225" y="4165600"/>
                  </a:moveTo>
                  <a:lnTo>
                    <a:pt x="4860154" y="4178300"/>
                  </a:lnTo>
                  <a:lnTo>
                    <a:pt x="4833308" y="4191000"/>
                  </a:lnTo>
                  <a:lnTo>
                    <a:pt x="4805736" y="4203700"/>
                  </a:lnTo>
                  <a:lnTo>
                    <a:pt x="4777487" y="4216400"/>
                  </a:lnTo>
                  <a:lnTo>
                    <a:pt x="4777487" y="4292600"/>
                  </a:lnTo>
                  <a:lnTo>
                    <a:pt x="4775210" y="4305300"/>
                  </a:lnTo>
                  <a:lnTo>
                    <a:pt x="4769001" y="4318000"/>
                  </a:lnTo>
                  <a:lnTo>
                    <a:pt x="5098031" y="4318000"/>
                  </a:lnTo>
                  <a:lnTo>
                    <a:pt x="5109291" y="4305300"/>
                  </a:lnTo>
                  <a:lnTo>
                    <a:pt x="5141208" y="4267200"/>
                  </a:lnTo>
                  <a:lnTo>
                    <a:pt x="5171162" y="4229100"/>
                  </a:lnTo>
                  <a:lnTo>
                    <a:pt x="4938683" y="4229100"/>
                  </a:lnTo>
                  <a:lnTo>
                    <a:pt x="4931314" y="4216400"/>
                  </a:lnTo>
                  <a:lnTo>
                    <a:pt x="4886225" y="4165600"/>
                  </a:lnTo>
                  <a:close/>
                </a:path>
                <a:path w="5244465" h="4432300">
                  <a:moveTo>
                    <a:pt x="4189663" y="4241800"/>
                  </a:moveTo>
                  <a:lnTo>
                    <a:pt x="4164602" y="4241800"/>
                  </a:lnTo>
                  <a:lnTo>
                    <a:pt x="4152728" y="4254500"/>
                  </a:lnTo>
                  <a:lnTo>
                    <a:pt x="4201534" y="4254500"/>
                  </a:lnTo>
                  <a:lnTo>
                    <a:pt x="4189663" y="4241800"/>
                  </a:lnTo>
                  <a:close/>
                </a:path>
                <a:path w="5244465" h="4432300">
                  <a:moveTo>
                    <a:pt x="4725974" y="4165600"/>
                  </a:moveTo>
                  <a:lnTo>
                    <a:pt x="4589888" y="4165600"/>
                  </a:lnTo>
                  <a:lnTo>
                    <a:pt x="4594627" y="4178300"/>
                  </a:lnTo>
                  <a:lnTo>
                    <a:pt x="4596326" y="4191000"/>
                  </a:lnTo>
                  <a:lnTo>
                    <a:pt x="4596326" y="4254500"/>
                  </a:lnTo>
                  <a:lnTo>
                    <a:pt x="4719540" y="4254500"/>
                  </a:lnTo>
                  <a:lnTo>
                    <a:pt x="4719540" y="4191000"/>
                  </a:lnTo>
                  <a:lnTo>
                    <a:pt x="4721238" y="4178300"/>
                  </a:lnTo>
                  <a:lnTo>
                    <a:pt x="4725974" y="4165600"/>
                  </a:lnTo>
                  <a:close/>
                </a:path>
                <a:path w="5244465" h="4432300">
                  <a:moveTo>
                    <a:pt x="4429640" y="4165600"/>
                  </a:moveTo>
                  <a:lnTo>
                    <a:pt x="4384563" y="4216400"/>
                  </a:lnTo>
                  <a:lnTo>
                    <a:pt x="4377194" y="4229100"/>
                  </a:lnTo>
                  <a:lnTo>
                    <a:pt x="4538379" y="4229100"/>
                  </a:lnTo>
                  <a:lnTo>
                    <a:pt x="4538379" y="4216400"/>
                  </a:lnTo>
                  <a:lnTo>
                    <a:pt x="4510136" y="4203700"/>
                  </a:lnTo>
                  <a:lnTo>
                    <a:pt x="4482566" y="4191000"/>
                  </a:lnTo>
                  <a:lnTo>
                    <a:pt x="4455718" y="4178300"/>
                  </a:lnTo>
                  <a:lnTo>
                    <a:pt x="4429640" y="4165600"/>
                  </a:lnTo>
                  <a:close/>
                </a:path>
                <a:path w="5244465" h="4432300">
                  <a:moveTo>
                    <a:pt x="5052696" y="3149600"/>
                  </a:moveTo>
                  <a:lnTo>
                    <a:pt x="4956955" y="3149600"/>
                  </a:lnTo>
                  <a:lnTo>
                    <a:pt x="4966535" y="3162300"/>
                  </a:lnTo>
                  <a:lnTo>
                    <a:pt x="5094685" y="3314700"/>
                  </a:lnTo>
                  <a:lnTo>
                    <a:pt x="5098303" y="3314700"/>
                  </a:lnTo>
                  <a:lnTo>
                    <a:pt x="5100967" y="3327400"/>
                  </a:lnTo>
                  <a:lnTo>
                    <a:pt x="5102615" y="3327400"/>
                  </a:lnTo>
                  <a:lnTo>
                    <a:pt x="5103183" y="3340100"/>
                  </a:lnTo>
                  <a:lnTo>
                    <a:pt x="5102621" y="3340100"/>
                  </a:lnTo>
                  <a:lnTo>
                    <a:pt x="5100977" y="3352800"/>
                  </a:lnTo>
                  <a:lnTo>
                    <a:pt x="5098314" y="3352800"/>
                  </a:lnTo>
                  <a:lnTo>
                    <a:pt x="5094696" y="3365500"/>
                  </a:lnTo>
                  <a:lnTo>
                    <a:pt x="5055299" y="3416300"/>
                  </a:lnTo>
                  <a:lnTo>
                    <a:pt x="5069215" y="3441700"/>
                  </a:lnTo>
                  <a:lnTo>
                    <a:pt x="5081375" y="3479800"/>
                  </a:lnTo>
                  <a:lnTo>
                    <a:pt x="5091761" y="3505200"/>
                  </a:lnTo>
                  <a:lnTo>
                    <a:pt x="5100355" y="3543300"/>
                  </a:lnTo>
                  <a:lnTo>
                    <a:pt x="5167599" y="3543300"/>
                  </a:lnTo>
                  <a:lnTo>
                    <a:pt x="5176808" y="3556000"/>
                  </a:lnTo>
                  <a:lnTo>
                    <a:pt x="5183017" y="3568700"/>
                  </a:lnTo>
                  <a:lnTo>
                    <a:pt x="5185294" y="3581400"/>
                  </a:lnTo>
                  <a:lnTo>
                    <a:pt x="5185294" y="3797300"/>
                  </a:lnTo>
                  <a:lnTo>
                    <a:pt x="5183017" y="3810000"/>
                  </a:lnTo>
                  <a:lnTo>
                    <a:pt x="5176808" y="3822700"/>
                  </a:lnTo>
                  <a:lnTo>
                    <a:pt x="5167599" y="3822700"/>
                  </a:lnTo>
                  <a:lnTo>
                    <a:pt x="5156320" y="3835400"/>
                  </a:lnTo>
                  <a:lnTo>
                    <a:pt x="5100365" y="3835400"/>
                  </a:lnTo>
                  <a:lnTo>
                    <a:pt x="5091770" y="3860800"/>
                  </a:lnTo>
                  <a:lnTo>
                    <a:pt x="5081380" y="3898900"/>
                  </a:lnTo>
                  <a:lnTo>
                    <a:pt x="5069216" y="3924300"/>
                  </a:lnTo>
                  <a:lnTo>
                    <a:pt x="5055299" y="3962400"/>
                  </a:lnTo>
                  <a:lnTo>
                    <a:pt x="5094911" y="4013200"/>
                  </a:lnTo>
                  <a:lnTo>
                    <a:pt x="5101271" y="4025900"/>
                  </a:lnTo>
                  <a:lnTo>
                    <a:pt x="5103391" y="4038600"/>
                  </a:lnTo>
                  <a:lnTo>
                    <a:pt x="5101271" y="4051300"/>
                  </a:lnTo>
                  <a:lnTo>
                    <a:pt x="5094911" y="4064000"/>
                  </a:lnTo>
                  <a:lnTo>
                    <a:pt x="4961431" y="4216400"/>
                  </a:lnTo>
                  <a:lnTo>
                    <a:pt x="4954052" y="4229100"/>
                  </a:lnTo>
                  <a:lnTo>
                    <a:pt x="5171162" y="4229100"/>
                  </a:lnTo>
                  <a:lnTo>
                    <a:pt x="5199049" y="4191000"/>
                  </a:lnTo>
                  <a:lnTo>
                    <a:pt x="5224768" y="4152900"/>
                  </a:lnTo>
                  <a:lnTo>
                    <a:pt x="5244463" y="4102100"/>
                  </a:lnTo>
                  <a:lnTo>
                    <a:pt x="5244463" y="3263900"/>
                  </a:lnTo>
                  <a:lnTo>
                    <a:pt x="5230185" y="3238500"/>
                  </a:lnTo>
                  <a:lnTo>
                    <a:pt x="5214186" y="3200400"/>
                  </a:lnTo>
                  <a:lnTo>
                    <a:pt x="5138743" y="3200400"/>
                  </a:lnTo>
                  <a:lnTo>
                    <a:pt x="5114818" y="3187700"/>
                  </a:lnTo>
                  <a:lnTo>
                    <a:pt x="5092150" y="3187700"/>
                  </a:lnTo>
                  <a:lnTo>
                    <a:pt x="5071267" y="3175000"/>
                  </a:lnTo>
                  <a:lnTo>
                    <a:pt x="5052696" y="3149600"/>
                  </a:lnTo>
                  <a:close/>
                </a:path>
                <a:path w="5244465" h="4432300">
                  <a:moveTo>
                    <a:pt x="4897968" y="2870200"/>
                  </a:moveTo>
                  <a:lnTo>
                    <a:pt x="4530597" y="2870200"/>
                  </a:lnTo>
                  <a:lnTo>
                    <a:pt x="4449900" y="2895600"/>
                  </a:lnTo>
                  <a:lnTo>
                    <a:pt x="4411052" y="2921000"/>
                  </a:lnTo>
                  <a:lnTo>
                    <a:pt x="4373313" y="2933700"/>
                  </a:lnTo>
                  <a:lnTo>
                    <a:pt x="4336762" y="2959100"/>
                  </a:lnTo>
                  <a:lnTo>
                    <a:pt x="4301481" y="2984500"/>
                  </a:lnTo>
                  <a:lnTo>
                    <a:pt x="4267551" y="3009900"/>
                  </a:lnTo>
                  <a:lnTo>
                    <a:pt x="4235051" y="3035300"/>
                  </a:lnTo>
                  <a:lnTo>
                    <a:pt x="4204064" y="3073400"/>
                  </a:lnTo>
                  <a:lnTo>
                    <a:pt x="4174669" y="3098800"/>
                  </a:lnTo>
                  <a:lnTo>
                    <a:pt x="4146947" y="3136900"/>
                  </a:lnTo>
                  <a:lnTo>
                    <a:pt x="4120979" y="3175000"/>
                  </a:lnTo>
                  <a:lnTo>
                    <a:pt x="4096846" y="3213100"/>
                  </a:lnTo>
                  <a:lnTo>
                    <a:pt x="4074628" y="3251200"/>
                  </a:lnTo>
                  <a:lnTo>
                    <a:pt x="4054406" y="3302000"/>
                  </a:lnTo>
                  <a:lnTo>
                    <a:pt x="4036261" y="3340100"/>
                  </a:lnTo>
                  <a:lnTo>
                    <a:pt x="4020273" y="3390900"/>
                  </a:lnTo>
                  <a:lnTo>
                    <a:pt x="4006524" y="3429000"/>
                  </a:lnTo>
                  <a:lnTo>
                    <a:pt x="3995094" y="3479800"/>
                  </a:lnTo>
                  <a:lnTo>
                    <a:pt x="3986063" y="3530600"/>
                  </a:lnTo>
                  <a:lnTo>
                    <a:pt x="3979512" y="3581400"/>
                  </a:lnTo>
                  <a:lnTo>
                    <a:pt x="3975523" y="3632200"/>
                  </a:lnTo>
                  <a:lnTo>
                    <a:pt x="3974175" y="3683000"/>
                  </a:lnTo>
                  <a:lnTo>
                    <a:pt x="3975438" y="3733800"/>
                  </a:lnTo>
                  <a:lnTo>
                    <a:pt x="3979199" y="3784600"/>
                  </a:lnTo>
                  <a:lnTo>
                    <a:pt x="3985417" y="3835400"/>
                  </a:lnTo>
                  <a:lnTo>
                    <a:pt x="3994052" y="3886200"/>
                  </a:lnTo>
                  <a:lnTo>
                    <a:pt x="4005061" y="3937000"/>
                  </a:lnTo>
                  <a:lnTo>
                    <a:pt x="4018405" y="3975100"/>
                  </a:lnTo>
                  <a:lnTo>
                    <a:pt x="4034041" y="4025900"/>
                  </a:lnTo>
                  <a:lnTo>
                    <a:pt x="4051928" y="4064000"/>
                  </a:lnTo>
                  <a:lnTo>
                    <a:pt x="4072026" y="4114800"/>
                  </a:lnTo>
                  <a:lnTo>
                    <a:pt x="4094293" y="4152900"/>
                  </a:lnTo>
                  <a:lnTo>
                    <a:pt x="4118688" y="4191000"/>
                  </a:lnTo>
                  <a:lnTo>
                    <a:pt x="4132372" y="4191000"/>
                  </a:lnTo>
                  <a:lnTo>
                    <a:pt x="4146765" y="4178300"/>
                  </a:lnTo>
                  <a:lnTo>
                    <a:pt x="4321076" y="4178300"/>
                  </a:lnTo>
                  <a:lnTo>
                    <a:pt x="4220966" y="4064000"/>
                  </a:lnTo>
                  <a:lnTo>
                    <a:pt x="4214602" y="4051300"/>
                  </a:lnTo>
                  <a:lnTo>
                    <a:pt x="4212482" y="4038600"/>
                  </a:lnTo>
                  <a:lnTo>
                    <a:pt x="4214605" y="4025900"/>
                  </a:lnTo>
                  <a:lnTo>
                    <a:pt x="4220966" y="4013200"/>
                  </a:lnTo>
                  <a:lnTo>
                    <a:pt x="4260578" y="3962400"/>
                  </a:lnTo>
                  <a:lnTo>
                    <a:pt x="4246660" y="3924300"/>
                  </a:lnTo>
                  <a:lnTo>
                    <a:pt x="4234496" y="3898900"/>
                  </a:lnTo>
                  <a:lnTo>
                    <a:pt x="4224106" y="3860800"/>
                  </a:lnTo>
                  <a:lnTo>
                    <a:pt x="4215511" y="3835400"/>
                  </a:lnTo>
                  <a:lnTo>
                    <a:pt x="4151861" y="3835400"/>
                  </a:lnTo>
                  <a:lnTo>
                    <a:pt x="4144493" y="3822700"/>
                  </a:lnTo>
                  <a:lnTo>
                    <a:pt x="4139060" y="3822700"/>
                  </a:lnTo>
                  <a:lnTo>
                    <a:pt x="4135443" y="3810000"/>
                  </a:lnTo>
                  <a:lnTo>
                    <a:pt x="4132780" y="3810000"/>
                  </a:lnTo>
                  <a:lnTo>
                    <a:pt x="4131139" y="3797300"/>
                  </a:lnTo>
                  <a:lnTo>
                    <a:pt x="4130583" y="3797300"/>
                  </a:lnTo>
                  <a:lnTo>
                    <a:pt x="4130686" y="3581400"/>
                  </a:lnTo>
                  <a:lnTo>
                    <a:pt x="4132962" y="3568700"/>
                  </a:lnTo>
                  <a:lnTo>
                    <a:pt x="4139171" y="3556000"/>
                  </a:lnTo>
                  <a:lnTo>
                    <a:pt x="4148380" y="3543300"/>
                  </a:lnTo>
                  <a:lnTo>
                    <a:pt x="4215511" y="3543300"/>
                  </a:lnTo>
                  <a:lnTo>
                    <a:pt x="4224106" y="3505200"/>
                  </a:lnTo>
                  <a:lnTo>
                    <a:pt x="4234496" y="3479800"/>
                  </a:lnTo>
                  <a:lnTo>
                    <a:pt x="4246660" y="3441700"/>
                  </a:lnTo>
                  <a:lnTo>
                    <a:pt x="4260578" y="3416300"/>
                  </a:lnTo>
                  <a:lnTo>
                    <a:pt x="4221181" y="3365500"/>
                  </a:lnTo>
                  <a:lnTo>
                    <a:pt x="4217563" y="3352800"/>
                  </a:lnTo>
                  <a:lnTo>
                    <a:pt x="4214900" y="3352800"/>
                  </a:lnTo>
                  <a:lnTo>
                    <a:pt x="4213255" y="3340100"/>
                  </a:lnTo>
                  <a:lnTo>
                    <a:pt x="4212692" y="3340100"/>
                  </a:lnTo>
                  <a:lnTo>
                    <a:pt x="4213255" y="3327400"/>
                  </a:lnTo>
                  <a:lnTo>
                    <a:pt x="4214901" y="3327400"/>
                  </a:lnTo>
                  <a:lnTo>
                    <a:pt x="4217568" y="3314700"/>
                  </a:lnTo>
                  <a:lnTo>
                    <a:pt x="4221192" y="3314700"/>
                  </a:lnTo>
                  <a:lnTo>
                    <a:pt x="4349330" y="3162300"/>
                  </a:lnTo>
                  <a:lnTo>
                    <a:pt x="4358916" y="3149600"/>
                  </a:lnTo>
                  <a:lnTo>
                    <a:pt x="4538379" y="3149600"/>
                  </a:lnTo>
                  <a:lnTo>
                    <a:pt x="4538379" y="3086100"/>
                  </a:lnTo>
                  <a:lnTo>
                    <a:pt x="4540657" y="3073400"/>
                  </a:lnTo>
                  <a:lnTo>
                    <a:pt x="4546869" y="3060700"/>
                  </a:lnTo>
                  <a:lnTo>
                    <a:pt x="4556078" y="3048000"/>
                  </a:lnTo>
                  <a:lnTo>
                    <a:pt x="5017057" y="3048000"/>
                  </a:lnTo>
                  <a:lnTo>
                    <a:pt x="5019393" y="3022600"/>
                  </a:lnTo>
                  <a:lnTo>
                    <a:pt x="5026257" y="2997200"/>
                  </a:lnTo>
                  <a:lnTo>
                    <a:pt x="5037430" y="2971800"/>
                  </a:lnTo>
                  <a:lnTo>
                    <a:pt x="5052696" y="2946400"/>
                  </a:lnTo>
                  <a:lnTo>
                    <a:pt x="5071267" y="2921000"/>
                  </a:lnTo>
                  <a:lnTo>
                    <a:pt x="4909629" y="2921000"/>
                  </a:lnTo>
                  <a:lnTo>
                    <a:pt x="4904243" y="2908300"/>
                  </a:lnTo>
                  <a:lnTo>
                    <a:pt x="4900637" y="2908300"/>
                  </a:lnTo>
                  <a:lnTo>
                    <a:pt x="4897968" y="2895600"/>
                  </a:lnTo>
                  <a:lnTo>
                    <a:pt x="4896312" y="2895600"/>
                  </a:lnTo>
                  <a:lnTo>
                    <a:pt x="4895743" y="2882900"/>
                  </a:lnTo>
                  <a:lnTo>
                    <a:pt x="4896312" y="2882900"/>
                  </a:lnTo>
                  <a:lnTo>
                    <a:pt x="4897968" y="2870200"/>
                  </a:lnTo>
                  <a:close/>
                </a:path>
                <a:path w="5244465" h="4432300">
                  <a:moveTo>
                    <a:pt x="4742423" y="4152900"/>
                  </a:moveTo>
                  <a:lnTo>
                    <a:pt x="4573441" y="4152900"/>
                  </a:lnTo>
                  <a:lnTo>
                    <a:pt x="4582646" y="4165600"/>
                  </a:lnTo>
                  <a:lnTo>
                    <a:pt x="4733214" y="4165600"/>
                  </a:lnTo>
                  <a:lnTo>
                    <a:pt x="4742423" y="4152900"/>
                  </a:lnTo>
                  <a:close/>
                </a:path>
                <a:path w="5244465" h="4432300">
                  <a:moveTo>
                    <a:pt x="4874863" y="4089400"/>
                  </a:moveTo>
                  <a:lnTo>
                    <a:pt x="4441003" y="4089400"/>
                  </a:lnTo>
                  <a:lnTo>
                    <a:pt x="4472205" y="4114800"/>
                  </a:lnTo>
                  <a:lnTo>
                    <a:pt x="4504756" y="4127500"/>
                  </a:lnTo>
                  <a:lnTo>
                    <a:pt x="4538540" y="4152900"/>
                  </a:lnTo>
                  <a:lnTo>
                    <a:pt x="4777325" y="4152900"/>
                  </a:lnTo>
                  <a:lnTo>
                    <a:pt x="4811109" y="4127500"/>
                  </a:lnTo>
                  <a:lnTo>
                    <a:pt x="4843660" y="4114800"/>
                  </a:lnTo>
                  <a:lnTo>
                    <a:pt x="4874863" y="4089400"/>
                  </a:lnTo>
                  <a:close/>
                </a:path>
                <a:path w="5244465" h="4432300">
                  <a:moveTo>
                    <a:pt x="4998203" y="3987800"/>
                  </a:moveTo>
                  <a:lnTo>
                    <a:pt x="4317663" y="3987800"/>
                  </a:lnTo>
                  <a:lnTo>
                    <a:pt x="4282420" y="4038600"/>
                  </a:lnTo>
                  <a:lnTo>
                    <a:pt x="4369509" y="4140200"/>
                  </a:lnTo>
                  <a:lnTo>
                    <a:pt x="4404786" y="4102100"/>
                  </a:lnTo>
                  <a:lnTo>
                    <a:pt x="4412910" y="4089400"/>
                  </a:lnTo>
                  <a:lnTo>
                    <a:pt x="4989901" y="4089400"/>
                  </a:lnTo>
                  <a:lnTo>
                    <a:pt x="5033445" y="4038600"/>
                  </a:lnTo>
                  <a:lnTo>
                    <a:pt x="4998203" y="3987800"/>
                  </a:lnTo>
                  <a:close/>
                </a:path>
                <a:path w="5244465" h="4432300">
                  <a:moveTo>
                    <a:pt x="4989901" y="4089400"/>
                  </a:moveTo>
                  <a:lnTo>
                    <a:pt x="4902955" y="4089400"/>
                  </a:lnTo>
                  <a:lnTo>
                    <a:pt x="4911079" y="4102100"/>
                  </a:lnTo>
                  <a:lnTo>
                    <a:pt x="4946356" y="4140200"/>
                  </a:lnTo>
                  <a:lnTo>
                    <a:pt x="4989901" y="4089400"/>
                  </a:lnTo>
                  <a:close/>
                </a:path>
                <a:path w="5244465" h="4432300">
                  <a:moveTo>
                    <a:pt x="4369804" y="3238500"/>
                  </a:moveTo>
                  <a:lnTo>
                    <a:pt x="4282647" y="3340100"/>
                  </a:lnTo>
                  <a:lnTo>
                    <a:pt x="4317663" y="3378200"/>
                  </a:lnTo>
                  <a:lnTo>
                    <a:pt x="4323380" y="3390900"/>
                  </a:lnTo>
                  <a:lnTo>
                    <a:pt x="4325987" y="3403600"/>
                  </a:lnTo>
                  <a:lnTo>
                    <a:pt x="4325395" y="3416300"/>
                  </a:lnTo>
                  <a:lnTo>
                    <a:pt x="4321511" y="3429000"/>
                  </a:lnTo>
                  <a:lnTo>
                    <a:pt x="4303280" y="3467100"/>
                  </a:lnTo>
                  <a:lnTo>
                    <a:pt x="4288024" y="3505200"/>
                  </a:lnTo>
                  <a:lnTo>
                    <a:pt x="4275791" y="3543300"/>
                  </a:lnTo>
                  <a:lnTo>
                    <a:pt x="4266633" y="3581400"/>
                  </a:lnTo>
                  <a:lnTo>
                    <a:pt x="4262915" y="3594100"/>
                  </a:lnTo>
                  <a:lnTo>
                    <a:pt x="4256513" y="3606800"/>
                  </a:lnTo>
                  <a:lnTo>
                    <a:pt x="4188608" y="3606800"/>
                  </a:lnTo>
                  <a:lnTo>
                    <a:pt x="4188541" y="3759200"/>
                  </a:lnTo>
                  <a:lnTo>
                    <a:pt x="4248089" y="3759200"/>
                  </a:lnTo>
                  <a:lnTo>
                    <a:pt x="4256513" y="3771900"/>
                  </a:lnTo>
                  <a:lnTo>
                    <a:pt x="4262915" y="3771900"/>
                  </a:lnTo>
                  <a:lnTo>
                    <a:pt x="4266633" y="3784600"/>
                  </a:lnTo>
                  <a:lnTo>
                    <a:pt x="4275791" y="3835400"/>
                  </a:lnTo>
                  <a:lnTo>
                    <a:pt x="4288024" y="3873500"/>
                  </a:lnTo>
                  <a:lnTo>
                    <a:pt x="4303280" y="3911600"/>
                  </a:lnTo>
                  <a:lnTo>
                    <a:pt x="4321511" y="3949700"/>
                  </a:lnTo>
                  <a:lnTo>
                    <a:pt x="4325395" y="3962400"/>
                  </a:lnTo>
                  <a:lnTo>
                    <a:pt x="4325987" y="3975100"/>
                  </a:lnTo>
                  <a:lnTo>
                    <a:pt x="4323380" y="3987800"/>
                  </a:lnTo>
                  <a:lnTo>
                    <a:pt x="4992486" y="3987800"/>
                  </a:lnTo>
                  <a:lnTo>
                    <a:pt x="4989878" y="3975100"/>
                  </a:lnTo>
                  <a:lnTo>
                    <a:pt x="4614960" y="3975100"/>
                  </a:lnTo>
                  <a:lnTo>
                    <a:pt x="4574487" y="3962400"/>
                  </a:lnTo>
                  <a:lnTo>
                    <a:pt x="4537200" y="3937000"/>
                  </a:lnTo>
                  <a:lnTo>
                    <a:pt x="4503781" y="3911600"/>
                  </a:lnTo>
                  <a:lnTo>
                    <a:pt x="4474909" y="3873500"/>
                  </a:lnTo>
                  <a:lnTo>
                    <a:pt x="4451268" y="3835400"/>
                  </a:lnTo>
                  <a:lnTo>
                    <a:pt x="4433538" y="3784600"/>
                  </a:lnTo>
                  <a:lnTo>
                    <a:pt x="4422400" y="3733800"/>
                  </a:lnTo>
                  <a:lnTo>
                    <a:pt x="4418537" y="3683000"/>
                  </a:lnTo>
                  <a:lnTo>
                    <a:pt x="4422400" y="3632200"/>
                  </a:lnTo>
                  <a:lnTo>
                    <a:pt x="4433538" y="3581400"/>
                  </a:lnTo>
                  <a:lnTo>
                    <a:pt x="4451268" y="3543300"/>
                  </a:lnTo>
                  <a:lnTo>
                    <a:pt x="4474909" y="3505200"/>
                  </a:lnTo>
                  <a:lnTo>
                    <a:pt x="4503781" y="3467100"/>
                  </a:lnTo>
                  <a:lnTo>
                    <a:pt x="4537200" y="3441700"/>
                  </a:lnTo>
                  <a:lnTo>
                    <a:pt x="4574487" y="3416300"/>
                  </a:lnTo>
                  <a:lnTo>
                    <a:pt x="4614960" y="3403600"/>
                  </a:lnTo>
                  <a:lnTo>
                    <a:pt x="4657938" y="3390900"/>
                  </a:lnTo>
                  <a:lnTo>
                    <a:pt x="4992481" y="3390900"/>
                  </a:lnTo>
                  <a:lnTo>
                    <a:pt x="4998203" y="3378200"/>
                  </a:lnTo>
                  <a:lnTo>
                    <a:pt x="5033218" y="3340100"/>
                  </a:lnTo>
                  <a:lnTo>
                    <a:pt x="4989640" y="3289300"/>
                  </a:lnTo>
                  <a:lnTo>
                    <a:pt x="4422215" y="3289300"/>
                  </a:lnTo>
                  <a:lnTo>
                    <a:pt x="4412908" y="3276600"/>
                  </a:lnTo>
                  <a:lnTo>
                    <a:pt x="4404786" y="3276600"/>
                  </a:lnTo>
                  <a:lnTo>
                    <a:pt x="4369804" y="3238500"/>
                  </a:lnTo>
                  <a:close/>
                </a:path>
                <a:path w="5244465" h="4432300">
                  <a:moveTo>
                    <a:pt x="4992481" y="3390900"/>
                  </a:moveTo>
                  <a:lnTo>
                    <a:pt x="4657938" y="3390900"/>
                  </a:lnTo>
                  <a:lnTo>
                    <a:pt x="4700916" y="3403600"/>
                  </a:lnTo>
                  <a:lnTo>
                    <a:pt x="4741389" y="3416300"/>
                  </a:lnTo>
                  <a:lnTo>
                    <a:pt x="4778675" y="3441700"/>
                  </a:lnTo>
                  <a:lnTo>
                    <a:pt x="4812095" y="3467100"/>
                  </a:lnTo>
                  <a:lnTo>
                    <a:pt x="4840966" y="3505200"/>
                  </a:lnTo>
                  <a:lnTo>
                    <a:pt x="4864608" y="3543300"/>
                  </a:lnTo>
                  <a:lnTo>
                    <a:pt x="4882338" y="3581400"/>
                  </a:lnTo>
                  <a:lnTo>
                    <a:pt x="4893475" y="3632200"/>
                  </a:lnTo>
                  <a:lnTo>
                    <a:pt x="4897339" y="3683000"/>
                  </a:lnTo>
                  <a:lnTo>
                    <a:pt x="4893475" y="3733800"/>
                  </a:lnTo>
                  <a:lnTo>
                    <a:pt x="4882338" y="3784600"/>
                  </a:lnTo>
                  <a:lnTo>
                    <a:pt x="4864608" y="3835400"/>
                  </a:lnTo>
                  <a:lnTo>
                    <a:pt x="4840966" y="3873500"/>
                  </a:lnTo>
                  <a:lnTo>
                    <a:pt x="4812095" y="3911600"/>
                  </a:lnTo>
                  <a:lnTo>
                    <a:pt x="4778675" y="3937000"/>
                  </a:lnTo>
                  <a:lnTo>
                    <a:pt x="4741389" y="3962400"/>
                  </a:lnTo>
                  <a:lnTo>
                    <a:pt x="4700916" y="3975100"/>
                  </a:lnTo>
                  <a:lnTo>
                    <a:pt x="4989878" y="3975100"/>
                  </a:lnTo>
                  <a:lnTo>
                    <a:pt x="4990470" y="3962400"/>
                  </a:lnTo>
                  <a:lnTo>
                    <a:pt x="4994353" y="3949700"/>
                  </a:lnTo>
                  <a:lnTo>
                    <a:pt x="5012584" y="3911600"/>
                  </a:lnTo>
                  <a:lnTo>
                    <a:pt x="5027841" y="3873500"/>
                  </a:lnTo>
                  <a:lnTo>
                    <a:pt x="5040074" y="3835400"/>
                  </a:lnTo>
                  <a:lnTo>
                    <a:pt x="5049232" y="3784600"/>
                  </a:lnTo>
                  <a:lnTo>
                    <a:pt x="5052951" y="3771900"/>
                  </a:lnTo>
                  <a:lnTo>
                    <a:pt x="5059352" y="3771900"/>
                  </a:lnTo>
                  <a:lnTo>
                    <a:pt x="5067776" y="3759200"/>
                  </a:lnTo>
                  <a:lnTo>
                    <a:pt x="5127346" y="3759200"/>
                  </a:lnTo>
                  <a:lnTo>
                    <a:pt x="5127346" y="3606800"/>
                  </a:lnTo>
                  <a:lnTo>
                    <a:pt x="5059348" y="3606800"/>
                  </a:lnTo>
                  <a:lnTo>
                    <a:pt x="5052946" y="3594100"/>
                  </a:lnTo>
                  <a:lnTo>
                    <a:pt x="5049232" y="3581400"/>
                  </a:lnTo>
                  <a:lnTo>
                    <a:pt x="5040069" y="3543300"/>
                  </a:lnTo>
                  <a:lnTo>
                    <a:pt x="5027837" y="3505200"/>
                  </a:lnTo>
                  <a:lnTo>
                    <a:pt x="5012583" y="3467100"/>
                  </a:lnTo>
                  <a:lnTo>
                    <a:pt x="4994353" y="3429000"/>
                  </a:lnTo>
                  <a:lnTo>
                    <a:pt x="4990468" y="3416300"/>
                  </a:lnTo>
                  <a:lnTo>
                    <a:pt x="4989873" y="3403600"/>
                  </a:lnTo>
                  <a:lnTo>
                    <a:pt x="4992481" y="3390900"/>
                  </a:lnTo>
                  <a:close/>
                </a:path>
                <a:path w="5244465" h="4432300">
                  <a:moveTo>
                    <a:pt x="4699495" y="3467100"/>
                  </a:moveTo>
                  <a:lnTo>
                    <a:pt x="4616381" y="3467100"/>
                  </a:lnTo>
                  <a:lnTo>
                    <a:pt x="4578206" y="3492500"/>
                  </a:lnTo>
                  <a:lnTo>
                    <a:pt x="4544512" y="3517900"/>
                  </a:lnTo>
                  <a:lnTo>
                    <a:pt x="4494953" y="3594100"/>
                  </a:lnTo>
                  <a:lnTo>
                    <a:pt x="4481283" y="3632200"/>
                  </a:lnTo>
                  <a:lnTo>
                    <a:pt x="4476483" y="3683000"/>
                  </a:lnTo>
                  <a:lnTo>
                    <a:pt x="4481283" y="3733800"/>
                  </a:lnTo>
                  <a:lnTo>
                    <a:pt x="4494953" y="3784600"/>
                  </a:lnTo>
                  <a:lnTo>
                    <a:pt x="4516395" y="3822700"/>
                  </a:lnTo>
                  <a:lnTo>
                    <a:pt x="4544512" y="3860800"/>
                  </a:lnTo>
                  <a:lnTo>
                    <a:pt x="4578206" y="3886200"/>
                  </a:lnTo>
                  <a:lnTo>
                    <a:pt x="4616381" y="3898900"/>
                  </a:lnTo>
                  <a:lnTo>
                    <a:pt x="4699495" y="3898900"/>
                  </a:lnTo>
                  <a:lnTo>
                    <a:pt x="4737669" y="3886200"/>
                  </a:lnTo>
                  <a:lnTo>
                    <a:pt x="4771364" y="3860800"/>
                  </a:lnTo>
                  <a:lnTo>
                    <a:pt x="4799480" y="3822700"/>
                  </a:lnTo>
                  <a:lnTo>
                    <a:pt x="4820922" y="3784600"/>
                  </a:lnTo>
                  <a:lnTo>
                    <a:pt x="4834592" y="3733800"/>
                  </a:lnTo>
                  <a:lnTo>
                    <a:pt x="4839393" y="3683000"/>
                  </a:lnTo>
                  <a:lnTo>
                    <a:pt x="4834592" y="3632200"/>
                  </a:lnTo>
                  <a:lnTo>
                    <a:pt x="4820922" y="3594100"/>
                  </a:lnTo>
                  <a:lnTo>
                    <a:pt x="4799480" y="3543300"/>
                  </a:lnTo>
                  <a:lnTo>
                    <a:pt x="4737669" y="3492500"/>
                  </a:lnTo>
                  <a:lnTo>
                    <a:pt x="4699495" y="3467100"/>
                  </a:lnTo>
                  <a:close/>
                </a:path>
                <a:path w="5244465" h="4432300">
                  <a:moveTo>
                    <a:pt x="4742423" y="3213100"/>
                  </a:moveTo>
                  <a:lnTo>
                    <a:pt x="4573441" y="3213100"/>
                  </a:lnTo>
                  <a:lnTo>
                    <a:pt x="4538533" y="3225800"/>
                  </a:lnTo>
                  <a:lnTo>
                    <a:pt x="4504747" y="3238500"/>
                  </a:lnTo>
                  <a:lnTo>
                    <a:pt x="4472199" y="3251200"/>
                  </a:lnTo>
                  <a:lnTo>
                    <a:pt x="4441003" y="3276600"/>
                  </a:lnTo>
                  <a:lnTo>
                    <a:pt x="4431861" y="3289300"/>
                  </a:lnTo>
                  <a:lnTo>
                    <a:pt x="4883999" y="3289300"/>
                  </a:lnTo>
                  <a:lnTo>
                    <a:pt x="4843665" y="3251200"/>
                  </a:lnTo>
                  <a:lnTo>
                    <a:pt x="4777326" y="3225800"/>
                  </a:lnTo>
                  <a:lnTo>
                    <a:pt x="4742423" y="3213100"/>
                  </a:lnTo>
                  <a:close/>
                </a:path>
                <a:path w="5244465" h="4432300">
                  <a:moveTo>
                    <a:pt x="4946061" y="3238500"/>
                  </a:moveTo>
                  <a:lnTo>
                    <a:pt x="4911068" y="3276600"/>
                  </a:lnTo>
                  <a:lnTo>
                    <a:pt x="4902950" y="3276600"/>
                  </a:lnTo>
                  <a:lnTo>
                    <a:pt x="4893644" y="3289300"/>
                  </a:lnTo>
                  <a:lnTo>
                    <a:pt x="4989640" y="3289300"/>
                  </a:lnTo>
                  <a:lnTo>
                    <a:pt x="4946061" y="3238500"/>
                  </a:lnTo>
                  <a:close/>
                </a:path>
                <a:path w="5244465" h="4432300">
                  <a:moveTo>
                    <a:pt x="4719540" y="3124200"/>
                  </a:moveTo>
                  <a:lnTo>
                    <a:pt x="4596326" y="3124200"/>
                  </a:lnTo>
                  <a:lnTo>
                    <a:pt x="4596326" y="3175000"/>
                  </a:lnTo>
                  <a:lnTo>
                    <a:pt x="4594627" y="3187700"/>
                  </a:lnTo>
                  <a:lnTo>
                    <a:pt x="4589888" y="3200400"/>
                  </a:lnTo>
                  <a:lnTo>
                    <a:pt x="4582646" y="3213100"/>
                  </a:lnTo>
                  <a:lnTo>
                    <a:pt x="4733214" y="3213100"/>
                  </a:lnTo>
                  <a:lnTo>
                    <a:pt x="4725974" y="3200400"/>
                  </a:lnTo>
                  <a:lnTo>
                    <a:pt x="4721238" y="3187700"/>
                  </a:lnTo>
                  <a:lnTo>
                    <a:pt x="4719540" y="3175000"/>
                  </a:lnTo>
                  <a:lnTo>
                    <a:pt x="4719540" y="3124200"/>
                  </a:lnTo>
                  <a:close/>
                </a:path>
                <a:path w="5244465" h="4432300">
                  <a:moveTo>
                    <a:pt x="4538379" y="3149600"/>
                  </a:moveTo>
                  <a:lnTo>
                    <a:pt x="4380720" y="3149600"/>
                  </a:lnTo>
                  <a:lnTo>
                    <a:pt x="4390299" y="3162300"/>
                  </a:lnTo>
                  <a:lnTo>
                    <a:pt x="4429652" y="3200400"/>
                  </a:lnTo>
                  <a:lnTo>
                    <a:pt x="4455723" y="3187700"/>
                  </a:lnTo>
                  <a:lnTo>
                    <a:pt x="4482568" y="3175000"/>
                  </a:lnTo>
                  <a:lnTo>
                    <a:pt x="4510136" y="3162300"/>
                  </a:lnTo>
                  <a:lnTo>
                    <a:pt x="4538379" y="3149600"/>
                  </a:lnTo>
                  <a:close/>
                </a:path>
                <a:path w="5244465" h="4432300">
                  <a:moveTo>
                    <a:pt x="5017057" y="3048000"/>
                  </a:moveTo>
                  <a:lnTo>
                    <a:pt x="4759792" y="3048000"/>
                  </a:lnTo>
                  <a:lnTo>
                    <a:pt x="4769001" y="3060700"/>
                  </a:lnTo>
                  <a:lnTo>
                    <a:pt x="4775210" y="3073400"/>
                  </a:lnTo>
                  <a:lnTo>
                    <a:pt x="4777487" y="3086100"/>
                  </a:lnTo>
                  <a:lnTo>
                    <a:pt x="4777487" y="3149600"/>
                  </a:lnTo>
                  <a:lnTo>
                    <a:pt x="4805736" y="3162300"/>
                  </a:lnTo>
                  <a:lnTo>
                    <a:pt x="4833308" y="3175000"/>
                  </a:lnTo>
                  <a:lnTo>
                    <a:pt x="4860154" y="3187700"/>
                  </a:lnTo>
                  <a:lnTo>
                    <a:pt x="4886225" y="3200400"/>
                  </a:lnTo>
                  <a:lnTo>
                    <a:pt x="4925565" y="3162300"/>
                  </a:lnTo>
                  <a:lnTo>
                    <a:pt x="4935151" y="3149600"/>
                  </a:lnTo>
                  <a:lnTo>
                    <a:pt x="5052696" y="3149600"/>
                  </a:lnTo>
                  <a:lnTo>
                    <a:pt x="5037430" y="3136900"/>
                  </a:lnTo>
                  <a:lnTo>
                    <a:pt x="5026257" y="3111500"/>
                  </a:lnTo>
                  <a:lnTo>
                    <a:pt x="5019393" y="3073400"/>
                  </a:lnTo>
                  <a:lnTo>
                    <a:pt x="5017057" y="3048000"/>
                  </a:lnTo>
                  <a:close/>
                </a:path>
                <a:path w="5244465" h="4432300">
                  <a:moveTo>
                    <a:pt x="5197187" y="3175000"/>
                  </a:moveTo>
                  <a:lnTo>
                    <a:pt x="5183504" y="3187700"/>
                  </a:lnTo>
                  <a:lnTo>
                    <a:pt x="5169111" y="3187700"/>
                  </a:lnTo>
                  <a:lnTo>
                    <a:pt x="5154146" y="3200400"/>
                  </a:lnTo>
                  <a:lnTo>
                    <a:pt x="5214186" y="3200400"/>
                  </a:lnTo>
                  <a:lnTo>
                    <a:pt x="5197187" y="3175000"/>
                  </a:lnTo>
                  <a:close/>
                </a:path>
                <a:path w="5244465" h="4432300">
                  <a:moveTo>
                    <a:pt x="5244463" y="3124200"/>
                  </a:moveTo>
                  <a:lnTo>
                    <a:pt x="5240013" y="3136900"/>
                  </a:lnTo>
                  <a:lnTo>
                    <a:pt x="5244463" y="3136900"/>
                  </a:lnTo>
                  <a:lnTo>
                    <a:pt x="5244463" y="3124200"/>
                  </a:lnTo>
                  <a:close/>
                </a:path>
                <a:path w="5244465" h="4432300">
                  <a:moveTo>
                    <a:pt x="5163150" y="2971800"/>
                  </a:moveTo>
                  <a:lnTo>
                    <a:pt x="5114339" y="2971800"/>
                  </a:lnTo>
                  <a:lnTo>
                    <a:pt x="5103401" y="2984500"/>
                  </a:lnTo>
                  <a:lnTo>
                    <a:pt x="5079825" y="3022600"/>
                  </a:lnTo>
                  <a:lnTo>
                    <a:pt x="5075003" y="3048000"/>
                  </a:lnTo>
                  <a:lnTo>
                    <a:pt x="5076228" y="3060700"/>
                  </a:lnTo>
                  <a:lnTo>
                    <a:pt x="5093677" y="3098800"/>
                  </a:lnTo>
                  <a:lnTo>
                    <a:pt x="5114334" y="3124200"/>
                  </a:lnTo>
                  <a:lnTo>
                    <a:pt x="5163150" y="3124200"/>
                  </a:lnTo>
                  <a:lnTo>
                    <a:pt x="5174092" y="3111500"/>
                  </a:lnTo>
                  <a:lnTo>
                    <a:pt x="5183822" y="3098800"/>
                  </a:lnTo>
                  <a:lnTo>
                    <a:pt x="5197796" y="3073400"/>
                  </a:lnTo>
                  <a:lnTo>
                    <a:pt x="5202454" y="3048000"/>
                  </a:lnTo>
                  <a:lnTo>
                    <a:pt x="5197796" y="3022600"/>
                  </a:lnTo>
                  <a:lnTo>
                    <a:pt x="5183822" y="2997200"/>
                  </a:lnTo>
                  <a:lnTo>
                    <a:pt x="5174092" y="2984500"/>
                  </a:lnTo>
                  <a:lnTo>
                    <a:pt x="5163150" y="2971800"/>
                  </a:lnTo>
                  <a:close/>
                </a:path>
                <a:path w="5244465" h="4432300">
                  <a:moveTo>
                    <a:pt x="5244463" y="2857499"/>
                  </a:moveTo>
                  <a:lnTo>
                    <a:pt x="4945200" y="2857500"/>
                  </a:lnTo>
                  <a:lnTo>
                    <a:pt x="4948804" y="2870200"/>
                  </a:lnTo>
                  <a:lnTo>
                    <a:pt x="4951469" y="2870200"/>
                  </a:lnTo>
                  <a:lnTo>
                    <a:pt x="4953122" y="2882900"/>
                  </a:lnTo>
                  <a:lnTo>
                    <a:pt x="4953689" y="2882900"/>
                  </a:lnTo>
                  <a:lnTo>
                    <a:pt x="4953120" y="2895600"/>
                  </a:lnTo>
                  <a:lnTo>
                    <a:pt x="4951465" y="2895600"/>
                  </a:lnTo>
                  <a:lnTo>
                    <a:pt x="4948800" y="2908300"/>
                  </a:lnTo>
                  <a:lnTo>
                    <a:pt x="5185337" y="2908300"/>
                  </a:lnTo>
                  <a:lnTo>
                    <a:pt x="5206220" y="2921000"/>
                  </a:lnTo>
                  <a:lnTo>
                    <a:pt x="5224792" y="2946400"/>
                  </a:lnTo>
                  <a:lnTo>
                    <a:pt x="5244463" y="2984500"/>
                  </a:lnTo>
                  <a:lnTo>
                    <a:pt x="5244463" y="2857499"/>
                  </a:lnTo>
                  <a:close/>
                </a:path>
                <a:path w="5244465" h="4432300">
                  <a:moveTo>
                    <a:pt x="5092150" y="2908300"/>
                  </a:moveTo>
                  <a:lnTo>
                    <a:pt x="4945200" y="2908300"/>
                  </a:lnTo>
                  <a:lnTo>
                    <a:pt x="4939814" y="2921000"/>
                  </a:lnTo>
                  <a:lnTo>
                    <a:pt x="5071267" y="2921000"/>
                  </a:lnTo>
                  <a:lnTo>
                    <a:pt x="5092150" y="2908300"/>
                  </a:lnTo>
                  <a:close/>
                </a:path>
                <a:path w="5244465" h="4432300">
                  <a:moveTo>
                    <a:pt x="4692291" y="2857500"/>
                  </a:moveTo>
                  <a:lnTo>
                    <a:pt x="4614759" y="2857500"/>
                  </a:lnTo>
                  <a:lnTo>
                    <a:pt x="4572286" y="2870200"/>
                  </a:lnTo>
                  <a:lnTo>
                    <a:pt x="4726517" y="2870200"/>
                  </a:lnTo>
                  <a:lnTo>
                    <a:pt x="4692291" y="2857500"/>
                  </a:lnTo>
                  <a:close/>
                </a:path>
                <a:path w="5244465" h="4432300">
                  <a:moveTo>
                    <a:pt x="5244463" y="2794000"/>
                  </a:moveTo>
                  <a:lnTo>
                    <a:pt x="4769132" y="2794000"/>
                  </a:lnTo>
                  <a:lnTo>
                    <a:pt x="4805588" y="2806700"/>
                  </a:lnTo>
                  <a:lnTo>
                    <a:pt x="4816191" y="2819400"/>
                  </a:lnTo>
                  <a:lnTo>
                    <a:pt x="4823988" y="2819400"/>
                  </a:lnTo>
                  <a:lnTo>
                    <a:pt x="4828248" y="2832100"/>
                  </a:lnTo>
                  <a:lnTo>
                    <a:pt x="4828246" y="2844800"/>
                  </a:lnTo>
                  <a:lnTo>
                    <a:pt x="4823779" y="2857500"/>
                  </a:lnTo>
                  <a:lnTo>
                    <a:pt x="4815865" y="2870200"/>
                  </a:lnTo>
                  <a:lnTo>
                    <a:pt x="4900637" y="2870200"/>
                  </a:lnTo>
                  <a:lnTo>
                    <a:pt x="4904243" y="2857500"/>
                  </a:lnTo>
                  <a:lnTo>
                    <a:pt x="5244463" y="2857499"/>
                  </a:lnTo>
                  <a:lnTo>
                    <a:pt x="5244463" y="279400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171835" y="-28052"/>
            <a:ext cx="3740785" cy="1059180"/>
          </a:xfrm>
          <a:prstGeom prst="rect">
            <a:avLst/>
          </a:prstGeom>
        </p:spPr>
        <p:txBody>
          <a:bodyPr vert="horz" wrap="square" lIns="0" tIns="214629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689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25" dirty="0">
                <a:latin typeface="Arial"/>
                <a:cs typeface="Arial"/>
              </a:rPr>
              <a:t>Ejemplo: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165" dirty="0">
                <a:latin typeface="Arial"/>
                <a:cs typeface="Arial"/>
              </a:rPr>
              <a:t>HouseVotes84</a:t>
            </a:r>
            <a:endParaRPr sz="28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1025"/>
              </a:spcBef>
            </a:pPr>
            <a:r>
              <a:rPr sz="1800" b="1" spc="-10" dirty="0">
                <a:latin typeface="Courier New"/>
                <a:cs typeface="Courier New"/>
              </a:rPr>
              <a:t>attr_importance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047148" y="1034981"/>
          <a:ext cx="2733675" cy="3952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2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9554">
                <a:tc>
                  <a:txBody>
                    <a:bodyPr/>
                    <a:lstStyle/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b="1" spc="-25" dirty="0">
                          <a:latin typeface="Courier New"/>
                          <a:cs typeface="Courier New"/>
                        </a:rPr>
                        <a:t>V1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60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0.409330348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285">
                <a:tc>
                  <a:txBody>
                    <a:bodyPr/>
                    <a:lstStyle/>
                    <a:p>
                      <a:pPr marL="31750">
                        <a:lnSpc>
                          <a:spcPts val="1785"/>
                        </a:lnSpc>
                      </a:pPr>
                      <a:r>
                        <a:rPr sz="1800" b="1" spc="-25" dirty="0">
                          <a:latin typeface="Courier New"/>
                          <a:cs typeface="Courier New"/>
                        </a:rPr>
                        <a:t>V2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785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0.004534049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285">
                <a:tc>
                  <a:txBody>
                    <a:bodyPr/>
                    <a:lstStyle/>
                    <a:p>
                      <a:pPr marL="31750">
                        <a:lnSpc>
                          <a:spcPts val="1845"/>
                        </a:lnSpc>
                      </a:pPr>
                      <a:r>
                        <a:rPr sz="1800" b="1" spc="-2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V3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45"/>
                        </a:lnSpc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0.748864321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665">
                <a:tc>
                  <a:txBody>
                    <a:bodyPr/>
                    <a:lstStyle/>
                    <a:p>
                      <a:pPr marL="31750">
                        <a:lnSpc>
                          <a:spcPts val="1785"/>
                        </a:lnSpc>
                      </a:pPr>
                      <a:r>
                        <a:rPr sz="1800" b="1" spc="-2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V4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785"/>
                        </a:lnSpc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0.923255954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79">
                <a:tc>
                  <a:txBody>
                    <a:bodyPr/>
                    <a:lstStyle/>
                    <a:p>
                      <a:pPr marL="31750">
                        <a:lnSpc>
                          <a:spcPts val="1785"/>
                        </a:lnSpc>
                      </a:pPr>
                      <a:r>
                        <a:rPr sz="1800" b="1" spc="-25" dirty="0">
                          <a:latin typeface="Courier New"/>
                          <a:cs typeface="Courier New"/>
                        </a:rPr>
                        <a:t>V5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785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0.718768923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285">
                <a:tc>
                  <a:txBody>
                    <a:bodyPr/>
                    <a:lstStyle/>
                    <a:p>
                      <a:pPr marL="31750">
                        <a:lnSpc>
                          <a:spcPts val="1835"/>
                        </a:lnSpc>
                      </a:pPr>
                      <a:r>
                        <a:rPr sz="1800" b="1" spc="-25" dirty="0">
                          <a:latin typeface="Courier New"/>
                          <a:cs typeface="Courier New"/>
                        </a:rPr>
                        <a:t>V6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35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0.428332508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285">
                <a:tc>
                  <a:txBody>
                    <a:bodyPr/>
                    <a:lstStyle/>
                    <a:p>
                      <a:pPr marL="31750">
                        <a:lnSpc>
                          <a:spcPts val="1800"/>
                        </a:lnSpc>
                      </a:pPr>
                      <a:r>
                        <a:rPr sz="1800" b="1" spc="-25" dirty="0">
                          <a:latin typeface="Courier New"/>
                          <a:cs typeface="Courier New"/>
                        </a:rPr>
                        <a:t>V7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00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0.521967369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79">
                <a:tc>
                  <a:txBody>
                    <a:bodyPr/>
                    <a:lstStyle/>
                    <a:p>
                      <a:pPr marL="31750">
                        <a:lnSpc>
                          <a:spcPts val="1835"/>
                        </a:lnSpc>
                      </a:pPr>
                      <a:r>
                        <a:rPr sz="1800" b="1" spc="-2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V8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35"/>
                        </a:lnSpc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0.661876085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79">
                <a:tc>
                  <a:txBody>
                    <a:bodyPr/>
                    <a:lstStyle/>
                    <a:p>
                      <a:pPr marL="31750">
                        <a:lnSpc>
                          <a:spcPts val="1785"/>
                        </a:lnSpc>
                      </a:pPr>
                      <a:r>
                        <a:rPr sz="1800" b="1" spc="-25" dirty="0">
                          <a:latin typeface="Courier New"/>
                          <a:cs typeface="Courier New"/>
                        </a:rPr>
                        <a:t>V9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785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0.629797943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8285">
                <a:tc>
                  <a:txBody>
                    <a:bodyPr/>
                    <a:lstStyle/>
                    <a:p>
                      <a:pPr marL="31750">
                        <a:lnSpc>
                          <a:spcPts val="1835"/>
                        </a:lnSpc>
                      </a:pPr>
                      <a:r>
                        <a:rPr sz="1800" b="1" spc="-25" dirty="0">
                          <a:latin typeface="Courier New"/>
                          <a:cs typeface="Courier New"/>
                        </a:rPr>
                        <a:t>V10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35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0.083809300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8285">
                <a:tc>
                  <a:txBody>
                    <a:bodyPr/>
                    <a:lstStyle/>
                    <a:p>
                      <a:pPr marL="31750">
                        <a:lnSpc>
                          <a:spcPts val="1800"/>
                        </a:lnSpc>
                      </a:pPr>
                      <a:r>
                        <a:rPr sz="1800" b="1" spc="-25" dirty="0">
                          <a:latin typeface="Courier New"/>
                          <a:cs typeface="Courier New"/>
                        </a:rPr>
                        <a:t>V11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00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0.378240781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79">
                <a:tc>
                  <a:txBody>
                    <a:bodyPr/>
                    <a:lstStyle/>
                    <a:p>
                      <a:pPr marL="31750">
                        <a:lnSpc>
                          <a:spcPts val="1835"/>
                        </a:lnSpc>
                      </a:pPr>
                      <a:r>
                        <a:rPr sz="1800" b="1" spc="-2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V12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35"/>
                        </a:lnSpc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0.714922593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0665">
                <a:tc>
                  <a:txBody>
                    <a:bodyPr/>
                    <a:lstStyle/>
                    <a:p>
                      <a:pPr marL="31750">
                        <a:lnSpc>
                          <a:spcPts val="1785"/>
                        </a:lnSpc>
                      </a:pPr>
                      <a:r>
                        <a:rPr sz="1800" b="1" spc="-25" dirty="0">
                          <a:latin typeface="Courier New"/>
                          <a:cs typeface="Courier New"/>
                        </a:rPr>
                        <a:t>V13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785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0.555971176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8285">
                <a:tc>
                  <a:txBody>
                    <a:bodyPr/>
                    <a:lstStyle/>
                    <a:p>
                      <a:pPr marL="31750">
                        <a:lnSpc>
                          <a:spcPts val="1785"/>
                        </a:lnSpc>
                      </a:pPr>
                      <a:r>
                        <a:rPr sz="1800" b="1" spc="-25" dirty="0">
                          <a:latin typeface="Courier New"/>
                          <a:cs typeface="Courier New"/>
                        </a:rPr>
                        <a:t>V14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785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0.625283342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8285">
                <a:tc>
                  <a:txBody>
                    <a:bodyPr/>
                    <a:lstStyle/>
                    <a:p>
                      <a:pPr marL="31750">
                        <a:lnSpc>
                          <a:spcPts val="1845"/>
                        </a:lnSpc>
                      </a:pPr>
                      <a:r>
                        <a:rPr sz="1800" b="1" spc="-25" dirty="0">
                          <a:latin typeface="Courier New"/>
                          <a:cs typeface="Courier New"/>
                        </a:rPr>
                        <a:t>V15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45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0.538263037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31750">
                        <a:lnSpc>
                          <a:spcPts val="1785"/>
                        </a:lnSpc>
                      </a:pPr>
                      <a:r>
                        <a:rPr sz="1800" b="1" spc="-25" dirty="0">
                          <a:latin typeface="Courier New"/>
                          <a:cs typeface="Courier New"/>
                        </a:rPr>
                        <a:t>V16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785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0.353273580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2268" y="118509"/>
            <a:ext cx="3148330" cy="129159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Transformación</a:t>
            </a:r>
            <a:endParaRPr sz="4000">
              <a:latin typeface="Arial Narrow"/>
              <a:cs typeface="Arial Narrow"/>
            </a:endParaRPr>
          </a:p>
          <a:p>
            <a:pPr marL="894080">
              <a:lnSpc>
                <a:spcPct val="100000"/>
              </a:lnSpc>
              <a:spcBef>
                <a:spcPts val="745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Otras</a:t>
            </a:r>
            <a:r>
              <a:rPr sz="2800" b="1" spc="-2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técnicas: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54886" y="3893027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71835" y="174243"/>
            <a:ext cx="4371340" cy="2253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80" dirty="0">
                <a:latin typeface="Arial"/>
                <a:cs typeface="Arial"/>
              </a:rPr>
              <a:t>Normalizaciones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215" dirty="0">
                <a:latin typeface="Arial"/>
                <a:cs typeface="Arial"/>
              </a:rPr>
              <a:t>Escalado</a:t>
            </a:r>
            <a:r>
              <a:rPr sz="2800" spc="-140" dirty="0">
                <a:latin typeface="Arial"/>
                <a:cs typeface="Arial"/>
              </a:rPr>
              <a:t> y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centrado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244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75" dirty="0">
                <a:latin typeface="Arial"/>
                <a:cs typeface="Arial"/>
              </a:rPr>
              <a:t>Selección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40" dirty="0">
                <a:latin typeface="Arial"/>
                <a:cs typeface="Arial"/>
              </a:rPr>
              <a:t>instancias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2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45" dirty="0">
                <a:latin typeface="Arial"/>
                <a:cs typeface="Arial"/>
              </a:rPr>
              <a:t>Extracción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0" dirty="0">
                <a:latin typeface="Arial"/>
                <a:cs typeface="Arial"/>
              </a:rPr>
              <a:t> características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2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919" dirty="0">
                <a:latin typeface="Arial"/>
                <a:cs typeface="Arial"/>
              </a:rPr>
              <a:t>…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6840" y="2706817"/>
            <a:ext cx="2336800" cy="228534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0"/>
            <a:ext cx="5002530" cy="3938270"/>
          </a:xfrm>
          <a:custGeom>
            <a:avLst/>
            <a:gdLst/>
            <a:ahLst/>
            <a:cxnLst/>
            <a:rect l="l" t="t" r="r" b="b"/>
            <a:pathLst>
              <a:path w="5002530" h="3938270">
                <a:moveTo>
                  <a:pt x="0" y="1704928"/>
                </a:moveTo>
                <a:lnTo>
                  <a:pt x="0" y="3856309"/>
                </a:lnTo>
                <a:lnTo>
                  <a:pt x="579720" y="3937783"/>
                </a:lnTo>
                <a:lnTo>
                  <a:pt x="1255398" y="2957054"/>
                </a:lnTo>
                <a:lnTo>
                  <a:pt x="876220" y="1828073"/>
                </a:lnTo>
                <a:lnTo>
                  <a:pt x="0" y="1704928"/>
                </a:lnTo>
                <a:close/>
              </a:path>
              <a:path w="5002530" h="3938270">
                <a:moveTo>
                  <a:pt x="1716059" y="768286"/>
                </a:moveTo>
                <a:lnTo>
                  <a:pt x="1040381" y="1749016"/>
                </a:lnTo>
                <a:lnTo>
                  <a:pt x="1419558" y="2877996"/>
                </a:lnTo>
                <a:lnTo>
                  <a:pt x="2811966" y="3073687"/>
                </a:lnTo>
                <a:lnTo>
                  <a:pt x="3487644" y="2092957"/>
                </a:lnTo>
                <a:lnTo>
                  <a:pt x="3108467" y="963976"/>
                </a:lnTo>
                <a:lnTo>
                  <a:pt x="1716059" y="768286"/>
                </a:lnTo>
                <a:close/>
              </a:path>
              <a:path w="5002530" h="3938270">
                <a:moveTo>
                  <a:pt x="1331643" y="0"/>
                </a:moveTo>
                <a:lnTo>
                  <a:pt x="0" y="0"/>
                </a:lnTo>
                <a:lnTo>
                  <a:pt x="0" y="1510524"/>
                </a:lnTo>
                <a:lnTo>
                  <a:pt x="875213" y="1633527"/>
                </a:lnTo>
                <a:lnTo>
                  <a:pt x="1550890" y="652797"/>
                </a:lnTo>
                <a:lnTo>
                  <a:pt x="1331643" y="0"/>
                </a:lnTo>
                <a:close/>
              </a:path>
              <a:path w="5002530" h="3938270">
                <a:moveTo>
                  <a:pt x="3995936" y="267493"/>
                </a:moveTo>
                <a:lnTo>
                  <a:pt x="3948860" y="270028"/>
                </a:lnTo>
                <a:lnTo>
                  <a:pt x="3903251" y="277458"/>
                </a:lnTo>
                <a:lnTo>
                  <a:pt x="3859375" y="289519"/>
                </a:lnTo>
                <a:lnTo>
                  <a:pt x="3817494" y="305948"/>
                </a:lnTo>
                <a:lnTo>
                  <a:pt x="3777872" y="326480"/>
                </a:lnTo>
                <a:lnTo>
                  <a:pt x="3740773" y="350853"/>
                </a:lnTo>
                <a:lnTo>
                  <a:pt x="3706460" y="378803"/>
                </a:lnTo>
                <a:lnTo>
                  <a:pt x="3675197" y="410066"/>
                </a:lnTo>
                <a:lnTo>
                  <a:pt x="3647247" y="444379"/>
                </a:lnTo>
                <a:lnTo>
                  <a:pt x="3622874" y="481478"/>
                </a:lnTo>
                <a:lnTo>
                  <a:pt x="3602342" y="521100"/>
                </a:lnTo>
                <a:lnTo>
                  <a:pt x="3585913" y="562980"/>
                </a:lnTo>
                <a:lnTo>
                  <a:pt x="3573852" y="606856"/>
                </a:lnTo>
                <a:lnTo>
                  <a:pt x="3566423" y="652464"/>
                </a:lnTo>
                <a:lnTo>
                  <a:pt x="3563887" y="699541"/>
                </a:lnTo>
                <a:lnTo>
                  <a:pt x="3566423" y="746617"/>
                </a:lnTo>
                <a:lnTo>
                  <a:pt x="3573852" y="792225"/>
                </a:lnTo>
                <a:lnTo>
                  <a:pt x="3585913" y="836102"/>
                </a:lnTo>
                <a:lnTo>
                  <a:pt x="3602342" y="877982"/>
                </a:lnTo>
                <a:lnTo>
                  <a:pt x="3622874" y="917604"/>
                </a:lnTo>
                <a:lnTo>
                  <a:pt x="3647247" y="954703"/>
                </a:lnTo>
                <a:lnTo>
                  <a:pt x="3675197" y="989016"/>
                </a:lnTo>
                <a:lnTo>
                  <a:pt x="3706460" y="1020279"/>
                </a:lnTo>
                <a:lnTo>
                  <a:pt x="3740773" y="1048229"/>
                </a:lnTo>
                <a:lnTo>
                  <a:pt x="3777872" y="1072602"/>
                </a:lnTo>
                <a:lnTo>
                  <a:pt x="3817494" y="1093134"/>
                </a:lnTo>
                <a:lnTo>
                  <a:pt x="3859375" y="1109563"/>
                </a:lnTo>
                <a:lnTo>
                  <a:pt x="3903251" y="1121624"/>
                </a:lnTo>
                <a:lnTo>
                  <a:pt x="3948860" y="1129053"/>
                </a:lnTo>
                <a:lnTo>
                  <a:pt x="3995936" y="1131589"/>
                </a:lnTo>
                <a:lnTo>
                  <a:pt x="4043013" y="1129053"/>
                </a:lnTo>
                <a:lnTo>
                  <a:pt x="4088620" y="1121624"/>
                </a:lnTo>
                <a:lnTo>
                  <a:pt x="4132496" y="1109563"/>
                </a:lnTo>
                <a:lnTo>
                  <a:pt x="4174377" y="1093134"/>
                </a:lnTo>
                <a:lnTo>
                  <a:pt x="4213998" y="1072602"/>
                </a:lnTo>
                <a:lnTo>
                  <a:pt x="4251097" y="1048229"/>
                </a:lnTo>
                <a:lnTo>
                  <a:pt x="4285410" y="1020279"/>
                </a:lnTo>
                <a:lnTo>
                  <a:pt x="4316673" y="989016"/>
                </a:lnTo>
                <a:lnTo>
                  <a:pt x="4344623" y="954703"/>
                </a:lnTo>
                <a:lnTo>
                  <a:pt x="4368996" y="917604"/>
                </a:lnTo>
                <a:lnTo>
                  <a:pt x="4389528" y="877982"/>
                </a:lnTo>
                <a:lnTo>
                  <a:pt x="4405957" y="836102"/>
                </a:lnTo>
                <a:lnTo>
                  <a:pt x="4418018" y="792225"/>
                </a:lnTo>
                <a:lnTo>
                  <a:pt x="4425447" y="746617"/>
                </a:lnTo>
                <a:lnTo>
                  <a:pt x="4427983" y="699541"/>
                </a:lnTo>
                <a:lnTo>
                  <a:pt x="4425466" y="652797"/>
                </a:lnTo>
                <a:lnTo>
                  <a:pt x="4418018" y="606856"/>
                </a:lnTo>
                <a:lnTo>
                  <a:pt x="4405957" y="562980"/>
                </a:lnTo>
                <a:lnTo>
                  <a:pt x="4389529" y="521100"/>
                </a:lnTo>
                <a:lnTo>
                  <a:pt x="4368996" y="481478"/>
                </a:lnTo>
                <a:lnTo>
                  <a:pt x="4344624" y="444379"/>
                </a:lnTo>
                <a:lnTo>
                  <a:pt x="4316674" y="410066"/>
                </a:lnTo>
                <a:lnTo>
                  <a:pt x="4285411" y="378803"/>
                </a:lnTo>
                <a:lnTo>
                  <a:pt x="4251098" y="350853"/>
                </a:lnTo>
                <a:lnTo>
                  <a:pt x="4214000" y="326480"/>
                </a:lnTo>
                <a:lnTo>
                  <a:pt x="4174378" y="305948"/>
                </a:lnTo>
                <a:lnTo>
                  <a:pt x="4132498" y="289519"/>
                </a:lnTo>
                <a:lnTo>
                  <a:pt x="4088622" y="277458"/>
                </a:lnTo>
                <a:lnTo>
                  <a:pt x="4043014" y="270028"/>
                </a:lnTo>
                <a:lnTo>
                  <a:pt x="3995936" y="267493"/>
                </a:lnTo>
                <a:close/>
              </a:path>
              <a:path w="5002530" h="3938270">
                <a:moveTo>
                  <a:pt x="3641270" y="0"/>
                </a:moveTo>
                <a:lnTo>
                  <a:pt x="1520549" y="0"/>
                </a:lnTo>
                <a:lnTo>
                  <a:pt x="1715051" y="579121"/>
                </a:lnTo>
                <a:lnTo>
                  <a:pt x="3107460" y="774811"/>
                </a:lnTo>
                <a:lnTo>
                  <a:pt x="3641270" y="0"/>
                </a:lnTo>
                <a:close/>
              </a:path>
              <a:path w="5002530" h="3938270">
                <a:moveTo>
                  <a:pt x="5001954" y="0"/>
                </a:moveTo>
                <a:lnTo>
                  <a:pt x="4158813" y="0"/>
                </a:lnTo>
                <a:lnTo>
                  <a:pt x="4182288" y="75625"/>
                </a:lnTo>
                <a:lnTo>
                  <a:pt x="4202310" y="116723"/>
                </a:lnTo>
                <a:lnTo>
                  <a:pt x="4226411" y="155244"/>
                </a:lnTo>
                <a:lnTo>
                  <a:pt x="4254310" y="190908"/>
                </a:lnTo>
                <a:lnTo>
                  <a:pt x="4285724" y="223432"/>
                </a:lnTo>
                <a:lnTo>
                  <a:pt x="4320373" y="252534"/>
                </a:lnTo>
                <a:lnTo>
                  <a:pt x="4357973" y="277932"/>
                </a:lnTo>
                <a:lnTo>
                  <a:pt x="4398243" y="299345"/>
                </a:lnTo>
                <a:lnTo>
                  <a:pt x="4440901" y="316490"/>
                </a:lnTo>
                <a:lnTo>
                  <a:pt x="4485665" y="329086"/>
                </a:lnTo>
                <a:lnTo>
                  <a:pt x="4532253" y="336850"/>
                </a:lnTo>
                <a:lnTo>
                  <a:pt x="4580383" y="339501"/>
                </a:lnTo>
                <a:lnTo>
                  <a:pt x="4628513" y="336850"/>
                </a:lnTo>
                <a:lnTo>
                  <a:pt x="4675101" y="329086"/>
                </a:lnTo>
                <a:lnTo>
                  <a:pt x="4719866" y="316490"/>
                </a:lnTo>
                <a:lnTo>
                  <a:pt x="4762524" y="299345"/>
                </a:lnTo>
                <a:lnTo>
                  <a:pt x="4802794" y="277932"/>
                </a:lnTo>
                <a:lnTo>
                  <a:pt x="4840394" y="252534"/>
                </a:lnTo>
                <a:lnTo>
                  <a:pt x="4875043" y="223432"/>
                </a:lnTo>
                <a:lnTo>
                  <a:pt x="4906457" y="190908"/>
                </a:lnTo>
                <a:lnTo>
                  <a:pt x="4934356" y="155244"/>
                </a:lnTo>
                <a:lnTo>
                  <a:pt x="4958458" y="116723"/>
                </a:lnTo>
                <a:lnTo>
                  <a:pt x="4978479" y="75625"/>
                </a:lnTo>
                <a:lnTo>
                  <a:pt x="5001954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46683" y="3165348"/>
            <a:ext cx="245300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Big</a:t>
            </a:r>
            <a:r>
              <a:rPr sz="2000" b="1" spc="-40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Data</a:t>
            </a:r>
            <a:r>
              <a:rPr sz="2000" b="1" spc="-105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spc="-10" dirty="0" err="1">
                <a:solidFill>
                  <a:srgbClr val="00DEA4"/>
                </a:solidFill>
                <a:latin typeface="Arial"/>
                <a:cs typeface="Arial"/>
              </a:rPr>
              <a:t>Aplicado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84084" y="2451099"/>
            <a:ext cx="335661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La</a:t>
            </a:r>
            <a:r>
              <a:rPr sz="4000" b="1" spc="-3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fase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de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Carga</a:t>
            </a:r>
            <a:endParaRPr sz="4000">
              <a:latin typeface="Arial Narrow"/>
              <a:cs typeface="Arial Narro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797040" y="3943584"/>
            <a:ext cx="2346960" cy="1200150"/>
            <a:chOff x="6797040" y="3943584"/>
            <a:chExt cx="2346960" cy="1200150"/>
          </a:xfrm>
        </p:grpSpPr>
        <p:sp>
          <p:nvSpPr>
            <p:cNvPr id="6" name="object 6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97040" y="4373880"/>
              <a:ext cx="1459992" cy="344423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46790" y="4373843"/>
            <a:ext cx="749345" cy="36530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210564" y="4381676"/>
            <a:ext cx="653415" cy="325755"/>
            <a:chOff x="4210564" y="4381676"/>
            <a:chExt cx="653415" cy="325755"/>
          </a:xfrm>
        </p:grpSpPr>
        <p:sp>
          <p:nvSpPr>
            <p:cNvPr id="10" name="object 10"/>
            <p:cNvSpPr/>
            <p:nvPr/>
          </p:nvSpPr>
          <p:spPr>
            <a:xfrm>
              <a:off x="4372655" y="4519010"/>
              <a:ext cx="109220" cy="46990"/>
            </a:xfrm>
            <a:custGeom>
              <a:avLst/>
              <a:gdLst/>
              <a:ahLst/>
              <a:cxnLst/>
              <a:rect l="l" t="t" r="r" b="b"/>
              <a:pathLst>
                <a:path w="109220" h="46989">
                  <a:moveTo>
                    <a:pt x="109052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109052" y="46456"/>
                  </a:lnTo>
                  <a:lnTo>
                    <a:pt x="109052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09590" y="4502793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7682" y="0"/>
                  </a:moveTo>
                  <a:lnTo>
                    <a:pt x="2554" y="23467"/>
                  </a:lnTo>
                  <a:lnTo>
                    <a:pt x="0" y="38074"/>
                  </a:lnTo>
                  <a:lnTo>
                    <a:pt x="535" y="45564"/>
                  </a:lnTo>
                  <a:lnTo>
                    <a:pt x="30171" y="75625"/>
                  </a:lnTo>
                  <a:lnTo>
                    <a:pt x="37682" y="76227"/>
                  </a:lnTo>
                  <a:lnTo>
                    <a:pt x="53179" y="73081"/>
                  </a:lnTo>
                  <a:lnTo>
                    <a:pt x="65054" y="64856"/>
                  </a:lnTo>
                  <a:lnTo>
                    <a:pt x="72979" y="52778"/>
                  </a:lnTo>
                  <a:lnTo>
                    <a:pt x="75756" y="38074"/>
                  </a:lnTo>
                  <a:lnTo>
                    <a:pt x="72642" y="22651"/>
                  </a:lnTo>
                  <a:lnTo>
                    <a:pt x="64442" y="10758"/>
                  </a:lnTo>
                  <a:lnTo>
                    <a:pt x="52380" y="2808"/>
                  </a:lnTo>
                  <a:lnTo>
                    <a:pt x="37682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45192" y="4397737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613"/>
                  </a:lnTo>
                  <a:lnTo>
                    <a:pt x="236515" y="46613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10564" y="43816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918" y="0"/>
                  </a:moveTo>
                  <a:lnTo>
                    <a:pt x="2654" y="23243"/>
                  </a:lnTo>
                  <a:lnTo>
                    <a:pt x="0" y="37917"/>
                  </a:lnTo>
                  <a:lnTo>
                    <a:pt x="588" y="45409"/>
                  </a:lnTo>
                  <a:lnTo>
                    <a:pt x="30407" y="75390"/>
                  </a:lnTo>
                  <a:lnTo>
                    <a:pt x="37918" y="75992"/>
                  </a:lnTo>
                  <a:lnTo>
                    <a:pt x="45429" y="75390"/>
                  </a:lnTo>
                  <a:lnTo>
                    <a:pt x="75380" y="45425"/>
                  </a:lnTo>
                  <a:lnTo>
                    <a:pt x="75992" y="37917"/>
                  </a:lnTo>
                  <a:lnTo>
                    <a:pt x="75382" y="30391"/>
                  </a:lnTo>
                  <a:lnTo>
                    <a:pt x="45408" y="551"/>
                  </a:lnTo>
                  <a:lnTo>
                    <a:pt x="37918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45192" y="4647022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236515" y="46456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10558" y="4390377"/>
              <a:ext cx="653415" cy="316865"/>
            </a:xfrm>
            <a:custGeom>
              <a:avLst/>
              <a:gdLst/>
              <a:ahLst/>
              <a:cxnLst/>
              <a:rect l="l" t="t" r="r" b="b"/>
              <a:pathLst>
                <a:path w="653414" h="316864">
                  <a:moveTo>
                    <a:pt x="75984" y="278549"/>
                  </a:moveTo>
                  <a:lnTo>
                    <a:pt x="52590" y="243141"/>
                  </a:lnTo>
                  <a:lnTo>
                    <a:pt x="37553" y="240423"/>
                  </a:lnTo>
                  <a:lnTo>
                    <a:pt x="22288" y="243624"/>
                  </a:lnTo>
                  <a:lnTo>
                    <a:pt x="10515" y="251853"/>
                  </a:lnTo>
                  <a:lnTo>
                    <a:pt x="2692" y="263880"/>
                  </a:lnTo>
                  <a:lnTo>
                    <a:pt x="0" y="278511"/>
                  </a:lnTo>
                  <a:lnTo>
                    <a:pt x="584" y="286016"/>
                  </a:lnTo>
                  <a:lnTo>
                    <a:pt x="30403" y="316064"/>
                  </a:lnTo>
                  <a:lnTo>
                    <a:pt x="37922" y="316661"/>
                  </a:lnTo>
                  <a:lnTo>
                    <a:pt x="45427" y="316064"/>
                  </a:lnTo>
                  <a:lnTo>
                    <a:pt x="75984" y="278549"/>
                  </a:lnTo>
                  <a:close/>
                </a:path>
                <a:path w="653414" h="316864">
                  <a:moveTo>
                    <a:pt x="653376" y="150495"/>
                  </a:moveTo>
                  <a:lnTo>
                    <a:pt x="566496" y="0"/>
                  </a:lnTo>
                  <a:lnTo>
                    <a:pt x="392734" y="0"/>
                  </a:lnTo>
                  <a:lnTo>
                    <a:pt x="305854" y="150495"/>
                  </a:lnTo>
                  <a:lnTo>
                    <a:pt x="392734" y="301066"/>
                  </a:lnTo>
                  <a:lnTo>
                    <a:pt x="566496" y="301066"/>
                  </a:lnTo>
                  <a:lnTo>
                    <a:pt x="653376" y="150495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4" y="118509"/>
            <a:ext cx="2291080" cy="129159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pc="-10" dirty="0"/>
              <a:t>Carga</a:t>
            </a:r>
          </a:p>
          <a:p>
            <a:pPr marL="869950">
              <a:lnSpc>
                <a:spcPct val="100000"/>
              </a:lnSpc>
              <a:spcBef>
                <a:spcPts val="745"/>
              </a:spcBef>
            </a:pPr>
            <a:r>
              <a:rPr sz="2800" spc="-10" dirty="0">
                <a:solidFill>
                  <a:srgbClr val="FF0000"/>
                </a:solidFill>
              </a:rPr>
              <a:t>Resumen: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344302" y="274827"/>
            <a:ext cx="3990975" cy="897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75" dirty="0">
                <a:latin typeface="Arial"/>
                <a:cs typeface="Arial"/>
              </a:rPr>
              <a:t>Última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etapa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450" dirty="0">
                <a:latin typeface="Arial"/>
                <a:cs typeface="Arial"/>
              </a:rPr>
              <a:t>ETL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45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265" dirty="0">
                <a:latin typeface="Arial"/>
                <a:cs typeface="Arial"/>
              </a:rPr>
              <a:t>Carga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los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datos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en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DW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4518442" y="1787356"/>
            <a:ext cx="2212975" cy="1682750"/>
            <a:chOff x="4518442" y="1787356"/>
            <a:chExt cx="2212975" cy="1682750"/>
          </a:xfrm>
        </p:grpSpPr>
        <p:sp>
          <p:nvSpPr>
            <p:cNvPr id="6" name="object 6"/>
            <p:cNvSpPr/>
            <p:nvPr/>
          </p:nvSpPr>
          <p:spPr>
            <a:xfrm>
              <a:off x="5624711" y="2936373"/>
              <a:ext cx="1094105" cy="520700"/>
            </a:xfrm>
            <a:custGeom>
              <a:avLst/>
              <a:gdLst/>
              <a:ahLst/>
              <a:cxnLst/>
              <a:rect l="l" t="t" r="r" b="b"/>
              <a:pathLst>
                <a:path w="1094104" h="520700">
                  <a:moveTo>
                    <a:pt x="0" y="0"/>
                  </a:moveTo>
                  <a:lnTo>
                    <a:pt x="0" y="354664"/>
                  </a:lnTo>
                  <a:lnTo>
                    <a:pt x="1093568" y="354664"/>
                  </a:lnTo>
                  <a:lnTo>
                    <a:pt x="1093568" y="520439"/>
                  </a:lnTo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31142" y="2936373"/>
              <a:ext cx="1094105" cy="520700"/>
            </a:xfrm>
            <a:custGeom>
              <a:avLst/>
              <a:gdLst/>
              <a:ahLst/>
              <a:cxnLst/>
              <a:rect l="l" t="t" r="r" b="b"/>
              <a:pathLst>
                <a:path w="1094104" h="520700">
                  <a:moveTo>
                    <a:pt x="1093568" y="0"/>
                  </a:moveTo>
                  <a:lnTo>
                    <a:pt x="1093568" y="354664"/>
                  </a:lnTo>
                  <a:lnTo>
                    <a:pt x="0" y="354664"/>
                  </a:lnTo>
                  <a:lnTo>
                    <a:pt x="0" y="520439"/>
                  </a:lnTo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729974" y="1800056"/>
              <a:ext cx="1790064" cy="1136650"/>
            </a:xfrm>
            <a:custGeom>
              <a:avLst/>
              <a:gdLst/>
              <a:ahLst/>
              <a:cxnLst/>
              <a:rect l="l" t="t" r="r" b="b"/>
              <a:pathLst>
                <a:path w="1790065" h="1136650">
                  <a:moveTo>
                    <a:pt x="1675845" y="0"/>
                  </a:moveTo>
                  <a:lnTo>
                    <a:pt x="113630" y="0"/>
                  </a:lnTo>
                  <a:lnTo>
                    <a:pt x="69400" y="8929"/>
                  </a:lnTo>
                  <a:lnTo>
                    <a:pt x="33281" y="33281"/>
                  </a:lnTo>
                  <a:lnTo>
                    <a:pt x="8929" y="69400"/>
                  </a:lnTo>
                  <a:lnTo>
                    <a:pt x="0" y="113630"/>
                  </a:lnTo>
                  <a:lnTo>
                    <a:pt x="0" y="1022685"/>
                  </a:lnTo>
                  <a:lnTo>
                    <a:pt x="8929" y="1066915"/>
                  </a:lnTo>
                  <a:lnTo>
                    <a:pt x="33281" y="1103035"/>
                  </a:lnTo>
                  <a:lnTo>
                    <a:pt x="69400" y="1127387"/>
                  </a:lnTo>
                  <a:lnTo>
                    <a:pt x="113630" y="1136317"/>
                  </a:lnTo>
                  <a:lnTo>
                    <a:pt x="1675845" y="1136317"/>
                  </a:lnTo>
                  <a:lnTo>
                    <a:pt x="1720075" y="1127387"/>
                  </a:lnTo>
                  <a:lnTo>
                    <a:pt x="1756194" y="1103035"/>
                  </a:lnTo>
                  <a:lnTo>
                    <a:pt x="1780546" y="1066915"/>
                  </a:lnTo>
                  <a:lnTo>
                    <a:pt x="1789475" y="1022685"/>
                  </a:lnTo>
                  <a:lnTo>
                    <a:pt x="1789475" y="113630"/>
                  </a:lnTo>
                  <a:lnTo>
                    <a:pt x="1780546" y="69400"/>
                  </a:lnTo>
                  <a:lnTo>
                    <a:pt x="1756194" y="33281"/>
                  </a:lnTo>
                  <a:lnTo>
                    <a:pt x="1720075" y="8929"/>
                  </a:lnTo>
                  <a:lnTo>
                    <a:pt x="167584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29974" y="1800056"/>
              <a:ext cx="1790064" cy="1136650"/>
            </a:xfrm>
            <a:custGeom>
              <a:avLst/>
              <a:gdLst/>
              <a:ahLst/>
              <a:cxnLst/>
              <a:rect l="l" t="t" r="r" b="b"/>
              <a:pathLst>
                <a:path w="1790065" h="1136650">
                  <a:moveTo>
                    <a:pt x="0" y="113631"/>
                  </a:moveTo>
                  <a:lnTo>
                    <a:pt x="8929" y="69400"/>
                  </a:lnTo>
                  <a:lnTo>
                    <a:pt x="33281" y="33281"/>
                  </a:lnTo>
                  <a:lnTo>
                    <a:pt x="69400" y="8929"/>
                  </a:lnTo>
                  <a:lnTo>
                    <a:pt x="113630" y="0"/>
                  </a:lnTo>
                  <a:lnTo>
                    <a:pt x="1675845" y="0"/>
                  </a:lnTo>
                  <a:lnTo>
                    <a:pt x="1720075" y="8929"/>
                  </a:lnTo>
                  <a:lnTo>
                    <a:pt x="1756194" y="33281"/>
                  </a:lnTo>
                  <a:lnTo>
                    <a:pt x="1780546" y="69400"/>
                  </a:lnTo>
                  <a:lnTo>
                    <a:pt x="1789476" y="113631"/>
                  </a:lnTo>
                  <a:lnTo>
                    <a:pt x="1789476" y="1022686"/>
                  </a:lnTo>
                  <a:lnTo>
                    <a:pt x="1780546" y="1066916"/>
                  </a:lnTo>
                  <a:lnTo>
                    <a:pt x="1756194" y="1103035"/>
                  </a:lnTo>
                  <a:lnTo>
                    <a:pt x="1720075" y="1127387"/>
                  </a:lnTo>
                  <a:lnTo>
                    <a:pt x="1675845" y="1136317"/>
                  </a:lnTo>
                  <a:lnTo>
                    <a:pt x="113630" y="1136317"/>
                  </a:lnTo>
                  <a:lnTo>
                    <a:pt x="69400" y="1127387"/>
                  </a:lnTo>
                  <a:lnTo>
                    <a:pt x="33281" y="1103035"/>
                  </a:lnTo>
                  <a:lnTo>
                    <a:pt x="8929" y="1066916"/>
                  </a:lnTo>
                  <a:lnTo>
                    <a:pt x="0" y="1022686"/>
                  </a:lnTo>
                  <a:lnTo>
                    <a:pt x="0" y="113631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28805" y="1988944"/>
              <a:ext cx="1790064" cy="1136650"/>
            </a:xfrm>
            <a:custGeom>
              <a:avLst/>
              <a:gdLst/>
              <a:ahLst/>
              <a:cxnLst/>
              <a:rect l="l" t="t" r="r" b="b"/>
              <a:pathLst>
                <a:path w="1790065" h="1136650">
                  <a:moveTo>
                    <a:pt x="1675845" y="0"/>
                  </a:moveTo>
                  <a:lnTo>
                    <a:pt x="113630" y="0"/>
                  </a:lnTo>
                  <a:lnTo>
                    <a:pt x="69400" y="8929"/>
                  </a:lnTo>
                  <a:lnTo>
                    <a:pt x="33281" y="33282"/>
                  </a:lnTo>
                  <a:lnTo>
                    <a:pt x="8929" y="69401"/>
                  </a:lnTo>
                  <a:lnTo>
                    <a:pt x="0" y="113631"/>
                  </a:lnTo>
                  <a:lnTo>
                    <a:pt x="0" y="1022686"/>
                  </a:lnTo>
                  <a:lnTo>
                    <a:pt x="8929" y="1066916"/>
                  </a:lnTo>
                  <a:lnTo>
                    <a:pt x="33281" y="1103035"/>
                  </a:lnTo>
                  <a:lnTo>
                    <a:pt x="69400" y="1127387"/>
                  </a:lnTo>
                  <a:lnTo>
                    <a:pt x="113630" y="1136317"/>
                  </a:lnTo>
                  <a:lnTo>
                    <a:pt x="1675845" y="1136317"/>
                  </a:lnTo>
                  <a:lnTo>
                    <a:pt x="1720074" y="1127387"/>
                  </a:lnTo>
                  <a:lnTo>
                    <a:pt x="1756193" y="1103035"/>
                  </a:lnTo>
                  <a:lnTo>
                    <a:pt x="1780545" y="1066916"/>
                  </a:lnTo>
                  <a:lnTo>
                    <a:pt x="1789475" y="1022686"/>
                  </a:lnTo>
                  <a:lnTo>
                    <a:pt x="1789475" y="113631"/>
                  </a:lnTo>
                  <a:lnTo>
                    <a:pt x="1780545" y="69401"/>
                  </a:lnTo>
                  <a:lnTo>
                    <a:pt x="1756193" y="33282"/>
                  </a:lnTo>
                  <a:lnTo>
                    <a:pt x="1720074" y="8929"/>
                  </a:lnTo>
                  <a:lnTo>
                    <a:pt x="1675845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28805" y="1988944"/>
              <a:ext cx="1790064" cy="1136650"/>
            </a:xfrm>
            <a:custGeom>
              <a:avLst/>
              <a:gdLst/>
              <a:ahLst/>
              <a:cxnLst/>
              <a:rect l="l" t="t" r="r" b="b"/>
              <a:pathLst>
                <a:path w="1790065" h="1136650">
                  <a:moveTo>
                    <a:pt x="0" y="113631"/>
                  </a:moveTo>
                  <a:lnTo>
                    <a:pt x="8929" y="69400"/>
                  </a:lnTo>
                  <a:lnTo>
                    <a:pt x="33281" y="33281"/>
                  </a:lnTo>
                  <a:lnTo>
                    <a:pt x="69400" y="8929"/>
                  </a:lnTo>
                  <a:lnTo>
                    <a:pt x="113630" y="0"/>
                  </a:lnTo>
                  <a:lnTo>
                    <a:pt x="1675845" y="0"/>
                  </a:lnTo>
                  <a:lnTo>
                    <a:pt x="1720075" y="8929"/>
                  </a:lnTo>
                  <a:lnTo>
                    <a:pt x="1756194" y="33281"/>
                  </a:lnTo>
                  <a:lnTo>
                    <a:pt x="1780546" y="69400"/>
                  </a:lnTo>
                  <a:lnTo>
                    <a:pt x="1789476" y="113631"/>
                  </a:lnTo>
                  <a:lnTo>
                    <a:pt x="1789476" y="1022686"/>
                  </a:lnTo>
                  <a:lnTo>
                    <a:pt x="1780546" y="1066916"/>
                  </a:lnTo>
                  <a:lnTo>
                    <a:pt x="1756194" y="1103035"/>
                  </a:lnTo>
                  <a:lnTo>
                    <a:pt x="1720075" y="1127387"/>
                  </a:lnTo>
                  <a:lnTo>
                    <a:pt x="1675845" y="1136317"/>
                  </a:lnTo>
                  <a:lnTo>
                    <a:pt x="113630" y="1136317"/>
                  </a:lnTo>
                  <a:lnTo>
                    <a:pt x="69400" y="1127387"/>
                  </a:lnTo>
                  <a:lnTo>
                    <a:pt x="33281" y="1103035"/>
                  </a:lnTo>
                  <a:lnTo>
                    <a:pt x="8929" y="1066916"/>
                  </a:lnTo>
                  <a:lnTo>
                    <a:pt x="0" y="1022686"/>
                  </a:lnTo>
                  <a:lnTo>
                    <a:pt x="0" y="113631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507027" y="2347976"/>
            <a:ext cx="63309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80" dirty="0">
                <a:latin typeface="Arial"/>
                <a:cs typeface="Arial"/>
              </a:rPr>
              <a:t>Carga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623704" y="3444113"/>
            <a:ext cx="2014220" cy="1350645"/>
            <a:chOff x="3623704" y="3444113"/>
            <a:chExt cx="2014220" cy="1350645"/>
          </a:xfrm>
        </p:grpSpPr>
        <p:sp>
          <p:nvSpPr>
            <p:cNvPr id="14" name="object 14"/>
            <p:cNvSpPr/>
            <p:nvPr/>
          </p:nvSpPr>
          <p:spPr>
            <a:xfrm>
              <a:off x="3636404" y="3456813"/>
              <a:ext cx="1790064" cy="1136650"/>
            </a:xfrm>
            <a:custGeom>
              <a:avLst/>
              <a:gdLst/>
              <a:ahLst/>
              <a:cxnLst/>
              <a:rect l="l" t="t" r="r" b="b"/>
              <a:pathLst>
                <a:path w="1790064" h="1136650">
                  <a:moveTo>
                    <a:pt x="1675845" y="0"/>
                  </a:moveTo>
                  <a:lnTo>
                    <a:pt x="113630" y="0"/>
                  </a:lnTo>
                  <a:lnTo>
                    <a:pt x="69400" y="8929"/>
                  </a:lnTo>
                  <a:lnTo>
                    <a:pt x="33281" y="33281"/>
                  </a:lnTo>
                  <a:lnTo>
                    <a:pt x="8929" y="69400"/>
                  </a:lnTo>
                  <a:lnTo>
                    <a:pt x="0" y="113630"/>
                  </a:lnTo>
                  <a:lnTo>
                    <a:pt x="0" y="1022685"/>
                  </a:lnTo>
                  <a:lnTo>
                    <a:pt x="8929" y="1066916"/>
                  </a:lnTo>
                  <a:lnTo>
                    <a:pt x="33281" y="1103035"/>
                  </a:lnTo>
                  <a:lnTo>
                    <a:pt x="69400" y="1127387"/>
                  </a:lnTo>
                  <a:lnTo>
                    <a:pt x="113630" y="1136316"/>
                  </a:lnTo>
                  <a:lnTo>
                    <a:pt x="1675845" y="1136316"/>
                  </a:lnTo>
                  <a:lnTo>
                    <a:pt x="1720075" y="1127387"/>
                  </a:lnTo>
                  <a:lnTo>
                    <a:pt x="1756194" y="1103035"/>
                  </a:lnTo>
                  <a:lnTo>
                    <a:pt x="1780546" y="1066916"/>
                  </a:lnTo>
                  <a:lnTo>
                    <a:pt x="1789475" y="1022685"/>
                  </a:lnTo>
                  <a:lnTo>
                    <a:pt x="1789475" y="113630"/>
                  </a:lnTo>
                  <a:lnTo>
                    <a:pt x="1780546" y="69400"/>
                  </a:lnTo>
                  <a:lnTo>
                    <a:pt x="1756194" y="33281"/>
                  </a:lnTo>
                  <a:lnTo>
                    <a:pt x="1720075" y="8929"/>
                  </a:lnTo>
                  <a:lnTo>
                    <a:pt x="167584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36404" y="3456813"/>
              <a:ext cx="1790064" cy="1136650"/>
            </a:xfrm>
            <a:custGeom>
              <a:avLst/>
              <a:gdLst/>
              <a:ahLst/>
              <a:cxnLst/>
              <a:rect l="l" t="t" r="r" b="b"/>
              <a:pathLst>
                <a:path w="1790064" h="1136650">
                  <a:moveTo>
                    <a:pt x="0" y="113631"/>
                  </a:moveTo>
                  <a:lnTo>
                    <a:pt x="8929" y="69400"/>
                  </a:lnTo>
                  <a:lnTo>
                    <a:pt x="33281" y="33281"/>
                  </a:lnTo>
                  <a:lnTo>
                    <a:pt x="69400" y="8929"/>
                  </a:lnTo>
                  <a:lnTo>
                    <a:pt x="113630" y="0"/>
                  </a:lnTo>
                  <a:lnTo>
                    <a:pt x="1675845" y="0"/>
                  </a:lnTo>
                  <a:lnTo>
                    <a:pt x="1720075" y="8929"/>
                  </a:lnTo>
                  <a:lnTo>
                    <a:pt x="1756194" y="33281"/>
                  </a:lnTo>
                  <a:lnTo>
                    <a:pt x="1780546" y="69400"/>
                  </a:lnTo>
                  <a:lnTo>
                    <a:pt x="1789476" y="113631"/>
                  </a:lnTo>
                  <a:lnTo>
                    <a:pt x="1789476" y="1022686"/>
                  </a:lnTo>
                  <a:lnTo>
                    <a:pt x="1780546" y="1066916"/>
                  </a:lnTo>
                  <a:lnTo>
                    <a:pt x="1756194" y="1103035"/>
                  </a:lnTo>
                  <a:lnTo>
                    <a:pt x="1720075" y="1127387"/>
                  </a:lnTo>
                  <a:lnTo>
                    <a:pt x="1675845" y="1136317"/>
                  </a:lnTo>
                  <a:lnTo>
                    <a:pt x="113630" y="1136317"/>
                  </a:lnTo>
                  <a:lnTo>
                    <a:pt x="69400" y="1127387"/>
                  </a:lnTo>
                  <a:lnTo>
                    <a:pt x="33281" y="1103035"/>
                  </a:lnTo>
                  <a:lnTo>
                    <a:pt x="8929" y="1066916"/>
                  </a:lnTo>
                  <a:lnTo>
                    <a:pt x="0" y="1022686"/>
                  </a:lnTo>
                  <a:lnTo>
                    <a:pt x="0" y="113631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35235" y="3645701"/>
              <a:ext cx="1790064" cy="1136650"/>
            </a:xfrm>
            <a:custGeom>
              <a:avLst/>
              <a:gdLst/>
              <a:ahLst/>
              <a:cxnLst/>
              <a:rect l="l" t="t" r="r" b="b"/>
              <a:pathLst>
                <a:path w="1790064" h="1136650">
                  <a:moveTo>
                    <a:pt x="1675845" y="0"/>
                  </a:moveTo>
                  <a:lnTo>
                    <a:pt x="113630" y="0"/>
                  </a:lnTo>
                  <a:lnTo>
                    <a:pt x="69400" y="8929"/>
                  </a:lnTo>
                  <a:lnTo>
                    <a:pt x="33281" y="33282"/>
                  </a:lnTo>
                  <a:lnTo>
                    <a:pt x="8929" y="69401"/>
                  </a:lnTo>
                  <a:lnTo>
                    <a:pt x="0" y="113631"/>
                  </a:lnTo>
                  <a:lnTo>
                    <a:pt x="0" y="1022686"/>
                  </a:lnTo>
                  <a:lnTo>
                    <a:pt x="8929" y="1066916"/>
                  </a:lnTo>
                  <a:lnTo>
                    <a:pt x="33281" y="1103035"/>
                  </a:lnTo>
                  <a:lnTo>
                    <a:pt x="69400" y="1127387"/>
                  </a:lnTo>
                  <a:lnTo>
                    <a:pt x="113630" y="1136317"/>
                  </a:lnTo>
                  <a:lnTo>
                    <a:pt x="1675845" y="1136317"/>
                  </a:lnTo>
                  <a:lnTo>
                    <a:pt x="1720075" y="1127387"/>
                  </a:lnTo>
                  <a:lnTo>
                    <a:pt x="1756194" y="1103035"/>
                  </a:lnTo>
                  <a:lnTo>
                    <a:pt x="1780546" y="1066916"/>
                  </a:lnTo>
                  <a:lnTo>
                    <a:pt x="1789475" y="1022686"/>
                  </a:lnTo>
                  <a:lnTo>
                    <a:pt x="1789475" y="113631"/>
                  </a:lnTo>
                  <a:lnTo>
                    <a:pt x="1780546" y="69401"/>
                  </a:lnTo>
                  <a:lnTo>
                    <a:pt x="1756194" y="33282"/>
                  </a:lnTo>
                  <a:lnTo>
                    <a:pt x="1720075" y="8929"/>
                  </a:lnTo>
                  <a:lnTo>
                    <a:pt x="1675845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35235" y="3645701"/>
              <a:ext cx="1790064" cy="1136650"/>
            </a:xfrm>
            <a:custGeom>
              <a:avLst/>
              <a:gdLst/>
              <a:ahLst/>
              <a:cxnLst/>
              <a:rect l="l" t="t" r="r" b="b"/>
              <a:pathLst>
                <a:path w="1790064" h="1136650">
                  <a:moveTo>
                    <a:pt x="0" y="113631"/>
                  </a:moveTo>
                  <a:lnTo>
                    <a:pt x="8929" y="69400"/>
                  </a:lnTo>
                  <a:lnTo>
                    <a:pt x="33281" y="33281"/>
                  </a:lnTo>
                  <a:lnTo>
                    <a:pt x="69400" y="8929"/>
                  </a:lnTo>
                  <a:lnTo>
                    <a:pt x="113630" y="0"/>
                  </a:lnTo>
                  <a:lnTo>
                    <a:pt x="1675845" y="0"/>
                  </a:lnTo>
                  <a:lnTo>
                    <a:pt x="1720075" y="8929"/>
                  </a:lnTo>
                  <a:lnTo>
                    <a:pt x="1756194" y="33281"/>
                  </a:lnTo>
                  <a:lnTo>
                    <a:pt x="1780546" y="69400"/>
                  </a:lnTo>
                  <a:lnTo>
                    <a:pt x="1789476" y="113631"/>
                  </a:lnTo>
                  <a:lnTo>
                    <a:pt x="1789476" y="1022686"/>
                  </a:lnTo>
                  <a:lnTo>
                    <a:pt x="1780546" y="1066916"/>
                  </a:lnTo>
                  <a:lnTo>
                    <a:pt x="1756194" y="1103035"/>
                  </a:lnTo>
                  <a:lnTo>
                    <a:pt x="1720075" y="1127387"/>
                  </a:lnTo>
                  <a:lnTo>
                    <a:pt x="1675845" y="1136317"/>
                  </a:lnTo>
                  <a:lnTo>
                    <a:pt x="113630" y="1136317"/>
                  </a:lnTo>
                  <a:lnTo>
                    <a:pt x="69400" y="1127387"/>
                  </a:lnTo>
                  <a:lnTo>
                    <a:pt x="33281" y="1103035"/>
                  </a:lnTo>
                  <a:lnTo>
                    <a:pt x="8929" y="1066916"/>
                  </a:lnTo>
                  <a:lnTo>
                    <a:pt x="0" y="1022686"/>
                  </a:lnTo>
                  <a:lnTo>
                    <a:pt x="0" y="113631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401520" y="4003040"/>
            <a:ext cx="65722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5" dirty="0">
                <a:latin typeface="Arial"/>
                <a:cs typeface="Arial"/>
              </a:rPr>
              <a:t>Inicial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810842" y="3444113"/>
            <a:ext cx="2014220" cy="1350645"/>
            <a:chOff x="5810842" y="3444113"/>
            <a:chExt cx="2014220" cy="1350645"/>
          </a:xfrm>
        </p:grpSpPr>
        <p:sp>
          <p:nvSpPr>
            <p:cNvPr id="20" name="object 20"/>
            <p:cNvSpPr/>
            <p:nvPr/>
          </p:nvSpPr>
          <p:spPr>
            <a:xfrm>
              <a:off x="5823542" y="3456813"/>
              <a:ext cx="1790064" cy="1136650"/>
            </a:xfrm>
            <a:custGeom>
              <a:avLst/>
              <a:gdLst/>
              <a:ahLst/>
              <a:cxnLst/>
              <a:rect l="l" t="t" r="r" b="b"/>
              <a:pathLst>
                <a:path w="1790065" h="1136650">
                  <a:moveTo>
                    <a:pt x="1675845" y="0"/>
                  </a:moveTo>
                  <a:lnTo>
                    <a:pt x="113630" y="0"/>
                  </a:lnTo>
                  <a:lnTo>
                    <a:pt x="69400" y="8929"/>
                  </a:lnTo>
                  <a:lnTo>
                    <a:pt x="33281" y="33281"/>
                  </a:lnTo>
                  <a:lnTo>
                    <a:pt x="8929" y="69400"/>
                  </a:lnTo>
                  <a:lnTo>
                    <a:pt x="0" y="113630"/>
                  </a:lnTo>
                  <a:lnTo>
                    <a:pt x="0" y="1022685"/>
                  </a:lnTo>
                  <a:lnTo>
                    <a:pt x="8929" y="1066916"/>
                  </a:lnTo>
                  <a:lnTo>
                    <a:pt x="33281" y="1103035"/>
                  </a:lnTo>
                  <a:lnTo>
                    <a:pt x="69400" y="1127387"/>
                  </a:lnTo>
                  <a:lnTo>
                    <a:pt x="113630" y="1136316"/>
                  </a:lnTo>
                  <a:lnTo>
                    <a:pt x="1675845" y="1136316"/>
                  </a:lnTo>
                  <a:lnTo>
                    <a:pt x="1720075" y="1127387"/>
                  </a:lnTo>
                  <a:lnTo>
                    <a:pt x="1756194" y="1103035"/>
                  </a:lnTo>
                  <a:lnTo>
                    <a:pt x="1780546" y="1066916"/>
                  </a:lnTo>
                  <a:lnTo>
                    <a:pt x="1789475" y="1022685"/>
                  </a:lnTo>
                  <a:lnTo>
                    <a:pt x="1789475" y="113630"/>
                  </a:lnTo>
                  <a:lnTo>
                    <a:pt x="1780546" y="69400"/>
                  </a:lnTo>
                  <a:lnTo>
                    <a:pt x="1756194" y="33281"/>
                  </a:lnTo>
                  <a:lnTo>
                    <a:pt x="1720075" y="8929"/>
                  </a:lnTo>
                  <a:lnTo>
                    <a:pt x="167584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823542" y="3456813"/>
              <a:ext cx="1790064" cy="1136650"/>
            </a:xfrm>
            <a:custGeom>
              <a:avLst/>
              <a:gdLst/>
              <a:ahLst/>
              <a:cxnLst/>
              <a:rect l="l" t="t" r="r" b="b"/>
              <a:pathLst>
                <a:path w="1790065" h="1136650">
                  <a:moveTo>
                    <a:pt x="0" y="113631"/>
                  </a:moveTo>
                  <a:lnTo>
                    <a:pt x="8929" y="69400"/>
                  </a:lnTo>
                  <a:lnTo>
                    <a:pt x="33281" y="33281"/>
                  </a:lnTo>
                  <a:lnTo>
                    <a:pt x="69400" y="8929"/>
                  </a:lnTo>
                  <a:lnTo>
                    <a:pt x="113630" y="0"/>
                  </a:lnTo>
                  <a:lnTo>
                    <a:pt x="1675845" y="0"/>
                  </a:lnTo>
                  <a:lnTo>
                    <a:pt x="1720075" y="8929"/>
                  </a:lnTo>
                  <a:lnTo>
                    <a:pt x="1756194" y="33281"/>
                  </a:lnTo>
                  <a:lnTo>
                    <a:pt x="1780546" y="69400"/>
                  </a:lnTo>
                  <a:lnTo>
                    <a:pt x="1789476" y="113631"/>
                  </a:lnTo>
                  <a:lnTo>
                    <a:pt x="1789476" y="1022686"/>
                  </a:lnTo>
                  <a:lnTo>
                    <a:pt x="1780546" y="1066916"/>
                  </a:lnTo>
                  <a:lnTo>
                    <a:pt x="1756194" y="1103035"/>
                  </a:lnTo>
                  <a:lnTo>
                    <a:pt x="1720075" y="1127387"/>
                  </a:lnTo>
                  <a:lnTo>
                    <a:pt x="1675845" y="1136317"/>
                  </a:lnTo>
                  <a:lnTo>
                    <a:pt x="113630" y="1136317"/>
                  </a:lnTo>
                  <a:lnTo>
                    <a:pt x="69400" y="1127387"/>
                  </a:lnTo>
                  <a:lnTo>
                    <a:pt x="33281" y="1103035"/>
                  </a:lnTo>
                  <a:lnTo>
                    <a:pt x="8929" y="1066916"/>
                  </a:lnTo>
                  <a:lnTo>
                    <a:pt x="0" y="1022686"/>
                  </a:lnTo>
                  <a:lnTo>
                    <a:pt x="0" y="113631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022374" y="3645701"/>
              <a:ext cx="1790064" cy="1136650"/>
            </a:xfrm>
            <a:custGeom>
              <a:avLst/>
              <a:gdLst/>
              <a:ahLst/>
              <a:cxnLst/>
              <a:rect l="l" t="t" r="r" b="b"/>
              <a:pathLst>
                <a:path w="1790065" h="1136650">
                  <a:moveTo>
                    <a:pt x="1675845" y="0"/>
                  </a:moveTo>
                  <a:lnTo>
                    <a:pt x="113630" y="0"/>
                  </a:lnTo>
                  <a:lnTo>
                    <a:pt x="69400" y="8929"/>
                  </a:lnTo>
                  <a:lnTo>
                    <a:pt x="33281" y="33282"/>
                  </a:lnTo>
                  <a:lnTo>
                    <a:pt x="8929" y="69401"/>
                  </a:lnTo>
                  <a:lnTo>
                    <a:pt x="0" y="113631"/>
                  </a:lnTo>
                  <a:lnTo>
                    <a:pt x="0" y="1022686"/>
                  </a:lnTo>
                  <a:lnTo>
                    <a:pt x="8929" y="1066916"/>
                  </a:lnTo>
                  <a:lnTo>
                    <a:pt x="33281" y="1103035"/>
                  </a:lnTo>
                  <a:lnTo>
                    <a:pt x="69400" y="1127387"/>
                  </a:lnTo>
                  <a:lnTo>
                    <a:pt x="113630" y="1136317"/>
                  </a:lnTo>
                  <a:lnTo>
                    <a:pt x="1675845" y="1136317"/>
                  </a:lnTo>
                  <a:lnTo>
                    <a:pt x="1720074" y="1127387"/>
                  </a:lnTo>
                  <a:lnTo>
                    <a:pt x="1756193" y="1103035"/>
                  </a:lnTo>
                  <a:lnTo>
                    <a:pt x="1780545" y="1066916"/>
                  </a:lnTo>
                  <a:lnTo>
                    <a:pt x="1789475" y="1022686"/>
                  </a:lnTo>
                  <a:lnTo>
                    <a:pt x="1789475" y="113631"/>
                  </a:lnTo>
                  <a:lnTo>
                    <a:pt x="1780545" y="69401"/>
                  </a:lnTo>
                  <a:lnTo>
                    <a:pt x="1756193" y="33282"/>
                  </a:lnTo>
                  <a:lnTo>
                    <a:pt x="1720074" y="8929"/>
                  </a:lnTo>
                  <a:lnTo>
                    <a:pt x="1675845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022374" y="3645701"/>
              <a:ext cx="1790064" cy="1136650"/>
            </a:xfrm>
            <a:custGeom>
              <a:avLst/>
              <a:gdLst/>
              <a:ahLst/>
              <a:cxnLst/>
              <a:rect l="l" t="t" r="r" b="b"/>
              <a:pathLst>
                <a:path w="1790065" h="1136650">
                  <a:moveTo>
                    <a:pt x="0" y="113631"/>
                  </a:moveTo>
                  <a:lnTo>
                    <a:pt x="8929" y="69400"/>
                  </a:lnTo>
                  <a:lnTo>
                    <a:pt x="33281" y="33281"/>
                  </a:lnTo>
                  <a:lnTo>
                    <a:pt x="69400" y="8929"/>
                  </a:lnTo>
                  <a:lnTo>
                    <a:pt x="113630" y="0"/>
                  </a:lnTo>
                  <a:lnTo>
                    <a:pt x="1675845" y="0"/>
                  </a:lnTo>
                  <a:lnTo>
                    <a:pt x="1720075" y="8929"/>
                  </a:lnTo>
                  <a:lnTo>
                    <a:pt x="1756194" y="33281"/>
                  </a:lnTo>
                  <a:lnTo>
                    <a:pt x="1780546" y="69400"/>
                  </a:lnTo>
                  <a:lnTo>
                    <a:pt x="1789476" y="113631"/>
                  </a:lnTo>
                  <a:lnTo>
                    <a:pt x="1789476" y="1022686"/>
                  </a:lnTo>
                  <a:lnTo>
                    <a:pt x="1780546" y="1066916"/>
                  </a:lnTo>
                  <a:lnTo>
                    <a:pt x="1756194" y="1103035"/>
                  </a:lnTo>
                  <a:lnTo>
                    <a:pt x="1720075" y="1127387"/>
                  </a:lnTo>
                  <a:lnTo>
                    <a:pt x="1675845" y="1136317"/>
                  </a:lnTo>
                  <a:lnTo>
                    <a:pt x="113630" y="1136317"/>
                  </a:lnTo>
                  <a:lnTo>
                    <a:pt x="69400" y="1127387"/>
                  </a:lnTo>
                  <a:lnTo>
                    <a:pt x="33281" y="1103035"/>
                  </a:lnTo>
                  <a:lnTo>
                    <a:pt x="8929" y="1066916"/>
                  </a:lnTo>
                  <a:lnTo>
                    <a:pt x="0" y="1022686"/>
                  </a:lnTo>
                  <a:lnTo>
                    <a:pt x="0" y="113631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137808" y="3716528"/>
            <a:ext cx="1558925" cy="836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325" marR="5080" indent="-302260">
              <a:lnSpc>
                <a:spcPct val="126699"/>
              </a:lnSpc>
              <a:spcBef>
                <a:spcPts val="100"/>
              </a:spcBef>
            </a:pPr>
            <a:r>
              <a:rPr sz="2100" spc="-70" dirty="0">
                <a:latin typeface="Arial"/>
                <a:cs typeface="Arial"/>
              </a:rPr>
              <a:t>Actualización/ </a:t>
            </a:r>
            <a:r>
              <a:rPr sz="2100" spc="-25" dirty="0">
                <a:latin typeface="Arial"/>
                <a:cs typeface="Arial"/>
              </a:rPr>
              <a:t>Refresco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4" y="253491"/>
            <a:ext cx="12039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Carga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89309" y="957579"/>
            <a:ext cx="9486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Inicial: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44302" y="274827"/>
            <a:ext cx="4843145" cy="1799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60" dirty="0">
                <a:latin typeface="Arial"/>
                <a:cs typeface="Arial"/>
              </a:rPr>
              <a:t>Requiere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tiempo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45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215" dirty="0">
                <a:latin typeface="Arial"/>
                <a:cs typeface="Arial"/>
              </a:rPr>
              <a:t>Coste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computacional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alto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2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200" dirty="0">
                <a:latin typeface="Arial"/>
                <a:cs typeface="Arial"/>
              </a:rPr>
              <a:t>Horas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de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baja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215" dirty="0">
                <a:latin typeface="Arial"/>
                <a:cs typeface="Arial"/>
              </a:rPr>
              <a:t>carga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del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sistema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45" dirty="0">
                <a:latin typeface="Arial"/>
                <a:cs typeface="Arial"/>
              </a:rPr>
              <a:t>Poblar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155" dirty="0">
                <a:latin typeface="Arial"/>
                <a:cs typeface="Arial"/>
              </a:rPr>
              <a:t>almacén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 </a:t>
            </a:r>
            <a:r>
              <a:rPr sz="2800" spc="-10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11959" y="2188046"/>
            <a:ext cx="3048000" cy="2955453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4" y="253491"/>
            <a:ext cx="12039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Carga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2671" y="957579"/>
            <a:ext cx="1985010" cy="744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283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Actualización/</a:t>
            </a:r>
            <a:endParaRPr sz="2800">
              <a:latin typeface="Arial Narrow"/>
              <a:cs typeface="Arial Narrow"/>
            </a:endParaRPr>
          </a:p>
          <a:p>
            <a:pPr marR="5080" algn="r">
              <a:lnSpc>
                <a:spcPts val="2830"/>
              </a:lnSpc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Refresco: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44302" y="274827"/>
            <a:ext cx="3982720" cy="1799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b="1" spc="-275" dirty="0">
                <a:latin typeface="Arial"/>
                <a:cs typeface="Arial"/>
              </a:rPr>
              <a:t>Refresco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45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50" dirty="0">
                <a:latin typeface="Arial"/>
                <a:cs typeface="Arial"/>
              </a:rPr>
              <a:t>Reescritura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completa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DW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2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45" dirty="0">
                <a:latin typeface="Arial"/>
                <a:cs typeface="Arial"/>
              </a:rPr>
              <a:t>Extracción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estática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265" dirty="0">
                <a:latin typeface="Arial"/>
                <a:cs typeface="Arial"/>
              </a:rPr>
              <a:t>Carga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inicial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031514" y="2211710"/>
            <a:ext cx="5113020" cy="2931795"/>
            <a:chOff x="4031514" y="2211710"/>
            <a:chExt cx="5113020" cy="2931795"/>
          </a:xfrm>
        </p:grpSpPr>
        <p:sp>
          <p:nvSpPr>
            <p:cNvPr id="6" name="object 6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1514" y="2211710"/>
              <a:ext cx="4401141" cy="293178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64087" y="2427734"/>
              <a:ext cx="1872208" cy="187220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4" y="253491"/>
            <a:ext cx="12039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Carga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2671" y="957579"/>
            <a:ext cx="1985010" cy="744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283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Actualización/</a:t>
            </a:r>
            <a:endParaRPr sz="2800">
              <a:latin typeface="Arial Narrow"/>
              <a:cs typeface="Arial Narrow"/>
            </a:endParaRPr>
          </a:p>
          <a:p>
            <a:pPr marR="5080" algn="r">
              <a:lnSpc>
                <a:spcPts val="2830"/>
              </a:lnSpc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Refresco: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44302" y="274827"/>
            <a:ext cx="4332605" cy="2701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b="1" spc="-140" dirty="0">
                <a:latin typeface="Arial"/>
                <a:cs typeface="Arial"/>
              </a:rPr>
              <a:t>Actualización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45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14" dirty="0">
                <a:latin typeface="Arial"/>
                <a:cs typeface="Arial"/>
              </a:rPr>
              <a:t>Adición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datos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nuevos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2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45" dirty="0">
                <a:latin typeface="Arial"/>
                <a:cs typeface="Arial"/>
              </a:rPr>
              <a:t>Extracción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incremental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40" dirty="0">
                <a:latin typeface="Arial"/>
                <a:cs typeface="Arial"/>
              </a:rPr>
              <a:t>Complejidad</a:t>
            </a:r>
            <a:endParaRPr sz="2800">
              <a:latin typeface="Arial"/>
              <a:cs typeface="Arial"/>
            </a:endParaRPr>
          </a:p>
          <a:p>
            <a:pPr marL="755015" lvl="1" indent="-320675">
              <a:lnSpc>
                <a:spcPct val="100000"/>
              </a:lnSpc>
              <a:spcBef>
                <a:spcPts val="240"/>
              </a:spcBef>
              <a:buFont typeface="Apple SD Gothic Neo Light"/>
              <a:buChar char="■"/>
              <a:tabLst>
                <a:tab pos="755015" algn="l"/>
              </a:tabLst>
            </a:pPr>
            <a:r>
              <a:rPr sz="2800" spc="-150" dirty="0">
                <a:latin typeface="Arial"/>
                <a:cs typeface="Arial"/>
              </a:rPr>
              <a:t>Eficiencia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computacional</a:t>
            </a:r>
            <a:endParaRPr sz="2800">
              <a:latin typeface="Arial"/>
              <a:cs typeface="Arial"/>
            </a:endParaRPr>
          </a:p>
          <a:p>
            <a:pPr marL="755015" lvl="1" indent="-320675">
              <a:lnSpc>
                <a:spcPct val="100000"/>
              </a:lnSpc>
              <a:spcBef>
                <a:spcPts val="145"/>
              </a:spcBef>
              <a:buFont typeface="Apple SD Gothic Neo Light"/>
              <a:buChar char="■"/>
              <a:tabLst>
                <a:tab pos="755015" algn="l"/>
              </a:tabLst>
            </a:pPr>
            <a:r>
              <a:rPr sz="2800" spc="-145" dirty="0">
                <a:latin typeface="Arial"/>
                <a:cs typeface="Arial"/>
              </a:rPr>
              <a:t>Detección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del </a:t>
            </a:r>
            <a:r>
              <a:rPr sz="2800" spc="-10" dirty="0">
                <a:latin typeface="Arial"/>
                <a:cs typeface="Arial"/>
              </a:rPr>
              <a:t>cambio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310128" y="3145535"/>
            <a:ext cx="5834380" cy="1998345"/>
            <a:chOff x="3310128" y="3145535"/>
            <a:chExt cx="5834380" cy="1998345"/>
          </a:xfrm>
        </p:grpSpPr>
        <p:sp>
          <p:nvSpPr>
            <p:cNvPr id="6" name="object 6"/>
            <p:cNvSpPr/>
            <p:nvPr/>
          </p:nvSpPr>
          <p:spPr>
            <a:xfrm>
              <a:off x="8254886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10128" y="3145535"/>
              <a:ext cx="5416296" cy="162763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4" y="253491"/>
            <a:ext cx="12039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Carga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89309" y="957579"/>
            <a:ext cx="9486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Inicial: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8079" y="2468879"/>
            <a:ext cx="4486656" cy="260299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344302" y="274827"/>
            <a:ext cx="41154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45" dirty="0">
                <a:latin typeface="Arial"/>
                <a:cs typeface="Arial"/>
              </a:rPr>
              <a:t>Extracción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datos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70" dirty="0">
                <a:latin typeface="Arial"/>
                <a:cs typeface="Arial"/>
              </a:rPr>
              <a:t>sus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30052" y="567435"/>
            <a:ext cx="42837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90" dirty="0">
                <a:latin typeface="Arial"/>
                <a:cs typeface="Arial"/>
              </a:rPr>
              <a:t>fuentes: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65" dirty="0">
                <a:latin typeface="Arial"/>
                <a:cs typeface="Arial"/>
              </a:rPr>
              <a:t>subsistemas,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459" dirty="0">
                <a:latin typeface="Arial"/>
                <a:cs typeface="Arial"/>
              </a:rPr>
              <a:t>BBDD…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44302" y="1024635"/>
            <a:ext cx="3211195" cy="897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05" dirty="0">
                <a:latin typeface="Arial"/>
                <a:cs typeface="Arial"/>
              </a:rPr>
              <a:t>Off-</a:t>
            </a:r>
            <a:r>
              <a:rPr sz="2800" spc="-20" dirty="0">
                <a:latin typeface="Arial"/>
                <a:cs typeface="Arial"/>
              </a:rPr>
              <a:t>Line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45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215" dirty="0">
                <a:latin typeface="Arial"/>
                <a:cs typeface="Arial"/>
              </a:rPr>
              <a:t>Copias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 </a:t>
            </a:r>
            <a:r>
              <a:rPr sz="2800" spc="-120" dirty="0">
                <a:latin typeface="Arial"/>
                <a:cs typeface="Arial"/>
              </a:rPr>
              <a:t>seguridad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4" y="253491"/>
            <a:ext cx="12039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Carga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2671" y="957579"/>
            <a:ext cx="1985010" cy="744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283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Actualización/</a:t>
            </a:r>
            <a:endParaRPr sz="2800">
              <a:latin typeface="Arial Narrow"/>
              <a:cs typeface="Arial Narrow"/>
            </a:endParaRPr>
          </a:p>
          <a:p>
            <a:pPr marR="5080" algn="r">
              <a:lnSpc>
                <a:spcPts val="2830"/>
              </a:lnSpc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Refresco: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8079" y="2468879"/>
            <a:ext cx="4486656" cy="260299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344302" y="274827"/>
            <a:ext cx="33210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10" dirty="0">
                <a:latin typeface="Arial"/>
                <a:cs typeface="Arial"/>
              </a:rPr>
              <a:t>Diaria: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70" dirty="0">
                <a:latin typeface="Arial"/>
                <a:cs typeface="Arial"/>
              </a:rPr>
              <a:t>Movimientos,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30052" y="567435"/>
            <a:ext cx="37985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35" dirty="0">
                <a:latin typeface="Arial"/>
                <a:cs typeface="Arial"/>
              </a:rPr>
              <a:t>operaciones,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altas,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295" dirty="0">
                <a:latin typeface="Arial"/>
                <a:cs typeface="Arial"/>
              </a:rPr>
              <a:t>bajas…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44302" y="1024635"/>
            <a:ext cx="4509135" cy="897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50" dirty="0">
                <a:latin typeface="Arial"/>
                <a:cs typeface="Arial"/>
              </a:rPr>
              <a:t>Actualizaciones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programadas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45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90" dirty="0">
                <a:latin typeface="Arial"/>
                <a:cs typeface="Arial"/>
              </a:rPr>
              <a:t>Refresco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(backups)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0"/>
            <a:ext cx="5002530" cy="3938270"/>
          </a:xfrm>
          <a:custGeom>
            <a:avLst/>
            <a:gdLst/>
            <a:ahLst/>
            <a:cxnLst/>
            <a:rect l="l" t="t" r="r" b="b"/>
            <a:pathLst>
              <a:path w="5002530" h="3938270">
                <a:moveTo>
                  <a:pt x="0" y="1704928"/>
                </a:moveTo>
                <a:lnTo>
                  <a:pt x="0" y="3856309"/>
                </a:lnTo>
                <a:lnTo>
                  <a:pt x="579720" y="3937783"/>
                </a:lnTo>
                <a:lnTo>
                  <a:pt x="1255398" y="2957054"/>
                </a:lnTo>
                <a:lnTo>
                  <a:pt x="876220" y="1828073"/>
                </a:lnTo>
                <a:lnTo>
                  <a:pt x="0" y="1704928"/>
                </a:lnTo>
                <a:close/>
              </a:path>
              <a:path w="5002530" h="3938270">
                <a:moveTo>
                  <a:pt x="1716059" y="768286"/>
                </a:moveTo>
                <a:lnTo>
                  <a:pt x="1040381" y="1749016"/>
                </a:lnTo>
                <a:lnTo>
                  <a:pt x="1419558" y="2877996"/>
                </a:lnTo>
                <a:lnTo>
                  <a:pt x="2811966" y="3073687"/>
                </a:lnTo>
                <a:lnTo>
                  <a:pt x="3487644" y="2092957"/>
                </a:lnTo>
                <a:lnTo>
                  <a:pt x="3108467" y="963976"/>
                </a:lnTo>
                <a:lnTo>
                  <a:pt x="1716059" y="768286"/>
                </a:lnTo>
                <a:close/>
              </a:path>
              <a:path w="5002530" h="3938270">
                <a:moveTo>
                  <a:pt x="1331643" y="0"/>
                </a:moveTo>
                <a:lnTo>
                  <a:pt x="0" y="0"/>
                </a:lnTo>
                <a:lnTo>
                  <a:pt x="0" y="1510524"/>
                </a:lnTo>
                <a:lnTo>
                  <a:pt x="875213" y="1633527"/>
                </a:lnTo>
                <a:lnTo>
                  <a:pt x="1550890" y="652797"/>
                </a:lnTo>
                <a:lnTo>
                  <a:pt x="1331643" y="0"/>
                </a:lnTo>
                <a:close/>
              </a:path>
              <a:path w="5002530" h="3938270">
                <a:moveTo>
                  <a:pt x="3995936" y="267493"/>
                </a:moveTo>
                <a:lnTo>
                  <a:pt x="3948860" y="270028"/>
                </a:lnTo>
                <a:lnTo>
                  <a:pt x="3903251" y="277458"/>
                </a:lnTo>
                <a:lnTo>
                  <a:pt x="3859375" y="289519"/>
                </a:lnTo>
                <a:lnTo>
                  <a:pt x="3817494" y="305948"/>
                </a:lnTo>
                <a:lnTo>
                  <a:pt x="3777872" y="326480"/>
                </a:lnTo>
                <a:lnTo>
                  <a:pt x="3740773" y="350853"/>
                </a:lnTo>
                <a:lnTo>
                  <a:pt x="3706460" y="378803"/>
                </a:lnTo>
                <a:lnTo>
                  <a:pt x="3675197" y="410066"/>
                </a:lnTo>
                <a:lnTo>
                  <a:pt x="3647247" y="444379"/>
                </a:lnTo>
                <a:lnTo>
                  <a:pt x="3622874" y="481478"/>
                </a:lnTo>
                <a:lnTo>
                  <a:pt x="3602342" y="521100"/>
                </a:lnTo>
                <a:lnTo>
                  <a:pt x="3585913" y="562980"/>
                </a:lnTo>
                <a:lnTo>
                  <a:pt x="3573852" y="606856"/>
                </a:lnTo>
                <a:lnTo>
                  <a:pt x="3566423" y="652464"/>
                </a:lnTo>
                <a:lnTo>
                  <a:pt x="3563887" y="699541"/>
                </a:lnTo>
                <a:lnTo>
                  <a:pt x="3566423" y="746617"/>
                </a:lnTo>
                <a:lnTo>
                  <a:pt x="3573852" y="792225"/>
                </a:lnTo>
                <a:lnTo>
                  <a:pt x="3585913" y="836102"/>
                </a:lnTo>
                <a:lnTo>
                  <a:pt x="3602342" y="877982"/>
                </a:lnTo>
                <a:lnTo>
                  <a:pt x="3622874" y="917604"/>
                </a:lnTo>
                <a:lnTo>
                  <a:pt x="3647247" y="954703"/>
                </a:lnTo>
                <a:lnTo>
                  <a:pt x="3675197" y="989016"/>
                </a:lnTo>
                <a:lnTo>
                  <a:pt x="3706460" y="1020279"/>
                </a:lnTo>
                <a:lnTo>
                  <a:pt x="3740773" y="1048229"/>
                </a:lnTo>
                <a:lnTo>
                  <a:pt x="3777872" y="1072602"/>
                </a:lnTo>
                <a:lnTo>
                  <a:pt x="3817494" y="1093134"/>
                </a:lnTo>
                <a:lnTo>
                  <a:pt x="3859375" y="1109563"/>
                </a:lnTo>
                <a:lnTo>
                  <a:pt x="3903251" y="1121624"/>
                </a:lnTo>
                <a:lnTo>
                  <a:pt x="3948860" y="1129053"/>
                </a:lnTo>
                <a:lnTo>
                  <a:pt x="3995936" y="1131589"/>
                </a:lnTo>
                <a:lnTo>
                  <a:pt x="4043013" y="1129053"/>
                </a:lnTo>
                <a:lnTo>
                  <a:pt x="4088620" y="1121624"/>
                </a:lnTo>
                <a:lnTo>
                  <a:pt x="4132496" y="1109563"/>
                </a:lnTo>
                <a:lnTo>
                  <a:pt x="4174377" y="1093134"/>
                </a:lnTo>
                <a:lnTo>
                  <a:pt x="4213998" y="1072602"/>
                </a:lnTo>
                <a:lnTo>
                  <a:pt x="4251097" y="1048229"/>
                </a:lnTo>
                <a:lnTo>
                  <a:pt x="4285410" y="1020279"/>
                </a:lnTo>
                <a:lnTo>
                  <a:pt x="4316673" y="989016"/>
                </a:lnTo>
                <a:lnTo>
                  <a:pt x="4344623" y="954703"/>
                </a:lnTo>
                <a:lnTo>
                  <a:pt x="4368996" y="917604"/>
                </a:lnTo>
                <a:lnTo>
                  <a:pt x="4389528" y="877982"/>
                </a:lnTo>
                <a:lnTo>
                  <a:pt x="4405957" y="836102"/>
                </a:lnTo>
                <a:lnTo>
                  <a:pt x="4418018" y="792225"/>
                </a:lnTo>
                <a:lnTo>
                  <a:pt x="4425447" y="746617"/>
                </a:lnTo>
                <a:lnTo>
                  <a:pt x="4427983" y="699541"/>
                </a:lnTo>
                <a:lnTo>
                  <a:pt x="4425466" y="652797"/>
                </a:lnTo>
                <a:lnTo>
                  <a:pt x="4418018" y="606856"/>
                </a:lnTo>
                <a:lnTo>
                  <a:pt x="4405957" y="562980"/>
                </a:lnTo>
                <a:lnTo>
                  <a:pt x="4389529" y="521100"/>
                </a:lnTo>
                <a:lnTo>
                  <a:pt x="4368996" y="481478"/>
                </a:lnTo>
                <a:lnTo>
                  <a:pt x="4344624" y="444379"/>
                </a:lnTo>
                <a:lnTo>
                  <a:pt x="4316674" y="410066"/>
                </a:lnTo>
                <a:lnTo>
                  <a:pt x="4285411" y="378803"/>
                </a:lnTo>
                <a:lnTo>
                  <a:pt x="4251098" y="350853"/>
                </a:lnTo>
                <a:lnTo>
                  <a:pt x="4214000" y="326480"/>
                </a:lnTo>
                <a:lnTo>
                  <a:pt x="4174378" y="305948"/>
                </a:lnTo>
                <a:lnTo>
                  <a:pt x="4132498" y="289519"/>
                </a:lnTo>
                <a:lnTo>
                  <a:pt x="4088622" y="277458"/>
                </a:lnTo>
                <a:lnTo>
                  <a:pt x="4043014" y="270028"/>
                </a:lnTo>
                <a:lnTo>
                  <a:pt x="3995936" y="267493"/>
                </a:lnTo>
                <a:close/>
              </a:path>
              <a:path w="5002530" h="3938270">
                <a:moveTo>
                  <a:pt x="3641270" y="0"/>
                </a:moveTo>
                <a:lnTo>
                  <a:pt x="1520549" y="0"/>
                </a:lnTo>
                <a:lnTo>
                  <a:pt x="1715051" y="579121"/>
                </a:lnTo>
                <a:lnTo>
                  <a:pt x="3107460" y="774811"/>
                </a:lnTo>
                <a:lnTo>
                  <a:pt x="3641270" y="0"/>
                </a:lnTo>
                <a:close/>
              </a:path>
              <a:path w="5002530" h="3938270">
                <a:moveTo>
                  <a:pt x="5001954" y="0"/>
                </a:moveTo>
                <a:lnTo>
                  <a:pt x="4158813" y="0"/>
                </a:lnTo>
                <a:lnTo>
                  <a:pt x="4182288" y="75625"/>
                </a:lnTo>
                <a:lnTo>
                  <a:pt x="4202310" y="116723"/>
                </a:lnTo>
                <a:lnTo>
                  <a:pt x="4226411" y="155244"/>
                </a:lnTo>
                <a:lnTo>
                  <a:pt x="4254310" y="190908"/>
                </a:lnTo>
                <a:lnTo>
                  <a:pt x="4285724" y="223432"/>
                </a:lnTo>
                <a:lnTo>
                  <a:pt x="4320373" y="252534"/>
                </a:lnTo>
                <a:lnTo>
                  <a:pt x="4357973" y="277932"/>
                </a:lnTo>
                <a:lnTo>
                  <a:pt x="4398243" y="299345"/>
                </a:lnTo>
                <a:lnTo>
                  <a:pt x="4440901" y="316490"/>
                </a:lnTo>
                <a:lnTo>
                  <a:pt x="4485665" y="329086"/>
                </a:lnTo>
                <a:lnTo>
                  <a:pt x="4532253" y="336850"/>
                </a:lnTo>
                <a:lnTo>
                  <a:pt x="4580383" y="339501"/>
                </a:lnTo>
                <a:lnTo>
                  <a:pt x="4628513" y="336850"/>
                </a:lnTo>
                <a:lnTo>
                  <a:pt x="4675101" y="329086"/>
                </a:lnTo>
                <a:lnTo>
                  <a:pt x="4719866" y="316490"/>
                </a:lnTo>
                <a:lnTo>
                  <a:pt x="4762524" y="299345"/>
                </a:lnTo>
                <a:lnTo>
                  <a:pt x="4802794" y="277932"/>
                </a:lnTo>
                <a:lnTo>
                  <a:pt x="4840394" y="252534"/>
                </a:lnTo>
                <a:lnTo>
                  <a:pt x="4875043" y="223432"/>
                </a:lnTo>
                <a:lnTo>
                  <a:pt x="4906457" y="190908"/>
                </a:lnTo>
                <a:lnTo>
                  <a:pt x="4934356" y="155244"/>
                </a:lnTo>
                <a:lnTo>
                  <a:pt x="4958458" y="116723"/>
                </a:lnTo>
                <a:lnTo>
                  <a:pt x="4978479" y="75625"/>
                </a:lnTo>
                <a:lnTo>
                  <a:pt x="5001954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46683" y="3165348"/>
            <a:ext cx="245300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Big</a:t>
            </a:r>
            <a:r>
              <a:rPr sz="2000" b="1" spc="-40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Data</a:t>
            </a:r>
            <a:r>
              <a:rPr sz="2000" b="1" spc="-105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spc="-10" dirty="0" err="1">
                <a:solidFill>
                  <a:srgbClr val="00DEA4"/>
                </a:solidFill>
                <a:latin typeface="Arial"/>
                <a:cs typeface="Arial"/>
              </a:rPr>
              <a:t>Aplicado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84084" y="1963419"/>
            <a:ext cx="4191000" cy="111696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 marR="5080">
              <a:lnSpc>
                <a:spcPct val="79000"/>
              </a:lnSpc>
              <a:spcBef>
                <a:spcPts val="110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Almacenes</a:t>
            </a:r>
            <a:r>
              <a:rPr sz="4000" b="1" spc="-5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de</a:t>
            </a:r>
            <a:r>
              <a:rPr sz="4000" b="1" spc="-4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datos: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diseño</a:t>
            </a:r>
            <a:r>
              <a:rPr sz="4000" b="1" spc="-5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en</a:t>
            </a:r>
            <a:r>
              <a:rPr sz="4000" b="1" spc="-4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estrella</a:t>
            </a:r>
            <a:endParaRPr sz="4000">
              <a:latin typeface="Arial Narrow"/>
              <a:cs typeface="Arial Narro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797040" y="3943584"/>
            <a:ext cx="2346960" cy="1200150"/>
            <a:chOff x="6797040" y="3943584"/>
            <a:chExt cx="2346960" cy="1200150"/>
          </a:xfrm>
        </p:grpSpPr>
        <p:sp>
          <p:nvSpPr>
            <p:cNvPr id="6" name="object 6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97040" y="4373880"/>
              <a:ext cx="1459992" cy="344423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46790" y="4373843"/>
            <a:ext cx="749345" cy="36530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210564" y="4381676"/>
            <a:ext cx="653415" cy="325755"/>
            <a:chOff x="4210564" y="4381676"/>
            <a:chExt cx="653415" cy="325755"/>
          </a:xfrm>
        </p:grpSpPr>
        <p:sp>
          <p:nvSpPr>
            <p:cNvPr id="10" name="object 10"/>
            <p:cNvSpPr/>
            <p:nvPr/>
          </p:nvSpPr>
          <p:spPr>
            <a:xfrm>
              <a:off x="4372655" y="4519010"/>
              <a:ext cx="109220" cy="46990"/>
            </a:xfrm>
            <a:custGeom>
              <a:avLst/>
              <a:gdLst/>
              <a:ahLst/>
              <a:cxnLst/>
              <a:rect l="l" t="t" r="r" b="b"/>
              <a:pathLst>
                <a:path w="109220" h="46989">
                  <a:moveTo>
                    <a:pt x="109052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109052" y="46456"/>
                  </a:lnTo>
                  <a:lnTo>
                    <a:pt x="109052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09590" y="4502793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7682" y="0"/>
                  </a:moveTo>
                  <a:lnTo>
                    <a:pt x="2554" y="23467"/>
                  </a:lnTo>
                  <a:lnTo>
                    <a:pt x="0" y="38074"/>
                  </a:lnTo>
                  <a:lnTo>
                    <a:pt x="535" y="45564"/>
                  </a:lnTo>
                  <a:lnTo>
                    <a:pt x="30171" y="75625"/>
                  </a:lnTo>
                  <a:lnTo>
                    <a:pt x="37682" y="76227"/>
                  </a:lnTo>
                  <a:lnTo>
                    <a:pt x="53179" y="73081"/>
                  </a:lnTo>
                  <a:lnTo>
                    <a:pt x="65054" y="64856"/>
                  </a:lnTo>
                  <a:lnTo>
                    <a:pt x="72979" y="52778"/>
                  </a:lnTo>
                  <a:lnTo>
                    <a:pt x="75756" y="38074"/>
                  </a:lnTo>
                  <a:lnTo>
                    <a:pt x="72642" y="22651"/>
                  </a:lnTo>
                  <a:lnTo>
                    <a:pt x="64442" y="10758"/>
                  </a:lnTo>
                  <a:lnTo>
                    <a:pt x="52380" y="2808"/>
                  </a:lnTo>
                  <a:lnTo>
                    <a:pt x="37682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45192" y="4397737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613"/>
                  </a:lnTo>
                  <a:lnTo>
                    <a:pt x="236515" y="46613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10564" y="43816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918" y="0"/>
                  </a:moveTo>
                  <a:lnTo>
                    <a:pt x="2654" y="23243"/>
                  </a:lnTo>
                  <a:lnTo>
                    <a:pt x="0" y="37917"/>
                  </a:lnTo>
                  <a:lnTo>
                    <a:pt x="588" y="45409"/>
                  </a:lnTo>
                  <a:lnTo>
                    <a:pt x="30407" y="75390"/>
                  </a:lnTo>
                  <a:lnTo>
                    <a:pt x="37918" y="75992"/>
                  </a:lnTo>
                  <a:lnTo>
                    <a:pt x="45429" y="75390"/>
                  </a:lnTo>
                  <a:lnTo>
                    <a:pt x="75380" y="45425"/>
                  </a:lnTo>
                  <a:lnTo>
                    <a:pt x="75992" y="37917"/>
                  </a:lnTo>
                  <a:lnTo>
                    <a:pt x="75382" y="30391"/>
                  </a:lnTo>
                  <a:lnTo>
                    <a:pt x="45408" y="551"/>
                  </a:lnTo>
                  <a:lnTo>
                    <a:pt x="37918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45192" y="4647022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236515" y="46456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10558" y="4390377"/>
              <a:ext cx="653415" cy="316865"/>
            </a:xfrm>
            <a:custGeom>
              <a:avLst/>
              <a:gdLst/>
              <a:ahLst/>
              <a:cxnLst/>
              <a:rect l="l" t="t" r="r" b="b"/>
              <a:pathLst>
                <a:path w="653414" h="316864">
                  <a:moveTo>
                    <a:pt x="75984" y="278549"/>
                  </a:moveTo>
                  <a:lnTo>
                    <a:pt x="52590" y="243141"/>
                  </a:lnTo>
                  <a:lnTo>
                    <a:pt x="37553" y="240423"/>
                  </a:lnTo>
                  <a:lnTo>
                    <a:pt x="22288" y="243624"/>
                  </a:lnTo>
                  <a:lnTo>
                    <a:pt x="10515" y="251853"/>
                  </a:lnTo>
                  <a:lnTo>
                    <a:pt x="2692" y="263880"/>
                  </a:lnTo>
                  <a:lnTo>
                    <a:pt x="0" y="278511"/>
                  </a:lnTo>
                  <a:lnTo>
                    <a:pt x="584" y="286016"/>
                  </a:lnTo>
                  <a:lnTo>
                    <a:pt x="30403" y="316064"/>
                  </a:lnTo>
                  <a:lnTo>
                    <a:pt x="37922" y="316661"/>
                  </a:lnTo>
                  <a:lnTo>
                    <a:pt x="45427" y="316064"/>
                  </a:lnTo>
                  <a:lnTo>
                    <a:pt x="75984" y="278549"/>
                  </a:lnTo>
                  <a:close/>
                </a:path>
                <a:path w="653414" h="316864">
                  <a:moveTo>
                    <a:pt x="653376" y="150495"/>
                  </a:moveTo>
                  <a:lnTo>
                    <a:pt x="566496" y="0"/>
                  </a:lnTo>
                  <a:lnTo>
                    <a:pt x="392734" y="0"/>
                  </a:lnTo>
                  <a:lnTo>
                    <a:pt x="305854" y="150495"/>
                  </a:lnTo>
                  <a:lnTo>
                    <a:pt x="392734" y="301066"/>
                  </a:lnTo>
                  <a:lnTo>
                    <a:pt x="566496" y="301066"/>
                  </a:lnTo>
                  <a:lnTo>
                    <a:pt x="653376" y="150495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4" y="253491"/>
            <a:ext cx="2291080" cy="1589405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280035">
              <a:lnSpc>
                <a:spcPct val="71000"/>
              </a:lnSpc>
              <a:spcBef>
                <a:spcPts val="1490"/>
              </a:spcBef>
            </a:pPr>
            <a:r>
              <a:rPr dirty="0"/>
              <a:t>Diseño</a:t>
            </a:r>
            <a:r>
              <a:rPr spc="-65" dirty="0"/>
              <a:t> </a:t>
            </a:r>
            <a:r>
              <a:rPr spc="-25" dirty="0"/>
              <a:t>en </a:t>
            </a:r>
            <a:r>
              <a:rPr spc="-10" dirty="0"/>
              <a:t>estrella</a:t>
            </a:r>
          </a:p>
          <a:p>
            <a:pPr marL="1225550">
              <a:lnSpc>
                <a:spcPct val="100000"/>
              </a:lnSpc>
              <a:spcBef>
                <a:spcPts val="745"/>
              </a:spcBef>
            </a:pPr>
            <a:r>
              <a:rPr sz="2800" spc="-10" dirty="0">
                <a:solidFill>
                  <a:srgbClr val="FF0000"/>
                </a:solidFill>
              </a:rPr>
              <a:t>Etapas: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856156" y="3262445"/>
            <a:ext cx="1485265" cy="904240"/>
            <a:chOff x="2856156" y="3262445"/>
            <a:chExt cx="1485265" cy="904240"/>
          </a:xfrm>
        </p:grpSpPr>
        <p:sp>
          <p:nvSpPr>
            <p:cNvPr id="5" name="object 5"/>
            <p:cNvSpPr/>
            <p:nvPr/>
          </p:nvSpPr>
          <p:spPr>
            <a:xfrm>
              <a:off x="2870441" y="3276599"/>
              <a:ext cx="1456690" cy="875030"/>
            </a:xfrm>
            <a:custGeom>
              <a:avLst/>
              <a:gdLst/>
              <a:ahLst/>
              <a:cxnLst/>
              <a:rect l="l" t="t" r="r" b="b"/>
              <a:pathLst>
                <a:path w="1456689" h="875029">
                  <a:moveTo>
                    <a:pt x="1456321" y="0"/>
                  </a:moveTo>
                  <a:lnTo>
                    <a:pt x="0" y="0"/>
                  </a:lnTo>
                  <a:lnTo>
                    <a:pt x="0" y="140970"/>
                  </a:lnTo>
                  <a:lnTo>
                    <a:pt x="0" y="875030"/>
                  </a:lnTo>
                  <a:lnTo>
                    <a:pt x="141084" y="875030"/>
                  </a:lnTo>
                  <a:lnTo>
                    <a:pt x="141084" y="140970"/>
                  </a:lnTo>
                  <a:lnTo>
                    <a:pt x="1456321" y="140970"/>
                  </a:lnTo>
                  <a:lnTo>
                    <a:pt x="1456321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70444" y="3276733"/>
              <a:ext cx="1456690" cy="875665"/>
            </a:xfrm>
            <a:custGeom>
              <a:avLst/>
              <a:gdLst/>
              <a:ahLst/>
              <a:cxnLst/>
              <a:rect l="l" t="t" r="r" b="b"/>
              <a:pathLst>
                <a:path w="1456689" h="875664">
                  <a:moveTo>
                    <a:pt x="1456325" y="0"/>
                  </a:moveTo>
                  <a:lnTo>
                    <a:pt x="1456325" y="140996"/>
                  </a:lnTo>
                  <a:lnTo>
                    <a:pt x="141084" y="140996"/>
                  </a:lnTo>
                  <a:lnTo>
                    <a:pt x="141084" y="875207"/>
                  </a:lnTo>
                  <a:lnTo>
                    <a:pt x="0" y="875207"/>
                  </a:lnTo>
                  <a:lnTo>
                    <a:pt x="0" y="0"/>
                  </a:lnTo>
                  <a:lnTo>
                    <a:pt x="1456325" y="0"/>
                  </a:lnTo>
                  <a:close/>
                </a:path>
              </a:pathLst>
            </a:custGeom>
            <a:ln w="28575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210748" y="3439159"/>
            <a:ext cx="923290" cy="93980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065" marR="5080" algn="ctr">
              <a:lnSpc>
                <a:spcPct val="92900"/>
              </a:lnSpc>
              <a:spcBef>
                <a:spcPts val="275"/>
              </a:spcBef>
            </a:pPr>
            <a:r>
              <a:rPr sz="2100" b="1" spc="-185" dirty="0">
                <a:solidFill>
                  <a:srgbClr val="044247"/>
                </a:solidFill>
                <a:latin typeface="Arial"/>
                <a:cs typeface="Arial"/>
              </a:rPr>
              <a:t>Proceso </a:t>
            </a:r>
            <a:r>
              <a:rPr sz="2100" b="1" spc="-25" dirty="0">
                <a:solidFill>
                  <a:srgbClr val="044247"/>
                </a:solidFill>
                <a:latin typeface="Arial"/>
                <a:cs typeface="Arial"/>
              </a:rPr>
              <a:t>de </a:t>
            </a:r>
            <a:r>
              <a:rPr sz="2100" b="1" spc="-185" dirty="0">
                <a:solidFill>
                  <a:srgbClr val="044247"/>
                </a:solidFill>
                <a:latin typeface="Arial"/>
                <a:cs typeface="Arial"/>
              </a:rPr>
              <a:t>Negocio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067328" y="2864671"/>
            <a:ext cx="276860" cy="276860"/>
            <a:chOff x="4067328" y="2864671"/>
            <a:chExt cx="276860" cy="276860"/>
          </a:xfrm>
        </p:grpSpPr>
        <p:sp>
          <p:nvSpPr>
            <p:cNvPr id="9" name="object 9"/>
            <p:cNvSpPr/>
            <p:nvPr/>
          </p:nvSpPr>
          <p:spPr>
            <a:xfrm>
              <a:off x="4081615" y="2878959"/>
              <a:ext cx="248285" cy="248285"/>
            </a:xfrm>
            <a:custGeom>
              <a:avLst/>
              <a:gdLst/>
              <a:ahLst/>
              <a:cxnLst/>
              <a:rect l="l" t="t" r="r" b="b"/>
              <a:pathLst>
                <a:path w="248285" h="248285">
                  <a:moveTo>
                    <a:pt x="248070" y="0"/>
                  </a:moveTo>
                  <a:lnTo>
                    <a:pt x="0" y="248070"/>
                  </a:lnTo>
                  <a:lnTo>
                    <a:pt x="248070" y="248070"/>
                  </a:lnTo>
                  <a:lnTo>
                    <a:pt x="248070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81615" y="2878959"/>
              <a:ext cx="248285" cy="248285"/>
            </a:xfrm>
            <a:custGeom>
              <a:avLst/>
              <a:gdLst/>
              <a:ahLst/>
              <a:cxnLst/>
              <a:rect l="l" t="t" r="r" b="b"/>
              <a:pathLst>
                <a:path w="248285" h="248285">
                  <a:moveTo>
                    <a:pt x="0" y="248071"/>
                  </a:moveTo>
                  <a:lnTo>
                    <a:pt x="248071" y="0"/>
                  </a:lnTo>
                  <a:lnTo>
                    <a:pt x="248071" y="248071"/>
                  </a:lnTo>
                  <a:lnTo>
                    <a:pt x="0" y="248071"/>
                  </a:lnTo>
                  <a:close/>
                </a:path>
              </a:pathLst>
            </a:custGeom>
            <a:ln w="28575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4513655" y="2864163"/>
            <a:ext cx="1485265" cy="904240"/>
            <a:chOff x="4513655" y="2864163"/>
            <a:chExt cx="1485265" cy="904240"/>
          </a:xfrm>
        </p:grpSpPr>
        <p:sp>
          <p:nvSpPr>
            <p:cNvPr id="12" name="object 12"/>
            <p:cNvSpPr/>
            <p:nvPr/>
          </p:nvSpPr>
          <p:spPr>
            <a:xfrm>
              <a:off x="4527931" y="2877819"/>
              <a:ext cx="1456690" cy="876300"/>
            </a:xfrm>
            <a:custGeom>
              <a:avLst/>
              <a:gdLst/>
              <a:ahLst/>
              <a:cxnLst/>
              <a:rect l="l" t="t" r="r" b="b"/>
              <a:pathLst>
                <a:path w="1456689" h="876300">
                  <a:moveTo>
                    <a:pt x="1456334" y="0"/>
                  </a:moveTo>
                  <a:lnTo>
                    <a:pt x="0" y="0"/>
                  </a:lnTo>
                  <a:lnTo>
                    <a:pt x="0" y="142240"/>
                  </a:lnTo>
                  <a:lnTo>
                    <a:pt x="0" y="876300"/>
                  </a:lnTo>
                  <a:lnTo>
                    <a:pt x="141084" y="876300"/>
                  </a:lnTo>
                  <a:lnTo>
                    <a:pt x="141084" y="142240"/>
                  </a:lnTo>
                  <a:lnTo>
                    <a:pt x="1456334" y="142240"/>
                  </a:lnTo>
                  <a:lnTo>
                    <a:pt x="1456334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7942" y="2878451"/>
              <a:ext cx="1456690" cy="875665"/>
            </a:xfrm>
            <a:custGeom>
              <a:avLst/>
              <a:gdLst/>
              <a:ahLst/>
              <a:cxnLst/>
              <a:rect l="l" t="t" r="r" b="b"/>
              <a:pathLst>
                <a:path w="1456689" h="875664">
                  <a:moveTo>
                    <a:pt x="1456325" y="0"/>
                  </a:moveTo>
                  <a:lnTo>
                    <a:pt x="1456325" y="140996"/>
                  </a:lnTo>
                  <a:lnTo>
                    <a:pt x="141084" y="140996"/>
                  </a:lnTo>
                  <a:lnTo>
                    <a:pt x="141084" y="875207"/>
                  </a:lnTo>
                  <a:lnTo>
                    <a:pt x="0" y="875207"/>
                  </a:lnTo>
                  <a:lnTo>
                    <a:pt x="0" y="0"/>
                  </a:lnTo>
                  <a:lnTo>
                    <a:pt x="1456325" y="0"/>
                  </a:lnTo>
                  <a:close/>
                </a:path>
              </a:pathLst>
            </a:custGeom>
            <a:ln w="28575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694733" y="3041395"/>
            <a:ext cx="1269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20" dirty="0">
                <a:solidFill>
                  <a:srgbClr val="044247"/>
                </a:solidFill>
                <a:latin typeface="Arial"/>
                <a:cs typeface="Arial"/>
              </a:rPr>
              <a:t>Granularidad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724828" y="2466387"/>
            <a:ext cx="276860" cy="276860"/>
            <a:chOff x="5724828" y="2466387"/>
            <a:chExt cx="276860" cy="276860"/>
          </a:xfrm>
        </p:grpSpPr>
        <p:sp>
          <p:nvSpPr>
            <p:cNvPr id="16" name="object 16"/>
            <p:cNvSpPr/>
            <p:nvPr/>
          </p:nvSpPr>
          <p:spPr>
            <a:xfrm>
              <a:off x="5739115" y="2480674"/>
              <a:ext cx="248285" cy="248285"/>
            </a:xfrm>
            <a:custGeom>
              <a:avLst/>
              <a:gdLst/>
              <a:ahLst/>
              <a:cxnLst/>
              <a:rect l="l" t="t" r="r" b="b"/>
              <a:pathLst>
                <a:path w="248285" h="248285">
                  <a:moveTo>
                    <a:pt x="248070" y="0"/>
                  </a:moveTo>
                  <a:lnTo>
                    <a:pt x="0" y="248071"/>
                  </a:lnTo>
                  <a:lnTo>
                    <a:pt x="248070" y="248071"/>
                  </a:lnTo>
                  <a:lnTo>
                    <a:pt x="248070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739115" y="2480674"/>
              <a:ext cx="248285" cy="248285"/>
            </a:xfrm>
            <a:custGeom>
              <a:avLst/>
              <a:gdLst/>
              <a:ahLst/>
              <a:cxnLst/>
              <a:rect l="l" t="t" r="r" b="b"/>
              <a:pathLst>
                <a:path w="248285" h="248285">
                  <a:moveTo>
                    <a:pt x="0" y="248071"/>
                  </a:moveTo>
                  <a:lnTo>
                    <a:pt x="248071" y="0"/>
                  </a:lnTo>
                  <a:lnTo>
                    <a:pt x="248071" y="248071"/>
                  </a:lnTo>
                  <a:lnTo>
                    <a:pt x="0" y="248071"/>
                  </a:lnTo>
                  <a:close/>
                </a:path>
              </a:pathLst>
            </a:custGeom>
            <a:ln w="28575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6075250" y="2465878"/>
            <a:ext cx="1485265" cy="904240"/>
            <a:chOff x="6075250" y="2465878"/>
            <a:chExt cx="1485265" cy="904240"/>
          </a:xfrm>
        </p:grpSpPr>
        <p:sp>
          <p:nvSpPr>
            <p:cNvPr id="19" name="object 19"/>
            <p:cNvSpPr/>
            <p:nvPr/>
          </p:nvSpPr>
          <p:spPr>
            <a:xfrm>
              <a:off x="6089536" y="2480309"/>
              <a:ext cx="1456690" cy="875030"/>
            </a:xfrm>
            <a:custGeom>
              <a:avLst/>
              <a:gdLst/>
              <a:ahLst/>
              <a:cxnLst/>
              <a:rect l="l" t="t" r="r" b="b"/>
              <a:pathLst>
                <a:path w="1456690" h="875029">
                  <a:moveTo>
                    <a:pt x="1456321" y="0"/>
                  </a:moveTo>
                  <a:lnTo>
                    <a:pt x="0" y="0"/>
                  </a:lnTo>
                  <a:lnTo>
                    <a:pt x="0" y="140970"/>
                  </a:lnTo>
                  <a:lnTo>
                    <a:pt x="0" y="875030"/>
                  </a:lnTo>
                  <a:lnTo>
                    <a:pt x="141084" y="875030"/>
                  </a:lnTo>
                  <a:lnTo>
                    <a:pt x="141084" y="140970"/>
                  </a:lnTo>
                  <a:lnTo>
                    <a:pt x="1456321" y="140970"/>
                  </a:lnTo>
                  <a:lnTo>
                    <a:pt x="1456321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089537" y="2480166"/>
              <a:ext cx="1456690" cy="875665"/>
            </a:xfrm>
            <a:custGeom>
              <a:avLst/>
              <a:gdLst/>
              <a:ahLst/>
              <a:cxnLst/>
              <a:rect l="l" t="t" r="r" b="b"/>
              <a:pathLst>
                <a:path w="1456690" h="875664">
                  <a:moveTo>
                    <a:pt x="1456325" y="0"/>
                  </a:moveTo>
                  <a:lnTo>
                    <a:pt x="1456325" y="140996"/>
                  </a:lnTo>
                  <a:lnTo>
                    <a:pt x="141084" y="140996"/>
                  </a:lnTo>
                  <a:lnTo>
                    <a:pt x="141084" y="875207"/>
                  </a:lnTo>
                  <a:lnTo>
                    <a:pt x="0" y="875207"/>
                  </a:lnTo>
                  <a:lnTo>
                    <a:pt x="0" y="0"/>
                  </a:lnTo>
                  <a:lnTo>
                    <a:pt x="1456325" y="0"/>
                  </a:lnTo>
                  <a:close/>
                </a:path>
              </a:pathLst>
            </a:custGeom>
            <a:ln w="28575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342814" y="2552191"/>
            <a:ext cx="1097280" cy="842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780" marR="5080" indent="-132715">
              <a:lnSpc>
                <a:spcPct val="127600"/>
              </a:lnSpc>
              <a:spcBef>
                <a:spcPts val="100"/>
              </a:spcBef>
            </a:pPr>
            <a:r>
              <a:rPr sz="2100" b="1" spc="-80" dirty="0">
                <a:solidFill>
                  <a:srgbClr val="044247"/>
                </a:solidFill>
                <a:latin typeface="Arial"/>
                <a:cs typeface="Arial"/>
              </a:rPr>
              <a:t>Medidas/ </a:t>
            </a:r>
            <a:r>
              <a:rPr sz="2100" b="1" spc="-55" dirty="0">
                <a:solidFill>
                  <a:srgbClr val="044247"/>
                </a:solidFill>
                <a:latin typeface="Arial"/>
                <a:cs typeface="Arial"/>
              </a:rPr>
              <a:t>Hechos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228185" y="1347614"/>
            <a:ext cx="1333500" cy="1080135"/>
            <a:chOff x="6228185" y="1347614"/>
            <a:chExt cx="1333500" cy="1080135"/>
          </a:xfrm>
        </p:grpSpPr>
        <p:sp>
          <p:nvSpPr>
            <p:cNvPr id="23" name="object 23"/>
            <p:cNvSpPr/>
            <p:nvPr/>
          </p:nvSpPr>
          <p:spPr>
            <a:xfrm>
              <a:off x="7300709" y="2082391"/>
              <a:ext cx="248285" cy="248285"/>
            </a:xfrm>
            <a:custGeom>
              <a:avLst/>
              <a:gdLst/>
              <a:ahLst/>
              <a:cxnLst/>
              <a:rect l="l" t="t" r="r" b="b"/>
              <a:pathLst>
                <a:path w="248284" h="248285">
                  <a:moveTo>
                    <a:pt x="248070" y="0"/>
                  </a:moveTo>
                  <a:lnTo>
                    <a:pt x="0" y="248070"/>
                  </a:lnTo>
                  <a:lnTo>
                    <a:pt x="248070" y="248070"/>
                  </a:lnTo>
                  <a:lnTo>
                    <a:pt x="248070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300709" y="2082391"/>
              <a:ext cx="248285" cy="248285"/>
            </a:xfrm>
            <a:custGeom>
              <a:avLst/>
              <a:gdLst/>
              <a:ahLst/>
              <a:cxnLst/>
              <a:rect l="l" t="t" r="r" b="b"/>
              <a:pathLst>
                <a:path w="248284" h="248285">
                  <a:moveTo>
                    <a:pt x="0" y="248071"/>
                  </a:moveTo>
                  <a:lnTo>
                    <a:pt x="248071" y="0"/>
                  </a:lnTo>
                  <a:lnTo>
                    <a:pt x="248071" y="248071"/>
                  </a:lnTo>
                  <a:lnTo>
                    <a:pt x="0" y="248071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185" y="1347614"/>
              <a:ext cx="1080117" cy="1080117"/>
            </a:xfrm>
            <a:prstGeom prst="rect">
              <a:avLst/>
            </a:prstGeom>
          </p:spPr>
        </p:pic>
      </p:grpSp>
      <p:grpSp>
        <p:nvGrpSpPr>
          <p:cNvPr id="26" name="object 26"/>
          <p:cNvGrpSpPr/>
          <p:nvPr/>
        </p:nvGrpSpPr>
        <p:grpSpPr>
          <a:xfrm>
            <a:off x="7686381" y="2069183"/>
            <a:ext cx="1470660" cy="901065"/>
            <a:chOff x="7686381" y="2069183"/>
            <a:chExt cx="1470660" cy="901065"/>
          </a:xfrm>
        </p:grpSpPr>
        <p:sp>
          <p:nvSpPr>
            <p:cNvPr id="27" name="object 27"/>
            <p:cNvSpPr/>
            <p:nvPr/>
          </p:nvSpPr>
          <p:spPr>
            <a:xfrm>
              <a:off x="7699083" y="2081529"/>
              <a:ext cx="1445260" cy="875030"/>
            </a:xfrm>
            <a:custGeom>
              <a:avLst/>
              <a:gdLst/>
              <a:ahLst/>
              <a:cxnLst/>
              <a:rect l="l" t="t" r="r" b="b"/>
              <a:pathLst>
                <a:path w="1445259" h="875030">
                  <a:moveTo>
                    <a:pt x="1444917" y="0"/>
                  </a:moveTo>
                  <a:lnTo>
                    <a:pt x="0" y="0"/>
                  </a:lnTo>
                  <a:lnTo>
                    <a:pt x="0" y="140970"/>
                  </a:lnTo>
                  <a:lnTo>
                    <a:pt x="0" y="875030"/>
                  </a:lnTo>
                  <a:lnTo>
                    <a:pt x="141071" y="875030"/>
                  </a:lnTo>
                  <a:lnTo>
                    <a:pt x="141071" y="140970"/>
                  </a:lnTo>
                  <a:lnTo>
                    <a:pt x="1444917" y="140970"/>
                  </a:lnTo>
                  <a:lnTo>
                    <a:pt x="1444917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699081" y="2081883"/>
              <a:ext cx="1445260" cy="875665"/>
            </a:xfrm>
            <a:custGeom>
              <a:avLst/>
              <a:gdLst/>
              <a:ahLst/>
              <a:cxnLst/>
              <a:rect l="l" t="t" r="r" b="b"/>
              <a:pathLst>
                <a:path w="1445259" h="875664">
                  <a:moveTo>
                    <a:pt x="1444917" y="140996"/>
                  </a:moveTo>
                  <a:lnTo>
                    <a:pt x="141084" y="140996"/>
                  </a:lnTo>
                  <a:lnTo>
                    <a:pt x="141084" y="875207"/>
                  </a:lnTo>
                  <a:lnTo>
                    <a:pt x="0" y="875207"/>
                  </a:lnTo>
                  <a:lnTo>
                    <a:pt x="0" y="0"/>
                  </a:lnTo>
                  <a:lnTo>
                    <a:pt x="1444917" y="0"/>
                  </a:lnTo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895618" y="2240279"/>
            <a:ext cx="11811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40" dirty="0">
                <a:latin typeface="Arial"/>
                <a:cs typeface="Arial"/>
              </a:rPr>
              <a:t>Dimensiones</a:t>
            </a:r>
            <a:endParaRPr sz="1700">
              <a:latin typeface="Arial"/>
              <a:cs typeface="Arial"/>
            </a:endParaRPr>
          </a:p>
        </p:txBody>
      </p:sp>
      <p:pic>
        <p:nvPicPr>
          <p:cNvPr id="30" name="object 3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95570" y="2102879"/>
            <a:ext cx="1093381" cy="1096512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16015" y="1707654"/>
            <a:ext cx="963430" cy="1121432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70392" y="952600"/>
            <a:ext cx="1338111" cy="1115093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1080" cy="1818005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280035">
              <a:lnSpc>
                <a:spcPct val="71000"/>
              </a:lnSpc>
              <a:spcBef>
                <a:spcPts val="149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Diseño</a:t>
            </a:r>
            <a:r>
              <a:rPr sz="4000" b="1" spc="-6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en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estrella:</a:t>
            </a:r>
            <a:endParaRPr sz="4000">
              <a:latin typeface="Arial Narrow"/>
              <a:cs typeface="Arial Narrow"/>
            </a:endParaRPr>
          </a:p>
          <a:p>
            <a:pPr marL="1064895" marR="5080" indent="-357505">
              <a:lnSpc>
                <a:spcPct val="68600"/>
              </a:lnSpc>
              <a:spcBef>
                <a:spcPts val="1295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Proceso</a:t>
            </a:r>
            <a:r>
              <a:rPr sz="2800" b="1" spc="-50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de </a:t>
            </a: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negocio: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624071" y="2426207"/>
            <a:ext cx="5520055" cy="2717800"/>
            <a:chOff x="3624071" y="2426207"/>
            <a:chExt cx="5520055" cy="2717800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24071" y="2426207"/>
              <a:ext cx="4684776" cy="2715768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344302" y="244347"/>
            <a:ext cx="4597400" cy="1799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210" dirty="0">
                <a:latin typeface="Arial"/>
                <a:cs typeface="Arial"/>
              </a:rPr>
              <a:t>Procesos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55" dirty="0">
                <a:latin typeface="Arial"/>
                <a:cs typeface="Arial"/>
              </a:rPr>
              <a:t>alto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nivel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45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60" dirty="0">
                <a:latin typeface="Arial"/>
                <a:cs typeface="Arial"/>
              </a:rPr>
              <a:t>Niveles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táctico/estratégico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2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270" dirty="0">
                <a:latin typeface="Arial"/>
                <a:cs typeface="Arial"/>
              </a:rPr>
              <a:t>Toma</a:t>
            </a:r>
            <a:r>
              <a:rPr sz="2800" spc="-140" dirty="0">
                <a:latin typeface="Arial"/>
                <a:cs typeface="Arial"/>
              </a:rPr>
              <a:t> de </a:t>
            </a:r>
            <a:r>
              <a:rPr sz="2800" spc="-50" dirty="0">
                <a:latin typeface="Arial"/>
                <a:cs typeface="Arial"/>
              </a:rPr>
              <a:t>decisiones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b="1" spc="-254" dirty="0">
                <a:solidFill>
                  <a:srgbClr val="FF0000"/>
                </a:solidFill>
                <a:latin typeface="Arial"/>
                <a:cs typeface="Arial"/>
              </a:rPr>
              <a:t>Ej:</a:t>
            </a:r>
            <a:r>
              <a:rPr sz="2800" b="1" spc="-1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spc="-185" dirty="0">
                <a:latin typeface="Arial"/>
                <a:cs typeface="Arial"/>
              </a:rPr>
              <a:t>Concesión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un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préstamo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276" y="253491"/>
            <a:ext cx="2364105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353060">
              <a:lnSpc>
                <a:spcPct val="71000"/>
              </a:lnSpc>
              <a:spcBef>
                <a:spcPts val="149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Diseño</a:t>
            </a:r>
            <a:r>
              <a:rPr sz="4000" b="1" spc="-6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en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estrella:</a:t>
            </a:r>
            <a:endParaRPr sz="4000">
              <a:latin typeface="Arial Narrow"/>
              <a:cs typeface="Arial Narrow"/>
            </a:endParaRPr>
          </a:p>
          <a:p>
            <a:pPr marL="441325">
              <a:lnSpc>
                <a:spcPct val="100000"/>
              </a:lnSpc>
              <a:spcBef>
                <a:spcPts val="24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Granularidad: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311976" y="2127002"/>
            <a:ext cx="1296670" cy="731520"/>
            <a:chOff x="6311976" y="2127002"/>
            <a:chExt cx="1296670" cy="731520"/>
          </a:xfrm>
        </p:grpSpPr>
        <p:sp>
          <p:nvSpPr>
            <p:cNvPr id="5" name="object 5"/>
            <p:cNvSpPr/>
            <p:nvPr/>
          </p:nvSpPr>
          <p:spPr>
            <a:xfrm>
              <a:off x="6324676" y="2139702"/>
              <a:ext cx="1271270" cy="706120"/>
            </a:xfrm>
            <a:custGeom>
              <a:avLst/>
              <a:gdLst/>
              <a:ahLst/>
              <a:cxnLst/>
              <a:rect l="l" t="t" r="r" b="b"/>
              <a:pathLst>
                <a:path w="1271270" h="706119">
                  <a:moveTo>
                    <a:pt x="1200236" y="0"/>
                  </a:moveTo>
                  <a:lnTo>
                    <a:pt x="70601" y="0"/>
                  </a:lnTo>
                  <a:lnTo>
                    <a:pt x="43120" y="5548"/>
                  </a:lnTo>
                  <a:lnTo>
                    <a:pt x="20678" y="20678"/>
                  </a:lnTo>
                  <a:lnTo>
                    <a:pt x="5548" y="43120"/>
                  </a:lnTo>
                  <a:lnTo>
                    <a:pt x="0" y="70601"/>
                  </a:lnTo>
                  <a:lnTo>
                    <a:pt x="0" y="635419"/>
                  </a:lnTo>
                  <a:lnTo>
                    <a:pt x="5548" y="662900"/>
                  </a:lnTo>
                  <a:lnTo>
                    <a:pt x="20678" y="685342"/>
                  </a:lnTo>
                  <a:lnTo>
                    <a:pt x="43120" y="700472"/>
                  </a:lnTo>
                  <a:lnTo>
                    <a:pt x="70601" y="706020"/>
                  </a:lnTo>
                  <a:lnTo>
                    <a:pt x="1200236" y="706020"/>
                  </a:lnTo>
                  <a:lnTo>
                    <a:pt x="1227717" y="700472"/>
                  </a:lnTo>
                  <a:lnTo>
                    <a:pt x="1250159" y="685342"/>
                  </a:lnTo>
                  <a:lnTo>
                    <a:pt x="1265290" y="662900"/>
                  </a:lnTo>
                  <a:lnTo>
                    <a:pt x="1270838" y="635419"/>
                  </a:lnTo>
                  <a:lnTo>
                    <a:pt x="1270838" y="70601"/>
                  </a:lnTo>
                  <a:lnTo>
                    <a:pt x="1265290" y="43120"/>
                  </a:lnTo>
                  <a:lnTo>
                    <a:pt x="1250159" y="20678"/>
                  </a:lnTo>
                  <a:lnTo>
                    <a:pt x="1227717" y="5548"/>
                  </a:lnTo>
                  <a:lnTo>
                    <a:pt x="1200236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24676" y="2139702"/>
              <a:ext cx="1271270" cy="706120"/>
            </a:xfrm>
            <a:custGeom>
              <a:avLst/>
              <a:gdLst/>
              <a:ahLst/>
              <a:cxnLst/>
              <a:rect l="l" t="t" r="r" b="b"/>
              <a:pathLst>
                <a:path w="1271270" h="706119">
                  <a:moveTo>
                    <a:pt x="0" y="70602"/>
                  </a:moveTo>
                  <a:lnTo>
                    <a:pt x="5548" y="43120"/>
                  </a:lnTo>
                  <a:lnTo>
                    <a:pt x="20678" y="20678"/>
                  </a:lnTo>
                  <a:lnTo>
                    <a:pt x="43120" y="5548"/>
                  </a:lnTo>
                  <a:lnTo>
                    <a:pt x="70602" y="0"/>
                  </a:lnTo>
                  <a:lnTo>
                    <a:pt x="1200237" y="0"/>
                  </a:lnTo>
                  <a:lnTo>
                    <a:pt x="1227718" y="5548"/>
                  </a:lnTo>
                  <a:lnTo>
                    <a:pt x="1250160" y="20678"/>
                  </a:lnTo>
                  <a:lnTo>
                    <a:pt x="1265290" y="43120"/>
                  </a:lnTo>
                  <a:lnTo>
                    <a:pt x="1270839" y="70602"/>
                  </a:lnTo>
                  <a:lnTo>
                    <a:pt x="1270839" y="635419"/>
                  </a:lnTo>
                  <a:lnTo>
                    <a:pt x="1265290" y="662901"/>
                  </a:lnTo>
                  <a:lnTo>
                    <a:pt x="1250160" y="685343"/>
                  </a:lnTo>
                  <a:lnTo>
                    <a:pt x="1227718" y="700473"/>
                  </a:lnTo>
                  <a:lnTo>
                    <a:pt x="1200237" y="706022"/>
                  </a:lnTo>
                  <a:lnTo>
                    <a:pt x="70602" y="706022"/>
                  </a:lnTo>
                  <a:lnTo>
                    <a:pt x="43120" y="700473"/>
                  </a:lnTo>
                  <a:lnTo>
                    <a:pt x="20678" y="685343"/>
                  </a:lnTo>
                  <a:lnTo>
                    <a:pt x="5548" y="662901"/>
                  </a:lnTo>
                  <a:lnTo>
                    <a:pt x="0" y="635419"/>
                  </a:lnTo>
                  <a:lnTo>
                    <a:pt x="0" y="70602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344302" y="244347"/>
            <a:ext cx="4274185" cy="2385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55" dirty="0">
                <a:latin typeface="Arial"/>
                <a:cs typeface="Arial"/>
              </a:rPr>
              <a:t>Homogéneo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45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70" dirty="0">
                <a:latin typeface="Arial"/>
                <a:cs typeface="Arial"/>
              </a:rPr>
              <a:t>No</a:t>
            </a:r>
            <a:r>
              <a:rPr sz="2800" spc="-125" dirty="0">
                <a:latin typeface="Arial"/>
                <a:cs typeface="Arial"/>
              </a:rPr>
              <a:t> muy </a:t>
            </a:r>
            <a:r>
              <a:rPr sz="2800" spc="-70" dirty="0">
                <a:latin typeface="Arial"/>
                <a:cs typeface="Arial"/>
              </a:rPr>
              <a:t>fina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(transaccional)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2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50" dirty="0">
                <a:latin typeface="Arial"/>
                <a:cs typeface="Arial"/>
              </a:rPr>
              <a:t>Heterogéneo</a:t>
            </a:r>
            <a:endParaRPr sz="2800">
              <a:latin typeface="Arial"/>
              <a:cs typeface="Arial"/>
            </a:endParaRPr>
          </a:p>
          <a:p>
            <a:pPr marL="755015" lvl="1" indent="-320675">
              <a:lnSpc>
                <a:spcPct val="100000"/>
              </a:lnSpc>
              <a:spcBef>
                <a:spcPts val="140"/>
              </a:spcBef>
              <a:buFont typeface="Apple SD Gothic Neo Light"/>
              <a:buChar char="■"/>
              <a:tabLst>
                <a:tab pos="755015" algn="l"/>
              </a:tabLst>
            </a:pPr>
            <a:r>
              <a:rPr sz="2800" spc="-85" dirty="0">
                <a:latin typeface="Arial"/>
                <a:cs typeface="Arial"/>
              </a:rPr>
              <a:t>Separación</a:t>
            </a:r>
            <a:endParaRPr sz="2800">
              <a:latin typeface="Arial"/>
              <a:cs typeface="Arial"/>
            </a:endParaRPr>
          </a:p>
          <a:p>
            <a:pPr marR="140970" algn="r">
              <a:lnSpc>
                <a:spcPct val="100000"/>
              </a:lnSpc>
              <a:spcBef>
                <a:spcPts val="2095"/>
              </a:spcBef>
            </a:pPr>
            <a:r>
              <a:rPr sz="2100" spc="-20" dirty="0">
                <a:solidFill>
                  <a:srgbClr val="044247"/>
                </a:solidFill>
                <a:latin typeface="Arial"/>
                <a:cs typeface="Arial"/>
              </a:rPr>
              <a:t>Solvencia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311976" y="2885086"/>
            <a:ext cx="1296670" cy="2091689"/>
            <a:chOff x="6311976" y="2885086"/>
            <a:chExt cx="1296670" cy="2091689"/>
          </a:xfrm>
        </p:grpSpPr>
        <p:sp>
          <p:nvSpPr>
            <p:cNvPr id="9" name="object 9"/>
            <p:cNvSpPr/>
            <p:nvPr/>
          </p:nvSpPr>
          <p:spPr>
            <a:xfrm>
              <a:off x="6801240" y="2889849"/>
              <a:ext cx="318135" cy="264795"/>
            </a:xfrm>
            <a:custGeom>
              <a:avLst/>
              <a:gdLst/>
              <a:ahLst/>
              <a:cxnLst/>
              <a:rect l="l" t="t" r="r" b="b"/>
              <a:pathLst>
                <a:path w="318134" h="264794">
                  <a:moveTo>
                    <a:pt x="254167" y="0"/>
                  </a:moveTo>
                  <a:lnTo>
                    <a:pt x="63541" y="0"/>
                  </a:lnTo>
                  <a:lnTo>
                    <a:pt x="63541" y="132379"/>
                  </a:lnTo>
                  <a:lnTo>
                    <a:pt x="0" y="132379"/>
                  </a:lnTo>
                  <a:lnTo>
                    <a:pt x="158854" y="264758"/>
                  </a:lnTo>
                  <a:lnTo>
                    <a:pt x="317709" y="132379"/>
                  </a:lnTo>
                  <a:lnTo>
                    <a:pt x="254167" y="132379"/>
                  </a:lnTo>
                  <a:lnTo>
                    <a:pt x="254167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801240" y="2889849"/>
              <a:ext cx="318135" cy="264795"/>
            </a:xfrm>
            <a:custGeom>
              <a:avLst/>
              <a:gdLst/>
              <a:ahLst/>
              <a:cxnLst/>
              <a:rect l="l" t="t" r="r" b="b"/>
              <a:pathLst>
                <a:path w="318134" h="264794">
                  <a:moveTo>
                    <a:pt x="254167" y="0"/>
                  </a:moveTo>
                  <a:lnTo>
                    <a:pt x="254167" y="132379"/>
                  </a:lnTo>
                  <a:lnTo>
                    <a:pt x="317709" y="132379"/>
                  </a:lnTo>
                  <a:lnTo>
                    <a:pt x="158854" y="264758"/>
                  </a:lnTo>
                  <a:lnTo>
                    <a:pt x="0" y="132379"/>
                  </a:lnTo>
                  <a:lnTo>
                    <a:pt x="63541" y="132379"/>
                  </a:lnTo>
                  <a:lnTo>
                    <a:pt x="63541" y="0"/>
                  </a:lnTo>
                  <a:lnTo>
                    <a:pt x="254167" y="0"/>
                  </a:lnTo>
                  <a:close/>
                </a:path>
              </a:pathLst>
            </a:custGeom>
            <a:ln w="9525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24676" y="3198734"/>
              <a:ext cx="1271270" cy="706120"/>
            </a:xfrm>
            <a:custGeom>
              <a:avLst/>
              <a:gdLst/>
              <a:ahLst/>
              <a:cxnLst/>
              <a:rect l="l" t="t" r="r" b="b"/>
              <a:pathLst>
                <a:path w="1271270" h="706120">
                  <a:moveTo>
                    <a:pt x="1200236" y="0"/>
                  </a:moveTo>
                  <a:lnTo>
                    <a:pt x="70601" y="0"/>
                  </a:lnTo>
                  <a:lnTo>
                    <a:pt x="43120" y="5548"/>
                  </a:lnTo>
                  <a:lnTo>
                    <a:pt x="20678" y="20678"/>
                  </a:lnTo>
                  <a:lnTo>
                    <a:pt x="5548" y="43120"/>
                  </a:lnTo>
                  <a:lnTo>
                    <a:pt x="0" y="70601"/>
                  </a:lnTo>
                  <a:lnTo>
                    <a:pt x="0" y="635419"/>
                  </a:lnTo>
                  <a:lnTo>
                    <a:pt x="5548" y="662900"/>
                  </a:lnTo>
                  <a:lnTo>
                    <a:pt x="20678" y="685342"/>
                  </a:lnTo>
                  <a:lnTo>
                    <a:pt x="43120" y="700473"/>
                  </a:lnTo>
                  <a:lnTo>
                    <a:pt x="70601" y="706021"/>
                  </a:lnTo>
                  <a:lnTo>
                    <a:pt x="1200236" y="706021"/>
                  </a:lnTo>
                  <a:lnTo>
                    <a:pt x="1227717" y="700473"/>
                  </a:lnTo>
                  <a:lnTo>
                    <a:pt x="1250159" y="685342"/>
                  </a:lnTo>
                  <a:lnTo>
                    <a:pt x="1265290" y="662900"/>
                  </a:lnTo>
                  <a:lnTo>
                    <a:pt x="1270838" y="635419"/>
                  </a:lnTo>
                  <a:lnTo>
                    <a:pt x="1270838" y="70601"/>
                  </a:lnTo>
                  <a:lnTo>
                    <a:pt x="1265290" y="43120"/>
                  </a:lnTo>
                  <a:lnTo>
                    <a:pt x="1250159" y="20678"/>
                  </a:lnTo>
                  <a:lnTo>
                    <a:pt x="1227717" y="5548"/>
                  </a:lnTo>
                  <a:lnTo>
                    <a:pt x="1200236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324676" y="3198734"/>
              <a:ext cx="1271270" cy="706120"/>
            </a:xfrm>
            <a:custGeom>
              <a:avLst/>
              <a:gdLst/>
              <a:ahLst/>
              <a:cxnLst/>
              <a:rect l="l" t="t" r="r" b="b"/>
              <a:pathLst>
                <a:path w="1271270" h="706120">
                  <a:moveTo>
                    <a:pt x="0" y="70602"/>
                  </a:moveTo>
                  <a:lnTo>
                    <a:pt x="5548" y="43120"/>
                  </a:lnTo>
                  <a:lnTo>
                    <a:pt x="20678" y="20678"/>
                  </a:lnTo>
                  <a:lnTo>
                    <a:pt x="43120" y="5548"/>
                  </a:lnTo>
                  <a:lnTo>
                    <a:pt x="70602" y="0"/>
                  </a:lnTo>
                  <a:lnTo>
                    <a:pt x="1200237" y="0"/>
                  </a:lnTo>
                  <a:lnTo>
                    <a:pt x="1227718" y="5548"/>
                  </a:lnTo>
                  <a:lnTo>
                    <a:pt x="1250160" y="20678"/>
                  </a:lnTo>
                  <a:lnTo>
                    <a:pt x="1265290" y="43120"/>
                  </a:lnTo>
                  <a:lnTo>
                    <a:pt x="1270839" y="70602"/>
                  </a:lnTo>
                  <a:lnTo>
                    <a:pt x="1270839" y="635419"/>
                  </a:lnTo>
                  <a:lnTo>
                    <a:pt x="1265290" y="662901"/>
                  </a:lnTo>
                  <a:lnTo>
                    <a:pt x="1250160" y="685343"/>
                  </a:lnTo>
                  <a:lnTo>
                    <a:pt x="1227718" y="700473"/>
                  </a:lnTo>
                  <a:lnTo>
                    <a:pt x="1200237" y="706022"/>
                  </a:lnTo>
                  <a:lnTo>
                    <a:pt x="70602" y="706022"/>
                  </a:lnTo>
                  <a:lnTo>
                    <a:pt x="43120" y="700473"/>
                  </a:lnTo>
                  <a:lnTo>
                    <a:pt x="20678" y="685343"/>
                  </a:lnTo>
                  <a:lnTo>
                    <a:pt x="5548" y="662901"/>
                  </a:lnTo>
                  <a:lnTo>
                    <a:pt x="0" y="635419"/>
                  </a:lnTo>
                  <a:lnTo>
                    <a:pt x="0" y="70602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801240" y="3948882"/>
              <a:ext cx="318135" cy="264795"/>
            </a:xfrm>
            <a:custGeom>
              <a:avLst/>
              <a:gdLst/>
              <a:ahLst/>
              <a:cxnLst/>
              <a:rect l="l" t="t" r="r" b="b"/>
              <a:pathLst>
                <a:path w="318134" h="264795">
                  <a:moveTo>
                    <a:pt x="254167" y="0"/>
                  </a:moveTo>
                  <a:lnTo>
                    <a:pt x="63541" y="0"/>
                  </a:lnTo>
                  <a:lnTo>
                    <a:pt x="63541" y="132379"/>
                  </a:lnTo>
                  <a:lnTo>
                    <a:pt x="0" y="132379"/>
                  </a:lnTo>
                  <a:lnTo>
                    <a:pt x="158854" y="264757"/>
                  </a:lnTo>
                  <a:lnTo>
                    <a:pt x="317709" y="132379"/>
                  </a:lnTo>
                  <a:lnTo>
                    <a:pt x="254167" y="132379"/>
                  </a:lnTo>
                  <a:lnTo>
                    <a:pt x="254167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801240" y="3948882"/>
              <a:ext cx="318135" cy="264795"/>
            </a:xfrm>
            <a:custGeom>
              <a:avLst/>
              <a:gdLst/>
              <a:ahLst/>
              <a:cxnLst/>
              <a:rect l="l" t="t" r="r" b="b"/>
              <a:pathLst>
                <a:path w="318134" h="264795">
                  <a:moveTo>
                    <a:pt x="254167" y="0"/>
                  </a:moveTo>
                  <a:lnTo>
                    <a:pt x="254167" y="132379"/>
                  </a:lnTo>
                  <a:lnTo>
                    <a:pt x="317709" y="132379"/>
                  </a:lnTo>
                  <a:lnTo>
                    <a:pt x="158854" y="264758"/>
                  </a:lnTo>
                  <a:lnTo>
                    <a:pt x="0" y="132379"/>
                  </a:lnTo>
                  <a:lnTo>
                    <a:pt x="63541" y="132379"/>
                  </a:lnTo>
                  <a:lnTo>
                    <a:pt x="63541" y="0"/>
                  </a:lnTo>
                  <a:lnTo>
                    <a:pt x="254167" y="0"/>
                  </a:lnTo>
                  <a:close/>
                </a:path>
              </a:pathLst>
            </a:custGeom>
            <a:ln w="9525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324676" y="4257767"/>
              <a:ext cx="1271270" cy="706120"/>
            </a:xfrm>
            <a:custGeom>
              <a:avLst/>
              <a:gdLst/>
              <a:ahLst/>
              <a:cxnLst/>
              <a:rect l="l" t="t" r="r" b="b"/>
              <a:pathLst>
                <a:path w="1271270" h="706120">
                  <a:moveTo>
                    <a:pt x="1200236" y="0"/>
                  </a:moveTo>
                  <a:lnTo>
                    <a:pt x="70601" y="0"/>
                  </a:lnTo>
                  <a:lnTo>
                    <a:pt x="43120" y="5548"/>
                  </a:lnTo>
                  <a:lnTo>
                    <a:pt x="20678" y="20678"/>
                  </a:lnTo>
                  <a:lnTo>
                    <a:pt x="5548" y="43120"/>
                  </a:lnTo>
                  <a:lnTo>
                    <a:pt x="0" y="70602"/>
                  </a:lnTo>
                  <a:lnTo>
                    <a:pt x="0" y="635419"/>
                  </a:lnTo>
                  <a:lnTo>
                    <a:pt x="5548" y="662901"/>
                  </a:lnTo>
                  <a:lnTo>
                    <a:pt x="20678" y="685343"/>
                  </a:lnTo>
                  <a:lnTo>
                    <a:pt x="43120" y="700473"/>
                  </a:lnTo>
                  <a:lnTo>
                    <a:pt x="70601" y="706021"/>
                  </a:lnTo>
                  <a:lnTo>
                    <a:pt x="1200236" y="706021"/>
                  </a:lnTo>
                  <a:lnTo>
                    <a:pt x="1227717" y="700473"/>
                  </a:lnTo>
                  <a:lnTo>
                    <a:pt x="1250159" y="685343"/>
                  </a:lnTo>
                  <a:lnTo>
                    <a:pt x="1265290" y="662901"/>
                  </a:lnTo>
                  <a:lnTo>
                    <a:pt x="1270838" y="635419"/>
                  </a:lnTo>
                  <a:lnTo>
                    <a:pt x="1270838" y="70602"/>
                  </a:lnTo>
                  <a:lnTo>
                    <a:pt x="1265290" y="43120"/>
                  </a:lnTo>
                  <a:lnTo>
                    <a:pt x="1250159" y="20678"/>
                  </a:lnTo>
                  <a:lnTo>
                    <a:pt x="1227717" y="5548"/>
                  </a:lnTo>
                  <a:lnTo>
                    <a:pt x="1200236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324676" y="4257767"/>
              <a:ext cx="1271270" cy="706120"/>
            </a:xfrm>
            <a:custGeom>
              <a:avLst/>
              <a:gdLst/>
              <a:ahLst/>
              <a:cxnLst/>
              <a:rect l="l" t="t" r="r" b="b"/>
              <a:pathLst>
                <a:path w="1271270" h="706120">
                  <a:moveTo>
                    <a:pt x="0" y="70602"/>
                  </a:moveTo>
                  <a:lnTo>
                    <a:pt x="5548" y="43120"/>
                  </a:lnTo>
                  <a:lnTo>
                    <a:pt x="20678" y="20678"/>
                  </a:lnTo>
                  <a:lnTo>
                    <a:pt x="43120" y="5548"/>
                  </a:lnTo>
                  <a:lnTo>
                    <a:pt x="70602" y="0"/>
                  </a:lnTo>
                  <a:lnTo>
                    <a:pt x="1200237" y="0"/>
                  </a:lnTo>
                  <a:lnTo>
                    <a:pt x="1227718" y="5548"/>
                  </a:lnTo>
                  <a:lnTo>
                    <a:pt x="1250160" y="20678"/>
                  </a:lnTo>
                  <a:lnTo>
                    <a:pt x="1265290" y="43120"/>
                  </a:lnTo>
                  <a:lnTo>
                    <a:pt x="1270839" y="70602"/>
                  </a:lnTo>
                  <a:lnTo>
                    <a:pt x="1270839" y="635419"/>
                  </a:lnTo>
                  <a:lnTo>
                    <a:pt x="1265290" y="662901"/>
                  </a:lnTo>
                  <a:lnTo>
                    <a:pt x="1250160" y="685343"/>
                  </a:lnTo>
                  <a:lnTo>
                    <a:pt x="1227718" y="700473"/>
                  </a:lnTo>
                  <a:lnTo>
                    <a:pt x="1200237" y="706022"/>
                  </a:lnTo>
                  <a:lnTo>
                    <a:pt x="70602" y="706022"/>
                  </a:lnTo>
                  <a:lnTo>
                    <a:pt x="43120" y="700473"/>
                  </a:lnTo>
                  <a:lnTo>
                    <a:pt x="20678" y="685343"/>
                  </a:lnTo>
                  <a:lnTo>
                    <a:pt x="5548" y="662901"/>
                  </a:lnTo>
                  <a:lnTo>
                    <a:pt x="0" y="635419"/>
                  </a:lnTo>
                  <a:lnTo>
                    <a:pt x="0" y="70602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495211" y="3341623"/>
            <a:ext cx="930275" cy="1406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14" dirty="0">
                <a:solidFill>
                  <a:srgbClr val="044247"/>
                </a:solidFill>
                <a:latin typeface="Arial"/>
                <a:cs typeface="Arial"/>
              </a:rPr>
              <a:t>Ingresos</a:t>
            </a: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2100">
              <a:latin typeface="Arial"/>
              <a:cs typeface="Arial"/>
            </a:endParaRPr>
          </a:p>
          <a:p>
            <a:pPr marL="89535">
              <a:lnSpc>
                <a:spcPct val="100000"/>
              </a:lnSpc>
            </a:pPr>
            <a:r>
              <a:rPr sz="2100" spc="-10" dirty="0">
                <a:solidFill>
                  <a:srgbClr val="044247"/>
                </a:solidFill>
                <a:latin typeface="Arial"/>
                <a:cs typeface="Arial"/>
              </a:rPr>
              <a:t>Interés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1080" cy="1818005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280035">
              <a:lnSpc>
                <a:spcPct val="71000"/>
              </a:lnSpc>
              <a:spcBef>
                <a:spcPts val="149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Diseño</a:t>
            </a:r>
            <a:r>
              <a:rPr sz="4000" b="1" spc="-6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en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estrella:</a:t>
            </a:r>
            <a:endParaRPr sz="4000">
              <a:latin typeface="Arial Narrow"/>
              <a:cs typeface="Arial Narrow"/>
            </a:endParaRPr>
          </a:p>
          <a:p>
            <a:pPr marL="1128395" marR="5080" indent="-97155">
              <a:lnSpc>
                <a:spcPct val="68600"/>
              </a:lnSpc>
              <a:spcBef>
                <a:spcPts val="1295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Medidas/ Hechos: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344302" y="314451"/>
            <a:ext cx="5589270" cy="1799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254" dirty="0">
                <a:latin typeface="Arial"/>
                <a:cs typeface="Arial"/>
              </a:rPr>
              <a:t>¿Qué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245" dirty="0">
                <a:latin typeface="Arial"/>
                <a:cs typeface="Arial"/>
              </a:rPr>
              <a:t>se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quiere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medir/evaluar?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45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30" dirty="0">
                <a:latin typeface="Arial"/>
                <a:cs typeface="Arial"/>
              </a:rPr>
              <a:t>Cuantificables,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numéricas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2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70" dirty="0">
                <a:latin typeface="Arial"/>
                <a:cs typeface="Arial"/>
              </a:rPr>
              <a:t>Agregación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b="1" spc="-254" dirty="0">
                <a:solidFill>
                  <a:srgbClr val="FF0000"/>
                </a:solidFill>
                <a:latin typeface="Arial"/>
                <a:cs typeface="Arial"/>
              </a:rPr>
              <a:t>Ej:</a:t>
            </a:r>
            <a:r>
              <a:rPr sz="2800" b="1" spc="-1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Índice</a:t>
            </a:r>
            <a:r>
              <a:rPr sz="2800" spc="-140" dirty="0">
                <a:latin typeface="Arial"/>
                <a:cs typeface="Arial"/>
              </a:rPr>
              <a:t> de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65" dirty="0">
                <a:latin typeface="Arial"/>
                <a:cs typeface="Arial"/>
              </a:rPr>
              <a:t>confiabilidad/idoneidad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49147" y="2383599"/>
            <a:ext cx="2666729" cy="267202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280035">
              <a:lnSpc>
                <a:spcPct val="71000"/>
              </a:lnSpc>
              <a:spcBef>
                <a:spcPts val="149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Diseño</a:t>
            </a:r>
            <a:r>
              <a:rPr sz="4000" b="1" spc="-6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en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estrella:</a:t>
            </a:r>
            <a:endParaRPr sz="4000">
              <a:latin typeface="Arial Narrow"/>
              <a:cs typeface="Arial Narrow"/>
            </a:endParaRPr>
          </a:p>
          <a:p>
            <a:pPr marL="367665">
              <a:lnSpc>
                <a:spcPct val="100000"/>
              </a:lnSpc>
              <a:spcBef>
                <a:spcPts val="24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Dimensiones: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344302" y="314451"/>
            <a:ext cx="30226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60" dirty="0">
                <a:latin typeface="Arial"/>
                <a:cs typeface="Arial"/>
              </a:rPr>
              <a:t>Propiedades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las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44302" y="576579"/>
            <a:ext cx="4338955" cy="138493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340"/>
              </a:spcBef>
            </a:pPr>
            <a:r>
              <a:rPr sz="2800" spc="-55" dirty="0">
                <a:latin typeface="Arial"/>
                <a:cs typeface="Arial"/>
              </a:rPr>
              <a:t>medidas/hechos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2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70" dirty="0">
                <a:latin typeface="Arial"/>
                <a:cs typeface="Arial"/>
              </a:rPr>
              <a:t>Agrupadas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45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65" dirty="0">
                <a:latin typeface="Arial"/>
                <a:cs typeface="Arial"/>
              </a:rPr>
              <a:t>Personal,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Laboral,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190" dirty="0">
                <a:latin typeface="Arial"/>
                <a:cs typeface="Arial"/>
              </a:rPr>
              <a:t>Familiar…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27983" y="2395461"/>
            <a:ext cx="2592288" cy="2160241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4" y="253491"/>
            <a:ext cx="2016125" cy="10680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5080">
              <a:lnSpc>
                <a:spcPct val="71000"/>
              </a:lnSpc>
              <a:spcBef>
                <a:spcPts val="1490"/>
              </a:spcBef>
            </a:pPr>
            <a:r>
              <a:rPr dirty="0"/>
              <a:t>Diseño</a:t>
            </a:r>
            <a:r>
              <a:rPr spc="-65" dirty="0"/>
              <a:t> </a:t>
            </a:r>
            <a:r>
              <a:rPr spc="-25" dirty="0"/>
              <a:t>en </a:t>
            </a:r>
            <a:r>
              <a:rPr spc="-10" dirty="0"/>
              <a:t>estrella: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93984" y="1326387"/>
            <a:ext cx="1643380" cy="744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2830"/>
              </a:lnSpc>
              <a:spcBef>
                <a:spcPts val="10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Criterios</a:t>
            </a:r>
            <a:r>
              <a:rPr sz="2800" b="1" spc="-7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de</a:t>
            </a:r>
            <a:endParaRPr sz="2800">
              <a:latin typeface="Arial Narrow"/>
              <a:cs typeface="Arial Narrow"/>
            </a:endParaRPr>
          </a:p>
          <a:p>
            <a:pPr marR="5080" algn="r">
              <a:lnSpc>
                <a:spcPts val="2830"/>
              </a:lnSpc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diseño: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858662" y="368643"/>
            <a:ext cx="6285865" cy="4775200"/>
            <a:chOff x="2858662" y="368643"/>
            <a:chExt cx="6285865" cy="4775200"/>
          </a:xfrm>
        </p:grpSpPr>
        <p:sp>
          <p:nvSpPr>
            <p:cNvPr id="5" name="object 5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58662" y="368643"/>
              <a:ext cx="5875020" cy="4406265"/>
            </a:xfrm>
            <a:custGeom>
              <a:avLst/>
              <a:gdLst/>
              <a:ahLst/>
              <a:cxnLst/>
              <a:rect l="l" t="t" r="r" b="b"/>
              <a:pathLst>
                <a:path w="5875020" h="4406265">
                  <a:moveTo>
                    <a:pt x="5874951" y="0"/>
                  </a:moveTo>
                  <a:lnTo>
                    <a:pt x="0" y="0"/>
                  </a:lnTo>
                  <a:lnTo>
                    <a:pt x="0" y="4406212"/>
                  </a:lnTo>
                  <a:lnTo>
                    <a:pt x="5874951" y="4406212"/>
                  </a:lnTo>
                  <a:lnTo>
                    <a:pt x="58749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24842" y="1850561"/>
              <a:ext cx="1276985" cy="1442720"/>
            </a:xfrm>
            <a:custGeom>
              <a:avLst/>
              <a:gdLst/>
              <a:ahLst/>
              <a:cxnLst/>
              <a:rect l="l" t="t" r="r" b="b"/>
              <a:pathLst>
                <a:path w="1276985" h="1442720">
                  <a:moveTo>
                    <a:pt x="292761" y="0"/>
                  </a:moveTo>
                  <a:lnTo>
                    <a:pt x="984002" y="0"/>
                  </a:lnTo>
                  <a:lnTo>
                    <a:pt x="1042260" y="224"/>
                  </a:lnTo>
                  <a:lnTo>
                    <a:pt x="1089242" y="1793"/>
                  </a:lnTo>
                  <a:lnTo>
                    <a:pt x="1155823" y="14346"/>
                  </a:lnTo>
                  <a:lnTo>
                    <a:pt x="1190842" y="31642"/>
                  </a:lnTo>
                  <a:lnTo>
                    <a:pt x="1220935" y="55827"/>
                  </a:lnTo>
                  <a:lnTo>
                    <a:pt x="1245121" y="85921"/>
                  </a:lnTo>
                  <a:lnTo>
                    <a:pt x="1262416" y="120940"/>
                  </a:lnTo>
                  <a:lnTo>
                    <a:pt x="1274970" y="187520"/>
                  </a:lnTo>
                  <a:lnTo>
                    <a:pt x="1276539" y="234503"/>
                  </a:lnTo>
                  <a:lnTo>
                    <a:pt x="1276763" y="292761"/>
                  </a:lnTo>
                  <a:lnTo>
                    <a:pt x="1276763" y="1149613"/>
                  </a:lnTo>
                  <a:lnTo>
                    <a:pt x="1276539" y="1207871"/>
                  </a:lnTo>
                  <a:lnTo>
                    <a:pt x="1274970" y="1254853"/>
                  </a:lnTo>
                  <a:lnTo>
                    <a:pt x="1262416" y="1321434"/>
                  </a:lnTo>
                  <a:lnTo>
                    <a:pt x="1245121" y="1356453"/>
                  </a:lnTo>
                  <a:lnTo>
                    <a:pt x="1220935" y="1386546"/>
                  </a:lnTo>
                  <a:lnTo>
                    <a:pt x="1190842" y="1410732"/>
                  </a:lnTo>
                  <a:lnTo>
                    <a:pt x="1155823" y="1428027"/>
                  </a:lnTo>
                  <a:lnTo>
                    <a:pt x="1089242" y="1440581"/>
                  </a:lnTo>
                  <a:lnTo>
                    <a:pt x="1042260" y="1442150"/>
                  </a:lnTo>
                  <a:lnTo>
                    <a:pt x="984002" y="1442374"/>
                  </a:lnTo>
                  <a:lnTo>
                    <a:pt x="292761" y="1442374"/>
                  </a:lnTo>
                  <a:lnTo>
                    <a:pt x="234503" y="1442150"/>
                  </a:lnTo>
                  <a:lnTo>
                    <a:pt x="187520" y="1440581"/>
                  </a:lnTo>
                  <a:lnTo>
                    <a:pt x="120940" y="1428027"/>
                  </a:lnTo>
                  <a:lnTo>
                    <a:pt x="85921" y="1410732"/>
                  </a:lnTo>
                  <a:lnTo>
                    <a:pt x="55827" y="1386546"/>
                  </a:lnTo>
                  <a:lnTo>
                    <a:pt x="31642" y="1356453"/>
                  </a:lnTo>
                  <a:lnTo>
                    <a:pt x="14346" y="1321434"/>
                  </a:lnTo>
                  <a:lnTo>
                    <a:pt x="1793" y="1254853"/>
                  </a:lnTo>
                  <a:lnTo>
                    <a:pt x="224" y="1207871"/>
                  </a:lnTo>
                  <a:lnTo>
                    <a:pt x="0" y="1149613"/>
                  </a:lnTo>
                  <a:lnTo>
                    <a:pt x="0" y="292761"/>
                  </a:lnTo>
                  <a:lnTo>
                    <a:pt x="224" y="234503"/>
                  </a:lnTo>
                  <a:lnTo>
                    <a:pt x="1793" y="187520"/>
                  </a:lnTo>
                  <a:lnTo>
                    <a:pt x="14346" y="120940"/>
                  </a:lnTo>
                  <a:lnTo>
                    <a:pt x="31642" y="85921"/>
                  </a:lnTo>
                  <a:lnTo>
                    <a:pt x="55827" y="55827"/>
                  </a:lnTo>
                  <a:lnTo>
                    <a:pt x="85921" y="31642"/>
                  </a:lnTo>
                  <a:lnTo>
                    <a:pt x="120940" y="14346"/>
                  </a:lnTo>
                  <a:lnTo>
                    <a:pt x="187520" y="1793"/>
                  </a:lnTo>
                  <a:lnTo>
                    <a:pt x="234503" y="224"/>
                  </a:lnTo>
                  <a:lnTo>
                    <a:pt x="292761" y="0"/>
                  </a:lnTo>
                  <a:close/>
                </a:path>
              </a:pathLst>
            </a:custGeom>
            <a:ln w="22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148665" y="1873613"/>
              <a:ext cx="1229360" cy="347980"/>
            </a:xfrm>
            <a:custGeom>
              <a:avLst/>
              <a:gdLst/>
              <a:ahLst/>
              <a:cxnLst/>
              <a:rect l="l" t="t" r="r" b="b"/>
              <a:pathLst>
                <a:path w="1229360" h="347980">
                  <a:moveTo>
                    <a:pt x="1123840" y="0"/>
                  </a:moveTo>
                  <a:lnTo>
                    <a:pt x="105276" y="0"/>
                  </a:lnTo>
                  <a:lnTo>
                    <a:pt x="84164" y="705"/>
                  </a:lnTo>
                  <a:lnTo>
                    <a:pt x="38509" y="14117"/>
                  </a:lnTo>
                  <a:lnTo>
                    <a:pt x="6347" y="54245"/>
                  </a:lnTo>
                  <a:lnTo>
                    <a:pt x="0" y="105275"/>
                  </a:lnTo>
                  <a:lnTo>
                    <a:pt x="0" y="242461"/>
                  </a:lnTo>
                  <a:lnTo>
                    <a:pt x="6347" y="293491"/>
                  </a:lnTo>
                  <a:lnTo>
                    <a:pt x="38509" y="333618"/>
                  </a:lnTo>
                  <a:lnTo>
                    <a:pt x="84164" y="347031"/>
                  </a:lnTo>
                  <a:lnTo>
                    <a:pt x="105276" y="347736"/>
                  </a:lnTo>
                  <a:lnTo>
                    <a:pt x="1123840" y="347736"/>
                  </a:lnTo>
                  <a:lnTo>
                    <a:pt x="1174871" y="341390"/>
                  </a:lnTo>
                  <a:lnTo>
                    <a:pt x="1214997" y="309227"/>
                  </a:lnTo>
                  <a:lnTo>
                    <a:pt x="1228410" y="263573"/>
                  </a:lnTo>
                  <a:lnTo>
                    <a:pt x="1229115" y="242461"/>
                  </a:lnTo>
                  <a:lnTo>
                    <a:pt x="1229115" y="105275"/>
                  </a:lnTo>
                  <a:lnTo>
                    <a:pt x="1222769" y="54245"/>
                  </a:lnTo>
                  <a:lnTo>
                    <a:pt x="1190607" y="14117"/>
                  </a:lnTo>
                  <a:lnTo>
                    <a:pt x="1144952" y="705"/>
                  </a:lnTo>
                  <a:lnTo>
                    <a:pt x="112384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48564" y="1873512"/>
              <a:ext cx="1229360" cy="347980"/>
            </a:xfrm>
            <a:custGeom>
              <a:avLst/>
              <a:gdLst/>
              <a:ahLst/>
              <a:cxnLst/>
              <a:rect l="l" t="t" r="r" b="b"/>
              <a:pathLst>
                <a:path w="1229360" h="347980">
                  <a:moveTo>
                    <a:pt x="131555" y="0"/>
                  </a:moveTo>
                  <a:lnTo>
                    <a:pt x="1097761" y="0"/>
                  </a:lnTo>
                  <a:lnTo>
                    <a:pt x="1123940" y="100"/>
                  </a:lnTo>
                  <a:lnTo>
                    <a:pt x="1174970" y="6446"/>
                  </a:lnTo>
                  <a:lnTo>
                    <a:pt x="1215097" y="38609"/>
                  </a:lnTo>
                  <a:lnTo>
                    <a:pt x="1228510" y="84264"/>
                  </a:lnTo>
                  <a:lnTo>
                    <a:pt x="1229316" y="131555"/>
                  </a:lnTo>
                  <a:lnTo>
                    <a:pt x="1229316" y="216382"/>
                  </a:lnTo>
                  <a:lnTo>
                    <a:pt x="1228510" y="263673"/>
                  </a:lnTo>
                  <a:lnTo>
                    <a:pt x="1215097" y="309328"/>
                  </a:lnTo>
                  <a:lnTo>
                    <a:pt x="1174970" y="341491"/>
                  </a:lnTo>
                  <a:lnTo>
                    <a:pt x="1123940" y="347837"/>
                  </a:lnTo>
                  <a:lnTo>
                    <a:pt x="1097761" y="347938"/>
                  </a:lnTo>
                  <a:lnTo>
                    <a:pt x="131555" y="347938"/>
                  </a:lnTo>
                  <a:lnTo>
                    <a:pt x="84264" y="347132"/>
                  </a:lnTo>
                  <a:lnTo>
                    <a:pt x="38609" y="333719"/>
                  </a:lnTo>
                  <a:lnTo>
                    <a:pt x="6446" y="293592"/>
                  </a:lnTo>
                  <a:lnTo>
                    <a:pt x="100" y="242561"/>
                  </a:lnTo>
                  <a:lnTo>
                    <a:pt x="0" y="216382"/>
                  </a:lnTo>
                  <a:lnTo>
                    <a:pt x="0" y="131555"/>
                  </a:lnTo>
                  <a:lnTo>
                    <a:pt x="805" y="84264"/>
                  </a:lnTo>
                  <a:lnTo>
                    <a:pt x="14218" y="38609"/>
                  </a:lnTo>
                  <a:lnTo>
                    <a:pt x="54345" y="6446"/>
                  </a:lnTo>
                  <a:lnTo>
                    <a:pt x="105376" y="100"/>
                  </a:lnTo>
                  <a:lnTo>
                    <a:pt x="131555" y="0"/>
                  </a:lnTo>
                  <a:close/>
                </a:path>
              </a:pathLst>
            </a:custGeom>
            <a:ln w="22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290841" y="1850561"/>
              <a:ext cx="1276985" cy="1442720"/>
            </a:xfrm>
            <a:custGeom>
              <a:avLst/>
              <a:gdLst/>
              <a:ahLst/>
              <a:cxnLst/>
              <a:rect l="l" t="t" r="r" b="b"/>
              <a:pathLst>
                <a:path w="1276984" h="1442720">
                  <a:moveTo>
                    <a:pt x="292761" y="0"/>
                  </a:moveTo>
                  <a:lnTo>
                    <a:pt x="984002" y="0"/>
                  </a:lnTo>
                  <a:lnTo>
                    <a:pt x="1042260" y="224"/>
                  </a:lnTo>
                  <a:lnTo>
                    <a:pt x="1089242" y="1793"/>
                  </a:lnTo>
                  <a:lnTo>
                    <a:pt x="1155823" y="14346"/>
                  </a:lnTo>
                  <a:lnTo>
                    <a:pt x="1190842" y="31642"/>
                  </a:lnTo>
                  <a:lnTo>
                    <a:pt x="1220935" y="55827"/>
                  </a:lnTo>
                  <a:lnTo>
                    <a:pt x="1245121" y="85921"/>
                  </a:lnTo>
                  <a:lnTo>
                    <a:pt x="1262416" y="120940"/>
                  </a:lnTo>
                  <a:lnTo>
                    <a:pt x="1274970" y="187520"/>
                  </a:lnTo>
                  <a:lnTo>
                    <a:pt x="1276539" y="234503"/>
                  </a:lnTo>
                  <a:lnTo>
                    <a:pt x="1276763" y="292761"/>
                  </a:lnTo>
                  <a:lnTo>
                    <a:pt x="1276763" y="1149613"/>
                  </a:lnTo>
                  <a:lnTo>
                    <a:pt x="1276539" y="1207871"/>
                  </a:lnTo>
                  <a:lnTo>
                    <a:pt x="1274970" y="1254853"/>
                  </a:lnTo>
                  <a:lnTo>
                    <a:pt x="1262416" y="1321434"/>
                  </a:lnTo>
                  <a:lnTo>
                    <a:pt x="1245121" y="1356453"/>
                  </a:lnTo>
                  <a:lnTo>
                    <a:pt x="1220935" y="1386546"/>
                  </a:lnTo>
                  <a:lnTo>
                    <a:pt x="1190842" y="1410732"/>
                  </a:lnTo>
                  <a:lnTo>
                    <a:pt x="1155823" y="1428027"/>
                  </a:lnTo>
                  <a:lnTo>
                    <a:pt x="1089242" y="1440581"/>
                  </a:lnTo>
                  <a:lnTo>
                    <a:pt x="1042260" y="1442150"/>
                  </a:lnTo>
                  <a:lnTo>
                    <a:pt x="984002" y="1442374"/>
                  </a:lnTo>
                  <a:lnTo>
                    <a:pt x="292761" y="1442374"/>
                  </a:lnTo>
                  <a:lnTo>
                    <a:pt x="234503" y="1442150"/>
                  </a:lnTo>
                  <a:lnTo>
                    <a:pt x="187520" y="1440581"/>
                  </a:lnTo>
                  <a:lnTo>
                    <a:pt x="120940" y="1428027"/>
                  </a:lnTo>
                  <a:lnTo>
                    <a:pt x="85921" y="1410732"/>
                  </a:lnTo>
                  <a:lnTo>
                    <a:pt x="55827" y="1386546"/>
                  </a:lnTo>
                  <a:lnTo>
                    <a:pt x="31642" y="1356453"/>
                  </a:lnTo>
                  <a:lnTo>
                    <a:pt x="14346" y="1321434"/>
                  </a:lnTo>
                  <a:lnTo>
                    <a:pt x="1793" y="1254853"/>
                  </a:lnTo>
                  <a:lnTo>
                    <a:pt x="224" y="1207871"/>
                  </a:lnTo>
                  <a:lnTo>
                    <a:pt x="0" y="1149613"/>
                  </a:lnTo>
                  <a:lnTo>
                    <a:pt x="0" y="292761"/>
                  </a:lnTo>
                  <a:lnTo>
                    <a:pt x="224" y="234503"/>
                  </a:lnTo>
                  <a:lnTo>
                    <a:pt x="1793" y="187520"/>
                  </a:lnTo>
                  <a:lnTo>
                    <a:pt x="14346" y="120940"/>
                  </a:lnTo>
                  <a:lnTo>
                    <a:pt x="31642" y="85921"/>
                  </a:lnTo>
                  <a:lnTo>
                    <a:pt x="55827" y="55827"/>
                  </a:lnTo>
                  <a:lnTo>
                    <a:pt x="85921" y="31642"/>
                  </a:lnTo>
                  <a:lnTo>
                    <a:pt x="120940" y="14346"/>
                  </a:lnTo>
                  <a:lnTo>
                    <a:pt x="187520" y="1793"/>
                  </a:lnTo>
                  <a:lnTo>
                    <a:pt x="234503" y="224"/>
                  </a:lnTo>
                  <a:lnTo>
                    <a:pt x="292761" y="0"/>
                  </a:lnTo>
                  <a:close/>
                </a:path>
              </a:pathLst>
            </a:custGeom>
            <a:ln w="22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314665" y="1873613"/>
              <a:ext cx="1229360" cy="347980"/>
            </a:xfrm>
            <a:custGeom>
              <a:avLst/>
              <a:gdLst/>
              <a:ahLst/>
              <a:cxnLst/>
              <a:rect l="l" t="t" r="r" b="b"/>
              <a:pathLst>
                <a:path w="1229359" h="347980">
                  <a:moveTo>
                    <a:pt x="1123838" y="0"/>
                  </a:moveTo>
                  <a:lnTo>
                    <a:pt x="105274" y="0"/>
                  </a:lnTo>
                  <a:lnTo>
                    <a:pt x="84162" y="705"/>
                  </a:lnTo>
                  <a:lnTo>
                    <a:pt x="38508" y="14117"/>
                  </a:lnTo>
                  <a:lnTo>
                    <a:pt x="6344" y="54245"/>
                  </a:lnTo>
                  <a:lnTo>
                    <a:pt x="0" y="105275"/>
                  </a:lnTo>
                  <a:lnTo>
                    <a:pt x="0" y="242461"/>
                  </a:lnTo>
                  <a:lnTo>
                    <a:pt x="6344" y="293491"/>
                  </a:lnTo>
                  <a:lnTo>
                    <a:pt x="38508" y="333618"/>
                  </a:lnTo>
                  <a:lnTo>
                    <a:pt x="84162" y="347031"/>
                  </a:lnTo>
                  <a:lnTo>
                    <a:pt x="105274" y="347736"/>
                  </a:lnTo>
                  <a:lnTo>
                    <a:pt x="1123838" y="347736"/>
                  </a:lnTo>
                  <a:lnTo>
                    <a:pt x="1174869" y="341390"/>
                  </a:lnTo>
                  <a:lnTo>
                    <a:pt x="1214996" y="309227"/>
                  </a:lnTo>
                  <a:lnTo>
                    <a:pt x="1228409" y="263573"/>
                  </a:lnTo>
                  <a:lnTo>
                    <a:pt x="1229114" y="242461"/>
                  </a:lnTo>
                  <a:lnTo>
                    <a:pt x="1229114" y="105275"/>
                  </a:lnTo>
                  <a:lnTo>
                    <a:pt x="1222768" y="54245"/>
                  </a:lnTo>
                  <a:lnTo>
                    <a:pt x="1190605" y="14117"/>
                  </a:lnTo>
                  <a:lnTo>
                    <a:pt x="1144950" y="705"/>
                  </a:lnTo>
                  <a:lnTo>
                    <a:pt x="1123838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314564" y="1873512"/>
              <a:ext cx="1229360" cy="347980"/>
            </a:xfrm>
            <a:custGeom>
              <a:avLst/>
              <a:gdLst/>
              <a:ahLst/>
              <a:cxnLst/>
              <a:rect l="l" t="t" r="r" b="b"/>
              <a:pathLst>
                <a:path w="1229359" h="347980">
                  <a:moveTo>
                    <a:pt x="131555" y="0"/>
                  </a:moveTo>
                  <a:lnTo>
                    <a:pt x="1097761" y="0"/>
                  </a:lnTo>
                  <a:lnTo>
                    <a:pt x="1123940" y="100"/>
                  </a:lnTo>
                  <a:lnTo>
                    <a:pt x="1174970" y="6446"/>
                  </a:lnTo>
                  <a:lnTo>
                    <a:pt x="1215097" y="38609"/>
                  </a:lnTo>
                  <a:lnTo>
                    <a:pt x="1228510" y="84264"/>
                  </a:lnTo>
                  <a:lnTo>
                    <a:pt x="1229316" y="131555"/>
                  </a:lnTo>
                  <a:lnTo>
                    <a:pt x="1229316" y="216382"/>
                  </a:lnTo>
                  <a:lnTo>
                    <a:pt x="1228510" y="263673"/>
                  </a:lnTo>
                  <a:lnTo>
                    <a:pt x="1215097" y="309328"/>
                  </a:lnTo>
                  <a:lnTo>
                    <a:pt x="1174970" y="341491"/>
                  </a:lnTo>
                  <a:lnTo>
                    <a:pt x="1123940" y="347837"/>
                  </a:lnTo>
                  <a:lnTo>
                    <a:pt x="1097761" y="347938"/>
                  </a:lnTo>
                  <a:lnTo>
                    <a:pt x="131555" y="347938"/>
                  </a:lnTo>
                  <a:lnTo>
                    <a:pt x="84264" y="347132"/>
                  </a:lnTo>
                  <a:lnTo>
                    <a:pt x="38609" y="333719"/>
                  </a:lnTo>
                  <a:lnTo>
                    <a:pt x="6446" y="293592"/>
                  </a:lnTo>
                  <a:lnTo>
                    <a:pt x="100" y="242561"/>
                  </a:lnTo>
                  <a:lnTo>
                    <a:pt x="0" y="216382"/>
                  </a:lnTo>
                  <a:lnTo>
                    <a:pt x="0" y="131555"/>
                  </a:lnTo>
                  <a:lnTo>
                    <a:pt x="805" y="84264"/>
                  </a:lnTo>
                  <a:lnTo>
                    <a:pt x="14218" y="38609"/>
                  </a:lnTo>
                  <a:lnTo>
                    <a:pt x="54345" y="6446"/>
                  </a:lnTo>
                  <a:lnTo>
                    <a:pt x="105376" y="100"/>
                  </a:lnTo>
                  <a:lnTo>
                    <a:pt x="131555" y="0"/>
                  </a:lnTo>
                  <a:close/>
                </a:path>
              </a:pathLst>
            </a:custGeom>
            <a:ln w="22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45070" y="1850561"/>
              <a:ext cx="1276985" cy="1442720"/>
            </a:xfrm>
            <a:custGeom>
              <a:avLst/>
              <a:gdLst/>
              <a:ahLst/>
              <a:cxnLst/>
              <a:rect l="l" t="t" r="r" b="b"/>
              <a:pathLst>
                <a:path w="1276985" h="1442720">
                  <a:moveTo>
                    <a:pt x="292761" y="0"/>
                  </a:moveTo>
                  <a:lnTo>
                    <a:pt x="984002" y="0"/>
                  </a:lnTo>
                  <a:lnTo>
                    <a:pt x="1042260" y="224"/>
                  </a:lnTo>
                  <a:lnTo>
                    <a:pt x="1089242" y="1793"/>
                  </a:lnTo>
                  <a:lnTo>
                    <a:pt x="1155823" y="14346"/>
                  </a:lnTo>
                  <a:lnTo>
                    <a:pt x="1190842" y="31642"/>
                  </a:lnTo>
                  <a:lnTo>
                    <a:pt x="1220935" y="55827"/>
                  </a:lnTo>
                  <a:lnTo>
                    <a:pt x="1245121" y="85921"/>
                  </a:lnTo>
                  <a:lnTo>
                    <a:pt x="1262416" y="120940"/>
                  </a:lnTo>
                  <a:lnTo>
                    <a:pt x="1274970" y="187520"/>
                  </a:lnTo>
                  <a:lnTo>
                    <a:pt x="1276539" y="234503"/>
                  </a:lnTo>
                  <a:lnTo>
                    <a:pt x="1276763" y="292761"/>
                  </a:lnTo>
                  <a:lnTo>
                    <a:pt x="1276763" y="1149613"/>
                  </a:lnTo>
                  <a:lnTo>
                    <a:pt x="1276539" y="1207871"/>
                  </a:lnTo>
                  <a:lnTo>
                    <a:pt x="1274970" y="1254853"/>
                  </a:lnTo>
                  <a:lnTo>
                    <a:pt x="1262416" y="1321434"/>
                  </a:lnTo>
                  <a:lnTo>
                    <a:pt x="1245121" y="1356453"/>
                  </a:lnTo>
                  <a:lnTo>
                    <a:pt x="1220935" y="1386546"/>
                  </a:lnTo>
                  <a:lnTo>
                    <a:pt x="1190842" y="1410732"/>
                  </a:lnTo>
                  <a:lnTo>
                    <a:pt x="1155823" y="1428027"/>
                  </a:lnTo>
                  <a:lnTo>
                    <a:pt x="1089242" y="1440581"/>
                  </a:lnTo>
                  <a:lnTo>
                    <a:pt x="1042260" y="1442150"/>
                  </a:lnTo>
                  <a:lnTo>
                    <a:pt x="984002" y="1442374"/>
                  </a:lnTo>
                  <a:lnTo>
                    <a:pt x="292761" y="1442374"/>
                  </a:lnTo>
                  <a:lnTo>
                    <a:pt x="234503" y="1442150"/>
                  </a:lnTo>
                  <a:lnTo>
                    <a:pt x="187520" y="1440581"/>
                  </a:lnTo>
                  <a:lnTo>
                    <a:pt x="120940" y="1428027"/>
                  </a:lnTo>
                  <a:lnTo>
                    <a:pt x="85921" y="1410732"/>
                  </a:lnTo>
                  <a:lnTo>
                    <a:pt x="55827" y="1386546"/>
                  </a:lnTo>
                  <a:lnTo>
                    <a:pt x="31642" y="1356453"/>
                  </a:lnTo>
                  <a:lnTo>
                    <a:pt x="14346" y="1321434"/>
                  </a:lnTo>
                  <a:lnTo>
                    <a:pt x="1793" y="1254853"/>
                  </a:lnTo>
                  <a:lnTo>
                    <a:pt x="224" y="1207871"/>
                  </a:lnTo>
                  <a:lnTo>
                    <a:pt x="0" y="1149613"/>
                  </a:lnTo>
                  <a:lnTo>
                    <a:pt x="0" y="292761"/>
                  </a:lnTo>
                  <a:lnTo>
                    <a:pt x="224" y="234503"/>
                  </a:lnTo>
                  <a:lnTo>
                    <a:pt x="1793" y="187520"/>
                  </a:lnTo>
                  <a:lnTo>
                    <a:pt x="14346" y="120940"/>
                  </a:lnTo>
                  <a:lnTo>
                    <a:pt x="31642" y="85921"/>
                  </a:lnTo>
                  <a:lnTo>
                    <a:pt x="55827" y="55827"/>
                  </a:lnTo>
                  <a:lnTo>
                    <a:pt x="85921" y="31642"/>
                  </a:lnTo>
                  <a:lnTo>
                    <a:pt x="120940" y="14346"/>
                  </a:lnTo>
                  <a:lnTo>
                    <a:pt x="187520" y="1793"/>
                  </a:lnTo>
                  <a:lnTo>
                    <a:pt x="234503" y="224"/>
                  </a:lnTo>
                  <a:lnTo>
                    <a:pt x="292761" y="0"/>
                  </a:lnTo>
                  <a:close/>
                </a:path>
              </a:pathLst>
            </a:custGeom>
            <a:ln w="22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68893" y="1873613"/>
              <a:ext cx="1229360" cy="347980"/>
            </a:xfrm>
            <a:custGeom>
              <a:avLst/>
              <a:gdLst/>
              <a:ahLst/>
              <a:cxnLst/>
              <a:rect l="l" t="t" r="r" b="b"/>
              <a:pathLst>
                <a:path w="1229360" h="347980">
                  <a:moveTo>
                    <a:pt x="1123839" y="0"/>
                  </a:moveTo>
                  <a:lnTo>
                    <a:pt x="105276" y="0"/>
                  </a:lnTo>
                  <a:lnTo>
                    <a:pt x="84164" y="705"/>
                  </a:lnTo>
                  <a:lnTo>
                    <a:pt x="38509" y="14117"/>
                  </a:lnTo>
                  <a:lnTo>
                    <a:pt x="6347" y="54245"/>
                  </a:lnTo>
                  <a:lnTo>
                    <a:pt x="0" y="105275"/>
                  </a:lnTo>
                  <a:lnTo>
                    <a:pt x="0" y="242461"/>
                  </a:lnTo>
                  <a:lnTo>
                    <a:pt x="705" y="263573"/>
                  </a:lnTo>
                  <a:lnTo>
                    <a:pt x="14118" y="309227"/>
                  </a:lnTo>
                  <a:lnTo>
                    <a:pt x="54245" y="341390"/>
                  </a:lnTo>
                  <a:lnTo>
                    <a:pt x="105276" y="347736"/>
                  </a:lnTo>
                  <a:lnTo>
                    <a:pt x="1123839" y="347736"/>
                  </a:lnTo>
                  <a:lnTo>
                    <a:pt x="1174870" y="341390"/>
                  </a:lnTo>
                  <a:lnTo>
                    <a:pt x="1214997" y="309227"/>
                  </a:lnTo>
                  <a:lnTo>
                    <a:pt x="1228410" y="263573"/>
                  </a:lnTo>
                  <a:lnTo>
                    <a:pt x="1229115" y="242461"/>
                  </a:lnTo>
                  <a:lnTo>
                    <a:pt x="1229115" y="105275"/>
                  </a:lnTo>
                  <a:lnTo>
                    <a:pt x="1222769" y="54245"/>
                  </a:lnTo>
                  <a:lnTo>
                    <a:pt x="1190606" y="14117"/>
                  </a:lnTo>
                  <a:lnTo>
                    <a:pt x="1144951" y="705"/>
                  </a:lnTo>
                  <a:lnTo>
                    <a:pt x="1123839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68792" y="1873512"/>
              <a:ext cx="1229360" cy="347980"/>
            </a:xfrm>
            <a:custGeom>
              <a:avLst/>
              <a:gdLst/>
              <a:ahLst/>
              <a:cxnLst/>
              <a:rect l="l" t="t" r="r" b="b"/>
              <a:pathLst>
                <a:path w="1229360" h="347980">
                  <a:moveTo>
                    <a:pt x="131555" y="0"/>
                  </a:moveTo>
                  <a:lnTo>
                    <a:pt x="1097761" y="0"/>
                  </a:lnTo>
                  <a:lnTo>
                    <a:pt x="1123940" y="100"/>
                  </a:lnTo>
                  <a:lnTo>
                    <a:pt x="1174970" y="6446"/>
                  </a:lnTo>
                  <a:lnTo>
                    <a:pt x="1215097" y="38609"/>
                  </a:lnTo>
                  <a:lnTo>
                    <a:pt x="1228510" y="84264"/>
                  </a:lnTo>
                  <a:lnTo>
                    <a:pt x="1229316" y="131555"/>
                  </a:lnTo>
                  <a:lnTo>
                    <a:pt x="1229316" y="216382"/>
                  </a:lnTo>
                  <a:lnTo>
                    <a:pt x="1228510" y="263673"/>
                  </a:lnTo>
                  <a:lnTo>
                    <a:pt x="1215097" y="309328"/>
                  </a:lnTo>
                  <a:lnTo>
                    <a:pt x="1174970" y="341491"/>
                  </a:lnTo>
                  <a:lnTo>
                    <a:pt x="1123940" y="347837"/>
                  </a:lnTo>
                  <a:lnTo>
                    <a:pt x="1097761" y="347938"/>
                  </a:lnTo>
                  <a:lnTo>
                    <a:pt x="131555" y="347938"/>
                  </a:lnTo>
                  <a:lnTo>
                    <a:pt x="84264" y="347132"/>
                  </a:lnTo>
                  <a:lnTo>
                    <a:pt x="38609" y="333719"/>
                  </a:lnTo>
                  <a:lnTo>
                    <a:pt x="6446" y="293592"/>
                  </a:lnTo>
                  <a:lnTo>
                    <a:pt x="100" y="242561"/>
                  </a:lnTo>
                  <a:lnTo>
                    <a:pt x="0" y="216382"/>
                  </a:lnTo>
                  <a:lnTo>
                    <a:pt x="0" y="131555"/>
                  </a:lnTo>
                  <a:lnTo>
                    <a:pt x="805" y="84264"/>
                  </a:lnTo>
                  <a:lnTo>
                    <a:pt x="14218" y="38609"/>
                  </a:lnTo>
                  <a:lnTo>
                    <a:pt x="54345" y="6446"/>
                  </a:lnTo>
                  <a:lnTo>
                    <a:pt x="105376" y="100"/>
                  </a:lnTo>
                  <a:lnTo>
                    <a:pt x="131555" y="0"/>
                  </a:lnTo>
                  <a:close/>
                </a:path>
              </a:pathLst>
            </a:custGeom>
            <a:ln w="22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12259" y="3643402"/>
              <a:ext cx="1102360" cy="1062355"/>
            </a:xfrm>
            <a:custGeom>
              <a:avLst/>
              <a:gdLst/>
              <a:ahLst/>
              <a:cxnLst/>
              <a:rect l="l" t="t" r="r" b="b"/>
              <a:pathLst>
                <a:path w="1102360" h="1062354">
                  <a:moveTo>
                    <a:pt x="239577" y="0"/>
                  </a:moveTo>
                  <a:lnTo>
                    <a:pt x="862352" y="0"/>
                  </a:lnTo>
                  <a:lnTo>
                    <a:pt x="910026" y="183"/>
                  </a:lnTo>
                  <a:lnTo>
                    <a:pt x="948474" y="1467"/>
                  </a:lnTo>
                  <a:lnTo>
                    <a:pt x="1002959" y="11740"/>
                  </a:lnTo>
                  <a:lnTo>
                    <a:pt x="1056243" y="45685"/>
                  </a:lnTo>
                  <a:lnTo>
                    <a:pt x="1090189" y="98969"/>
                  </a:lnTo>
                  <a:lnTo>
                    <a:pt x="1100462" y="153455"/>
                  </a:lnTo>
                  <a:lnTo>
                    <a:pt x="1101746" y="191902"/>
                  </a:lnTo>
                  <a:lnTo>
                    <a:pt x="1101929" y="239577"/>
                  </a:lnTo>
                  <a:lnTo>
                    <a:pt x="1101929" y="822577"/>
                  </a:lnTo>
                  <a:lnTo>
                    <a:pt x="1101746" y="870252"/>
                  </a:lnTo>
                  <a:lnTo>
                    <a:pt x="1100462" y="908700"/>
                  </a:lnTo>
                  <a:lnTo>
                    <a:pt x="1090189" y="963185"/>
                  </a:lnTo>
                  <a:lnTo>
                    <a:pt x="1056243" y="1016469"/>
                  </a:lnTo>
                  <a:lnTo>
                    <a:pt x="1002959" y="1050414"/>
                  </a:lnTo>
                  <a:lnTo>
                    <a:pt x="948474" y="1060687"/>
                  </a:lnTo>
                  <a:lnTo>
                    <a:pt x="910026" y="1061972"/>
                  </a:lnTo>
                  <a:lnTo>
                    <a:pt x="862352" y="1062155"/>
                  </a:lnTo>
                  <a:lnTo>
                    <a:pt x="239577" y="1062155"/>
                  </a:lnTo>
                  <a:lnTo>
                    <a:pt x="191902" y="1061972"/>
                  </a:lnTo>
                  <a:lnTo>
                    <a:pt x="153455" y="1060687"/>
                  </a:lnTo>
                  <a:lnTo>
                    <a:pt x="98969" y="1050414"/>
                  </a:lnTo>
                  <a:lnTo>
                    <a:pt x="45685" y="1016469"/>
                  </a:lnTo>
                  <a:lnTo>
                    <a:pt x="11740" y="963185"/>
                  </a:lnTo>
                  <a:lnTo>
                    <a:pt x="1467" y="908700"/>
                  </a:lnTo>
                  <a:lnTo>
                    <a:pt x="183" y="870252"/>
                  </a:lnTo>
                  <a:lnTo>
                    <a:pt x="0" y="822577"/>
                  </a:lnTo>
                  <a:lnTo>
                    <a:pt x="0" y="239577"/>
                  </a:lnTo>
                  <a:lnTo>
                    <a:pt x="183" y="191902"/>
                  </a:lnTo>
                  <a:lnTo>
                    <a:pt x="1467" y="153455"/>
                  </a:lnTo>
                  <a:lnTo>
                    <a:pt x="11740" y="98969"/>
                  </a:lnTo>
                  <a:lnTo>
                    <a:pt x="45685" y="45685"/>
                  </a:lnTo>
                  <a:lnTo>
                    <a:pt x="98969" y="11740"/>
                  </a:lnTo>
                  <a:lnTo>
                    <a:pt x="153455" y="1467"/>
                  </a:lnTo>
                  <a:lnTo>
                    <a:pt x="191902" y="183"/>
                  </a:lnTo>
                  <a:lnTo>
                    <a:pt x="239577" y="0"/>
                  </a:lnTo>
                  <a:close/>
                </a:path>
              </a:pathLst>
            </a:custGeom>
            <a:ln w="22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236083" y="3666453"/>
              <a:ext cx="1054735" cy="347980"/>
            </a:xfrm>
            <a:custGeom>
              <a:avLst/>
              <a:gdLst/>
              <a:ahLst/>
              <a:cxnLst/>
              <a:rect l="l" t="t" r="r" b="b"/>
              <a:pathLst>
                <a:path w="1054735" h="347979">
                  <a:moveTo>
                    <a:pt x="949005" y="0"/>
                  </a:moveTo>
                  <a:lnTo>
                    <a:pt x="105274" y="0"/>
                  </a:lnTo>
                  <a:lnTo>
                    <a:pt x="84162" y="705"/>
                  </a:lnTo>
                  <a:lnTo>
                    <a:pt x="38508" y="14117"/>
                  </a:lnTo>
                  <a:lnTo>
                    <a:pt x="6345" y="54245"/>
                  </a:lnTo>
                  <a:lnTo>
                    <a:pt x="0" y="105275"/>
                  </a:lnTo>
                  <a:lnTo>
                    <a:pt x="0" y="242460"/>
                  </a:lnTo>
                  <a:lnTo>
                    <a:pt x="6345" y="293491"/>
                  </a:lnTo>
                  <a:lnTo>
                    <a:pt x="38508" y="333618"/>
                  </a:lnTo>
                  <a:lnTo>
                    <a:pt x="84162" y="347031"/>
                  </a:lnTo>
                  <a:lnTo>
                    <a:pt x="105274" y="347736"/>
                  </a:lnTo>
                  <a:lnTo>
                    <a:pt x="949005" y="347736"/>
                  </a:lnTo>
                  <a:lnTo>
                    <a:pt x="1000035" y="341390"/>
                  </a:lnTo>
                  <a:lnTo>
                    <a:pt x="1040163" y="309227"/>
                  </a:lnTo>
                  <a:lnTo>
                    <a:pt x="1053575" y="263572"/>
                  </a:lnTo>
                  <a:lnTo>
                    <a:pt x="1054280" y="242460"/>
                  </a:lnTo>
                  <a:lnTo>
                    <a:pt x="1054280" y="105275"/>
                  </a:lnTo>
                  <a:lnTo>
                    <a:pt x="1047935" y="54245"/>
                  </a:lnTo>
                  <a:lnTo>
                    <a:pt x="1015772" y="14117"/>
                  </a:lnTo>
                  <a:lnTo>
                    <a:pt x="970117" y="705"/>
                  </a:lnTo>
                  <a:lnTo>
                    <a:pt x="949005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235982" y="3666352"/>
              <a:ext cx="1054735" cy="347980"/>
            </a:xfrm>
            <a:custGeom>
              <a:avLst/>
              <a:gdLst/>
              <a:ahLst/>
              <a:cxnLst/>
              <a:rect l="l" t="t" r="r" b="b"/>
              <a:pathLst>
                <a:path w="1054735" h="347979">
                  <a:moveTo>
                    <a:pt x="131555" y="0"/>
                  </a:moveTo>
                  <a:lnTo>
                    <a:pt x="922927" y="0"/>
                  </a:lnTo>
                  <a:lnTo>
                    <a:pt x="949106" y="100"/>
                  </a:lnTo>
                  <a:lnTo>
                    <a:pt x="1000137" y="6446"/>
                  </a:lnTo>
                  <a:lnTo>
                    <a:pt x="1040264" y="38609"/>
                  </a:lnTo>
                  <a:lnTo>
                    <a:pt x="1053677" y="84264"/>
                  </a:lnTo>
                  <a:lnTo>
                    <a:pt x="1054483" y="131555"/>
                  </a:lnTo>
                  <a:lnTo>
                    <a:pt x="1054483" y="216382"/>
                  </a:lnTo>
                  <a:lnTo>
                    <a:pt x="1053677" y="263673"/>
                  </a:lnTo>
                  <a:lnTo>
                    <a:pt x="1040264" y="309328"/>
                  </a:lnTo>
                  <a:lnTo>
                    <a:pt x="1000137" y="341491"/>
                  </a:lnTo>
                  <a:lnTo>
                    <a:pt x="949106" y="347837"/>
                  </a:lnTo>
                  <a:lnTo>
                    <a:pt x="922927" y="347938"/>
                  </a:lnTo>
                  <a:lnTo>
                    <a:pt x="131555" y="347938"/>
                  </a:lnTo>
                  <a:lnTo>
                    <a:pt x="84264" y="347132"/>
                  </a:lnTo>
                  <a:lnTo>
                    <a:pt x="38609" y="333719"/>
                  </a:lnTo>
                  <a:lnTo>
                    <a:pt x="6446" y="293592"/>
                  </a:lnTo>
                  <a:lnTo>
                    <a:pt x="100" y="242561"/>
                  </a:lnTo>
                  <a:lnTo>
                    <a:pt x="0" y="216382"/>
                  </a:lnTo>
                  <a:lnTo>
                    <a:pt x="0" y="131555"/>
                  </a:lnTo>
                  <a:lnTo>
                    <a:pt x="805" y="84264"/>
                  </a:lnTo>
                  <a:lnTo>
                    <a:pt x="14218" y="38609"/>
                  </a:lnTo>
                  <a:lnTo>
                    <a:pt x="54345" y="6446"/>
                  </a:lnTo>
                  <a:lnTo>
                    <a:pt x="105376" y="100"/>
                  </a:lnTo>
                  <a:lnTo>
                    <a:pt x="131555" y="0"/>
                  </a:lnTo>
                  <a:close/>
                </a:path>
              </a:pathLst>
            </a:custGeom>
            <a:ln w="22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245172" y="487320"/>
              <a:ext cx="1102360" cy="1062355"/>
            </a:xfrm>
            <a:custGeom>
              <a:avLst/>
              <a:gdLst/>
              <a:ahLst/>
              <a:cxnLst/>
              <a:rect l="l" t="t" r="r" b="b"/>
              <a:pathLst>
                <a:path w="1102360" h="1062355">
                  <a:moveTo>
                    <a:pt x="239577" y="0"/>
                  </a:moveTo>
                  <a:lnTo>
                    <a:pt x="862352" y="0"/>
                  </a:lnTo>
                  <a:lnTo>
                    <a:pt x="910026" y="183"/>
                  </a:lnTo>
                  <a:lnTo>
                    <a:pt x="948474" y="1467"/>
                  </a:lnTo>
                  <a:lnTo>
                    <a:pt x="1002959" y="11740"/>
                  </a:lnTo>
                  <a:lnTo>
                    <a:pt x="1056243" y="45685"/>
                  </a:lnTo>
                  <a:lnTo>
                    <a:pt x="1090189" y="98969"/>
                  </a:lnTo>
                  <a:lnTo>
                    <a:pt x="1100462" y="153455"/>
                  </a:lnTo>
                  <a:lnTo>
                    <a:pt x="1101746" y="191902"/>
                  </a:lnTo>
                  <a:lnTo>
                    <a:pt x="1101929" y="239577"/>
                  </a:lnTo>
                  <a:lnTo>
                    <a:pt x="1101929" y="822577"/>
                  </a:lnTo>
                  <a:lnTo>
                    <a:pt x="1101746" y="870252"/>
                  </a:lnTo>
                  <a:lnTo>
                    <a:pt x="1100462" y="908700"/>
                  </a:lnTo>
                  <a:lnTo>
                    <a:pt x="1090189" y="963185"/>
                  </a:lnTo>
                  <a:lnTo>
                    <a:pt x="1056243" y="1016469"/>
                  </a:lnTo>
                  <a:lnTo>
                    <a:pt x="1002959" y="1050414"/>
                  </a:lnTo>
                  <a:lnTo>
                    <a:pt x="948474" y="1060687"/>
                  </a:lnTo>
                  <a:lnTo>
                    <a:pt x="910026" y="1061972"/>
                  </a:lnTo>
                  <a:lnTo>
                    <a:pt x="862352" y="1062155"/>
                  </a:lnTo>
                  <a:lnTo>
                    <a:pt x="239577" y="1062155"/>
                  </a:lnTo>
                  <a:lnTo>
                    <a:pt x="191902" y="1061972"/>
                  </a:lnTo>
                  <a:lnTo>
                    <a:pt x="153455" y="1060687"/>
                  </a:lnTo>
                  <a:lnTo>
                    <a:pt x="98969" y="1050414"/>
                  </a:lnTo>
                  <a:lnTo>
                    <a:pt x="45685" y="1016469"/>
                  </a:lnTo>
                  <a:lnTo>
                    <a:pt x="11740" y="963185"/>
                  </a:lnTo>
                  <a:lnTo>
                    <a:pt x="1467" y="908700"/>
                  </a:lnTo>
                  <a:lnTo>
                    <a:pt x="183" y="870252"/>
                  </a:lnTo>
                  <a:lnTo>
                    <a:pt x="0" y="822577"/>
                  </a:lnTo>
                  <a:lnTo>
                    <a:pt x="0" y="239577"/>
                  </a:lnTo>
                  <a:lnTo>
                    <a:pt x="183" y="191902"/>
                  </a:lnTo>
                  <a:lnTo>
                    <a:pt x="1467" y="153455"/>
                  </a:lnTo>
                  <a:lnTo>
                    <a:pt x="11740" y="98969"/>
                  </a:lnTo>
                  <a:lnTo>
                    <a:pt x="45685" y="45685"/>
                  </a:lnTo>
                  <a:lnTo>
                    <a:pt x="98969" y="11740"/>
                  </a:lnTo>
                  <a:lnTo>
                    <a:pt x="153455" y="1467"/>
                  </a:lnTo>
                  <a:lnTo>
                    <a:pt x="191902" y="183"/>
                  </a:lnTo>
                  <a:lnTo>
                    <a:pt x="239577" y="0"/>
                  </a:lnTo>
                  <a:close/>
                </a:path>
              </a:pathLst>
            </a:custGeom>
            <a:ln w="22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268996" y="510372"/>
              <a:ext cx="1054735" cy="347980"/>
            </a:xfrm>
            <a:custGeom>
              <a:avLst/>
              <a:gdLst/>
              <a:ahLst/>
              <a:cxnLst/>
              <a:rect l="l" t="t" r="r" b="b"/>
              <a:pathLst>
                <a:path w="1054735" h="347980">
                  <a:moveTo>
                    <a:pt x="949005" y="0"/>
                  </a:moveTo>
                  <a:lnTo>
                    <a:pt x="105275" y="0"/>
                  </a:lnTo>
                  <a:lnTo>
                    <a:pt x="84163" y="705"/>
                  </a:lnTo>
                  <a:lnTo>
                    <a:pt x="38508" y="14117"/>
                  </a:lnTo>
                  <a:lnTo>
                    <a:pt x="6345" y="54245"/>
                  </a:lnTo>
                  <a:lnTo>
                    <a:pt x="0" y="105275"/>
                  </a:lnTo>
                  <a:lnTo>
                    <a:pt x="0" y="242461"/>
                  </a:lnTo>
                  <a:lnTo>
                    <a:pt x="6345" y="293491"/>
                  </a:lnTo>
                  <a:lnTo>
                    <a:pt x="38508" y="333618"/>
                  </a:lnTo>
                  <a:lnTo>
                    <a:pt x="84163" y="347031"/>
                  </a:lnTo>
                  <a:lnTo>
                    <a:pt x="105275" y="347736"/>
                  </a:lnTo>
                  <a:lnTo>
                    <a:pt x="949005" y="347736"/>
                  </a:lnTo>
                  <a:lnTo>
                    <a:pt x="1000036" y="341390"/>
                  </a:lnTo>
                  <a:lnTo>
                    <a:pt x="1040163" y="309227"/>
                  </a:lnTo>
                  <a:lnTo>
                    <a:pt x="1053576" y="263573"/>
                  </a:lnTo>
                  <a:lnTo>
                    <a:pt x="1054282" y="242461"/>
                  </a:lnTo>
                  <a:lnTo>
                    <a:pt x="1054282" y="105275"/>
                  </a:lnTo>
                  <a:lnTo>
                    <a:pt x="1047935" y="54245"/>
                  </a:lnTo>
                  <a:lnTo>
                    <a:pt x="1015772" y="14117"/>
                  </a:lnTo>
                  <a:lnTo>
                    <a:pt x="970117" y="705"/>
                  </a:lnTo>
                  <a:lnTo>
                    <a:pt x="949005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268896" y="510272"/>
              <a:ext cx="1054735" cy="347980"/>
            </a:xfrm>
            <a:custGeom>
              <a:avLst/>
              <a:gdLst/>
              <a:ahLst/>
              <a:cxnLst/>
              <a:rect l="l" t="t" r="r" b="b"/>
              <a:pathLst>
                <a:path w="1054735" h="347980">
                  <a:moveTo>
                    <a:pt x="131555" y="0"/>
                  </a:moveTo>
                  <a:lnTo>
                    <a:pt x="922927" y="0"/>
                  </a:lnTo>
                  <a:lnTo>
                    <a:pt x="949106" y="100"/>
                  </a:lnTo>
                  <a:lnTo>
                    <a:pt x="1000137" y="6446"/>
                  </a:lnTo>
                  <a:lnTo>
                    <a:pt x="1040264" y="38609"/>
                  </a:lnTo>
                  <a:lnTo>
                    <a:pt x="1053677" y="84264"/>
                  </a:lnTo>
                  <a:lnTo>
                    <a:pt x="1054483" y="131555"/>
                  </a:lnTo>
                  <a:lnTo>
                    <a:pt x="1054483" y="216382"/>
                  </a:lnTo>
                  <a:lnTo>
                    <a:pt x="1053677" y="263673"/>
                  </a:lnTo>
                  <a:lnTo>
                    <a:pt x="1040264" y="309328"/>
                  </a:lnTo>
                  <a:lnTo>
                    <a:pt x="1000137" y="341491"/>
                  </a:lnTo>
                  <a:lnTo>
                    <a:pt x="949106" y="347837"/>
                  </a:lnTo>
                  <a:lnTo>
                    <a:pt x="922927" y="347938"/>
                  </a:lnTo>
                  <a:lnTo>
                    <a:pt x="131555" y="347938"/>
                  </a:lnTo>
                  <a:lnTo>
                    <a:pt x="84264" y="347132"/>
                  </a:lnTo>
                  <a:lnTo>
                    <a:pt x="38609" y="333719"/>
                  </a:lnTo>
                  <a:lnTo>
                    <a:pt x="6446" y="293592"/>
                  </a:lnTo>
                  <a:lnTo>
                    <a:pt x="100" y="242561"/>
                  </a:lnTo>
                  <a:lnTo>
                    <a:pt x="0" y="216382"/>
                  </a:lnTo>
                  <a:lnTo>
                    <a:pt x="0" y="131555"/>
                  </a:lnTo>
                  <a:lnTo>
                    <a:pt x="805" y="84264"/>
                  </a:lnTo>
                  <a:lnTo>
                    <a:pt x="14218" y="38609"/>
                  </a:lnTo>
                  <a:lnTo>
                    <a:pt x="54345" y="6446"/>
                  </a:lnTo>
                  <a:lnTo>
                    <a:pt x="105376" y="100"/>
                  </a:lnTo>
                  <a:lnTo>
                    <a:pt x="131555" y="0"/>
                  </a:lnTo>
                  <a:close/>
                </a:path>
              </a:pathLst>
            </a:custGeom>
            <a:ln w="22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228388" y="2239417"/>
            <a:ext cx="680085" cy="44577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 algn="just">
              <a:lnSpc>
                <a:spcPts val="1080"/>
              </a:lnSpc>
              <a:spcBef>
                <a:spcPts val="185"/>
              </a:spcBef>
            </a:pPr>
            <a:r>
              <a:rPr sz="950" spc="-10" dirty="0">
                <a:solidFill>
                  <a:srgbClr val="5E5E5E"/>
                </a:solidFill>
                <a:latin typeface="Gill Sans"/>
                <a:cs typeface="Gill Sans"/>
              </a:rPr>
              <a:t>Clave</a:t>
            </a:r>
            <a:r>
              <a:rPr sz="950" spc="-20" dirty="0">
                <a:solidFill>
                  <a:srgbClr val="5E5E5E"/>
                </a:solidFill>
                <a:latin typeface="Gill Sans"/>
                <a:cs typeface="Gill Sans"/>
              </a:rPr>
              <a:t> </a:t>
            </a:r>
            <a:r>
              <a:rPr sz="950" spc="-10" dirty="0">
                <a:solidFill>
                  <a:srgbClr val="5E5E5E"/>
                </a:solidFill>
                <a:latin typeface="Gill Sans"/>
                <a:cs typeface="Gill Sans"/>
              </a:rPr>
              <a:t>Cliente </a:t>
            </a:r>
            <a:r>
              <a:rPr sz="950" spc="-30" dirty="0">
                <a:solidFill>
                  <a:srgbClr val="5E5E5E"/>
                </a:solidFill>
                <a:latin typeface="Gill Sans"/>
                <a:cs typeface="Gill Sans"/>
              </a:rPr>
              <a:t>Clave</a:t>
            </a:r>
            <a:r>
              <a:rPr sz="950" spc="-35" dirty="0">
                <a:solidFill>
                  <a:srgbClr val="5E5E5E"/>
                </a:solidFill>
                <a:latin typeface="Gill Sans"/>
                <a:cs typeface="Gill Sans"/>
              </a:rPr>
              <a:t> </a:t>
            </a:r>
            <a:r>
              <a:rPr sz="950" spc="-20" dirty="0">
                <a:solidFill>
                  <a:srgbClr val="5E5E5E"/>
                </a:solidFill>
                <a:latin typeface="Gill Sans"/>
                <a:cs typeface="Gill Sans"/>
              </a:rPr>
              <a:t>Trabajo </a:t>
            </a:r>
            <a:r>
              <a:rPr sz="950" spc="-10" dirty="0">
                <a:solidFill>
                  <a:srgbClr val="5E5E5E"/>
                </a:solidFill>
                <a:latin typeface="Gill Sans"/>
                <a:cs typeface="Gill Sans"/>
              </a:rPr>
              <a:t>Clave</a:t>
            </a:r>
            <a:r>
              <a:rPr sz="950" spc="-20" dirty="0">
                <a:solidFill>
                  <a:srgbClr val="5E5E5E"/>
                </a:solidFill>
                <a:latin typeface="Gill Sans"/>
                <a:cs typeface="Gill Sans"/>
              </a:rPr>
              <a:t> </a:t>
            </a:r>
            <a:r>
              <a:rPr sz="950" spc="-10" dirty="0">
                <a:solidFill>
                  <a:srgbClr val="5E5E5E"/>
                </a:solidFill>
                <a:latin typeface="Gill Sans"/>
                <a:cs typeface="Gill Sans"/>
              </a:rPr>
              <a:t>Familia</a:t>
            </a:r>
            <a:endParaRPr sz="950">
              <a:latin typeface="Gill Sans"/>
              <a:cs typeface="Gill San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28388" y="2652500"/>
            <a:ext cx="85471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solidFill>
                  <a:srgbClr val="5E5E5E"/>
                </a:solidFill>
                <a:latin typeface="Gill Sans"/>
                <a:cs typeface="Gill Sans"/>
              </a:rPr>
              <a:t>Clave</a:t>
            </a:r>
            <a:r>
              <a:rPr sz="950" spc="-20" dirty="0">
                <a:solidFill>
                  <a:srgbClr val="5E5E5E"/>
                </a:solidFill>
                <a:latin typeface="Gill Sans"/>
                <a:cs typeface="Gill Sans"/>
              </a:rPr>
              <a:t> </a:t>
            </a:r>
            <a:r>
              <a:rPr sz="950" spc="-10" dirty="0">
                <a:solidFill>
                  <a:srgbClr val="5E5E5E"/>
                </a:solidFill>
                <a:latin typeface="Gill Sans"/>
                <a:cs typeface="Gill Sans"/>
              </a:rPr>
              <a:t>Geográfica</a:t>
            </a:r>
            <a:endParaRPr sz="950">
              <a:latin typeface="Gill Sans"/>
              <a:cs typeface="Gill San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28388" y="2790193"/>
            <a:ext cx="1024255" cy="44577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>
              <a:lnSpc>
                <a:spcPts val="1080"/>
              </a:lnSpc>
              <a:spcBef>
                <a:spcPts val="185"/>
              </a:spcBef>
            </a:pPr>
            <a:r>
              <a:rPr sz="950" spc="-10" dirty="0">
                <a:solidFill>
                  <a:srgbClr val="5E5E5E"/>
                </a:solidFill>
                <a:latin typeface="Gill Sans"/>
                <a:cs typeface="Gill Sans"/>
              </a:rPr>
              <a:t>Importe_Préstamo Tiempo_Devolución Tipo_Interés</a:t>
            </a:r>
            <a:endParaRPr sz="950">
              <a:latin typeface="Gill Sans"/>
              <a:cs typeface="Gill San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52006" y="2206317"/>
            <a:ext cx="641985" cy="42735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>
              <a:lnSpc>
                <a:spcPts val="1040"/>
              </a:lnSpc>
              <a:spcBef>
                <a:spcPts val="170"/>
              </a:spcBef>
            </a:pPr>
            <a:r>
              <a:rPr sz="900" spc="-20" dirty="0">
                <a:solidFill>
                  <a:srgbClr val="5E5E5E"/>
                </a:solidFill>
                <a:latin typeface="Gill Sans"/>
                <a:cs typeface="Gill Sans"/>
              </a:rPr>
              <a:t>Clave</a:t>
            </a:r>
            <a:r>
              <a:rPr sz="900" spc="-85" dirty="0">
                <a:solidFill>
                  <a:srgbClr val="5E5E5E"/>
                </a:solidFill>
                <a:latin typeface="Gill Sans"/>
                <a:cs typeface="Gill Sans"/>
              </a:rPr>
              <a:t> </a:t>
            </a:r>
            <a:r>
              <a:rPr sz="900" spc="-25" dirty="0">
                <a:solidFill>
                  <a:srgbClr val="5E5E5E"/>
                </a:solidFill>
                <a:latin typeface="Gill Sans"/>
                <a:cs typeface="Gill Sans"/>
              </a:rPr>
              <a:t>Trabajo </a:t>
            </a:r>
            <a:r>
              <a:rPr sz="900" spc="-10" dirty="0">
                <a:solidFill>
                  <a:srgbClr val="5E5E5E"/>
                </a:solidFill>
                <a:latin typeface="Gill Sans"/>
                <a:cs typeface="Gill Sans"/>
              </a:rPr>
              <a:t>Salario Retenciones</a:t>
            </a:r>
            <a:endParaRPr sz="900">
              <a:latin typeface="Gill Sans"/>
              <a:cs typeface="Gill San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152006" y="2602187"/>
            <a:ext cx="882650" cy="55943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>
              <a:lnSpc>
                <a:spcPts val="1040"/>
              </a:lnSpc>
              <a:spcBef>
                <a:spcPts val="170"/>
              </a:spcBef>
            </a:pPr>
            <a:r>
              <a:rPr sz="900" spc="-10" dirty="0">
                <a:solidFill>
                  <a:srgbClr val="5E5E5E"/>
                </a:solidFill>
                <a:latin typeface="Gill Sans"/>
                <a:cs typeface="Gill Sans"/>
              </a:rPr>
              <a:t>Riesgos_Laborales Durabilidad Antigüedad Pluriempleo</a:t>
            </a:r>
            <a:endParaRPr sz="900">
              <a:latin typeface="Gill Sans"/>
              <a:cs typeface="Gill San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23311" y="860737"/>
            <a:ext cx="59626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solidFill>
                  <a:srgbClr val="5E5E5E"/>
                </a:solidFill>
                <a:latin typeface="Gill Sans"/>
                <a:cs typeface="Gill Sans"/>
              </a:rPr>
              <a:t>Clave</a:t>
            </a:r>
            <a:r>
              <a:rPr sz="950" spc="-20" dirty="0">
                <a:solidFill>
                  <a:srgbClr val="5E5E5E"/>
                </a:solidFill>
                <a:latin typeface="Gill Sans"/>
                <a:cs typeface="Gill Sans"/>
              </a:rPr>
              <a:t> </a:t>
            </a:r>
            <a:r>
              <a:rPr sz="950" spc="-10" dirty="0">
                <a:solidFill>
                  <a:srgbClr val="5E5E5E"/>
                </a:solidFill>
                <a:latin typeface="Gill Sans"/>
                <a:cs typeface="Gill Sans"/>
              </a:rPr>
              <a:t>Lugar</a:t>
            </a:r>
            <a:endParaRPr sz="950">
              <a:latin typeface="Gill Sans"/>
              <a:cs typeface="Gill San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323311" y="998430"/>
            <a:ext cx="795020" cy="44577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>
              <a:lnSpc>
                <a:spcPts val="1080"/>
              </a:lnSpc>
              <a:spcBef>
                <a:spcPts val="185"/>
              </a:spcBef>
            </a:pPr>
            <a:r>
              <a:rPr sz="950" spc="-10" dirty="0">
                <a:solidFill>
                  <a:srgbClr val="5E5E5E"/>
                </a:solidFill>
                <a:latin typeface="Gill Sans"/>
                <a:cs typeface="Gill Sans"/>
              </a:rPr>
              <a:t>Act_Económica Salario Situación_Fiscal</a:t>
            </a:r>
            <a:endParaRPr sz="950">
              <a:latin typeface="Gill Sans"/>
              <a:cs typeface="Gill San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398090" y="522761"/>
            <a:ext cx="803275" cy="30797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83185" marR="5080" indent="-71120">
              <a:lnSpc>
                <a:spcPts val="1080"/>
              </a:lnSpc>
              <a:spcBef>
                <a:spcPts val="185"/>
              </a:spcBef>
            </a:pPr>
            <a:r>
              <a:rPr sz="950" b="1" spc="-10" dirty="0">
                <a:latin typeface="Gill Sans"/>
                <a:cs typeface="Gill Sans"/>
              </a:rPr>
              <a:t>DIMENSIÓN ESPACIAL</a:t>
            </a:r>
            <a:endParaRPr sz="950">
              <a:latin typeface="Gill Sans"/>
              <a:cs typeface="Gill San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282124" y="1886003"/>
            <a:ext cx="803275" cy="30797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83820" marR="5080" indent="-71755">
              <a:lnSpc>
                <a:spcPts val="1080"/>
              </a:lnSpc>
              <a:spcBef>
                <a:spcPts val="185"/>
              </a:spcBef>
            </a:pPr>
            <a:r>
              <a:rPr sz="950" b="1" spc="-10" dirty="0">
                <a:latin typeface="Gill Sans"/>
                <a:cs typeface="Gill Sans"/>
              </a:rPr>
              <a:t>DIMENSIÓN LABORAL</a:t>
            </a:r>
            <a:endParaRPr sz="950">
              <a:latin typeface="Gill Sans"/>
              <a:cs typeface="Gill San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447139" y="1886003"/>
            <a:ext cx="917575" cy="130429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231140" marR="5080" indent="-104775">
              <a:lnSpc>
                <a:spcPts val="1080"/>
              </a:lnSpc>
              <a:spcBef>
                <a:spcPts val="185"/>
              </a:spcBef>
            </a:pPr>
            <a:r>
              <a:rPr sz="950" b="1" spc="-10" dirty="0">
                <a:latin typeface="Gill Sans"/>
                <a:cs typeface="Gill Sans"/>
              </a:rPr>
              <a:t>DIMENSIÓN CLIENTE</a:t>
            </a:r>
            <a:endParaRPr sz="950">
              <a:latin typeface="Gill Sans"/>
              <a:cs typeface="Gill Sans"/>
            </a:endParaRPr>
          </a:p>
          <a:p>
            <a:pPr marL="12700" marR="273685">
              <a:lnSpc>
                <a:spcPts val="1040"/>
              </a:lnSpc>
              <a:spcBef>
                <a:spcPts val="575"/>
              </a:spcBef>
            </a:pPr>
            <a:r>
              <a:rPr sz="900" spc="-10" dirty="0">
                <a:solidFill>
                  <a:srgbClr val="5E5E5E"/>
                </a:solidFill>
                <a:latin typeface="Gill Sans"/>
                <a:cs typeface="Gill Sans"/>
              </a:rPr>
              <a:t>Clave</a:t>
            </a:r>
            <a:r>
              <a:rPr sz="900" spc="-20" dirty="0">
                <a:solidFill>
                  <a:srgbClr val="5E5E5E"/>
                </a:solidFill>
                <a:latin typeface="Gill Sans"/>
                <a:cs typeface="Gill Sans"/>
              </a:rPr>
              <a:t> </a:t>
            </a:r>
            <a:r>
              <a:rPr sz="900" spc="-10" dirty="0">
                <a:solidFill>
                  <a:srgbClr val="5E5E5E"/>
                </a:solidFill>
                <a:latin typeface="Gill Sans"/>
                <a:cs typeface="Gill Sans"/>
              </a:rPr>
              <a:t>Cliente </a:t>
            </a:r>
            <a:r>
              <a:rPr sz="900" spc="-20" dirty="0">
                <a:solidFill>
                  <a:srgbClr val="5E5E5E"/>
                </a:solidFill>
                <a:latin typeface="Gill Sans"/>
                <a:cs typeface="Gill Sans"/>
              </a:rPr>
              <a:t>Sexo </a:t>
            </a:r>
            <a:r>
              <a:rPr sz="900" spc="-10" dirty="0">
                <a:solidFill>
                  <a:srgbClr val="5E5E5E"/>
                </a:solidFill>
                <a:latin typeface="Gill Sans"/>
                <a:cs typeface="Gill Sans"/>
              </a:rPr>
              <a:t>Nacionalidad </a:t>
            </a:r>
            <a:r>
              <a:rPr sz="900" spc="-20" dirty="0">
                <a:solidFill>
                  <a:srgbClr val="5E5E5E"/>
                </a:solidFill>
                <a:latin typeface="Gill Sans"/>
                <a:cs typeface="Gill Sans"/>
              </a:rPr>
              <a:t>Edad</a:t>
            </a:r>
            <a:endParaRPr sz="900">
              <a:latin typeface="Gill Sans"/>
              <a:cs typeface="Gill Sans"/>
            </a:endParaRPr>
          </a:p>
          <a:p>
            <a:pPr marL="12700">
              <a:lnSpc>
                <a:spcPts val="990"/>
              </a:lnSpc>
            </a:pPr>
            <a:r>
              <a:rPr sz="900" dirty="0">
                <a:solidFill>
                  <a:srgbClr val="5E5E5E"/>
                </a:solidFill>
                <a:latin typeface="Gill Sans"/>
                <a:cs typeface="Gill Sans"/>
              </a:rPr>
              <a:t>Estado</a:t>
            </a:r>
            <a:r>
              <a:rPr sz="900" spc="-25" dirty="0">
                <a:solidFill>
                  <a:srgbClr val="5E5E5E"/>
                </a:solidFill>
                <a:latin typeface="Gill Sans"/>
                <a:cs typeface="Gill Sans"/>
              </a:rPr>
              <a:t> </a:t>
            </a:r>
            <a:r>
              <a:rPr sz="900" spc="-10" dirty="0">
                <a:solidFill>
                  <a:srgbClr val="5E5E5E"/>
                </a:solidFill>
                <a:latin typeface="Gill Sans"/>
                <a:cs typeface="Gill Sans"/>
              </a:rPr>
              <a:t>Civil</a:t>
            </a:r>
            <a:endParaRPr sz="900">
              <a:latin typeface="Gill Sans"/>
              <a:cs typeface="Gill Sans"/>
            </a:endParaRPr>
          </a:p>
          <a:p>
            <a:pPr marL="12700" marR="256540">
              <a:lnSpc>
                <a:spcPts val="1040"/>
              </a:lnSpc>
              <a:spcBef>
                <a:spcPts val="45"/>
              </a:spcBef>
            </a:pPr>
            <a:r>
              <a:rPr sz="900" spc="-10" dirty="0">
                <a:solidFill>
                  <a:srgbClr val="5E5E5E"/>
                </a:solidFill>
                <a:latin typeface="Gill Sans"/>
                <a:cs typeface="Gill Sans"/>
              </a:rPr>
              <a:t>Estudios Antecedentes</a:t>
            </a:r>
            <a:endParaRPr sz="900">
              <a:latin typeface="Gill Sans"/>
              <a:cs typeface="Gill San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299787" y="3678843"/>
            <a:ext cx="883919" cy="874394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61290" marR="5080" indent="-68580">
              <a:lnSpc>
                <a:spcPts val="1080"/>
              </a:lnSpc>
              <a:spcBef>
                <a:spcPts val="185"/>
              </a:spcBef>
            </a:pPr>
            <a:r>
              <a:rPr sz="950" b="1" spc="-10" dirty="0">
                <a:latin typeface="Gill Sans"/>
                <a:cs typeface="Gill Sans"/>
              </a:rPr>
              <a:t>DIMENSIÓN FAMILIAR</a:t>
            </a:r>
            <a:endParaRPr sz="950">
              <a:latin typeface="Gill Sans"/>
              <a:cs typeface="Gill Sans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950">
              <a:latin typeface="Gill Sans"/>
              <a:cs typeface="Gill Sans"/>
            </a:endParaRPr>
          </a:p>
          <a:p>
            <a:pPr marL="12700" marR="41910">
              <a:lnSpc>
                <a:spcPts val="1080"/>
              </a:lnSpc>
              <a:spcBef>
                <a:spcPts val="5"/>
              </a:spcBef>
            </a:pPr>
            <a:r>
              <a:rPr sz="950" spc="-10" dirty="0">
                <a:solidFill>
                  <a:srgbClr val="5E5E5E"/>
                </a:solidFill>
                <a:latin typeface="Gill Sans"/>
                <a:cs typeface="Gill Sans"/>
              </a:rPr>
              <a:t>Clave</a:t>
            </a:r>
            <a:r>
              <a:rPr sz="950" spc="-20" dirty="0">
                <a:solidFill>
                  <a:srgbClr val="5E5E5E"/>
                </a:solidFill>
                <a:latin typeface="Gill Sans"/>
                <a:cs typeface="Gill Sans"/>
              </a:rPr>
              <a:t> </a:t>
            </a:r>
            <a:r>
              <a:rPr sz="950" spc="-10" dirty="0">
                <a:solidFill>
                  <a:srgbClr val="5E5E5E"/>
                </a:solidFill>
                <a:latin typeface="Gill Sans"/>
                <a:cs typeface="Gill Sans"/>
              </a:rPr>
              <a:t>Familia </a:t>
            </a:r>
            <a:r>
              <a:rPr sz="950" dirty="0">
                <a:solidFill>
                  <a:srgbClr val="5E5E5E"/>
                </a:solidFill>
                <a:latin typeface="Gill Sans"/>
                <a:cs typeface="Gill Sans"/>
              </a:rPr>
              <a:t>Cargas</a:t>
            </a:r>
            <a:r>
              <a:rPr sz="950" spc="-5" dirty="0">
                <a:solidFill>
                  <a:srgbClr val="5E5E5E"/>
                </a:solidFill>
                <a:latin typeface="Gill Sans"/>
                <a:cs typeface="Gill Sans"/>
              </a:rPr>
              <a:t> </a:t>
            </a:r>
            <a:r>
              <a:rPr sz="950" spc="-10" dirty="0">
                <a:solidFill>
                  <a:srgbClr val="5E5E5E"/>
                </a:solidFill>
                <a:latin typeface="Gill Sans"/>
                <a:cs typeface="Gill Sans"/>
              </a:rPr>
              <a:t>familiares </a:t>
            </a:r>
            <a:r>
              <a:rPr sz="950" spc="-20" dirty="0">
                <a:solidFill>
                  <a:srgbClr val="5E5E5E"/>
                </a:solidFill>
                <a:latin typeface="Gill Sans"/>
                <a:cs typeface="Gill Sans"/>
              </a:rPr>
              <a:t>Aval</a:t>
            </a:r>
            <a:endParaRPr sz="950">
              <a:latin typeface="Gill Sans"/>
              <a:cs typeface="Gill San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230326" y="1886003"/>
            <a:ext cx="1066165" cy="307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110"/>
              </a:lnSpc>
              <a:spcBef>
                <a:spcPts val="95"/>
              </a:spcBef>
            </a:pPr>
            <a:r>
              <a:rPr sz="950" b="1" spc="-10" dirty="0">
                <a:latin typeface="Gill Sans"/>
                <a:cs typeface="Gill Sans"/>
              </a:rPr>
              <a:t>TABLA</a:t>
            </a:r>
            <a:r>
              <a:rPr sz="950" b="1" spc="-55" dirty="0">
                <a:latin typeface="Gill Sans"/>
                <a:cs typeface="Gill Sans"/>
              </a:rPr>
              <a:t> </a:t>
            </a:r>
            <a:r>
              <a:rPr sz="950" b="1" spc="-10" dirty="0">
                <a:latin typeface="Gill Sans"/>
                <a:cs typeface="Gill Sans"/>
              </a:rPr>
              <a:t>HECHOS</a:t>
            </a:r>
            <a:endParaRPr sz="950">
              <a:latin typeface="Gill Sans"/>
              <a:cs typeface="Gill Sans"/>
            </a:endParaRPr>
          </a:p>
          <a:p>
            <a:pPr algn="ctr">
              <a:lnSpc>
                <a:spcPts val="1110"/>
              </a:lnSpc>
            </a:pPr>
            <a:r>
              <a:rPr sz="950" b="1" spc="-10" dirty="0">
                <a:latin typeface="Gill Sans"/>
                <a:cs typeface="Gill Sans"/>
              </a:rPr>
              <a:t>(Idoneidad)</a:t>
            </a:r>
            <a:endParaRPr sz="950">
              <a:latin typeface="Gill Sans"/>
              <a:cs typeface="Gill Sans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982572" y="920252"/>
            <a:ext cx="3401060" cy="3291840"/>
            <a:chOff x="3982572" y="920252"/>
            <a:chExt cx="3401060" cy="3291840"/>
          </a:xfrm>
        </p:grpSpPr>
        <p:sp>
          <p:nvSpPr>
            <p:cNvPr id="35" name="object 35"/>
            <p:cNvSpPr/>
            <p:nvPr/>
          </p:nvSpPr>
          <p:spPr>
            <a:xfrm>
              <a:off x="6013363" y="2328529"/>
              <a:ext cx="1370330" cy="0"/>
            </a:xfrm>
            <a:custGeom>
              <a:avLst/>
              <a:gdLst/>
              <a:ahLst/>
              <a:cxnLst/>
              <a:rect l="l" t="t" r="r" b="b"/>
              <a:pathLst>
                <a:path w="1370329">
                  <a:moveTo>
                    <a:pt x="0" y="0"/>
                  </a:moveTo>
                  <a:lnTo>
                    <a:pt x="1369741" y="0"/>
                  </a:lnTo>
                </a:path>
              </a:pathLst>
            </a:custGeom>
            <a:ln w="28686">
              <a:solidFill>
                <a:srgbClr val="B517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757680" y="2607914"/>
              <a:ext cx="477520" cy="0"/>
            </a:xfrm>
            <a:custGeom>
              <a:avLst/>
              <a:gdLst/>
              <a:ahLst/>
              <a:cxnLst/>
              <a:rect l="l" t="t" r="r" b="b"/>
              <a:pathLst>
                <a:path w="477520">
                  <a:moveTo>
                    <a:pt x="0" y="0"/>
                  </a:moveTo>
                  <a:lnTo>
                    <a:pt x="477003" y="0"/>
                  </a:lnTo>
                </a:path>
              </a:pathLst>
            </a:custGeom>
            <a:ln w="28686">
              <a:solidFill>
                <a:srgbClr val="B517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769316" y="2605682"/>
              <a:ext cx="0" cy="1595755"/>
            </a:xfrm>
            <a:custGeom>
              <a:avLst/>
              <a:gdLst/>
              <a:ahLst/>
              <a:cxnLst/>
              <a:rect l="l" t="t" r="r" b="b"/>
              <a:pathLst>
                <a:path h="1595754">
                  <a:moveTo>
                    <a:pt x="0" y="1595225"/>
                  </a:moveTo>
                  <a:lnTo>
                    <a:pt x="0" y="0"/>
                  </a:lnTo>
                </a:path>
              </a:pathLst>
            </a:custGeom>
            <a:ln w="28686">
              <a:solidFill>
                <a:srgbClr val="B517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758494" y="4197429"/>
              <a:ext cx="534670" cy="0"/>
            </a:xfrm>
            <a:custGeom>
              <a:avLst/>
              <a:gdLst/>
              <a:ahLst/>
              <a:cxnLst/>
              <a:rect l="l" t="t" r="r" b="b"/>
              <a:pathLst>
                <a:path w="534670">
                  <a:moveTo>
                    <a:pt x="0" y="0"/>
                  </a:moveTo>
                  <a:lnTo>
                    <a:pt x="534375" y="0"/>
                  </a:lnTo>
                </a:path>
              </a:pathLst>
            </a:custGeom>
            <a:ln w="28686">
              <a:solidFill>
                <a:srgbClr val="B517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098837" y="2756077"/>
              <a:ext cx="534670" cy="0"/>
            </a:xfrm>
            <a:custGeom>
              <a:avLst/>
              <a:gdLst/>
              <a:ahLst/>
              <a:cxnLst/>
              <a:rect l="l" t="t" r="r" b="b"/>
              <a:pathLst>
                <a:path w="534670">
                  <a:moveTo>
                    <a:pt x="0" y="0"/>
                  </a:moveTo>
                  <a:lnTo>
                    <a:pt x="534375" y="0"/>
                  </a:lnTo>
                </a:path>
              </a:pathLst>
            </a:custGeom>
            <a:ln w="28686">
              <a:solidFill>
                <a:srgbClr val="B517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626146" y="928627"/>
              <a:ext cx="0" cy="1836420"/>
            </a:xfrm>
            <a:custGeom>
              <a:avLst/>
              <a:gdLst/>
              <a:ahLst/>
              <a:cxnLst/>
              <a:rect l="l" t="t" r="r" b="b"/>
              <a:pathLst>
                <a:path h="1836420">
                  <a:moveTo>
                    <a:pt x="0" y="1836189"/>
                  </a:moveTo>
                  <a:lnTo>
                    <a:pt x="0" y="0"/>
                  </a:lnTo>
                </a:path>
              </a:pathLst>
            </a:custGeom>
            <a:ln w="28686">
              <a:solidFill>
                <a:srgbClr val="B517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995567" y="934595"/>
              <a:ext cx="632460" cy="0"/>
            </a:xfrm>
            <a:custGeom>
              <a:avLst/>
              <a:gdLst/>
              <a:ahLst/>
              <a:cxnLst/>
              <a:rect l="l" t="t" r="r" b="b"/>
              <a:pathLst>
                <a:path w="632459">
                  <a:moveTo>
                    <a:pt x="0" y="0"/>
                  </a:moveTo>
                  <a:lnTo>
                    <a:pt x="631908" y="0"/>
                  </a:lnTo>
                </a:path>
              </a:pathLst>
            </a:custGeom>
            <a:ln w="28686">
              <a:solidFill>
                <a:srgbClr val="B517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434271" y="2475514"/>
              <a:ext cx="800735" cy="0"/>
            </a:xfrm>
            <a:custGeom>
              <a:avLst/>
              <a:gdLst/>
              <a:ahLst/>
              <a:cxnLst/>
              <a:rect l="l" t="t" r="r" b="b"/>
              <a:pathLst>
                <a:path w="800735">
                  <a:moveTo>
                    <a:pt x="0" y="0"/>
                  </a:moveTo>
                  <a:lnTo>
                    <a:pt x="800123" y="0"/>
                  </a:lnTo>
                </a:path>
              </a:pathLst>
            </a:custGeom>
            <a:ln w="28686">
              <a:solidFill>
                <a:srgbClr val="B517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440006" y="2298013"/>
              <a:ext cx="0" cy="184785"/>
            </a:xfrm>
            <a:custGeom>
              <a:avLst/>
              <a:gdLst/>
              <a:ahLst/>
              <a:cxnLst/>
              <a:rect l="l" t="t" r="r" b="b"/>
              <a:pathLst>
                <a:path h="184785">
                  <a:moveTo>
                    <a:pt x="0" y="184166"/>
                  </a:moveTo>
                  <a:lnTo>
                    <a:pt x="0" y="0"/>
                  </a:lnTo>
                </a:path>
              </a:pathLst>
            </a:custGeom>
            <a:ln w="28686">
              <a:solidFill>
                <a:srgbClr val="B517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982572" y="2299200"/>
              <a:ext cx="468630" cy="0"/>
            </a:xfrm>
            <a:custGeom>
              <a:avLst/>
              <a:gdLst/>
              <a:ahLst/>
              <a:cxnLst/>
              <a:rect l="l" t="t" r="r" b="b"/>
              <a:pathLst>
                <a:path w="468629">
                  <a:moveTo>
                    <a:pt x="0" y="0"/>
                  </a:moveTo>
                  <a:lnTo>
                    <a:pt x="468160" y="0"/>
                  </a:lnTo>
                </a:path>
              </a:pathLst>
            </a:custGeom>
            <a:ln w="28686">
              <a:solidFill>
                <a:srgbClr val="B517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29108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280035">
              <a:lnSpc>
                <a:spcPct val="71000"/>
              </a:lnSpc>
              <a:spcBef>
                <a:spcPts val="149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Diseño</a:t>
            </a:r>
            <a:r>
              <a:rPr sz="4000" b="1" spc="-6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en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estrella:</a:t>
            </a:r>
            <a:endParaRPr sz="4000">
              <a:latin typeface="Arial Narrow"/>
              <a:cs typeface="Arial Narrow"/>
            </a:endParaRPr>
          </a:p>
          <a:p>
            <a:pPr marL="869950">
              <a:lnSpc>
                <a:spcPct val="100000"/>
              </a:lnSpc>
              <a:spcBef>
                <a:spcPts val="24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Resumen: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344302" y="314451"/>
            <a:ext cx="4620260" cy="2104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20" dirty="0">
                <a:latin typeface="Arial"/>
                <a:cs typeface="Arial"/>
              </a:rPr>
              <a:t>Estructura </a:t>
            </a:r>
            <a:r>
              <a:rPr sz="2800" spc="-45" dirty="0">
                <a:latin typeface="Arial"/>
                <a:cs typeface="Arial"/>
              </a:rPr>
              <a:t>centralizada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45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45" dirty="0">
                <a:latin typeface="Arial"/>
                <a:cs typeface="Arial"/>
              </a:rPr>
              <a:t>Fácilmente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modificable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2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70" dirty="0">
                <a:latin typeface="Arial"/>
                <a:cs typeface="Arial"/>
              </a:rPr>
              <a:t>Tiempos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55" dirty="0">
                <a:latin typeface="Arial"/>
                <a:cs typeface="Arial"/>
              </a:rPr>
              <a:t>respuesta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rápidos</a:t>
            </a:r>
            <a:endParaRPr sz="2800">
              <a:latin typeface="Arial"/>
              <a:cs typeface="Arial"/>
            </a:endParaRPr>
          </a:p>
          <a:p>
            <a:pPr marL="298450" marR="1288415" indent="-292735">
              <a:lnSpc>
                <a:spcPct val="71400"/>
              </a:lnSpc>
              <a:spcBef>
                <a:spcPts val="1100"/>
              </a:spcBef>
              <a:buSzPct val="91071"/>
              <a:buFont typeface="Apple SD Gothic Neo Light"/>
              <a:buChar char="■"/>
              <a:tabLst>
                <a:tab pos="298450" algn="l"/>
              </a:tabLst>
            </a:pPr>
            <a:r>
              <a:rPr sz="2800" spc="-105" dirty="0">
                <a:latin typeface="Arial"/>
                <a:cs typeface="Arial"/>
              </a:rPr>
              <a:t>Interacción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55" dirty="0">
                <a:latin typeface="Arial"/>
                <a:cs typeface="Arial"/>
              </a:rPr>
              <a:t>con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otras </a:t>
            </a:r>
            <a:r>
              <a:rPr sz="2800" spc="-35" dirty="0">
                <a:latin typeface="Arial"/>
                <a:cs typeface="Arial"/>
              </a:rPr>
              <a:t>herramientas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232757" y="2573849"/>
            <a:ext cx="2592705" cy="2479040"/>
            <a:chOff x="4232757" y="2573849"/>
            <a:chExt cx="2592705" cy="247904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83967" y="2573849"/>
              <a:ext cx="2489868" cy="247880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32757" y="2643757"/>
              <a:ext cx="2592288" cy="216024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0"/>
            <a:ext cx="5002530" cy="3938270"/>
          </a:xfrm>
          <a:custGeom>
            <a:avLst/>
            <a:gdLst/>
            <a:ahLst/>
            <a:cxnLst/>
            <a:rect l="l" t="t" r="r" b="b"/>
            <a:pathLst>
              <a:path w="5002530" h="3938270">
                <a:moveTo>
                  <a:pt x="0" y="1704928"/>
                </a:moveTo>
                <a:lnTo>
                  <a:pt x="0" y="3856309"/>
                </a:lnTo>
                <a:lnTo>
                  <a:pt x="579720" y="3937783"/>
                </a:lnTo>
                <a:lnTo>
                  <a:pt x="1255398" y="2957054"/>
                </a:lnTo>
                <a:lnTo>
                  <a:pt x="876220" y="1828073"/>
                </a:lnTo>
                <a:lnTo>
                  <a:pt x="0" y="1704928"/>
                </a:lnTo>
                <a:close/>
              </a:path>
              <a:path w="5002530" h="3938270">
                <a:moveTo>
                  <a:pt x="1716059" y="768286"/>
                </a:moveTo>
                <a:lnTo>
                  <a:pt x="1040381" y="1749016"/>
                </a:lnTo>
                <a:lnTo>
                  <a:pt x="1419558" y="2877996"/>
                </a:lnTo>
                <a:lnTo>
                  <a:pt x="2811966" y="3073687"/>
                </a:lnTo>
                <a:lnTo>
                  <a:pt x="3487644" y="2092957"/>
                </a:lnTo>
                <a:lnTo>
                  <a:pt x="3108467" y="963976"/>
                </a:lnTo>
                <a:lnTo>
                  <a:pt x="1716059" y="768286"/>
                </a:lnTo>
                <a:close/>
              </a:path>
              <a:path w="5002530" h="3938270">
                <a:moveTo>
                  <a:pt x="1331643" y="0"/>
                </a:moveTo>
                <a:lnTo>
                  <a:pt x="0" y="0"/>
                </a:lnTo>
                <a:lnTo>
                  <a:pt x="0" y="1510524"/>
                </a:lnTo>
                <a:lnTo>
                  <a:pt x="875213" y="1633527"/>
                </a:lnTo>
                <a:lnTo>
                  <a:pt x="1550890" y="652797"/>
                </a:lnTo>
                <a:lnTo>
                  <a:pt x="1331643" y="0"/>
                </a:lnTo>
                <a:close/>
              </a:path>
              <a:path w="5002530" h="3938270">
                <a:moveTo>
                  <a:pt x="3995936" y="267493"/>
                </a:moveTo>
                <a:lnTo>
                  <a:pt x="3948860" y="270028"/>
                </a:lnTo>
                <a:lnTo>
                  <a:pt x="3903251" y="277458"/>
                </a:lnTo>
                <a:lnTo>
                  <a:pt x="3859375" y="289519"/>
                </a:lnTo>
                <a:lnTo>
                  <a:pt x="3817494" y="305948"/>
                </a:lnTo>
                <a:lnTo>
                  <a:pt x="3777872" y="326480"/>
                </a:lnTo>
                <a:lnTo>
                  <a:pt x="3740773" y="350853"/>
                </a:lnTo>
                <a:lnTo>
                  <a:pt x="3706460" y="378803"/>
                </a:lnTo>
                <a:lnTo>
                  <a:pt x="3675197" y="410066"/>
                </a:lnTo>
                <a:lnTo>
                  <a:pt x="3647247" y="444379"/>
                </a:lnTo>
                <a:lnTo>
                  <a:pt x="3622874" y="481478"/>
                </a:lnTo>
                <a:lnTo>
                  <a:pt x="3602342" y="521100"/>
                </a:lnTo>
                <a:lnTo>
                  <a:pt x="3585913" y="562980"/>
                </a:lnTo>
                <a:lnTo>
                  <a:pt x="3573852" y="606856"/>
                </a:lnTo>
                <a:lnTo>
                  <a:pt x="3566423" y="652464"/>
                </a:lnTo>
                <a:lnTo>
                  <a:pt x="3563887" y="699541"/>
                </a:lnTo>
                <a:lnTo>
                  <a:pt x="3566423" y="746617"/>
                </a:lnTo>
                <a:lnTo>
                  <a:pt x="3573852" y="792225"/>
                </a:lnTo>
                <a:lnTo>
                  <a:pt x="3585913" y="836102"/>
                </a:lnTo>
                <a:lnTo>
                  <a:pt x="3602342" y="877982"/>
                </a:lnTo>
                <a:lnTo>
                  <a:pt x="3622874" y="917604"/>
                </a:lnTo>
                <a:lnTo>
                  <a:pt x="3647247" y="954703"/>
                </a:lnTo>
                <a:lnTo>
                  <a:pt x="3675197" y="989016"/>
                </a:lnTo>
                <a:lnTo>
                  <a:pt x="3706460" y="1020279"/>
                </a:lnTo>
                <a:lnTo>
                  <a:pt x="3740773" y="1048229"/>
                </a:lnTo>
                <a:lnTo>
                  <a:pt x="3777872" y="1072602"/>
                </a:lnTo>
                <a:lnTo>
                  <a:pt x="3817494" y="1093134"/>
                </a:lnTo>
                <a:lnTo>
                  <a:pt x="3859375" y="1109563"/>
                </a:lnTo>
                <a:lnTo>
                  <a:pt x="3903251" y="1121624"/>
                </a:lnTo>
                <a:lnTo>
                  <a:pt x="3948860" y="1129053"/>
                </a:lnTo>
                <a:lnTo>
                  <a:pt x="3995936" y="1131589"/>
                </a:lnTo>
                <a:lnTo>
                  <a:pt x="4043013" y="1129053"/>
                </a:lnTo>
                <a:lnTo>
                  <a:pt x="4088620" y="1121624"/>
                </a:lnTo>
                <a:lnTo>
                  <a:pt x="4132496" y="1109563"/>
                </a:lnTo>
                <a:lnTo>
                  <a:pt x="4174377" y="1093134"/>
                </a:lnTo>
                <a:lnTo>
                  <a:pt x="4213998" y="1072602"/>
                </a:lnTo>
                <a:lnTo>
                  <a:pt x="4251097" y="1048229"/>
                </a:lnTo>
                <a:lnTo>
                  <a:pt x="4285410" y="1020279"/>
                </a:lnTo>
                <a:lnTo>
                  <a:pt x="4316673" y="989016"/>
                </a:lnTo>
                <a:lnTo>
                  <a:pt x="4344623" y="954703"/>
                </a:lnTo>
                <a:lnTo>
                  <a:pt x="4368996" y="917604"/>
                </a:lnTo>
                <a:lnTo>
                  <a:pt x="4389528" y="877982"/>
                </a:lnTo>
                <a:lnTo>
                  <a:pt x="4405957" y="836102"/>
                </a:lnTo>
                <a:lnTo>
                  <a:pt x="4418018" y="792225"/>
                </a:lnTo>
                <a:lnTo>
                  <a:pt x="4425447" y="746617"/>
                </a:lnTo>
                <a:lnTo>
                  <a:pt x="4427983" y="699541"/>
                </a:lnTo>
                <a:lnTo>
                  <a:pt x="4425466" y="652797"/>
                </a:lnTo>
                <a:lnTo>
                  <a:pt x="4418018" y="606856"/>
                </a:lnTo>
                <a:lnTo>
                  <a:pt x="4405957" y="562980"/>
                </a:lnTo>
                <a:lnTo>
                  <a:pt x="4389529" y="521100"/>
                </a:lnTo>
                <a:lnTo>
                  <a:pt x="4368996" y="481478"/>
                </a:lnTo>
                <a:lnTo>
                  <a:pt x="4344624" y="444379"/>
                </a:lnTo>
                <a:lnTo>
                  <a:pt x="4316674" y="410066"/>
                </a:lnTo>
                <a:lnTo>
                  <a:pt x="4285411" y="378803"/>
                </a:lnTo>
                <a:lnTo>
                  <a:pt x="4251098" y="350853"/>
                </a:lnTo>
                <a:lnTo>
                  <a:pt x="4214000" y="326480"/>
                </a:lnTo>
                <a:lnTo>
                  <a:pt x="4174378" y="305948"/>
                </a:lnTo>
                <a:lnTo>
                  <a:pt x="4132498" y="289519"/>
                </a:lnTo>
                <a:lnTo>
                  <a:pt x="4088622" y="277458"/>
                </a:lnTo>
                <a:lnTo>
                  <a:pt x="4043014" y="270028"/>
                </a:lnTo>
                <a:lnTo>
                  <a:pt x="3995936" y="267493"/>
                </a:lnTo>
                <a:close/>
              </a:path>
              <a:path w="5002530" h="3938270">
                <a:moveTo>
                  <a:pt x="3641270" y="0"/>
                </a:moveTo>
                <a:lnTo>
                  <a:pt x="1520549" y="0"/>
                </a:lnTo>
                <a:lnTo>
                  <a:pt x="1715051" y="579121"/>
                </a:lnTo>
                <a:lnTo>
                  <a:pt x="3107460" y="774811"/>
                </a:lnTo>
                <a:lnTo>
                  <a:pt x="3641270" y="0"/>
                </a:lnTo>
                <a:close/>
              </a:path>
              <a:path w="5002530" h="3938270">
                <a:moveTo>
                  <a:pt x="5001954" y="0"/>
                </a:moveTo>
                <a:lnTo>
                  <a:pt x="4158813" y="0"/>
                </a:lnTo>
                <a:lnTo>
                  <a:pt x="4182288" y="75625"/>
                </a:lnTo>
                <a:lnTo>
                  <a:pt x="4202310" y="116723"/>
                </a:lnTo>
                <a:lnTo>
                  <a:pt x="4226411" y="155244"/>
                </a:lnTo>
                <a:lnTo>
                  <a:pt x="4254310" y="190908"/>
                </a:lnTo>
                <a:lnTo>
                  <a:pt x="4285724" y="223432"/>
                </a:lnTo>
                <a:lnTo>
                  <a:pt x="4320373" y="252534"/>
                </a:lnTo>
                <a:lnTo>
                  <a:pt x="4357973" y="277932"/>
                </a:lnTo>
                <a:lnTo>
                  <a:pt x="4398243" y="299345"/>
                </a:lnTo>
                <a:lnTo>
                  <a:pt x="4440901" y="316490"/>
                </a:lnTo>
                <a:lnTo>
                  <a:pt x="4485665" y="329086"/>
                </a:lnTo>
                <a:lnTo>
                  <a:pt x="4532253" y="336850"/>
                </a:lnTo>
                <a:lnTo>
                  <a:pt x="4580383" y="339501"/>
                </a:lnTo>
                <a:lnTo>
                  <a:pt x="4628513" y="336850"/>
                </a:lnTo>
                <a:lnTo>
                  <a:pt x="4675101" y="329086"/>
                </a:lnTo>
                <a:lnTo>
                  <a:pt x="4719866" y="316490"/>
                </a:lnTo>
                <a:lnTo>
                  <a:pt x="4762524" y="299345"/>
                </a:lnTo>
                <a:lnTo>
                  <a:pt x="4802794" y="277932"/>
                </a:lnTo>
                <a:lnTo>
                  <a:pt x="4840394" y="252534"/>
                </a:lnTo>
                <a:lnTo>
                  <a:pt x="4875043" y="223432"/>
                </a:lnTo>
                <a:lnTo>
                  <a:pt x="4906457" y="190908"/>
                </a:lnTo>
                <a:lnTo>
                  <a:pt x="4934356" y="155244"/>
                </a:lnTo>
                <a:lnTo>
                  <a:pt x="4958458" y="116723"/>
                </a:lnTo>
                <a:lnTo>
                  <a:pt x="4978479" y="75625"/>
                </a:lnTo>
                <a:lnTo>
                  <a:pt x="5001954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46683" y="3165348"/>
            <a:ext cx="245300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Big</a:t>
            </a:r>
            <a:r>
              <a:rPr sz="2000" b="1" spc="-40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DEA4"/>
                </a:solidFill>
                <a:latin typeface="Arial"/>
                <a:cs typeface="Arial"/>
              </a:rPr>
              <a:t>Data</a:t>
            </a:r>
            <a:r>
              <a:rPr sz="2000" b="1" spc="-105" dirty="0">
                <a:solidFill>
                  <a:srgbClr val="00DEA4"/>
                </a:solidFill>
                <a:latin typeface="Arial"/>
                <a:cs typeface="Arial"/>
              </a:rPr>
              <a:t> </a:t>
            </a:r>
            <a:r>
              <a:rPr sz="2000" b="1" spc="-10" dirty="0" err="1">
                <a:solidFill>
                  <a:srgbClr val="00DEA4"/>
                </a:solidFill>
                <a:latin typeface="Arial"/>
                <a:cs typeface="Arial"/>
              </a:rPr>
              <a:t>Aplicado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84084" y="1475739"/>
            <a:ext cx="4191000" cy="160147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 marR="5080">
              <a:lnSpc>
                <a:spcPct val="79300"/>
              </a:lnSpc>
              <a:spcBef>
                <a:spcPts val="1090"/>
              </a:spcBef>
            </a:pPr>
            <a:r>
              <a:rPr dirty="0"/>
              <a:t>Almacenes</a:t>
            </a:r>
            <a:r>
              <a:rPr spc="-50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datos: </a:t>
            </a:r>
            <a:r>
              <a:rPr dirty="0"/>
              <a:t>diseño</a:t>
            </a:r>
            <a:r>
              <a:rPr spc="-45" dirty="0"/>
              <a:t> </a:t>
            </a:r>
            <a:r>
              <a:rPr dirty="0"/>
              <a:t>en</a:t>
            </a:r>
            <a:r>
              <a:rPr spc="-45" dirty="0"/>
              <a:t> </a:t>
            </a:r>
            <a:r>
              <a:rPr dirty="0"/>
              <a:t>copo</a:t>
            </a:r>
            <a:r>
              <a:rPr spc="-45" dirty="0"/>
              <a:t> </a:t>
            </a:r>
            <a:r>
              <a:rPr spc="-25" dirty="0"/>
              <a:t>de </a:t>
            </a:r>
            <a:r>
              <a:rPr spc="-10" dirty="0"/>
              <a:t>nieve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797040" y="3943584"/>
            <a:ext cx="2346960" cy="1200150"/>
            <a:chOff x="6797040" y="3943584"/>
            <a:chExt cx="2346960" cy="1200150"/>
          </a:xfrm>
        </p:grpSpPr>
        <p:sp>
          <p:nvSpPr>
            <p:cNvPr id="6" name="object 6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97040" y="4373880"/>
              <a:ext cx="1459992" cy="344423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46790" y="4373843"/>
            <a:ext cx="749345" cy="36530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210564" y="4381676"/>
            <a:ext cx="653415" cy="325755"/>
            <a:chOff x="4210564" y="4381676"/>
            <a:chExt cx="653415" cy="325755"/>
          </a:xfrm>
        </p:grpSpPr>
        <p:sp>
          <p:nvSpPr>
            <p:cNvPr id="10" name="object 10"/>
            <p:cNvSpPr/>
            <p:nvPr/>
          </p:nvSpPr>
          <p:spPr>
            <a:xfrm>
              <a:off x="4372655" y="4519010"/>
              <a:ext cx="109220" cy="46990"/>
            </a:xfrm>
            <a:custGeom>
              <a:avLst/>
              <a:gdLst/>
              <a:ahLst/>
              <a:cxnLst/>
              <a:rect l="l" t="t" r="r" b="b"/>
              <a:pathLst>
                <a:path w="109220" h="46989">
                  <a:moveTo>
                    <a:pt x="109052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109052" y="46456"/>
                  </a:lnTo>
                  <a:lnTo>
                    <a:pt x="109052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09590" y="4502793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37682" y="0"/>
                  </a:moveTo>
                  <a:lnTo>
                    <a:pt x="2554" y="23467"/>
                  </a:lnTo>
                  <a:lnTo>
                    <a:pt x="0" y="38074"/>
                  </a:lnTo>
                  <a:lnTo>
                    <a:pt x="535" y="45564"/>
                  </a:lnTo>
                  <a:lnTo>
                    <a:pt x="30171" y="75625"/>
                  </a:lnTo>
                  <a:lnTo>
                    <a:pt x="37682" y="76227"/>
                  </a:lnTo>
                  <a:lnTo>
                    <a:pt x="53179" y="73081"/>
                  </a:lnTo>
                  <a:lnTo>
                    <a:pt x="65054" y="64856"/>
                  </a:lnTo>
                  <a:lnTo>
                    <a:pt x="72979" y="52778"/>
                  </a:lnTo>
                  <a:lnTo>
                    <a:pt x="75756" y="38074"/>
                  </a:lnTo>
                  <a:lnTo>
                    <a:pt x="72642" y="22651"/>
                  </a:lnTo>
                  <a:lnTo>
                    <a:pt x="64442" y="10758"/>
                  </a:lnTo>
                  <a:lnTo>
                    <a:pt x="52380" y="2808"/>
                  </a:lnTo>
                  <a:lnTo>
                    <a:pt x="37682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45192" y="4397737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613"/>
                  </a:lnTo>
                  <a:lnTo>
                    <a:pt x="236515" y="46613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10564" y="43816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918" y="0"/>
                  </a:moveTo>
                  <a:lnTo>
                    <a:pt x="2654" y="23243"/>
                  </a:lnTo>
                  <a:lnTo>
                    <a:pt x="0" y="37917"/>
                  </a:lnTo>
                  <a:lnTo>
                    <a:pt x="588" y="45409"/>
                  </a:lnTo>
                  <a:lnTo>
                    <a:pt x="30407" y="75390"/>
                  </a:lnTo>
                  <a:lnTo>
                    <a:pt x="37918" y="75992"/>
                  </a:lnTo>
                  <a:lnTo>
                    <a:pt x="45429" y="75390"/>
                  </a:lnTo>
                  <a:lnTo>
                    <a:pt x="75380" y="45425"/>
                  </a:lnTo>
                  <a:lnTo>
                    <a:pt x="75992" y="37917"/>
                  </a:lnTo>
                  <a:lnTo>
                    <a:pt x="75382" y="30391"/>
                  </a:lnTo>
                  <a:lnTo>
                    <a:pt x="45408" y="551"/>
                  </a:lnTo>
                  <a:lnTo>
                    <a:pt x="37918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45192" y="4647022"/>
              <a:ext cx="236854" cy="46990"/>
            </a:xfrm>
            <a:custGeom>
              <a:avLst/>
              <a:gdLst/>
              <a:ahLst/>
              <a:cxnLst/>
              <a:rect l="l" t="t" r="r" b="b"/>
              <a:pathLst>
                <a:path w="236854" h="46989">
                  <a:moveTo>
                    <a:pt x="236515" y="0"/>
                  </a:moveTo>
                  <a:lnTo>
                    <a:pt x="0" y="0"/>
                  </a:lnTo>
                  <a:lnTo>
                    <a:pt x="0" y="46456"/>
                  </a:lnTo>
                  <a:lnTo>
                    <a:pt x="236515" y="46456"/>
                  </a:lnTo>
                  <a:lnTo>
                    <a:pt x="236515" y="0"/>
                  </a:lnTo>
                  <a:close/>
                </a:path>
              </a:pathLst>
            </a:custGeom>
            <a:solidFill>
              <a:srgbClr val="044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10558" y="4390377"/>
              <a:ext cx="653415" cy="316865"/>
            </a:xfrm>
            <a:custGeom>
              <a:avLst/>
              <a:gdLst/>
              <a:ahLst/>
              <a:cxnLst/>
              <a:rect l="l" t="t" r="r" b="b"/>
              <a:pathLst>
                <a:path w="653414" h="316864">
                  <a:moveTo>
                    <a:pt x="75984" y="278549"/>
                  </a:moveTo>
                  <a:lnTo>
                    <a:pt x="52590" y="243141"/>
                  </a:lnTo>
                  <a:lnTo>
                    <a:pt x="37553" y="240423"/>
                  </a:lnTo>
                  <a:lnTo>
                    <a:pt x="22288" y="243624"/>
                  </a:lnTo>
                  <a:lnTo>
                    <a:pt x="10515" y="251853"/>
                  </a:lnTo>
                  <a:lnTo>
                    <a:pt x="2692" y="263880"/>
                  </a:lnTo>
                  <a:lnTo>
                    <a:pt x="0" y="278511"/>
                  </a:lnTo>
                  <a:lnTo>
                    <a:pt x="584" y="286016"/>
                  </a:lnTo>
                  <a:lnTo>
                    <a:pt x="30403" y="316064"/>
                  </a:lnTo>
                  <a:lnTo>
                    <a:pt x="37922" y="316661"/>
                  </a:lnTo>
                  <a:lnTo>
                    <a:pt x="45427" y="316064"/>
                  </a:lnTo>
                  <a:lnTo>
                    <a:pt x="75984" y="278549"/>
                  </a:lnTo>
                  <a:close/>
                </a:path>
                <a:path w="653414" h="316864">
                  <a:moveTo>
                    <a:pt x="653376" y="150495"/>
                  </a:moveTo>
                  <a:lnTo>
                    <a:pt x="566496" y="0"/>
                  </a:lnTo>
                  <a:lnTo>
                    <a:pt x="392734" y="0"/>
                  </a:lnTo>
                  <a:lnTo>
                    <a:pt x="305854" y="150495"/>
                  </a:lnTo>
                  <a:lnTo>
                    <a:pt x="392734" y="301066"/>
                  </a:lnTo>
                  <a:lnTo>
                    <a:pt x="566496" y="301066"/>
                  </a:lnTo>
                  <a:lnTo>
                    <a:pt x="653376" y="150495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94259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5080">
              <a:lnSpc>
                <a:spcPct val="71000"/>
              </a:lnSpc>
              <a:spcBef>
                <a:spcPts val="149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Diseño</a:t>
            </a:r>
            <a:r>
              <a:rPr sz="4000" b="1" spc="-6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en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copo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de</a:t>
            </a:r>
            <a:r>
              <a:rPr sz="4000" b="1" spc="-1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nieve:</a:t>
            </a:r>
            <a:endParaRPr sz="4000">
              <a:latin typeface="Arial Narrow"/>
              <a:cs typeface="Arial Narrow"/>
            </a:endParaRPr>
          </a:p>
          <a:p>
            <a:pPr marL="1047750">
              <a:lnSpc>
                <a:spcPct val="100000"/>
              </a:lnSpc>
              <a:spcBef>
                <a:spcPts val="24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Ejemplo: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14635" y="241299"/>
            <a:ext cx="4667885" cy="2397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b="1" spc="-254" dirty="0">
                <a:solidFill>
                  <a:srgbClr val="FF0000"/>
                </a:solidFill>
                <a:latin typeface="Arial"/>
                <a:cs typeface="Arial"/>
              </a:rPr>
              <a:t>Ej:</a:t>
            </a:r>
            <a:r>
              <a:rPr sz="2800" b="1" spc="-1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spc="-185" dirty="0">
                <a:latin typeface="Arial"/>
                <a:cs typeface="Arial"/>
              </a:rPr>
              <a:t>Concesión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un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préstamo</a:t>
            </a:r>
            <a:endParaRPr sz="2800">
              <a:latin typeface="Arial"/>
              <a:cs typeface="Arial"/>
            </a:endParaRPr>
          </a:p>
          <a:p>
            <a:pPr marL="755650" marR="922655" lvl="1" indent="-321310">
              <a:lnSpc>
                <a:spcPct val="71400"/>
              </a:lnSpc>
              <a:spcBef>
                <a:spcPts val="1105"/>
              </a:spcBef>
              <a:buFont typeface="Apple SD Gothic Neo Light"/>
              <a:buChar char="■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Multitud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de </a:t>
            </a:r>
            <a:r>
              <a:rPr sz="2800" spc="-80" dirty="0">
                <a:latin typeface="Arial"/>
                <a:cs typeface="Arial"/>
              </a:rPr>
              <a:t>criterios/indicadores</a:t>
            </a:r>
            <a:endParaRPr sz="2800">
              <a:latin typeface="Arial"/>
              <a:cs typeface="Arial"/>
            </a:endParaRPr>
          </a:p>
          <a:p>
            <a:pPr marL="755650" marR="1429385" lvl="1" indent="-321310">
              <a:lnSpc>
                <a:spcPct val="71400"/>
              </a:lnSpc>
              <a:spcBef>
                <a:spcPts val="1105"/>
              </a:spcBef>
              <a:buFont typeface="Apple SD Gothic Neo Light"/>
              <a:buChar char="■"/>
              <a:tabLst>
                <a:tab pos="755650" algn="l"/>
              </a:tabLst>
            </a:pPr>
            <a:r>
              <a:rPr sz="2800" spc="-175" dirty="0">
                <a:latin typeface="Arial"/>
                <a:cs typeface="Arial"/>
              </a:rPr>
              <a:t>Datos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80" dirty="0">
                <a:latin typeface="Arial"/>
                <a:cs typeface="Arial"/>
              </a:rPr>
              <a:t>agregados, </a:t>
            </a:r>
            <a:r>
              <a:rPr sz="2800" spc="-175" dirty="0">
                <a:latin typeface="Arial"/>
                <a:cs typeface="Arial"/>
              </a:rPr>
              <a:t>desagregados…</a:t>
            </a:r>
            <a:endParaRPr sz="2800">
              <a:latin typeface="Arial"/>
              <a:cs typeface="Arial"/>
            </a:endParaRPr>
          </a:p>
          <a:p>
            <a:pPr marL="755015" lvl="1" indent="-320675">
              <a:lnSpc>
                <a:spcPct val="100000"/>
              </a:lnSpc>
              <a:spcBef>
                <a:spcPts val="140"/>
              </a:spcBef>
              <a:buFont typeface="Apple SD Gothic Neo Light"/>
              <a:buChar char="■"/>
              <a:tabLst>
                <a:tab pos="755015" algn="l"/>
              </a:tabLst>
            </a:pPr>
            <a:r>
              <a:rPr sz="2800" spc="-270" dirty="0">
                <a:latin typeface="Arial"/>
                <a:cs typeface="Arial"/>
              </a:rPr>
              <a:t>Toma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 </a:t>
            </a:r>
            <a:r>
              <a:rPr sz="2800" spc="-125" dirty="0">
                <a:latin typeface="Arial"/>
                <a:cs typeface="Arial"/>
              </a:rPr>
              <a:t>decisión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compleja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79520" y="2685287"/>
            <a:ext cx="4331208" cy="2456688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4" y="253491"/>
            <a:ext cx="2291715" cy="1589405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280670">
              <a:lnSpc>
                <a:spcPct val="71000"/>
              </a:lnSpc>
              <a:spcBef>
                <a:spcPts val="1490"/>
              </a:spcBef>
            </a:pPr>
            <a:r>
              <a:rPr dirty="0"/>
              <a:t>Diseño</a:t>
            </a:r>
            <a:r>
              <a:rPr spc="-65" dirty="0"/>
              <a:t> </a:t>
            </a:r>
            <a:r>
              <a:rPr spc="-25" dirty="0"/>
              <a:t>en </a:t>
            </a:r>
            <a:r>
              <a:rPr spc="-10" dirty="0"/>
              <a:t>estrella</a:t>
            </a:r>
          </a:p>
          <a:p>
            <a:pPr marL="1063625">
              <a:lnSpc>
                <a:spcPct val="100000"/>
              </a:lnSpc>
              <a:spcBef>
                <a:spcPts val="745"/>
              </a:spcBef>
            </a:pPr>
            <a:r>
              <a:rPr sz="2800" spc="-10" dirty="0">
                <a:solidFill>
                  <a:srgbClr val="FF0000"/>
                </a:solidFill>
              </a:rPr>
              <a:t>Balance: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875485" y="421885"/>
            <a:ext cx="1586865" cy="892810"/>
            <a:chOff x="3875485" y="421885"/>
            <a:chExt cx="1586865" cy="892810"/>
          </a:xfrm>
        </p:grpSpPr>
        <p:sp>
          <p:nvSpPr>
            <p:cNvPr id="5" name="object 5"/>
            <p:cNvSpPr/>
            <p:nvPr/>
          </p:nvSpPr>
          <p:spPr>
            <a:xfrm>
              <a:off x="3888185" y="434585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4" h="867410">
                  <a:moveTo>
                    <a:pt x="1474326" y="0"/>
                  </a:moveTo>
                  <a:lnTo>
                    <a:pt x="86724" y="0"/>
                  </a:lnTo>
                  <a:lnTo>
                    <a:pt x="52967" y="6815"/>
                  </a:lnTo>
                  <a:lnTo>
                    <a:pt x="25400" y="25401"/>
                  </a:lnTo>
                  <a:lnTo>
                    <a:pt x="6815" y="52967"/>
                  </a:lnTo>
                  <a:lnTo>
                    <a:pt x="0" y="86725"/>
                  </a:lnTo>
                  <a:lnTo>
                    <a:pt x="0" y="780525"/>
                  </a:lnTo>
                  <a:lnTo>
                    <a:pt x="6815" y="814282"/>
                  </a:lnTo>
                  <a:lnTo>
                    <a:pt x="25400" y="841849"/>
                  </a:lnTo>
                  <a:lnTo>
                    <a:pt x="52967" y="860435"/>
                  </a:lnTo>
                  <a:lnTo>
                    <a:pt x="86724" y="867251"/>
                  </a:lnTo>
                  <a:lnTo>
                    <a:pt x="1474326" y="867251"/>
                  </a:lnTo>
                  <a:lnTo>
                    <a:pt x="1508083" y="860435"/>
                  </a:lnTo>
                  <a:lnTo>
                    <a:pt x="1535650" y="841849"/>
                  </a:lnTo>
                  <a:lnTo>
                    <a:pt x="1554236" y="814282"/>
                  </a:lnTo>
                  <a:lnTo>
                    <a:pt x="1561052" y="780525"/>
                  </a:lnTo>
                  <a:lnTo>
                    <a:pt x="1561052" y="86725"/>
                  </a:lnTo>
                  <a:lnTo>
                    <a:pt x="1554236" y="52967"/>
                  </a:lnTo>
                  <a:lnTo>
                    <a:pt x="1535650" y="25401"/>
                  </a:lnTo>
                  <a:lnTo>
                    <a:pt x="1508083" y="6815"/>
                  </a:lnTo>
                  <a:lnTo>
                    <a:pt x="1474326" y="0"/>
                  </a:lnTo>
                  <a:close/>
                </a:path>
              </a:pathLst>
            </a:custGeom>
            <a:solidFill>
              <a:srgbClr val="D7E4BD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88185" y="434585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4" h="867410">
                  <a:moveTo>
                    <a:pt x="0" y="86725"/>
                  </a:moveTo>
                  <a:lnTo>
                    <a:pt x="6815" y="52967"/>
                  </a:lnTo>
                  <a:lnTo>
                    <a:pt x="25401" y="25401"/>
                  </a:lnTo>
                  <a:lnTo>
                    <a:pt x="52967" y="6815"/>
                  </a:lnTo>
                  <a:lnTo>
                    <a:pt x="86725" y="0"/>
                  </a:lnTo>
                  <a:lnTo>
                    <a:pt x="1474327" y="0"/>
                  </a:lnTo>
                  <a:lnTo>
                    <a:pt x="1508084" y="6815"/>
                  </a:lnTo>
                  <a:lnTo>
                    <a:pt x="1535650" y="25401"/>
                  </a:lnTo>
                  <a:lnTo>
                    <a:pt x="1554236" y="52967"/>
                  </a:lnTo>
                  <a:lnTo>
                    <a:pt x="1561052" y="86725"/>
                  </a:lnTo>
                  <a:lnTo>
                    <a:pt x="1561052" y="780525"/>
                  </a:lnTo>
                  <a:lnTo>
                    <a:pt x="1554236" y="814283"/>
                  </a:lnTo>
                  <a:lnTo>
                    <a:pt x="1535650" y="841849"/>
                  </a:lnTo>
                  <a:lnTo>
                    <a:pt x="1508084" y="860435"/>
                  </a:lnTo>
                  <a:lnTo>
                    <a:pt x="1474327" y="867251"/>
                  </a:lnTo>
                  <a:lnTo>
                    <a:pt x="86725" y="867251"/>
                  </a:lnTo>
                  <a:lnTo>
                    <a:pt x="52967" y="860435"/>
                  </a:lnTo>
                  <a:lnTo>
                    <a:pt x="25401" y="841849"/>
                  </a:lnTo>
                  <a:lnTo>
                    <a:pt x="6815" y="814283"/>
                  </a:lnTo>
                  <a:lnTo>
                    <a:pt x="0" y="780525"/>
                  </a:lnTo>
                  <a:lnTo>
                    <a:pt x="0" y="8672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272883" y="697991"/>
            <a:ext cx="79184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25" dirty="0">
                <a:latin typeface="Arial"/>
                <a:cs typeface="Arial"/>
              </a:rPr>
              <a:t>Ventajas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130338" y="421885"/>
            <a:ext cx="1586865" cy="892810"/>
            <a:chOff x="6130338" y="421885"/>
            <a:chExt cx="1586865" cy="892810"/>
          </a:xfrm>
        </p:grpSpPr>
        <p:sp>
          <p:nvSpPr>
            <p:cNvPr id="9" name="object 9"/>
            <p:cNvSpPr/>
            <p:nvPr/>
          </p:nvSpPr>
          <p:spPr>
            <a:xfrm>
              <a:off x="6143038" y="434585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5" h="867410">
                  <a:moveTo>
                    <a:pt x="1474326" y="0"/>
                  </a:moveTo>
                  <a:lnTo>
                    <a:pt x="86724" y="0"/>
                  </a:lnTo>
                  <a:lnTo>
                    <a:pt x="52967" y="6815"/>
                  </a:lnTo>
                  <a:lnTo>
                    <a:pt x="25400" y="25401"/>
                  </a:lnTo>
                  <a:lnTo>
                    <a:pt x="6815" y="52967"/>
                  </a:lnTo>
                  <a:lnTo>
                    <a:pt x="0" y="86725"/>
                  </a:lnTo>
                  <a:lnTo>
                    <a:pt x="0" y="780525"/>
                  </a:lnTo>
                  <a:lnTo>
                    <a:pt x="6815" y="814282"/>
                  </a:lnTo>
                  <a:lnTo>
                    <a:pt x="25400" y="841849"/>
                  </a:lnTo>
                  <a:lnTo>
                    <a:pt x="52967" y="860435"/>
                  </a:lnTo>
                  <a:lnTo>
                    <a:pt x="86724" y="867251"/>
                  </a:lnTo>
                  <a:lnTo>
                    <a:pt x="1474326" y="867251"/>
                  </a:lnTo>
                  <a:lnTo>
                    <a:pt x="1508083" y="860435"/>
                  </a:lnTo>
                  <a:lnTo>
                    <a:pt x="1535650" y="841849"/>
                  </a:lnTo>
                  <a:lnTo>
                    <a:pt x="1554235" y="814282"/>
                  </a:lnTo>
                  <a:lnTo>
                    <a:pt x="1561050" y="780525"/>
                  </a:lnTo>
                  <a:lnTo>
                    <a:pt x="1561050" y="86725"/>
                  </a:lnTo>
                  <a:lnTo>
                    <a:pt x="1554235" y="52967"/>
                  </a:lnTo>
                  <a:lnTo>
                    <a:pt x="1535650" y="25401"/>
                  </a:lnTo>
                  <a:lnTo>
                    <a:pt x="1508083" y="6815"/>
                  </a:lnTo>
                  <a:lnTo>
                    <a:pt x="1474326" y="0"/>
                  </a:lnTo>
                  <a:close/>
                </a:path>
              </a:pathLst>
            </a:custGeom>
            <a:solidFill>
              <a:srgbClr val="D7E4BD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43038" y="434585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5" h="867410">
                  <a:moveTo>
                    <a:pt x="0" y="86725"/>
                  </a:moveTo>
                  <a:lnTo>
                    <a:pt x="6815" y="52967"/>
                  </a:lnTo>
                  <a:lnTo>
                    <a:pt x="25401" y="25401"/>
                  </a:lnTo>
                  <a:lnTo>
                    <a:pt x="52967" y="6815"/>
                  </a:lnTo>
                  <a:lnTo>
                    <a:pt x="86725" y="0"/>
                  </a:lnTo>
                  <a:lnTo>
                    <a:pt x="1474327" y="0"/>
                  </a:lnTo>
                  <a:lnTo>
                    <a:pt x="1508084" y="6815"/>
                  </a:lnTo>
                  <a:lnTo>
                    <a:pt x="1535650" y="25401"/>
                  </a:lnTo>
                  <a:lnTo>
                    <a:pt x="1554236" y="52967"/>
                  </a:lnTo>
                  <a:lnTo>
                    <a:pt x="1561052" y="86725"/>
                  </a:lnTo>
                  <a:lnTo>
                    <a:pt x="1561052" y="780525"/>
                  </a:lnTo>
                  <a:lnTo>
                    <a:pt x="1554236" y="814283"/>
                  </a:lnTo>
                  <a:lnTo>
                    <a:pt x="1535650" y="841849"/>
                  </a:lnTo>
                  <a:lnTo>
                    <a:pt x="1508084" y="860435"/>
                  </a:lnTo>
                  <a:lnTo>
                    <a:pt x="1474327" y="867251"/>
                  </a:lnTo>
                  <a:lnTo>
                    <a:pt x="86725" y="867251"/>
                  </a:lnTo>
                  <a:lnTo>
                    <a:pt x="52967" y="860435"/>
                  </a:lnTo>
                  <a:lnTo>
                    <a:pt x="25401" y="841849"/>
                  </a:lnTo>
                  <a:lnTo>
                    <a:pt x="6815" y="814283"/>
                  </a:lnTo>
                  <a:lnTo>
                    <a:pt x="0" y="780525"/>
                  </a:lnTo>
                  <a:lnTo>
                    <a:pt x="0" y="8672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231382" y="697991"/>
            <a:ext cx="138366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25" dirty="0">
                <a:latin typeface="Arial"/>
                <a:cs typeface="Arial"/>
              </a:rPr>
              <a:t>Inconvenientes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832122" y="3075673"/>
            <a:ext cx="3928110" cy="1708150"/>
            <a:chOff x="3832122" y="3075673"/>
            <a:chExt cx="3928110" cy="1708150"/>
          </a:xfrm>
        </p:grpSpPr>
        <p:sp>
          <p:nvSpPr>
            <p:cNvPr id="13" name="object 13"/>
            <p:cNvSpPr/>
            <p:nvPr/>
          </p:nvSpPr>
          <p:spPr>
            <a:xfrm>
              <a:off x="5470917" y="4120401"/>
              <a:ext cx="650875" cy="650875"/>
            </a:xfrm>
            <a:custGeom>
              <a:avLst/>
              <a:gdLst/>
              <a:ahLst/>
              <a:cxnLst/>
              <a:rect l="l" t="t" r="r" b="b"/>
              <a:pathLst>
                <a:path w="650875" h="650875">
                  <a:moveTo>
                    <a:pt x="325219" y="0"/>
                  </a:moveTo>
                  <a:lnTo>
                    <a:pt x="0" y="650437"/>
                  </a:lnTo>
                  <a:lnTo>
                    <a:pt x="650438" y="650437"/>
                  </a:lnTo>
                  <a:lnTo>
                    <a:pt x="325219" y="0"/>
                  </a:lnTo>
                  <a:close/>
                </a:path>
              </a:pathLst>
            </a:custGeom>
            <a:solidFill>
              <a:srgbClr val="D0D8E8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470917" y="4120401"/>
              <a:ext cx="650875" cy="650875"/>
            </a:xfrm>
            <a:custGeom>
              <a:avLst/>
              <a:gdLst/>
              <a:ahLst/>
              <a:cxnLst/>
              <a:rect l="l" t="t" r="r" b="b"/>
              <a:pathLst>
                <a:path w="650875" h="650875">
                  <a:moveTo>
                    <a:pt x="0" y="650438"/>
                  </a:moveTo>
                  <a:lnTo>
                    <a:pt x="325219" y="0"/>
                  </a:lnTo>
                  <a:lnTo>
                    <a:pt x="650438" y="650438"/>
                  </a:lnTo>
                  <a:lnTo>
                    <a:pt x="0" y="650438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44822" y="3848084"/>
              <a:ext cx="3902710" cy="264160"/>
            </a:xfrm>
            <a:custGeom>
              <a:avLst/>
              <a:gdLst/>
              <a:ahLst/>
              <a:cxnLst/>
              <a:rect l="l" t="t" r="r" b="b"/>
              <a:pathLst>
                <a:path w="3902709" h="264160">
                  <a:moveTo>
                    <a:pt x="3902629" y="0"/>
                  </a:moveTo>
                  <a:lnTo>
                    <a:pt x="0" y="0"/>
                  </a:lnTo>
                  <a:lnTo>
                    <a:pt x="0" y="263644"/>
                  </a:lnTo>
                  <a:lnTo>
                    <a:pt x="3902629" y="263644"/>
                  </a:lnTo>
                  <a:lnTo>
                    <a:pt x="3902629" y="0"/>
                  </a:lnTo>
                  <a:close/>
                </a:path>
              </a:pathLst>
            </a:custGeom>
            <a:solidFill>
              <a:srgbClr val="D0D8E8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44822" y="3848084"/>
              <a:ext cx="3902710" cy="264160"/>
            </a:xfrm>
            <a:custGeom>
              <a:avLst/>
              <a:gdLst/>
              <a:ahLst/>
              <a:cxnLst/>
              <a:rect l="l" t="t" r="r" b="b"/>
              <a:pathLst>
                <a:path w="3902709" h="264160">
                  <a:moveTo>
                    <a:pt x="0" y="0"/>
                  </a:moveTo>
                  <a:lnTo>
                    <a:pt x="3902630" y="0"/>
                  </a:lnTo>
                  <a:lnTo>
                    <a:pt x="3902630" y="263644"/>
                  </a:lnTo>
                  <a:lnTo>
                    <a:pt x="0" y="263644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43038" y="3088373"/>
              <a:ext cx="1561465" cy="728980"/>
            </a:xfrm>
            <a:custGeom>
              <a:avLst/>
              <a:gdLst/>
              <a:ahLst/>
              <a:cxnLst/>
              <a:rect l="l" t="t" r="r" b="b"/>
              <a:pathLst>
                <a:path w="1561465" h="728979">
                  <a:moveTo>
                    <a:pt x="1439633" y="0"/>
                  </a:moveTo>
                  <a:lnTo>
                    <a:pt x="121415" y="0"/>
                  </a:lnTo>
                  <a:lnTo>
                    <a:pt x="74155" y="9541"/>
                  </a:lnTo>
                  <a:lnTo>
                    <a:pt x="35561" y="35562"/>
                  </a:lnTo>
                  <a:lnTo>
                    <a:pt x="9541" y="74155"/>
                  </a:lnTo>
                  <a:lnTo>
                    <a:pt x="0" y="121417"/>
                  </a:lnTo>
                  <a:lnTo>
                    <a:pt x="0" y="607073"/>
                  </a:lnTo>
                  <a:lnTo>
                    <a:pt x="9541" y="654334"/>
                  </a:lnTo>
                  <a:lnTo>
                    <a:pt x="35561" y="692928"/>
                  </a:lnTo>
                  <a:lnTo>
                    <a:pt x="74155" y="718949"/>
                  </a:lnTo>
                  <a:lnTo>
                    <a:pt x="121415" y="728491"/>
                  </a:lnTo>
                  <a:lnTo>
                    <a:pt x="1439633" y="728491"/>
                  </a:lnTo>
                  <a:lnTo>
                    <a:pt x="1486895" y="718949"/>
                  </a:lnTo>
                  <a:lnTo>
                    <a:pt x="1525488" y="692928"/>
                  </a:lnTo>
                  <a:lnTo>
                    <a:pt x="1551509" y="654334"/>
                  </a:lnTo>
                  <a:lnTo>
                    <a:pt x="1561050" y="607073"/>
                  </a:lnTo>
                  <a:lnTo>
                    <a:pt x="1561050" y="121417"/>
                  </a:lnTo>
                  <a:lnTo>
                    <a:pt x="1551509" y="74155"/>
                  </a:lnTo>
                  <a:lnTo>
                    <a:pt x="1525488" y="35562"/>
                  </a:lnTo>
                  <a:lnTo>
                    <a:pt x="1486895" y="9541"/>
                  </a:lnTo>
                  <a:lnTo>
                    <a:pt x="1439633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143038" y="3088373"/>
              <a:ext cx="1561465" cy="728980"/>
            </a:xfrm>
            <a:custGeom>
              <a:avLst/>
              <a:gdLst/>
              <a:ahLst/>
              <a:cxnLst/>
              <a:rect l="l" t="t" r="r" b="b"/>
              <a:pathLst>
                <a:path w="1561465" h="728979">
                  <a:moveTo>
                    <a:pt x="0" y="121416"/>
                  </a:moveTo>
                  <a:lnTo>
                    <a:pt x="9541" y="74155"/>
                  </a:lnTo>
                  <a:lnTo>
                    <a:pt x="35562" y="35562"/>
                  </a:lnTo>
                  <a:lnTo>
                    <a:pt x="74155" y="9541"/>
                  </a:lnTo>
                  <a:lnTo>
                    <a:pt x="121416" y="0"/>
                  </a:lnTo>
                  <a:lnTo>
                    <a:pt x="1439635" y="0"/>
                  </a:lnTo>
                  <a:lnTo>
                    <a:pt x="1486896" y="9541"/>
                  </a:lnTo>
                  <a:lnTo>
                    <a:pt x="1525489" y="35562"/>
                  </a:lnTo>
                  <a:lnTo>
                    <a:pt x="1551510" y="74155"/>
                  </a:lnTo>
                  <a:lnTo>
                    <a:pt x="1561052" y="121416"/>
                  </a:lnTo>
                  <a:lnTo>
                    <a:pt x="1561052" y="607074"/>
                  </a:lnTo>
                  <a:lnTo>
                    <a:pt x="1551510" y="654335"/>
                  </a:lnTo>
                  <a:lnTo>
                    <a:pt x="1525489" y="692928"/>
                  </a:lnTo>
                  <a:lnTo>
                    <a:pt x="1486896" y="718949"/>
                  </a:lnTo>
                  <a:lnTo>
                    <a:pt x="1439635" y="728491"/>
                  </a:lnTo>
                  <a:lnTo>
                    <a:pt x="121416" y="728491"/>
                  </a:lnTo>
                  <a:lnTo>
                    <a:pt x="74155" y="718949"/>
                  </a:lnTo>
                  <a:lnTo>
                    <a:pt x="35562" y="692928"/>
                  </a:lnTo>
                  <a:lnTo>
                    <a:pt x="9541" y="654335"/>
                  </a:lnTo>
                  <a:lnTo>
                    <a:pt x="0" y="607074"/>
                  </a:lnTo>
                  <a:lnTo>
                    <a:pt x="0" y="121416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388163" y="3179572"/>
            <a:ext cx="1071245" cy="49784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 indent="207010">
              <a:lnSpc>
                <a:spcPts val="1800"/>
              </a:lnSpc>
              <a:spcBef>
                <a:spcPts val="259"/>
              </a:spcBef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Distinta </a:t>
            </a:r>
            <a:r>
              <a:rPr sz="1600" spc="-65" dirty="0">
                <a:solidFill>
                  <a:srgbClr val="FFFFFF"/>
                </a:solidFill>
                <a:latin typeface="Arial"/>
                <a:cs typeface="Arial"/>
              </a:rPr>
              <a:t>granularidad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130338" y="2295146"/>
            <a:ext cx="1586865" cy="754380"/>
            <a:chOff x="6130338" y="2295146"/>
            <a:chExt cx="1586865" cy="754380"/>
          </a:xfrm>
        </p:grpSpPr>
        <p:sp>
          <p:nvSpPr>
            <p:cNvPr id="21" name="object 21"/>
            <p:cNvSpPr/>
            <p:nvPr/>
          </p:nvSpPr>
          <p:spPr>
            <a:xfrm>
              <a:off x="6143038" y="2307846"/>
              <a:ext cx="1561465" cy="728980"/>
            </a:xfrm>
            <a:custGeom>
              <a:avLst/>
              <a:gdLst/>
              <a:ahLst/>
              <a:cxnLst/>
              <a:rect l="l" t="t" r="r" b="b"/>
              <a:pathLst>
                <a:path w="1561465" h="728980">
                  <a:moveTo>
                    <a:pt x="1439633" y="0"/>
                  </a:moveTo>
                  <a:lnTo>
                    <a:pt x="121415" y="0"/>
                  </a:lnTo>
                  <a:lnTo>
                    <a:pt x="74155" y="9541"/>
                  </a:lnTo>
                  <a:lnTo>
                    <a:pt x="35561" y="35562"/>
                  </a:lnTo>
                  <a:lnTo>
                    <a:pt x="9541" y="74156"/>
                  </a:lnTo>
                  <a:lnTo>
                    <a:pt x="0" y="121417"/>
                  </a:lnTo>
                  <a:lnTo>
                    <a:pt x="0" y="607073"/>
                  </a:lnTo>
                  <a:lnTo>
                    <a:pt x="9541" y="654335"/>
                  </a:lnTo>
                  <a:lnTo>
                    <a:pt x="35561" y="692928"/>
                  </a:lnTo>
                  <a:lnTo>
                    <a:pt x="74155" y="718949"/>
                  </a:lnTo>
                  <a:lnTo>
                    <a:pt x="121415" y="728491"/>
                  </a:lnTo>
                  <a:lnTo>
                    <a:pt x="1439633" y="728491"/>
                  </a:lnTo>
                  <a:lnTo>
                    <a:pt x="1486895" y="718949"/>
                  </a:lnTo>
                  <a:lnTo>
                    <a:pt x="1525488" y="692928"/>
                  </a:lnTo>
                  <a:lnTo>
                    <a:pt x="1551509" y="654335"/>
                  </a:lnTo>
                  <a:lnTo>
                    <a:pt x="1561050" y="607073"/>
                  </a:lnTo>
                  <a:lnTo>
                    <a:pt x="1561050" y="121417"/>
                  </a:lnTo>
                  <a:lnTo>
                    <a:pt x="1551509" y="74156"/>
                  </a:lnTo>
                  <a:lnTo>
                    <a:pt x="1525488" y="35562"/>
                  </a:lnTo>
                  <a:lnTo>
                    <a:pt x="1486895" y="9541"/>
                  </a:lnTo>
                  <a:lnTo>
                    <a:pt x="1439633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143038" y="2307846"/>
              <a:ext cx="1561465" cy="728980"/>
            </a:xfrm>
            <a:custGeom>
              <a:avLst/>
              <a:gdLst/>
              <a:ahLst/>
              <a:cxnLst/>
              <a:rect l="l" t="t" r="r" b="b"/>
              <a:pathLst>
                <a:path w="1561465" h="728980">
                  <a:moveTo>
                    <a:pt x="0" y="121416"/>
                  </a:moveTo>
                  <a:lnTo>
                    <a:pt x="9541" y="74155"/>
                  </a:lnTo>
                  <a:lnTo>
                    <a:pt x="35562" y="35562"/>
                  </a:lnTo>
                  <a:lnTo>
                    <a:pt x="74155" y="9541"/>
                  </a:lnTo>
                  <a:lnTo>
                    <a:pt x="121416" y="0"/>
                  </a:lnTo>
                  <a:lnTo>
                    <a:pt x="1439635" y="0"/>
                  </a:lnTo>
                  <a:lnTo>
                    <a:pt x="1486896" y="9541"/>
                  </a:lnTo>
                  <a:lnTo>
                    <a:pt x="1525489" y="35562"/>
                  </a:lnTo>
                  <a:lnTo>
                    <a:pt x="1551510" y="74155"/>
                  </a:lnTo>
                  <a:lnTo>
                    <a:pt x="1561052" y="121416"/>
                  </a:lnTo>
                  <a:lnTo>
                    <a:pt x="1561052" y="607074"/>
                  </a:lnTo>
                  <a:lnTo>
                    <a:pt x="1551510" y="654335"/>
                  </a:lnTo>
                  <a:lnTo>
                    <a:pt x="1525489" y="692928"/>
                  </a:lnTo>
                  <a:lnTo>
                    <a:pt x="1486896" y="718949"/>
                  </a:lnTo>
                  <a:lnTo>
                    <a:pt x="1439635" y="728491"/>
                  </a:lnTo>
                  <a:lnTo>
                    <a:pt x="121416" y="728491"/>
                  </a:lnTo>
                  <a:lnTo>
                    <a:pt x="74155" y="718949"/>
                  </a:lnTo>
                  <a:lnTo>
                    <a:pt x="35562" y="692928"/>
                  </a:lnTo>
                  <a:lnTo>
                    <a:pt x="9541" y="654335"/>
                  </a:lnTo>
                  <a:lnTo>
                    <a:pt x="0" y="607074"/>
                  </a:lnTo>
                  <a:lnTo>
                    <a:pt x="0" y="121416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251860" y="2399283"/>
            <a:ext cx="1343660" cy="49784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384175" marR="5080" indent="-372110">
              <a:lnSpc>
                <a:spcPts val="1800"/>
              </a:lnSpc>
              <a:spcBef>
                <a:spcPts val="259"/>
              </a:spcBef>
            </a:pPr>
            <a:r>
              <a:rPr sz="1600" spc="-125" dirty="0">
                <a:solidFill>
                  <a:srgbClr val="FFFFFF"/>
                </a:solidFill>
                <a:latin typeface="Arial"/>
                <a:cs typeface="Arial"/>
              </a:rPr>
              <a:t>Tabla</a:t>
            </a:r>
            <a:r>
              <a:rPr sz="16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6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95" dirty="0">
                <a:solidFill>
                  <a:srgbClr val="FFFFFF"/>
                </a:solidFill>
                <a:latin typeface="Arial"/>
                <a:cs typeface="Arial"/>
              </a:rPr>
              <a:t>hechos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grande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130338" y="1514621"/>
            <a:ext cx="1586865" cy="754380"/>
            <a:chOff x="6130338" y="1514621"/>
            <a:chExt cx="1586865" cy="754380"/>
          </a:xfrm>
        </p:grpSpPr>
        <p:sp>
          <p:nvSpPr>
            <p:cNvPr id="25" name="object 25"/>
            <p:cNvSpPr/>
            <p:nvPr/>
          </p:nvSpPr>
          <p:spPr>
            <a:xfrm>
              <a:off x="6143038" y="1527321"/>
              <a:ext cx="1561465" cy="728980"/>
            </a:xfrm>
            <a:custGeom>
              <a:avLst/>
              <a:gdLst/>
              <a:ahLst/>
              <a:cxnLst/>
              <a:rect l="l" t="t" r="r" b="b"/>
              <a:pathLst>
                <a:path w="1561465" h="728980">
                  <a:moveTo>
                    <a:pt x="1439633" y="0"/>
                  </a:moveTo>
                  <a:lnTo>
                    <a:pt x="121415" y="0"/>
                  </a:lnTo>
                  <a:lnTo>
                    <a:pt x="74155" y="9541"/>
                  </a:lnTo>
                  <a:lnTo>
                    <a:pt x="35561" y="35562"/>
                  </a:lnTo>
                  <a:lnTo>
                    <a:pt x="9541" y="74155"/>
                  </a:lnTo>
                  <a:lnTo>
                    <a:pt x="0" y="121417"/>
                  </a:lnTo>
                  <a:lnTo>
                    <a:pt x="0" y="607073"/>
                  </a:lnTo>
                  <a:lnTo>
                    <a:pt x="9541" y="654335"/>
                  </a:lnTo>
                  <a:lnTo>
                    <a:pt x="35561" y="692928"/>
                  </a:lnTo>
                  <a:lnTo>
                    <a:pt x="74155" y="718949"/>
                  </a:lnTo>
                  <a:lnTo>
                    <a:pt x="121415" y="728491"/>
                  </a:lnTo>
                  <a:lnTo>
                    <a:pt x="1439633" y="728491"/>
                  </a:lnTo>
                  <a:lnTo>
                    <a:pt x="1486895" y="718949"/>
                  </a:lnTo>
                  <a:lnTo>
                    <a:pt x="1525488" y="692928"/>
                  </a:lnTo>
                  <a:lnTo>
                    <a:pt x="1551509" y="654335"/>
                  </a:lnTo>
                  <a:lnTo>
                    <a:pt x="1561050" y="607073"/>
                  </a:lnTo>
                  <a:lnTo>
                    <a:pt x="1561050" y="121417"/>
                  </a:lnTo>
                  <a:lnTo>
                    <a:pt x="1551509" y="74155"/>
                  </a:lnTo>
                  <a:lnTo>
                    <a:pt x="1525488" y="35562"/>
                  </a:lnTo>
                  <a:lnTo>
                    <a:pt x="1486895" y="9541"/>
                  </a:lnTo>
                  <a:lnTo>
                    <a:pt x="1439633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143038" y="1527321"/>
              <a:ext cx="1561465" cy="728980"/>
            </a:xfrm>
            <a:custGeom>
              <a:avLst/>
              <a:gdLst/>
              <a:ahLst/>
              <a:cxnLst/>
              <a:rect l="l" t="t" r="r" b="b"/>
              <a:pathLst>
                <a:path w="1561465" h="728980">
                  <a:moveTo>
                    <a:pt x="0" y="121416"/>
                  </a:moveTo>
                  <a:lnTo>
                    <a:pt x="9541" y="74155"/>
                  </a:lnTo>
                  <a:lnTo>
                    <a:pt x="35562" y="35562"/>
                  </a:lnTo>
                  <a:lnTo>
                    <a:pt x="74155" y="9541"/>
                  </a:lnTo>
                  <a:lnTo>
                    <a:pt x="121416" y="0"/>
                  </a:lnTo>
                  <a:lnTo>
                    <a:pt x="1439635" y="0"/>
                  </a:lnTo>
                  <a:lnTo>
                    <a:pt x="1486896" y="9541"/>
                  </a:lnTo>
                  <a:lnTo>
                    <a:pt x="1525489" y="35562"/>
                  </a:lnTo>
                  <a:lnTo>
                    <a:pt x="1551510" y="74155"/>
                  </a:lnTo>
                  <a:lnTo>
                    <a:pt x="1561052" y="121416"/>
                  </a:lnTo>
                  <a:lnTo>
                    <a:pt x="1561052" y="607074"/>
                  </a:lnTo>
                  <a:lnTo>
                    <a:pt x="1551510" y="654335"/>
                  </a:lnTo>
                  <a:lnTo>
                    <a:pt x="1525489" y="692928"/>
                  </a:lnTo>
                  <a:lnTo>
                    <a:pt x="1486896" y="718949"/>
                  </a:lnTo>
                  <a:lnTo>
                    <a:pt x="1439635" y="728491"/>
                  </a:lnTo>
                  <a:lnTo>
                    <a:pt x="121416" y="728491"/>
                  </a:lnTo>
                  <a:lnTo>
                    <a:pt x="74155" y="718949"/>
                  </a:lnTo>
                  <a:lnTo>
                    <a:pt x="35562" y="692928"/>
                  </a:lnTo>
                  <a:lnTo>
                    <a:pt x="9541" y="654335"/>
                  </a:lnTo>
                  <a:lnTo>
                    <a:pt x="0" y="607074"/>
                  </a:lnTo>
                  <a:lnTo>
                    <a:pt x="0" y="121416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379654" y="1618996"/>
            <a:ext cx="1089025" cy="49784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5730" marR="5080" indent="-113664">
              <a:lnSpc>
                <a:spcPts val="1800"/>
              </a:lnSpc>
              <a:spcBef>
                <a:spcPts val="259"/>
              </a:spcBef>
            </a:pP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Dimensiones </a:t>
            </a:r>
            <a:r>
              <a:rPr sz="1600" spc="-20" dirty="0">
                <a:solidFill>
                  <a:srgbClr val="FFFFFF"/>
                </a:solidFill>
                <a:latin typeface="Arial"/>
                <a:cs typeface="Arial"/>
              </a:rPr>
              <a:t>agregadas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875485" y="3075673"/>
            <a:ext cx="1586865" cy="754380"/>
            <a:chOff x="3875485" y="3075673"/>
            <a:chExt cx="1586865" cy="754380"/>
          </a:xfrm>
        </p:grpSpPr>
        <p:sp>
          <p:nvSpPr>
            <p:cNvPr id="29" name="object 29"/>
            <p:cNvSpPr/>
            <p:nvPr/>
          </p:nvSpPr>
          <p:spPr>
            <a:xfrm>
              <a:off x="3888185" y="3088373"/>
              <a:ext cx="1561465" cy="728980"/>
            </a:xfrm>
            <a:custGeom>
              <a:avLst/>
              <a:gdLst/>
              <a:ahLst/>
              <a:cxnLst/>
              <a:rect l="l" t="t" r="r" b="b"/>
              <a:pathLst>
                <a:path w="1561464" h="728979">
                  <a:moveTo>
                    <a:pt x="1439635" y="0"/>
                  </a:moveTo>
                  <a:lnTo>
                    <a:pt x="121417" y="0"/>
                  </a:lnTo>
                  <a:lnTo>
                    <a:pt x="74155" y="9541"/>
                  </a:lnTo>
                  <a:lnTo>
                    <a:pt x="35562" y="35562"/>
                  </a:lnTo>
                  <a:lnTo>
                    <a:pt x="9541" y="74155"/>
                  </a:lnTo>
                  <a:lnTo>
                    <a:pt x="0" y="121417"/>
                  </a:lnTo>
                  <a:lnTo>
                    <a:pt x="0" y="607073"/>
                  </a:lnTo>
                  <a:lnTo>
                    <a:pt x="9541" y="654334"/>
                  </a:lnTo>
                  <a:lnTo>
                    <a:pt x="35562" y="692928"/>
                  </a:lnTo>
                  <a:lnTo>
                    <a:pt x="74155" y="718949"/>
                  </a:lnTo>
                  <a:lnTo>
                    <a:pt x="121417" y="728491"/>
                  </a:lnTo>
                  <a:lnTo>
                    <a:pt x="1439635" y="728491"/>
                  </a:lnTo>
                  <a:lnTo>
                    <a:pt x="1486895" y="718949"/>
                  </a:lnTo>
                  <a:lnTo>
                    <a:pt x="1525489" y="692928"/>
                  </a:lnTo>
                  <a:lnTo>
                    <a:pt x="1551510" y="654334"/>
                  </a:lnTo>
                  <a:lnTo>
                    <a:pt x="1561052" y="607073"/>
                  </a:lnTo>
                  <a:lnTo>
                    <a:pt x="1561052" y="121417"/>
                  </a:lnTo>
                  <a:lnTo>
                    <a:pt x="1551510" y="74155"/>
                  </a:lnTo>
                  <a:lnTo>
                    <a:pt x="1525489" y="35562"/>
                  </a:lnTo>
                  <a:lnTo>
                    <a:pt x="1486895" y="9541"/>
                  </a:lnTo>
                  <a:lnTo>
                    <a:pt x="1439635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888185" y="3088373"/>
              <a:ext cx="1561465" cy="728980"/>
            </a:xfrm>
            <a:custGeom>
              <a:avLst/>
              <a:gdLst/>
              <a:ahLst/>
              <a:cxnLst/>
              <a:rect l="l" t="t" r="r" b="b"/>
              <a:pathLst>
                <a:path w="1561464" h="728979">
                  <a:moveTo>
                    <a:pt x="0" y="121416"/>
                  </a:moveTo>
                  <a:lnTo>
                    <a:pt x="9541" y="74155"/>
                  </a:lnTo>
                  <a:lnTo>
                    <a:pt x="35562" y="35562"/>
                  </a:lnTo>
                  <a:lnTo>
                    <a:pt x="74155" y="9541"/>
                  </a:lnTo>
                  <a:lnTo>
                    <a:pt x="121416" y="0"/>
                  </a:lnTo>
                  <a:lnTo>
                    <a:pt x="1439635" y="0"/>
                  </a:lnTo>
                  <a:lnTo>
                    <a:pt x="1486896" y="9541"/>
                  </a:lnTo>
                  <a:lnTo>
                    <a:pt x="1525489" y="35562"/>
                  </a:lnTo>
                  <a:lnTo>
                    <a:pt x="1551510" y="74155"/>
                  </a:lnTo>
                  <a:lnTo>
                    <a:pt x="1561052" y="121416"/>
                  </a:lnTo>
                  <a:lnTo>
                    <a:pt x="1561052" y="607074"/>
                  </a:lnTo>
                  <a:lnTo>
                    <a:pt x="1551510" y="654335"/>
                  </a:lnTo>
                  <a:lnTo>
                    <a:pt x="1525489" y="692928"/>
                  </a:lnTo>
                  <a:lnTo>
                    <a:pt x="1486896" y="718949"/>
                  </a:lnTo>
                  <a:lnTo>
                    <a:pt x="1439635" y="728491"/>
                  </a:lnTo>
                  <a:lnTo>
                    <a:pt x="121416" y="728491"/>
                  </a:lnTo>
                  <a:lnTo>
                    <a:pt x="74155" y="718949"/>
                  </a:lnTo>
                  <a:lnTo>
                    <a:pt x="35562" y="692928"/>
                  </a:lnTo>
                  <a:lnTo>
                    <a:pt x="9541" y="654335"/>
                  </a:lnTo>
                  <a:lnTo>
                    <a:pt x="0" y="607074"/>
                  </a:lnTo>
                  <a:lnTo>
                    <a:pt x="0" y="121416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172267" y="3179572"/>
            <a:ext cx="993775" cy="49784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 indent="33655">
              <a:lnSpc>
                <a:spcPts val="1800"/>
              </a:lnSpc>
              <a:spcBef>
                <a:spcPts val="259"/>
              </a:spcBef>
            </a:pPr>
            <a:r>
              <a:rPr sz="1600" spc="-55" dirty="0">
                <a:solidFill>
                  <a:srgbClr val="FFFFFF"/>
                </a:solidFill>
                <a:latin typeface="Arial"/>
                <a:cs typeface="Arial"/>
              </a:rPr>
              <a:t>Fácilmente </a:t>
            </a:r>
            <a:r>
              <a:rPr sz="1600" spc="-50" dirty="0">
                <a:solidFill>
                  <a:srgbClr val="FFFFFF"/>
                </a:solidFill>
                <a:latin typeface="Arial"/>
                <a:cs typeface="Arial"/>
              </a:rPr>
              <a:t>modificable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875485" y="2295146"/>
            <a:ext cx="1586865" cy="754380"/>
            <a:chOff x="3875485" y="2295146"/>
            <a:chExt cx="1586865" cy="754380"/>
          </a:xfrm>
        </p:grpSpPr>
        <p:sp>
          <p:nvSpPr>
            <p:cNvPr id="33" name="object 33"/>
            <p:cNvSpPr/>
            <p:nvPr/>
          </p:nvSpPr>
          <p:spPr>
            <a:xfrm>
              <a:off x="3888185" y="2307846"/>
              <a:ext cx="1561465" cy="728980"/>
            </a:xfrm>
            <a:custGeom>
              <a:avLst/>
              <a:gdLst/>
              <a:ahLst/>
              <a:cxnLst/>
              <a:rect l="l" t="t" r="r" b="b"/>
              <a:pathLst>
                <a:path w="1561464" h="728980">
                  <a:moveTo>
                    <a:pt x="1439635" y="0"/>
                  </a:moveTo>
                  <a:lnTo>
                    <a:pt x="121417" y="0"/>
                  </a:lnTo>
                  <a:lnTo>
                    <a:pt x="74155" y="9541"/>
                  </a:lnTo>
                  <a:lnTo>
                    <a:pt x="35562" y="35562"/>
                  </a:lnTo>
                  <a:lnTo>
                    <a:pt x="9541" y="74156"/>
                  </a:lnTo>
                  <a:lnTo>
                    <a:pt x="0" y="121417"/>
                  </a:lnTo>
                  <a:lnTo>
                    <a:pt x="0" y="607073"/>
                  </a:lnTo>
                  <a:lnTo>
                    <a:pt x="9541" y="654335"/>
                  </a:lnTo>
                  <a:lnTo>
                    <a:pt x="35562" y="692928"/>
                  </a:lnTo>
                  <a:lnTo>
                    <a:pt x="74155" y="718949"/>
                  </a:lnTo>
                  <a:lnTo>
                    <a:pt x="121417" y="728491"/>
                  </a:lnTo>
                  <a:lnTo>
                    <a:pt x="1439635" y="728491"/>
                  </a:lnTo>
                  <a:lnTo>
                    <a:pt x="1486895" y="718949"/>
                  </a:lnTo>
                  <a:lnTo>
                    <a:pt x="1525489" y="692928"/>
                  </a:lnTo>
                  <a:lnTo>
                    <a:pt x="1551510" y="654335"/>
                  </a:lnTo>
                  <a:lnTo>
                    <a:pt x="1561052" y="607073"/>
                  </a:lnTo>
                  <a:lnTo>
                    <a:pt x="1561052" y="121417"/>
                  </a:lnTo>
                  <a:lnTo>
                    <a:pt x="1551510" y="74156"/>
                  </a:lnTo>
                  <a:lnTo>
                    <a:pt x="1525489" y="35562"/>
                  </a:lnTo>
                  <a:lnTo>
                    <a:pt x="1486895" y="9541"/>
                  </a:lnTo>
                  <a:lnTo>
                    <a:pt x="1439635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888185" y="2307846"/>
              <a:ext cx="1561465" cy="728980"/>
            </a:xfrm>
            <a:custGeom>
              <a:avLst/>
              <a:gdLst/>
              <a:ahLst/>
              <a:cxnLst/>
              <a:rect l="l" t="t" r="r" b="b"/>
              <a:pathLst>
                <a:path w="1561464" h="728980">
                  <a:moveTo>
                    <a:pt x="0" y="121416"/>
                  </a:moveTo>
                  <a:lnTo>
                    <a:pt x="9541" y="74155"/>
                  </a:lnTo>
                  <a:lnTo>
                    <a:pt x="35562" y="35562"/>
                  </a:lnTo>
                  <a:lnTo>
                    <a:pt x="74155" y="9541"/>
                  </a:lnTo>
                  <a:lnTo>
                    <a:pt x="121416" y="0"/>
                  </a:lnTo>
                  <a:lnTo>
                    <a:pt x="1439635" y="0"/>
                  </a:lnTo>
                  <a:lnTo>
                    <a:pt x="1486896" y="9541"/>
                  </a:lnTo>
                  <a:lnTo>
                    <a:pt x="1525489" y="35562"/>
                  </a:lnTo>
                  <a:lnTo>
                    <a:pt x="1551510" y="74155"/>
                  </a:lnTo>
                  <a:lnTo>
                    <a:pt x="1561052" y="121416"/>
                  </a:lnTo>
                  <a:lnTo>
                    <a:pt x="1561052" y="607074"/>
                  </a:lnTo>
                  <a:lnTo>
                    <a:pt x="1551510" y="654335"/>
                  </a:lnTo>
                  <a:lnTo>
                    <a:pt x="1525489" y="692928"/>
                  </a:lnTo>
                  <a:lnTo>
                    <a:pt x="1486896" y="718949"/>
                  </a:lnTo>
                  <a:lnTo>
                    <a:pt x="1439635" y="728491"/>
                  </a:lnTo>
                  <a:lnTo>
                    <a:pt x="121416" y="728491"/>
                  </a:lnTo>
                  <a:lnTo>
                    <a:pt x="74155" y="718949"/>
                  </a:lnTo>
                  <a:lnTo>
                    <a:pt x="35562" y="692928"/>
                  </a:lnTo>
                  <a:lnTo>
                    <a:pt x="9541" y="654335"/>
                  </a:lnTo>
                  <a:lnTo>
                    <a:pt x="0" y="607074"/>
                  </a:lnTo>
                  <a:lnTo>
                    <a:pt x="0" y="121416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976433" y="2399283"/>
            <a:ext cx="1384935" cy="49784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63195" marR="5080" indent="-151130">
              <a:lnSpc>
                <a:spcPts val="1800"/>
              </a:lnSpc>
              <a:spcBef>
                <a:spcPts val="259"/>
              </a:spcBef>
            </a:pPr>
            <a:r>
              <a:rPr sz="1600" spc="-95" dirty="0">
                <a:solidFill>
                  <a:srgbClr val="FFFFFF"/>
                </a:solidFill>
                <a:latin typeface="Arial"/>
                <a:cs typeface="Arial"/>
              </a:rPr>
              <a:t>Tiempos</a:t>
            </a:r>
            <a:r>
              <a:rPr sz="16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FFFFFF"/>
                </a:solidFill>
                <a:latin typeface="Arial"/>
                <a:cs typeface="Arial"/>
              </a:rPr>
              <a:t>rápidos </a:t>
            </a:r>
            <a:r>
              <a:rPr sz="1600" spc="-8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6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respuesta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875485" y="1514621"/>
            <a:ext cx="1586865" cy="754380"/>
            <a:chOff x="3875485" y="1514621"/>
            <a:chExt cx="1586865" cy="754380"/>
          </a:xfrm>
        </p:grpSpPr>
        <p:sp>
          <p:nvSpPr>
            <p:cNvPr id="37" name="object 37"/>
            <p:cNvSpPr/>
            <p:nvPr/>
          </p:nvSpPr>
          <p:spPr>
            <a:xfrm>
              <a:off x="3888185" y="1527321"/>
              <a:ext cx="1561465" cy="728980"/>
            </a:xfrm>
            <a:custGeom>
              <a:avLst/>
              <a:gdLst/>
              <a:ahLst/>
              <a:cxnLst/>
              <a:rect l="l" t="t" r="r" b="b"/>
              <a:pathLst>
                <a:path w="1561464" h="728980">
                  <a:moveTo>
                    <a:pt x="1439635" y="0"/>
                  </a:moveTo>
                  <a:lnTo>
                    <a:pt x="121417" y="0"/>
                  </a:lnTo>
                  <a:lnTo>
                    <a:pt x="74155" y="9541"/>
                  </a:lnTo>
                  <a:lnTo>
                    <a:pt x="35562" y="35562"/>
                  </a:lnTo>
                  <a:lnTo>
                    <a:pt x="9541" y="74155"/>
                  </a:lnTo>
                  <a:lnTo>
                    <a:pt x="0" y="121417"/>
                  </a:lnTo>
                  <a:lnTo>
                    <a:pt x="0" y="607073"/>
                  </a:lnTo>
                  <a:lnTo>
                    <a:pt x="9541" y="654335"/>
                  </a:lnTo>
                  <a:lnTo>
                    <a:pt x="35562" y="692928"/>
                  </a:lnTo>
                  <a:lnTo>
                    <a:pt x="74155" y="718949"/>
                  </a:lnTo>
                  <a:lnTo>
                    <a:pt x="121417" y="728491"/>
                  </a:lnTo>
                  <a:lnTo>
                    <a:pt x="1439635" y="728491"/>
                  </a:lnTo>
                  <a:lnTo>
                    <a:pt x="1486895" y="718949"/>
                  </a:lnTo>
                  <a:lnTo>
                    <a:pt x="1525489" y="692928"/>
                  </a:lnTo>
                  <a:lnTo>
                    <a:pt x="1551510" y="654335"/>
                  </a:lnTo>
                  <a:lnTo>
                    <a:pt x="1561052" y="607073"/>
                  </a:lnTo>
                  <a:lnTo>
                    <a:pt x="1561052" y="121417"/>
                  </a:lnTo>
                  <a:lnTo>
                    <a:pt x="1551510" y="74155"/>
                  </a:lnTo>
                  <a:lnTo>
                    <a:pt x="1525489" y="35562"/>
                  </a:lnTo>
                  <a:lnTo>
                    <a:pt x="1486895" y="9541"/>
                  </a:lnTo>
                  <a:lnTo>
                    <a:pt x="1439635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88185" y="1527321"/>
              <a:ext cx="1561465" cy="728980"/>
            </a:xfrm>
            <a:custGeom>
              <a:avLst/>
              <a:gdLst/>
              <a:ahLst/>
              <a:cxnLst/>
              <a:rect l="l" t="t" r="r" b="b"/>
              <a:pathLst>
                <a:path w="1561464" h="728980">
                  <a:moveTo>
                    <a:pt x="0" y="121416"/>
                  </a:moveTo>
                  <a:lnTo>
                    <a:pt x="9541" y="74155"/>
                  </a:lnTo>
                  <a:lnTo>
                    <a:pt x="35562" y="35562"/>
                  </a:lnTo>
                  <a:lnTo>
                    <a:pt x="74155" y="9541"/>
                  </a:lnTo>
                  <a:lnTo>
                    <a:pt x="121416" y="0"/>
                  </a:lnTo>
                  <a:lnTo>
                    <a:pt x="1439635" y="0"/>
                  </a:lnTo>
                  <a:lnTo>
                    <a:pt x="1486896" y="9541"/>
                  </a:lnTo>
                  <a:lnTo>
                    <a:pt x="1525489" y="35562"/>
                  </a:lnTo>
                  <a:lnTo>
                    <a:pt x="1551510" y="74155"/>
                  </a:lnTo>
                  <a:lnTo>
                    <a:pt x="1561052" y="121416"/>
                  </a:lnTo>
                  <a:lnTo>
                    <a:pt x="1561052" y="607074"/>
                  </a:lnTo>
                  <a:lnTo>
                    <a:pt x="1551510" y="654335"/>
                  </a:lnTo>
                  <a:lnTo>
                    <a:pt x="1525489" y="692928"/>
                  </a:lnTo>
                  <a:lnTo>
                    <a:pt x="1486896" y="718949"/>
                  </a:lnTo>
                  <a:lnTo>
                    <a:pt x="1439635" y="728491"/>
                  </a:lnTo>
                  <a:lnTo>
                    <a:pt x="121416" y="728491"/>
                  </a:lnTo>
                  <a:lnTo>
                    <a:pt x="74155" y="718949"/>
                  </a:lnTo>
                  <a:lnTo>
                    <a:pt x="35562" y="692928"/>
                  </a:lnTo>
                  <a:lnTo>
                    <a:pt x="9541" y="654335"/>
                  </a:lnTo>
                  <a:lnTo>
                    <a:pt x="0" y="607074"/>
                  </a:lnTo>
                  <a:lnTo>
                    <a:pt x="0" y="121416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106005" y="1618996"/>
            <a:ext cx="1125855" cy="49784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 indent="90170">
              <a:lnSpc>
                <a:spcPts val="1800"/>
              </a:lnSpc>
              <a:spcBef>
                <a:spcPts val="259"/>
              </a:spcBef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Interacción </a:t>
            </a:r>
            <a:r>
              <a:rPr sz="1600" spc="-65" dirty="0">
                <a:solidFill>
                  <a:srgbClr val="FFFFFF"/>
                </a:solidFill>
                <a:latin typeface="Arial"/>
                <a:cs typeface="Arial"/>
              </a:rPr>
              <a:t>herramientas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5080">
              <a:lnSpc>
                <a:spcPct val="71000"/>
              </a:lnSpc>
              <a:spcBef>
                <a:spcPts val="1490"/>
              </a:spcBef>
            </a:pPr>
            <a:r>
              <a:rPr dirty="0"/>
              <a:t>Diseño</a:t>
            </a:r>
            <a:r>
              <a:rPr spc="-65" dirty="0"/>
              <a:t> </a:t>
            </a:r>
            <a:r>
              <a:rPr spc="-25" dirty="0"/>
              <a:t>en </a:t>
            </a:r>
            <a:r>
              <a:rPr dirty="0"/>
              <a:t>copo</a:t>
            </a:r>
            <a:r>
              <a:rPr spc="-2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spc="-10" dirty="0"/>
              <a:t>nieve:</a:t>
            </a:r>
          </a:p>
          <a:p>
            <a:pPr marL="93345">
              <a:lnSpc>
                <a:spcPct val="100000"/>
              </a:lnSpc>
              <a:spcBef>
                <a:spcPts val="240"/>
              </a:spcBef>
            </a:pPr>
            <a:r>
              <a:rPr sz="2800" spc="-10" dirty="0">
                <a:solidFill>
                  <a:srgbClr val="FF0000"/>
                </a:solidFill>
              </a:rPr>
              <a:t>Características: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3900750" y="2734599"/>
            <a:ext cx="5243830" cy="2409190"/>
            <a:chOff x="3900750" y="2734599"/>
            <a:chExt cx="5243830" cy="2409190"/>
          </a:xfrm>
        </p:grpSpPr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13450" y="3219620"/>
              <a:ext cx="4763135" cy="806450"/>
            </a:xfrm>
            <a:custGeom>
              <a:avLst/>
              <a:gdLst/>
              <a:ahLst/>
              <a:cxnLst/>
              <a:rect l="l" t="t" r="r" b="b"/>
              <a:pathLst>
                <a:path w="4763134" h="806450">
                  <a:moveTo>
                    <a:pt x="4763005" y="0"/>
                  </a:moveTo>
                  <a:lnTo>
                    <a:pt x="0" y="0"/>
                  </a:lnTo>
                  <a:lnTo>
                    <a:pt x="0" y="806399"/>
                  </a:lnTo>
                  <a:lnTo>
                    <a:pt x="4763005" y="806399"/>
                  </a:lnTo>
                  <a:lnTo>
                    <a:pt x="4763005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913450" y="3219620"/>
              <a:ext cx="4763135" cy="806450"/>
            </a:xfrm>
            <a:custGeom>
              <a:avLst/>
              <a:gdLst/>
              <a:ahLst/>
              <a:cxnLst/>
              <a:rect l="l" t="t" r="r" b="b"/>
              <a:pathLst>
                <a:path w="4763134" h="806450">
                  <a:moveTo>
                    <a:pt x="0" y="0"/>
                  </a:moveTo>
                  <a:lnTo>
                    <a:pt x="4763006" y="0"/>
                  </a:lnTo>
                  <a:lnTo>
                    <a:pt x="4763006" y="806400"/>
                  </a:lnTo>
                  <a:lnTo>
                    <a:pt x="0" y="806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51599" y="2747299"/>
              <a:ext cx="3334385" cy="944880"/>
            </a:xfrm>
            <a:custGeom>
              <a:avLst/>
              <a:gdLst/>
              <a:ahLst/>
              <a:cxnLst/>
              <a:rect l="l" t="t" r="r" b="b"/>
              <a:pathLst>
                <a:path w="3334384" h="944879">
                  <a:moveTo>
                    <a:pt x="3176659" y="0"/>
                  </a:moveTo>
                  <a:lnTo>
                    <a:pt x="157444" y="0"/>
                  </a:lnTo>
                  <a:lnTo>
                    <a:pt x="107679" y="8026"/>
                  </a:lnTo>
                  <a:lnTo>
                    <a:pt x="64459" y="30377"/>
                  </a:lnTo>
                  <a:lnTo>
                    <a:pt x="30377" y="64459"/>
                  </a:lnTo>
                  <a:lnTo>
                    <a:pt x="8026" y="107679"/>
                  </a:lnTo>
                  <a:lnTo>
                    <a:pt x="0" y="157444"/>
                  </a:lnTo>
                  <a:lnTo>
                    <a:pt x="0" y="787195"/>
                  </a:lnTo>
                  <a:lnTo>
                    <a:pt x="8026" y="836960"/>
                  </a:lnTo>
                  <a:lnTo>
                    <a:pt x="30377" y="880180"/>
                  </a:lnTo>
                  <a:lnTo>
                    <a:pt x="64459" y="914262"/>
                  </a:lnTo>
                  <a:lnTo>
                    <a:pt x="107679" y="936613"/>
                  </a:lnTo>
                  <a:lnTo>
                    <a:pt x="157444" y="944639"/>
                  </a:lnTo>
                  <a:lnTo>
                    <a:pt x="3176659" y="944639"/>
                  </a:lnTo>
                  <a:lnTo>
                    <a:pt x="3226424" y="936613"/>
                  </a:lnTo>
                  <a:lnTo>
                    <a:pt x="3269644" y="914262"/>
                  </a:lnTo>
                  <a:lnTo>
                    <a:pt x="3303726" y="880180"/>
                  </a:lnTo>
                  <a:lnTo>
                    <a:pt x="3326077" y="836960"/>
                  </a:lnTo>
                  <a:lnTo>
                    <a:pt x="3334104" y="787195"/>
                  </a:lnTo>
                  <a:lnTo>
                    <a:pt x="3334104" y="157444"/>
                  </a:lnTo>
                  <a:lnTo>
                    <a:pt x="3326077" y="107679"/>
                  </a:lnTo>
                  <a:lnTo>
                    <a:pt x="3303726" y="64459"/>
                  </a:lnTo>
                  <a:lnTo>
                    <a:pt x="3269644" y="30377"/>
                  </a:lnTo>
                  <a:lnTo>
                    <a:pt x="3226424" y="8026"/>
                  </a:lnTo>
                  <a:lnTo>
                    <a:pt x="3176659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51599" y="2747299"/>
              <a:ext cx="3334385" cy="944880"/>
            </a:xfrm>
            <a:custGeom>
              <a:avLst/>
              <a:gdLst/>
              <a:ahLst/>
              <a:cxnLst/>
              <a:rect l="l" t="t" r="r" b="b"/>
              <a:pathLst>
                <a:path w="3334384" h="944879">
                  <a:moveTo>
                    <a:pt x="0" y="157444"/>
                  </a:moveTo>
                  <a:lnTo>
                    <a:pt x="8026" y="107679"/>
                  </a:lnTo>
                  <a:lnTo>
                    <a:pt x="30377" y="64459"/>
                  </a:lnTo>
                  <a:lnTo>
                    <a:pt x="64459" y="30377"/>
                  </a:lnTo>
                  <a:lnTo>
                    <a:pt x="107679" y="8026"/>
                  </a:lnTo>
                  <a:lnTo>
                    <a:pt x="157443" y="0"/>
                  </a:lnTo>
                  <a:lnTo>
                    <a:pt x="3176660" y="0"/>
                  </a:lnTo>
                  <a:lnTo>
                    <a:pt x="3226424" y="8026"/>
                  </a:lnTo>
                  <a:lnTo>
                    <a:pt x="3269644" y="30377"/>
                  </a:lnTo>
                  <a:lnTo>
                    <a:pt x="3303726" y="64459"/>
                  </a:lnTo>
                  <a:lnTo>
                    <a:pt x="3326077" y="107679"/>
                  </a:lnTo>
                  <a:lnTo>
                    <a:pt x="3334104" y="157444"/>
                  </a:lnTo>
                  <a:lnTo>
                    <a:pt x="3334104" y="787195"/>
                  </a:lnTo>
                  <a:lnTo>
                    <a:pt x="3326077" y="836960"/>
                  </a:lnTo>
                  <a:lnTo>
                    <a:pt x="3303726" y="880180"/>
                  </a:lnTo>
                  <a:lnTo>
                    <a:pt x="3269644" y="914262"/>
                  </a:lnTo>
                  <a:lnTo>
                    <a:pt x="3226424" y="936613"/>
                  </a:lnTo>
                  <a:lnTo>
                    <a:pt x="3176660" y="944640"/>
                  </a:lnTo>
                  <a:lnTo>
                    <a:pt x="157443" y="944640"/>
                  </a:lnTo>
                  <a:lnTo>
                    <a:pt x="107679" y="936613"/>
                  </a:lnTo>
                  <a:lnTo>
                    <a:pt x="64459" y="914262"/>
                  </a:lnTo>
                  <a:lnTo>
                    <a:pt x="30377" y="880180"/>
                  </a:lnTo>
                  <a:lnTo>
                    <a:pt x="8026" y="836960"/>
                  </a:lnTo>
                  <a:lnTo>
                    <a:pt x="0" y="787195"/>
                  </a:lnTo>
                  <a:lnTo>
                    <a:pt x="0" y="157444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3900750" y="1283078"/>
            <a:ext cx="4788535" cy="1304290"/>
            <a:chOff x="3900750" y="1283078"/>
            <a:chExt cx="4788535" cy="1304290"/>
          </a:xfrm>
        </p:grpSpPr>
        <p:sp>
          <p:nvSpPr>
            <p:cNvPr id="10" name="object 10"/>
            <p:cNvSpPr/>
            <p:nvPr/>
          </p:nvSpPr>
          <p:spPr>
            <a:xfrm>
              <a:off x="3913450" y="1768100"/>
              <a:ext cx="4763135" cy="806450"/>
            </a:xfrm>
            <a:custGeom>
              <a:avLst/>
              <a:gdLst/>
              <a:ahLst/>
              <a:cxnLst/>
              <a:rect l="l" t="t" r="r" b="b"/>
              <a:pathLst>
                <a:path w="4763134" h="806450">
                  <a:moveTo>
                    <a:pt x="0" y="0"/>
                  </a:moveTo>
                  <a:lnTo>
                    <a:pt x="4763006" y="0"/>
                  </a:lnTo>
                  <a:lnTo>
                    <a:pt x="4763006" y="806400"/>
                  </a:lnTo>
                  <a:lnTo>
                    <a:pt x="0" y="806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151599" y="1295778"/>
              <a:ext cx="3334385" cy="944880"/>
            </a:xfrm>
            <a:custGeom>
              <a:avLst/>
              <a:gdLst/>
              <a:ahLst/>
              <a:cxnLst/>
              <a:rect l="l" t="t" r="r" b="b"/>
              <a:pathLst>
                <a:path w="3334384" h="944880">
                  <a:moveTo>
                    <a:pt x="3176659" y="0"/>
                  </a:moveTo>
                  <a:lnTo>
                    <a:pt x="157444" y="0"/>
                  </a:lnTo>
                  <a:lnTo>
                    <a:pt x="107679" y="8026"/>
                  </a:lnTo>
                  <a:lnTo>
                    <a:pt x="64459" y="30377"/>
                  </a:lnTo>
                  <a:lnTo>
                    <a:pt x="30377" y="64459"/>
                  </a:lnTo>
                  <a:lnTo>
                    <a:pt x="8026" y="107679"/>
                  </a:lnTo>
                  <a:lnTo>
                    <a:pt x="0" y="157444"/>
                  </a:lnTo>
                  <a:lnTo>
                    <a:pt x="0" y="787196"/>
                  </a:lnTo>
                  <a:lnTo>
                    <a:pt x="8026" y="836960"/>
                  </a:lnTo>
                  <a:lnTo>
                    <a:pt x="30377" y="880180"/>
                  </a:lnTo>
                  <a:lnTo>
                    <a:pt x="64459" y="914262"/>
                  </a:lnTo>
                  <a:lnTo>
                    <a:pt x="107679" y="936613"/>
                  </a:lnTo>
                  <a:lnTo>
                    <a:pt x="157444" y="944639"/>
                  </a:lnTo>
                  <a:lnTo>
                    <a:pt x="3176659" y="944639"/>
                  </a:lnTo>
                  <a:lnTo>
                    <a:pt x="3226424" y="936613"/>
                  </a:lnTo>
                  <a:lnTo>
                    <a:pt x="3269644" y="914262"/>
                  </a:lnTo>
                  <a:lnTo>
                    <a:pt x="3303726" y="880180"/>
                  </a:lnTo>
                  <a:lnTo>
                    <a:pt x="3326077" y="836960"/>
                  </a:lnTo>
                  <a:lnTo>
                    <a:pt x="3334104" y="787196"/>
                  </a:lnTo>
                  <a:lnTo>
                    <a:pt x="3334104" y="157444"/>
                  </a:lnTo>
                  <a:lnTo>
                    <a:pt x="3326077" y="107679"/>
                  </a:lnTo>
                  <a:lnTo>
                    <a:pt x="3303726" y="64459"/>
                  </a:lnTo>
                  <a:lnTo>
                    <a:pt x="3269644" y="30377"/>
                  </a:lnTo>
                  <a:lnTo>
                    <a:pt x="3226424" y="8026"/>
                  </a:lnTo>
                  <a:lnTo>
                    <a:pt x="3176659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151599" y="1295778"/>
              <a:ext cx="3334385" cy="944880"/>
            </a:xfrm>
            <a:custGeom>
              <a:avLst/>
              <a:gdLst/>
              <a:ahLst/>
              <a:cxnLst/>
              <a:rect l="l" t="t" r="r" b="b"/>
              <a:pathLst>
                <a:path w="3334384" h="944880">
                  <a:moveTo>
                    <a:pt x="0" y="157444"/>
                  </a:moveTo>
                  <a:lnTo>
                    <a:pt x="8026" y="107679"/>
                  </a:lnTo>
                  <a:lnTo>
                    <a:pt x="30377" y="64459"/>
                  </a:lnTo>
                  <a:lnTo>
                    <a:pt x="64459" y="30377"/>
                  </a:lnTo>
                  <a:lnTo>
                    <a:pt x="107679" y="8026"/>
                  </a:lnTo>
                  <a:lnTo>
                    <a:pt x="157443" y="0"/>
                  </a:lnTo>
                  <a:lnTo>
                    <a:pt x="3176660" y="0"/>
                  </a:lnTo>
                  <a:lnTo>
                    <a:pt x="3226424" y="8026"/>
                  </a:lnTo>
                  <a:lnTo>
                    <a:pt x="3269644" y="30377"/>
                  </a:lnTo>
                  <a:lnTo>
                    <a:pt x="3303726" y="64459"/>
                  </a:lnTo>
                  <a:lnTo>
                    <a:pt x="3326077" y="107679"/>
                  </a:lnTo>
                  <a:lnTo>
                    <a:pt x="3334104" y="157444"/>
                  </a:lnTo>
                  <a:lnTo>
                    <a:pt x="3334104" y="787195"/>
                  </a:lnTo>
                  <a:lnTo>
                    <a:pt x="3326077" y="836960"/>
                  </a:lnTo>
                  <a:lnTo>
                    <a:pt x="3303726" y="880180"/>
                  </a:lnTo>
                  <a:lnTo>
                    <a:pt x="3269644" y="914262"/>
                  </a:lnTo>
                  <a:lnTo>
                    <a:pt x="3226424" y="936613"/>
                  </a:lnTo>
                  <a:lnTo>
                    <a:pt x="3176660" y="944640"/>
                  </a:lnTo>
                  <a:lnTo>
                    <a:pt x="157443" y="944640"/>
                  </a:lnTo>
                  <a:lnTo>
                    <a:pt x="107679" y="936613"/>
                  </a:lnTo>
                  <a:lnTo>
                    <a:pt x="64459" y="914262"/>
                  </a:lnTo>
                  <a:lnTo>
                    <a:pt x="30377" y="880180"/>
                  </a:lnTo>
                  <a:lnTo>
                    <a:pt x="8026" y="836960"/>
                  </a:lnTo>
                  <a:lnTo>
                    <a:pt x="0" y="787195"/>
                  </a:lnTo>
                  <a:lnTo>
                    <a:pt x="0" y="157444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311035" y="1467612"/>
            <a:ext cx="29279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044247"/>
                </a:solidFill>
                <a:latin typeface="Arial"/>
                <a:cs typeface="Arial"/>
              </a:rPr>
              <a:t>1º</a:t>
            </a:r>
            <a:r>
              <a:rPr sz="3200" spc="-160" dirty="0">
                <a:solidFill>
                  <a:srgbClr val="044247"/>
                </a:solidFill>
                <a:latin typeface="Arial"/>
                <a:cs typeface="Arial"/>
              </a:rPr>
              <a:t> </a:t>
            </a:r>
            <a:r>
              <a:rPr sz="3200" spc="-180" dirty="0">
                <a:solidFill>
                  <a:srgbClr val="044247"/>
                </a:solidFill>
                <a:latin typeface="Arial"/>
                <a:cs typeface="Arial"/>
              </a:rPr>
              <a:t>Diseño</a:t>
            </a:r>
            <a:r>
              <a:rPr sz="3200" spc="-160" dirty="0">
                <a:solidFill>
                  <a:srgbClr val="044247"/>
                </a:solidFill>
                <a:latin typeface="Arial"/>
                <a:cs typeface="Arial"/>
              </a:rPr>
              <a:t> </a:t>
            </a:r>
            <a:r>
              <a:rPr sz="3200" spc="-135" dirty="0">
                <a:solidFill>
                  <a:srgbClr val="044247"/>
                </a:solidFill>
                <a:latin typeface="Arial"/>
                <a:cs typeface="Arial"/>
              </a:rPr>
              <a:t>Estrella</a:t>
            </a:r>
            <a:endParaRPr sz="3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11035" y="2921508"/>
            <a:ext cx="285877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044247"/>
                </a:solidFill>
                <a:latin typeface="Arial"/>
                <a:cs typeface="Arial"/>
              </a:rPr>
              <a:t>2º</a:t>
            </a:r>
            <a:r>
              <a:rPr sz="3200" spc="-175" dirty="0">
                <a:solidFill>
                  <a:srgbClr val="044247"/>
                </a:solidFill>
                <a:latin typeface="Arial"/>
                <a:cs typeface="Arial"/>
              </a:rPr>
              <a:t> </a:t>
            </a:r>
            <a:r>
              <a:rPr sz="3200" spc="-125" dirty="0">
                <a:solidFill>
                  <a:srgbClr val="044247"/>
                </a:solidFill>
                <a:latin typeface="Arial"/>
                <a:cs typeface="Arial"/>
              </a:rPr>
              <a:t>Normalización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4" y="253491"/>
            <a:ext cx="2016125" cy="10680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5080">
              <a:lnSpc>
                <a:spcPct val="71000"/>
              </a:lnSpc>
              <a:spcBef>
                <a:spcPts val="1490"/>
              </a:spcBef>
            </a:pPr>
            <a:r>
              <a:rPr dirty="0"/>
              <a:t>Diseño</a:t>
            </a:r>
            <a:r>
              <a:rPr spc="-65" dirty="0"/>
              <a:t> </a:t>
            </a:r>
            <a:r>
              <a:rPr spc="-25" dirty="0"/>
              <a:t>en </a:t>
            </a:r>
            <a:r>
              <a:rPr spc="-10" dirty="0"/>
              <a:t>estrella: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93984" y="1326387"/>
            <a:ext cx="1643380" cy="744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2830"/>
              </a:lnSpc>
              <a:spcBef>
                <a:spcPts val="100"/>
              </a:spcBef>
            </a:pP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Criterios</a:t>
            </a:r>
            <a:r>
              <a:rPr sz="2800" b="1" spc="-7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Arial Narrow"/>
                <a:cs typeface="Arial Narrow"/>
              </a:rPr>
              <a:t>de</a:t>
            </a:r>
            <a:endParaRPr sz="2800">
              <a:latin typeface="Arial Narrow"/>
              <a:cs typeface="Arial Narrow"/>
            </a:endParaRPr>
          </a:p>
          <a:p>
            <a:pPr marR="5080" algn="r">
              <a:lnSpc>
                <a:spcPts val="2830"/>
              </a:lnSpc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diseño: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858662" y="368643"/>
            <a:ext cx="6285865" cy="4775200"/>
            <a:chOff x="2858662" y="368643"/>
            <a:chExt cx="6285865" cy="4775200"/>
          </a:xfrm>
        </p:grpSpPr>
        <p:sp>
          <p:nvSpPr>
            <p:cNvPr id="5" name="object 5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4"/>
                  </a:moveTo>
                  <a:lnTo>
                    <a:pt x="373441" y="863065"/>
                  </a:lnTo>
                  <a:lnTo>
                    <a:pt x="326852" y="870829"/>
                  </a:lnTo>
                  <a:lnTo>
                    <a:pt x="282088" y="883425"/>
                  </a:lnTo>
                  <a:lnTo>
                    <a:pt x="239430" y="900570"/>
                  </a:lnTo>
                  <a:lnTo>
                    <a:pt x="199160" y="921983"/>
                  </a:lnTo>
                  <a:lnTo>
                    <a:pt x="161560" y="947381"/>
                  </a:lnTo>
                  <a:lnTo>
                    <a:pt x="126911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0"/>
                  </a:lnTo>
                  <a:lnTo>
                    <a:pt x="0" y="1199915"/>
                  </a:lnTo>
                  <a:lnTo>
                    <a:pt x="843141" y="1199915"/>
                  </a:lnTo>
                  <a:lnTo>
                    <a:pt x="819666" y="1124290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1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4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2" y="32837"/>
                  </a:lnTo>
                  <a:lnTo>
                    <a:pt x="711268" y="53161"/>
                  </a:lnTo>
                  <a:lnTo>
                    <a:pt x="673568" y="77425"/>
                  </a:lnTo>
                  <a:lnTo>
                    <a:pt x="638686" y="105358"/>
                  </a:lnTo>
                  <a:lnTo>
                    <a:pt x="606891" y="136689"/>
                  </a:lnTo>
                  <a:lnTo>
                    <a:pt x="578456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6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3"/>
                  </a:lnTo>
                  <a:lnTo>
                    <a:pt x="578456" y="685587"/>
                  </a:lnTo>
                  <a:lnTo>
                    <a:pt x="606891" y="720045"/>
                  </a:lnTo>
                  <a:lnTo>
                    <a:pt x="638686" y="751376"/>
                  </a:lnTo>
                  <a:lnTo>
                    <a:pt x="673568" y="779309"/>
                  </a:lnTo>
                  <a:lnTo>
                    <a:pt x="711268" y="803573"/>
                  </a:lnTo>
                  <a:lnTo>
                    <a:pt x="751512" y="823897"/>
                  </a:lnTo>
                  <a:lnTo>
                    <a:pt x="794032" y="840009"/>
                  </a:lnTo>
                  <a:lnTo>
                    <a:pt x="838554" y="851637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DE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58662" y="368643"/>
              <a:ext cx="5875020" cy="4406265"/>
            </a:xfrm>
            <a:custGeom>
              <a:avLst/>
              <a:gdLst/>
              <a:ahLst/>
              <a:cxnLst/>
              <a:rect l="l" t="t" r="r" b="b"/>
              <a:pathLst>
                <a:path w="5875020" h="4406265">
                  <a:moveTo>
                    <a:pt x="5874951" y="0"/>
                  </a:moveTo>
                  <a:lnTo>
                    <a:pt x="0" y="0"/>
                  </a:lnTo>
                  <a:lnTo>
                    <a:pt x="0" y="4406212"/>
                  </a:lnTo>
                  <a:lnTo>
                    <a:pt x="5874951" y="4406212"/>
                  </a:lnTo>
                  <a:lnTo>
                    <a:pt x="58749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24842" y="1850561"/>
              <a:ext cx="1276985" cy="1442720"/>
            </a:xfrm>
            <a:custGeom>
              <a:avLst/>
              <a:gdLst/>
              <a:ahLst/>
              <a:cxnLst/>
              <a:rect l="l" t="t" r="r" b="b"/>
              <a:pathLst>
                <a:path w="1276985" h="1442720">
                  <a:moveTo>
                    <a:pt x="292761" y="0"/>
                  </a:moveTo>
                  <a:lnTo>
                    <a:pt x="984002" y="0"/>
                  </a:lnTo>
                  <a:lnTo>
                    <a:pt x="1042260" y="224"/>
                  </a:lnTo>
                  <a:lnTo>
                    <a:pt x="1089242" y="1793"/>
                  </a:lnTo>
                  <a:lnTo>
                    <a:pt x="1155823" y="14346"/>
                  </a:lnTo>
                  <a:lnTo>
                    <a:pt x="1190842" y="31642"/>
                  </a:lnTo>
                  <a:lnTo>
                    <a:pt x="1220935" y="55827"/>
                  </a:lnTo>
                  <a:lnTo>
                    <a:pt x="1245121" y="85921"/>
                  </a:lnTo>
                  <a:lnTo>
                    <a:pt x="1262416" y="120940"/>
                  </a:lnTo>
                  <a:lnTo>
                    <a:pt x="1274970" y="187520"/>
                  </a:lnTo>
                  <a:lnTo>
                    <a:pt x="1276539" y="234503"/>
                  </a:lnTo>
                  <a:lnTo>
                    <a:pt x="1276763" y="292761"/>
                  </a:lnTo>
                  <a:lnTo>
                    <a:pt x="1276763" y="1149613"/>
                  </a:lnTo>
                  <a:lnTo>
                    <a:pt x="1276539" y="1207871"/>
                  </a:lnTo>
                  <a:lnTo>
                    <a:pt x="1274970" y="1254853"/>
                  </a:lnTo>
                  <a:lnTo>
                    <a:pt x="1262416" y="1321434"/>
                  </a:lnTo>
                  <a:lnTo>
                    <a:pt x="1245121" y="1356453"/>
                  </a:lnTo>
                  <a:lnTo>
                    <a:pt x="1220935" y="1386546"/>
                  </a:lnTo>
                  <a:lnTo>
                    <a:pt x="1190842" y="1410732"/>
                  </a:lnTo>
                  <a:lnTo>
                    <a:pt x="1155823" y="1428027"/>
                  </a:lnTo>
                  <a:lnTo>
                    <a:pt x="1089242" y="1440581"/>
                  </a:lnTo>
                  <a:lnTo>
                    <a:pt x="1042260" y="1442150"/>
                  </a:lnTo>
                  <a:lnTo>
                    <a:pt x="984002" y="1442374"/>
                  </a:lnTo>
                  <a:lnTo>
                    <a:pt x="292761" y="1442374"/>
                  </a:lnTo>
                  <a:lnTo>
                    <a:pt x="234503" y="1442150"/>
                  </a:lnTo>
                  <a:lnTo>
                    <a:pt x="187520" y="1440581"/>
                  </a:lnTo>
                  <a:lnTo>
                    <a:pt x="120940" y="1428027"/>
                  </a:lnTo>
                  <a:lnTo>
                    <a:pt x="85921" y="1410732"/>
                  </a:lnTo>
                  <a:lnTo>
                    <a:pt x="55827" y="1386546"/>
                  </a:lnTo>
                  <a:lnTo>
                    <a:pt x="31642" y="1356453"/>
                  </a:lnTo>
                  <a:lnTo>
                    <a:pt x="14346" y="1321434"/>
                  </a:lnTo>
                  <a:lnTo>
                    <a:pt x="1793" y="1254853"/>
                  </a:lnTo>
                  <a:lnTo>
                    <a:pt x="224" y="1207871"/>
                  </a:lnTo>
                  <a:lnTo>
                    <a:pt x="0" y="1149613"/>
                  </a:lnTo>
                  <a:lnTo>
                    <a:pt x="0" y="292761"/>
                  </a:lnTo>
                  <a:lnTo>
                    <a:pt x="224" y="234503"/>
                  </a:lnTo>
                  <a:lnTo>
                    <a:pt x="1793" y="187520"/>
                  </a:lnTo>
                  <a:lnTo>
                    <a:pt x="14346" y="120940"/>
                  </a:lnTo>
                  <a:lnTo>
                    <a:pt x="31642" y="85921"/>
                  </a:lnTo>
                  <a:lnTo>
                    <a:pt x="55827" y="55827"/>
                  </a:lnTo>
                  <a:lnTo>
                    <a:pt x="85921" y="31642"/>
                  </a:lnTo>
                  <a:lnTo>
                    <a:pt x="120940" y="14346"/>
                  </a:lnTo>
                  <a:lnTo>
                    <a:pt x="187520" y="1793"/>
                  </a:lnTo>
                  <a:lnTo>
                    <a:pt x="234503" y="224"/>
                  </a:lnTo>
                  <a:lnTo>
                    <a:pt x="292761" y="0"/>
                  </a:lnTo>
                  <a:close/>
                </a:path>
              </a:pathLst>
            </a:custGeom>
            <a:ln w="22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148665" y="1873613"/>
              <a:ext cx="1229360" cy="347980"/>
            </a:xfrm>
            <a:custGeom>
              <a:avLst/>
              <a:gdLst/>
              <a:ahLst/>
              <a:cxnLst/>
              <a:rect l="l" t="t" r="r" b="b"/>
              <a:pathLst>
                <a:path w="1229360" h="347980">
                  <a:moveTo>
                    <a:pt x="1123840" y="0"/>
                  </a:moveTo>
                  <a:lnTo>
                    <a:pt x="105276" y="0"/>
                  </a:lnTo>
                  <a:lnTo>
                    <a:pt x="84164" y="705"/>
                  </a:lnTo>
                  <a:lnTo>
                    <a:pt x="38509" y="14117"/>
                  </a:lnTo>
                  <a:lnTo>
                    <a:pt x="6347" y="54245"/>
                  </a:lnTo>
                  <a:lnTo>
                    <a:pt x="0" y="105275"/>
                  </a:lnTo>
                  <a:lnTo>
                    <a:pt x="0" y="242461"/>
                  </a:lnTo>
                  <a:lnTo>
                    <a:pt x="6347" y="293491"/>
                  </a:lnTo>
                  <a:lnTo>
                    <a:pt x="38509" y="333618"/>
                  </a:lnTo>
                  <a:lnTo>
                    <a:pt x="84164" y="347031"/>
                  </a:lnTo>
                  <a:lnTo>
                    <a:pt x="105276" y="347736"/>
                  </a:lnTo>
                  <a:lnTo>
                    <a:pt x="1123840" y="347736"/>
                  </a:lnTo>
                  <a:lnTo>
                    <a:pt x="1174871" y="341390"/>
                  </a:lnTo>
                  <a:lnTo>
                    <a:pt x="1214997" y="309227"/>
                  </a:lnTo>
                  <a:lnTo>
                    <a:pt x="1228410" y="263573"/>
                  </a:lnTo>
                  <a:lnTo>
                    <a:pt x="1229115" y="242461"/>
                  </a:lnTo>
                  <a:lnTo>
                    <a:pt x="1229115" y="105275"/>
                  </a:lnTo>
                  <a:lnTo>
                    <a:pt x="1222769" y="54245"/>
                  </a:lnTo>
                  <a:lnTo>
                    <a:pt x="1190607" y="14117"/>
                  </a:lnTo>
                  <a:lnTo>
                    <a:pt x="1144952" y="705"/>
                  </a:lnTo>
                  <a:lnTo>
                    <a:pt x="112384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48564" y="1873512"/>
              <a:ext cx="1229360" cy="347980"/>
            </a:xfrm>
            <a:custGeom>
              <a:avLst/>
              <a:gdLst/>
              <a:ahLst/>
              <a:cxnLst/>
              <a:rect l="l" t="t" r="r" b="b"/>
              <a:pathLst>
                <a:path w="1229360" h="347980">
                  <a:moveTo>
                    <a:pt x="131555" y="0"/>
                  </a:moveTo>
                  <a:lnTo>
                    <a:pt x="1097761" y="0"/>
                  </a:lnTo>
                  <a:lnTo>
                    <a:pt x="1123940" y="100"/>
                  </a:lnTo>
                  <a:lnTo>
                    <a:pt x="1174970" y="6446"/>
                  </a:lnTo>
                  <a:lnTo>
                    <a:pt x="1215097" y="38609"/>
                  </a:lnTo>
                  <a:lnTo>
                    <a:pt x="1228510" y="84264"/>
                  </a:lnTo>
                  <a:lnTo>
                    <a:pt x="1229316" y="131555"/>
                  </a:lnTo>
                  <a:lnTo>
                    <a:pt x="1229316" y="216382"/>
                  </a:lnTo>
                  <a:lnTo>
                    <a:pt x="1228510" y="263673"/>
                  </a:lnTo>
                  <a:lnTo>
                    <a:pt x="1215097" y="309328"/>
                  </a:lnTo>
                  <a:lnTo>
                    <a:pt x="1174970" y="341491"/>
                  </a:lnTo>
                  <a:lnTo>
                    <a:pt x="1123940" y="347837"/>
                  </a:lnTo>
                  <a:lnTo>
                    <a:pt x="1097761" y="347938"/>
                  </a:lnTo>
                  <a:lnTo>
                    <a:pt x="131555" y="347938"/>
                  </a:lnTo>
                  <a:lnTo>
                    <a:pt x="84264" y="347132"/>
                  </a:lnTo>
                  <a:lnTo>
                    <a:pt x="38609" y="333719"/>
                  </a:lnTo>
                  <a:lnTo>
                    <a:pt x="6446" y="293592"/>
                  </a:lnTo>
                  <a:lnTo>
                    <a:pt x="100" y="242561"/>
                  </a:lnTo>
                  <a:lnTo>
                    <a:pt x="0" y="216382"/>
                  </a:lnTo>
                  <a:lnTo>
                    <a:pt x="0" y="131555"/>
                  </a:lnTo>
                  <a:lnTo>
                    <a:pt x="805" y="84264"/>
                  </a:lnTo>
                  <a:lnTo>
                    <a:pt x="14218" y="38609"/>
                  </a:lnTo>
                  <a:lnTo>
                    <a:pt x="54345" y="6446"/>
                  </a:lnTo>
                  <a:lnTo>
                    <a:pt x="105376" y="100"/>
                  </a:lnTo>
                  <a:lnTo>
                    <a:pt x="131555" y="0"/>
                  </a:lnTo>
                  <a:close/>
                </a:path>
              </a:pathLst>
            </a:custGeom>
            <a:ln w="22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290841" y="1850561"/>
              <a:ext cx="1276985" cy="1442720"/>
            </a:xfrm>
            <a:custGeom>
              <a:avLst/>
              <a:gdLst/>
              <a:ahLst/>
              <a:cxnLst/>
              <a:rect l="l" t="t" r="r" b="b"/>
              <a:pathLst>
                <a:path w="1276984" h="1442720">
                  <a:moveTo>
                    <a:pt x="292761" y="0"/>
                  </a:moveTo>
                  <a:lnTo>
                    <a:pt x="984002" y="0"/>
                  </a:lnTo>
                  <a:lnTo>
                    <a:pt x="1042260" y="224"/>
                  </a:lnTo>
                  <a:lnTo>
                    <a:pt x="1089242" y="1793"/>
                  </a:lnTo>
                  <a:lnTo>
                    <a:pt x="1155823" y="14346"/>
                  </a:lnTo>
                  <a:lnTo>
                    <a:pt x="1190842" y="31642"/>
                  </a:lnTo>
                  <a:lnTo>
                    <a:pt x="1220935" y="55827"/>
                  </a:lnTo>
                  <a:lnTo>
                    <a:pt x="1245121" y="85921"/>
                  </a:lnTo>
                  <a:lnTo>
                    <a:pt x="1262416" y="120940"/>
                  </a:lnTo>
                  <a:lnTo>
                    <a:pt x="1274970" y="187520"/>
                  </a:lnTo>
                  <a:lnTo>
                    <a:pt x="1276539" y="234503"/>
                  </a:lnTo>
                  <a:lnTo>
                    <a:pt x="1276763" y="292761"/>
                  </a:lnTo>
                  <a:lnTo>
                    <a:pt x="1276763" y="1149613"/>
                  </a:lnTo>
                  <a:lnTo>
                    <a:pt x="1276539" y="1207871"/>
                  </a:lnTo>
                  <a:lnTo>
                    <a:pt x="1274970" y="1254853"/>
                  </a:lnTo>
                  <a:lnTo>
                    <a:pt x="1262416" y="1321434"/>
                  </a:lnTo>
                  <a:lnTo>
                    <a:pt x="1245121" y="1356453"/>
                  </a:lnTo>
                  <a:lnTo>
                    <a:pt x="1220935" y="1386546"/>
                  </a:lnTo>
                  <a:lnTo>
                    <a:pt x="1190842" y="1410732"/>
                  </a:lnTo>
                  <a:lnTo>
                    <a:pt x="1155823" y="1428027"/>
                  </a:lnTo>
                  <a:lnTo>
                    <a:pt x="1089242" y="1440581"/>
                  </a:lnTo>
                  <a:lnTo>
                    <a:pt x="1042260" y="1442150"/>
                  </a:lnTo>
                  <a:lnTo>
                    <a:pt x="984002" y="1442374"/>
                  </a:lnTo>
                  <a:lnTo>
                    <a:pt x="292761" y="1442374"/>
                  </a:lnTo>
                  <a:lnTo>
                    <a:pt x="234503" y="1442150"/>
                  </a:lnTo>
                  <a:lnTo>
                    <a:pt x="187520" y="1440581"/>
                  </a:lnTo>
                  <a:lnTo>
                    <a:pt x="120940" y="1428027"/>
                  </a:lnTo>
                  <a:lnTo>
                    <a:pt x="85921" y="1410732"/>
                  </a:lnTo>
                  <a:lnTo>
                    <a:pt x="55827" y="1386546"/>
                  </a:lnTo>
                  <a:lnTo>
                    <a:pt x="31642" y="1356453"/>
                  </a:lnTo>
                  <a:lnTo>
                    <a:pt x="14346" y="1321434"/>
                  </a:lnTo>
                  <a:lnTo>
                    <a:pt x="1793" y="1254853"/>
                  </a:lnTo>
                  <a:lnTo>
                    <a:pt x="224" y="1207871"/>
                  </a:lnTo>
                  <a:lnTo>
                    <a:pt x="0" y="1149613"/>
                  </a:lnTo>
                  <a:lnTo>
                    <a:pt x="0" y="292761"/>
                  </a:lnTo>
                  <a:lnTo>
                    <a:pt x="224" y="234503"/>
                  </a:lnTo>
                  <a:lnTo>
                    <a:pt x="1793" y="187520"/>
                  </a:lnTo>
                  <a:lnTo>
                    <a:pt x="14346" y="120940"/>
                  </a:lnTo>
                  <a:lnTo>
                    <a:pt x="31642" y="85921"/>
                  </a:lnTo>
                  <a:lnTo>
                    <a:pt x="55827" y="55827"/>
                  </a:lnTo>
                  <a:lnTo>
                    <a:pt x="85921" y="31642"/>
                  </a:lnTo>
                  <a:lnTo>
                    <a:pt x="120940" y="14346"/>
                  </a:lnTo>
                  <a:lnTo>
                    <a:pt x="187520" y="1793"/>
                  </a:lnTo>
                  <a:lnTo>
                    <a:pt x="234503" y="224"/>
                  </a:lnTo>
                  <a:lnTo>
                    <a:pt x="292761" y="0"/>
                  </a:lnTo>
                  <a:close/>
                </a:path>
              </a:pathLst>
            </a:custGeom>
            <a:ln w="22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314665" y="1873613"/>
              <a:ext cx="1229360" cy="347980"/>
            </a:xfrm>
            <a:custGeom>
              <a:avLst/>
              <a:gdLst/>
              <a:ahLst/>
              <a:cxnLst/>
              <a:rect l="l" t="t" r="r" b="b"/>
              <a:pathLst>
                <a:path w="1229359" h="347980">
                  <a:moveTo>
                    <a:pt x="1123838" y="0"/>
                  </a:moveTo>
                  <a:lnTo>
                    <a:pt x="105274" y="0"/>
                  </a:lnTo>
                  <a:lnTo>
                    <a:pt x="84162" y="705"/>
                  </a:lnTo>
                  <a:lnTo>
                    <a:pt x="38508" y="14117"/>
                  </a:lnTo>
                  <a:lnTo>
                    <a:pt x="6344" y="54245"/>
                  </a:lnTo>
                  <a:lnTo>
                    <a:pt x="0" y="105275"/>
                  </a:lnTo>
                  <a:lnTo>
                    <a:pt x="0" y="242461"/>
                  </a:lnTo>
                  <a:lnTo>
                    <a:pt x="6344" y="293491"/>
                  </a:lnTo>
                  <a:lnTo>
                    <a:pt x="38508" y="333618"/>
                  </a:lnTo>
                  <a:lnTo>
                    <a:pt x="84162" y="347031"/>
                  </a:lnTo>
                  <a:lnTo>
                    <a:pt x="105274" y="347736"/>
                  </a:lnTo>
                  <a:lnTo>
                    <a:pt x="1123838" y="347736"/>
                  </a:lnTo>
                  <a:lnTo>
                    <a:pt x="1174869" y="341390"/>
                  </a:lnTo>
                  <a:lnTo>
                    <a:pt x="1214996" y="309227"/>
                  </a:lnTo>
                  <a:lnTo>
                    <a:pt x="1228409" y="263573"/>
                  </a:lnTo>
                  <a:lnTo>
                    <a:pt x="1229114" y="242461"/>
                  </a:lnTo>
                  <a:lnTo>
                    <a:pt x="1229114" y="105275"/>
                  </a:lnTo>
                  <a:lnTo>
                    <a:pt x="1222768" y="54245"/>
                  </a:lnTo>
                  <a:lnTo>
                    <a:pt x="1190605" y="14117"/>
                  </a:lnTo>
                  <a:lnTo>
                    <a:pt x="1144950" y="705"/>
                  </a:lnTo>
                  <a:lnTo>
                    <a:pt x="1123838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314564" y="1873512"/>
              <a:ext cx="1229360" cy="347980"/>
            </a:xfrm>
            <a:custGeom>
              <a:avLst/>
              <a:gdLst/>
              <a:ahLst/>
              <a:cxnLst/>
              <a:rect l="l" t="t" r="r" b="b"/>
              <a:pathLst>
                <a:path w="1229359" h="347980">
                  <a:moveTo>
                    <a:pt x="131555" y="0"/>
                  </a:moveTo>
                  <a:lnTo>
                    <a:pt x="1097761" y="0"/>
                  </a:lnTo>
                  <a:lnTo>
                    <a:pt x="1123940" y="100"/>
                  </a:lnTo>
                  <a:lnTo>
                    <a:pt x="1174970" y="6446"/>
                  </a:lnTo>
                  <a:lnTo>
                    <a:pt x="1215097" y="38609"/>
                  </a:lnTo>
                  <a:lnTo>
                    <a:pt x="1228510" y="84264"/>
                  </a:lnTo>
                  <a:lnTo>
                    <a:pt x="1229316" y="131555"/>
                  </a:lnTo>
                  <a:lnTo>
                    <a:pt x="1229316" y="216382"/>
                  </a:lnTo>
                  <a:lnTo>
                    <a:pt x="1228510" y="263673"/>
                  </a:lnTo>
                  <a:lnTo>
                    <a:pt x="1215097" y="309328"/>
                  </a:lnTo>
                  <a:lnTo>
                    <a:pt x="1174970" y="341491"/>
                  </a:lnTo>
                  <a:lnTo>
                    <a:pt x="1123940" y="347837"/>
                  </a:lnTo>
                  <a:lnTo>
                    <a:pt x="1097761" y="347938"/>
                  </a:lnTo>
                  <a:lnTo>
                    <a:pt x="131555" y="347938"/>
                  </a:lnTo>
                  <a:lnTo>
                    <a:pt x="84264" y="347132"/>
                  </a:lnTo>
                  <a:lnTo>
                    <a:pt x="38609" y="333719"/>
                  </a:lnTo>
                  <a:lnTo>
                    <a:pt x="6446" y="293592"/>
                  </a:lnTo>
                  <a:lnTo>
                    <a:pt x="100" y="242561"/>
                  </a:lnTo>
                  <a:lnTo>
                    <a:pt x="0" y="216382"/>
                  </a:lnTo>
                  <a:lnTo>
                    <a:pt x="0" y="131555"/>
                  </a:lnTo>
                  <a:lnTo>
                    <a:pt x="805" y="84264"/>
                  </a:lnTo>
                  <a:lnTo>
                    <a:pt x="14218" y="38609"/>
                  </a:lnTo>
                  <a:lnTo>
                    <a:pt x="54345" y="6446"/>
                  </a:lnTo>
                  <a:lnTo>
                    <a:pt x="105376" y="100"/>
                  </a:lnTo>
                  <a:lnTo>
                    <a:pt x="131555" y="0"/>
                  </a:lnTo>
                  <a:close/>
                </a:path>
              </a:pathLst>
            </a:custGeom>
            <a:ln w="22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45070" y="1850561"/>
              <a:ext cx="1276985" cy="1442720"/>
            </a:xfrm>
            <a:custGeom>
              <a:avLst/>
              <a:gdLst/>
              <a:ahLst/>
              <a:cxnLst/>
              <a:rect l="l" t="t" r="r" b="b"/>
              <a:pathLst>
                <a:path w="1276985" h="1442720">
                  <a:moveTo>
                    <a:pt x="292761" y="0"/>
                  </a:moveTo>
                  <a:lnTo>
                    <a:pt x="984002" y="0"/>
                  </a:lnTo>
                  <a:lnTo>
                    <a:pt x="1042260" y="224"/>
                  </a:lnTo>
                  <a:lnTo>
                    <a:pt x="1089242" y="1793"/>
                  </a:lnTo>
                  <a:lnTo>
                    <a:pt x="1155823" y="14346"/>
                  </a:lnTo>
                  <a:lnTo>
                    <a:pt x="1190842" y="31642"/>
                  </a:lnTo>
                  <a:lnTo>
                    <a:pt x="1220935" y="55827"/>
                  </a:lnTo>
                  <a:lnTo>
                    <a:pt x="1245121" y="85921"/>
                  </a:lnTo>
                  <a:lnTo>
                    <a:pt x="1262416" y="120940"/>
                  </a:lnTo>
                  <a:lnTo>
                    <a:pt x="1274970" y="187520"/>
                  </a:lnTo>
                  <a:lnTo>
                    <a:pt x="1276539" y="234503"/>
                  </a:lnTo>
                  <a:lnTo>
                    <a:pt x="1276763" y="292761"/>
                  </a:lnTo>
                  <a:lnTo>
                    <a:pt x="1276763" y="1149613"/>
                  </a:lnTo>
                  <a:lnTo>
                    <a:pt x="1276539" y="1207871"/>
                  </a:lnTo>
                  <a:lnTo>
                    <a:pt x="1274970" y="1254853"/>
                  </a:lnTo>
                  <a:lnTo>
                    <a:pt x="1262416" y="1321434"/>
                  </a:lnTo>
                  <a:lnTo>
                    <a:pt x="1245121" y="1356453"/>
                  </a:lnTo>
                  <a:lnTo>
                    <a:pt x="1220935" y="1386546"/>
                  </a:lnTo>
                  <a:lnTo>
                    <a:pt x="1190842" y="1410732"/>
                  </a:lnTo>
                  <a:lnTo>
                    <a:pt x="1155823" y="1428027"/>
                  </a:lnTo>
                  <a:lnTo>
                    <a:pt x="1089242" y="1440581"/>
                  </a:lnTo>
                  <a:lnTo>
                    <a:pt x="1042260" y="1442150"/>
                  </a:lnTo>
                  <a:lnTo>
                    <a:pt x="984002" y="1442374"/>
                  </a:lnTo>
                  <a:lnTo>
                    <a:pt x="292761" y="1442374"/>
                  </a:lnTo>
                  <a:lnTo>
                    <a:pt x="234503" y="1442150"/>
                  </a:lnTo>
                  <a:lnTo>
                    <a:pt x="187520" y="1440581"/>
                  </a:lnTo>
                  <a:lnTo>
                    <a:pt x="120940" y="1428027"/>
                  </a:lnTo>
                  <a:lnTo>
                    <a:pt x="85921" y="1410732"/>
                  </a:lnTo>
                  <a:lnTo>
                    <a:pt x="55827" y="1386546"/>
                  </a:lnTo>
                  <a:lnTo>
                    <a:pt x="31642" y="1356453"/>
                  </a:lnTo>
                  <a:lnTo>
                    <a:pt x="14346" y="1321434"/>
                  </a:lnTo>
                  <a:lnTo>
                    <a:pt x="1793" y="1254853"/>
                  </a:lnTo>
                  <a:lnTo>
                    <a:pt x="224" y="1207871"/>
                  </a:lnTo>
                  <a:lnTo>
                    <a:pt x="0" y="1149613"/>
                  </a:lnTo>
                  <a:lnTo>
                    <a:pt x="0" y="292761"/>
                  </a:lnTo>
                  <a:lnTo>
                    <a:pt x="224" y="234503"/>
                  </a:lnTo>
                  <a:lnTo>
                    <a:pt x="1793" y="187520"/>
                  </a:lnTo>
                  <a:lnTo>
                    <a:pt x="14346" y="120940"/>
                  </a:lnTo>
                  <a:lnTo>
                    <a:pt x="31642" y="85921"/>
                  </a:lnTo>
                  <a:lnTo>
                    <a:pt x="55827" y="55827"/>
                  </a:lnTo>
                  <a:lnTo>
                    <a:pt x="85921" y="31642"/>
                  </a:lnTo>
                  <a:lnTo>
                    <a:pt x="120940" y="14346"/>
                  </a:lnTo>
                  <a:lnTo>
                    <a:pt x="187520" y="1793"/>
                  </a:lnTo>
                  <a:lnTo>
                    <a:pt x="234503" y="224"/>
                  </a:lnTo>
                  <a:lnTo>
                    <a:pt x="292761" y="0"/>
                  </a:lnTo>
                  <a:close/>
                </a:path>
              </a:pathLst>
            </a:custGeom>
            <a:ln w="22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68893" y="1873613"/>
              <a:ext cx="1229360" cy="347980"/>
            </a:xfrm>
            <a:custGeom>
              <a:avLst/>
              <a:gdLst/>
              <a:ahLst/>
              <a:cxnLst/>
              <a:rect l="l" t="t" r="r" b="b"/>
              <a:pathLst>
                <a:path w="1229360" h="347980">
                  <a:moveTo>
                    <a:pt x="1123839" y="0"/>
                  </a:moveTo>
                  <a:lnTo>
                    <a:pt x="105276" y="0"/>
                  </a:lnTo>
                  <a:lnTo>
                    <a:pt x="84164" y="705"/>
                  </a:lnTo>
                  <a:lnTo>
                    <a:pt x="38509" y="14117"/>
                  </a:lnTo>
                  <a:lnTo>
                    <a:pt x="6347" y="54245"/>
                  </a:lnTo>
                  <a:lnTo>
                    <a:pt x="0" y="105275"/>
                  </a:lnTo>
                  <a:lnTo>
                    <a:pt x="0" y="242461"/>
                  </a:lnTo>
                  <a:lnTo>
                    <a:pt x="705" y="263573"/>
                  </a:lnTo>
                  <a:lnTo>
                    <a:pt x="14118" y="309227"/>
                  </a:lnTo>
                  <a:lnTo>
                    <a:pt x="54245" y="341390"/>
                  </a:lnTo>
                  <a:lnTo>
                    <a:pt x="105276" y="347736"/>
                  </a:lnTo>
                  <a:lnTo>
                    <a:pt x="1123839" y="347736"/>
                  </a:lnTo>
                  <a:lnTo>
                    <a:pt x="1174870" y="341390"/>
                  </a:lnTo>
                  <a:lnTo>
                    <a:pt x="1214997" y="309227"/>
                  </a:lnTo>
                  <a:lnTo>
                    <a:pt x="1228410" y="263573"/>
                  </a:lnTo>
                  <a:lnTo>
                    <a:pt x="1229115" y="242461"/>
                  </a:lnTo>
                  <a:lnTo>
                    <a:pt x="1229115" y="105275"/>
                  </a:lnTo>
                  <a:lnTo>
                    <a:pt x="1222769" y="54245"/>
                  </a:lnTo>
                  <a:lnTo>
                    <a:pt x="1190606" y="14117"/>
                  </a:lnTo>
                  <a:lnTo>
                    <a:pt x="1144951" y="705"/>
                  </a:lnTo>
                  <a:lnTo>
                    <a:pt x="1123839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68792" y="1873512"/>
              <a:ext cx="1229360" cy="347980"/>
            </a:xfrm>
            <a:custGeom>
              <a:avLst/>
              <a:gdLst/>
              <a:ahLst/>
              <a:cxnLst/>
              <a:rect l="l" t="t" r="r" b="b"/>
              <a:pathLst>
                <a:path w="1229360" h="347980">
                  <a:moveTo>
                    <a:pt x="131555" y="0"/>
                  </a:moveTo>
                  <a:lnTo>
                    <a:pt x="1097761" y="0"/>
                  </a:lnTo>
                  <a:lnTo>
                    <a:pt x="1123940" y="100"/>
                  </a:lnTo>
                  <a:lnTo>
                    <a:pt x="1174970" y="6446"/>
                  </a:lnTo>
                  <a:lnTo>
                    <a:pt x="1215097" y="38609"/>
                  </a:lnTo>
                  <a:lnTo>
                    <a:pt x="1228510" y="84264"/>
                  </a:lnTo>
                  <a:lnTo>
                    <a:pt x="1229316" y="131555"/>
                  </a:lnTo>
                  <a:lnTo>
                    <a:pt x="1229316" y="216382"/>
                  </a:lnTo>
                  <a:lnTo>
                    <a:pt x="1228510" y="263673"/>
                  </a:lnTo>
                  <a:lnTo>
                    <a:pt x="1215097" y="309328"/>
                  </a:lnTo>
                  <a:lnTo>
                    <a:pt x="1174970" y="341491"/>
                  </a:lnTo>
                  <a:lnTo>
                    <a:pt x="1123940" y="347837"/>
                  </a:lnTo>
                  <a:lnTo>
                    <a:pt x="1097761" y="347938"/>
                  </a:lnTo>
                  <a:lnTo>
                    <a:pt x="131555" y="347938"/>
                  </a:lnTo>
                  <a:lnTo>
                    <a:pt x="84264" y="347132"/>
                  </a:lnTo>
                  <a:lnTo>
                    <a:pt x="38609" y="333719"/>
                  </a:lnTo>
                  <a:lnTo>
                    <a:pt x="6446" y="293592"/>
                  </a:lnTo>
                  <a:lnTo>
                    <a:pt x="100" y="242561"/>
                  </a:lnTo>
                  <a:lnTo>
                    <a:pt x="0" y="216382"/>
                  </a:lnTo>
                  <a:lnTo>
                    <a:pt x="0" y="131555"/>
                  </a:lnTo>
                  <a:lnTo>
                    <a:pt x="805" y="84264"/>
                  </a:lnTo>
                  <a:lnTo>
                    <a:pt x="14218" y="38609"/>
                  </a:lnTo>
                  <a:lnTo>
                    <a:pt x="54345" y="6446"/>
                  </a:lnTo>
                  <a:lnTo>
                    <a:pt x="105376" y="100"/>
                  </a:lnTo>
                  <a:lnTo>
                    <a:pt x="131555" y="0"/>
                  </a:lnTo>
                  <a:close/>
                </a:path>
              </a:pathLst>
            </a:custGeom>
            <a:ln w="22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12259" y="3643402"/>
              <a:ext cx="1102360" cy="1062355"/>
            </a:xfrm>
            <a:custGeom>
              <a:avLst/>
              <a:gdLst/>
              <a:ahLst/>
              <a:cxnLst/>
              <a:rect l="l" t="t" r="r" b="b"/>
              <a:pathLst>
                <a:path w="1102360" h="1062354">
                  <a:moveTo>
                    <a:pt x="239577" y="0"/>
                  </a:moveTo>
                  <a:lnTo>
                    <a:pt x="862352" y="0"/>
                  </a:lnTo>
                  <a:lnTo>
                    <a:pt x="910026" y="183"/>
                  </a:lnTo>
                  <a:lnTo>
                    <a:pt x="948474" y="1467"/>
                  </a:lnTo>
                  <a:lnTo>
                    <a:pt x="1002959" y="11740"/>
                  </a:lnTo>
                  <a:lnTo>
                    <a:pt x="1056243" y="45685"/>
                  </a:lnTo>
                  <a:lnTo>
                    <a:pt x="1090189" y="98969"/>
                  </a:lnTo>
                  <a:lnTo>
                    <a:pt x="1100462" y="153455"/>
                  </a:lnTo>
                  <a:lnTo>
                    <a:pt x="1101746" y="191902"/>
                  </a:lnTo>
                  <a:lnTo>
                    <a:pt x="1101929" y="239577"/>
                  </a:lnTo>
                  <a:lnTo>
                    <a:pt x="1101929" y="822577"/>
                  </a:lnTo>
                  <a:lnTo>
                    <a:pt x="1101746" y="870252"/>
                  </a:lnTo>
                  <a:lnTo>
                    <a:pt x="1100462" y="908700"/>
                  </a:lnTo>
                  <a:lnTo>
                    <a:pt x="1090189" y="963185"/>
                  </a:lnTo>
                  <a:lnTo>
                    <a:pt x="1056243" y="1016469"/>
                  </a:lnTo>
                  <a:lnTo>
                    <a:pt x="1002959" y="1050414"/>
                  </a:lnTo>
                  <a:lnTo>
                    <a:pt x="948474" y="1060687"/>
                  </a:lnTo>
                  <a:lnTo>
                    <a:pt x="910026" y="1061972"/>
                  </a:lnTo>
                  <a:lnTo>
                    <a:pt x="862352" y="1062155"/>
                  </a:lnTo>
                  <a:lnTo>
                    <a:pt x="239577" y="1062155"/>
                  </a:lnTo>
                  <a:lnTo>
                    <a:pt x="191902" y="1061972"/>
                  </a:lnTo>
                  <a:lnTo>
                    <a:pt x="153455" y="1060687"/>
                  </a:lnTo>
                  <a:lnTo>
                    <a:pt x="98969" y="1050414"/>
                  </a:lnTo>
                  <a:lnTo>
                    <a:pt x="45685" y="1016469"/>
                  </a:lnTo>
                  <a:lnTo>
                    <a:pt x="11740" y="963185"/>
                  </a:lnTo>
                  <a:lnTo>
                    <a:pt x="1467" y="908700"/>
                  </a:lnTo>
                  <a:lnTo>
                    <a:pt x="183" y="870252"/>
                  </a:lnTo>
                  <a:lnTo>
                    <a:pt x="0" y="822577"/>
                  </a:lnTo>
                  <a:lnTo>
                    <a:pt x="0" y="239577"/>
                  </a:lnTo>
                  <a:lnTo>
                    <a:pt x="183" y="191902"/>
                  </a:lnTo>
                  <a:lnTo>
                    <a:pt x="1467" y="153455"/>
                  </a:lnTo>
                  <a:lnTo>
                    <a:pt x="11740" y="98969"/>
                  </a:lnTo>
                  <a:lnTo>
                    <a:pt x="45685" y="45685"/>
                  </a:lnTo>
                  <a:lnTo>
                    <a:pt x="98969" y="11740"/>
                  </a:lnTo>
                  <a:lnTo>
                    <a:pt x="153455" y="1467"/>
                  </a:lnTo>
                  <a:lnTo>
                    <a:pt x="191902" y="183"/>
                  </a:lnTo>
                  <a:lnTo>
                    <a:pt x="239577" y="0"/>
                  </a:lnTo>
                  <a:close/>
                </a:path>
              </a:pathLst>
            </a:custGeom>
            <a:ln w="22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236083" y="3666453"/>
              <a:ext cx="1054735" cy="347980"/>
            </a:xfrm>
            <a:custGeom>
              <a:avLst/>
              <a:gdLst/>
              <a:ahLst/>
              <a:cxnLst/>
              <a:rect l="l" t="t" r="r" b="b"/>
              <a:pathLst>
                <a:path w="1054735" h="347979">
                  <a:moveTo>
                    <a:pt x="949005" y="0"/>
                  </a:moveTo>
                  <a:lnTo>
                    <a:pt x="105274" y="0"/>
                  </a:lnTo>
                  <a:lnTo>
                    <a:pt x="84162" y="705"/>
                  </a:lnTo>
                  <a:lnTo>
                    <a:pt x="38508" y="14117"/>
                  </a:lnTo>
                  <a:lnTo>
                    <a:pt x="6345" y="54245"/>
                  </a:lnTo>
                  <a:lnTo>
                    <a:pt x="0" y="105275"/>
                  </a:lnTo>
                  <a:lnTo>
                    <a:pt x="0" y="242460"/>
                  </a:lnTo>
                  <a:lnTo>
                    <a:pt x="6345" y="293491"/>
                  </a:lnTo>
                  <a:lnTo>
                    <a:pt x="38508" y="333618"/>
                  </a:lnTo>
                  <a:lnTo>
                    <a:pt x="84162" y="347031"/>
                  </a:lnTo>
                  <a:lnTo>
                    <a:pt x="105274" y="347736"/>
                  </a:lnTo>
                  <a:lnTo>
                    <a:pt x="949005" y="347736"/>
                  </a:lnTo>
                  <a:lnTo>
                    <a:pt x="1000035" y="341390"/>
                  </a:lnTo>
                  <a:lnTo>
                    <a:pt x="1040163" y="309227"/>
                  </a:lnTo>
                  <a:lnTo>
                    <a:pt x="1053575" y="263572"/>
                  </a:lnTo>
                  <a:lnTo>
                    <a:pt x="1054280" y="242460"/>
                  </a:lnTo>
                  <a:lnTo>
                    <a:pt x="1054280" y="105275"/>
                  </a:lnTo>
                  <a:lnTo>
                    <a:pt x="1047935" y="54245"/>
                  </a:lnTo>
                  <a:lnTo>
                    <a:pt x="1015772" y="14117"/>
                  </a:lnTo>
                  <a:lnTo>
                    <a:pt x="970117" y="705"/>
                  </a:lnTo>
                  <a:lnTo>
                    <a:pt x="949005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235982" y="3666352"/>
              <a:ext cx="1054735" cy="347980"/>
            </a:xfrm>
            <a:custGeom>
              <a:avLst/>
              <a:gdLst/>
              <a:ahLst/>
              <a:cxnLst/>
              <a:rect l="l" t="t" r="r" b="b"/>
              <a:pathLst>
                <a:path w="1054735" h="347979">
                  <a:moveTo>
                    <a:pt x="131555" y="0"/>
                  </a:moveTo>
                  <a:lnTo>
                    <a:pt x="922927" y="0"/>
                  </a:lnTo>
                  <a:lnTo>
                    <a:pt x="949106" y="100"/>
                  </a:lnTo>
                  <a:lnTo>
                    <a:pt x="1000137" y="6446"/>
                  </a:lnTo>
                  <a:lnTo>
                    <a:pt x="1040264" y="38609"/>
                  </a:lnTo>
                  <a:lnTo>
                    <a:pt x="1053677" y="84264"/>
                  </a:lnTo>
                  <a:lnTo>
                    <a:pt x="1054483" y="131555"/>
                  </a:lnTo>
                  <a:lnTo>
                    <a:pt x="1054483" y="216382"/>
                  </a:lnTo>
                  <a:lnTo>
                    <a:pt x="1053677" y="263673"/>
                  </a:lnTo>
                  <a:lnTo>
                    <a:pt x="1040264" y="309328"/>
                  </a:lnTo>
                  <a:lnTo>
                    <a:pt x="1000137" y="341491"/>
                  </a:lnTo>
                  <a:lnTo>
                    <a:pt x="949106" y="347837"/>
                  </a:lnTo>
                  <a:lnTo>
                    <a:pt x="922927" y="347938"/>
                  </a:lnTo>
                  <a:lnTo>
                    <a:pt x="131555" y="347938"/>
                  </a:lnTo>
                  <a:lnTo>
                    <a:pt x="84264" y="347132"/>
                  </a:lnTo>
                  <a:lnTo>
                    <a:pt x="38609" y="333719"/>
                  </a:lnTo>
                  <a:lnTo>
                    <a:pt x="6446" y="293592"/>
                  </a:lnTo>
                  <a:lnTo>
                    <a:pt x="100" y="242561"/>
                  </a:lnTo>
                  <a:lnTo>
                    <a:pt x="0" y="216382"/>
                  </a:lnTo>
                  <a:lnTo>
                    <a:pt x="0" y="131555"/>
                  </a:lnTo>
                  <a:lnTo>
                    <a:pt x="805" y="84264"/>
                  </a:lnTo>
                  <a:lnTo>
                    <a:pt x="14218" y="38609"/>
                  </a:lnTo>
                  <a:lnTo>
                    <a:pt x="54345" y="6446"/>
                  </a:lnTo>
                  <a:lnTo>
                    <a:pt x="105376" y="100"/>
                  </a:lnTo>
                  <a:lnTo>
                    <a:pt x="131555" y="0"/>
                  </a:lnTo>
                  <a:close/>
                </a:path>
              </a:pathLst>
            </a:custGeom>
            <a:ln w="22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245172" y="487320"/>
              <a:ext cx="1102360" cy="1062355"/>
            </a:xfrm>
            <a:custGeom>
              <a:avLst/>
              <a:gdLst/>
              <a:ahLst/>
              <a:cxnLst/>
              <a:rect l="l" t="t" r="r" b="b"/>
              <a:pathLst>
                <a:path w="1102360" h="1062355">
                  <a:moveTo>
                    <a:pt x="239577" y="0"/>
                  </a:moveTo>
                  <a:lnTo>
                    <a:pt x="862352" y="0"/>
                  </a:lnTo>
                  <a:lnTo>
                    <a:pt x="910026" y="183"/>
                  </a:lnTo>
                  <a:lnTo>
                    <a:pt x="948474" y="1467"/>
                  </a:lnTo>
                  <a:lnTo>
                    <a:pt x="1002959" y="11740"/>
                  </a:lnTo>
                  <a:lnTo>
                    <a:pt x="1056243" y="45685"/>
                  </a:lnTo>
                  <a:lnTo>
                    <a:pt x="1090189" y="98969"/>
                  </a:lnTo>
                  <a:lnTo>
                    <a:pt x="1100462" y="153455"/>
                  </a:lnTo>
                  <a:lnTo>
                    <a:pt x="1101746" y="191902"/>
                  </a:lnTo>
                  <a:lnTo>
                    <a:pt x="1101929" y="239577"/>
                  </a:lnTo>
                  <a:lnTo>
                    <a:pt x="1101929" y="822577"/>
                  </a:lnTo>
                  <a:lnTo>
                    <a:pt x="1101746" y="870252"/>
                  </a:lnTo>
                  <a:lnTo>
                    <a:pt x="1100462" y="908700"/>
                  </a:lnTo>
                  <a:lnTo>
                    <a:pt x="1090189" y="963185"/>
                  </a:lnTo>
                  <a:lnTo>
                    <a:pt x="1056243" y="1016469"/>
                  </a:lnTo>
                  <a:lnTo>
                    <a:pt x="1002959" y="1050414"/>
                  </a:lnTo>
                  <a:lnTo>
                    <a:pt x="948474" y="1060687"/>
                  </a:lnTo>
                  <a:lnTo>
                    <a:pt x="910026" y="1061972"/>
                  </a:lnTo>
                  <a:lnTo>
                    <a:pt x="862352" y="1062155"/>
                  </a:lnTo>
                  <a:lnTo>
                    <a:pt x="239577" y="1062155"/>
                  </a:lnTo>
                  <a:lnTo>
                    <a:pt x="191902" y="1061972"/>
                  </a:lnTo>
                  <a:lnTo>
                    <a:pt x="153455" y="1060687"/>
                  </a:lnTo>
                  <a:lnTo>
                    <a:pt x="98969" y="1050414"/>
                  </a:lnTo>
                  <a:lnTo>
                    <a:pt x="45685" y="1016469"/>
                  </a:lnTo>
                  <a:lnTo>
                    <a:pt x="11740" y="963185"/>
                  </a:lnTo>
                  <a:lnTo>
                    <a:pt x="1467" y="908700"/>
                  </a:lnTo>
                  <a:lnTo>
                    <a:pt x="183" y="870252"/>
                  </a:lnTo>
                  <a:lnTo>
                    <a:pt x="0" y="822577"/>
                  </a:lnTo>
                  <a:lnTo>
                    <a:pt x="0" y="239577"/>
                  </a:lnTo>
                  <a:lnTo>
                    <a:pt x="183" y="191902"/>
                  </a:lnTo>
                  <a:lnTo>
                    <a:pt x="1467" y="153455"/>
                  </a:lnTo>
                  <a:lnTo>
                    <a:pt x="11740" y="98969"/>
                  </a:lnTo>
                  <a:lnTo>
                    <a:pt x="45685" y="45685"/>
                  </a:lnTo>
                  <a:lnTo>
                    <a:pt x="98969" y="11740"/>
                  </a:lnTo>
                  <a:lnTo>
                    <a:pt x="153455" y="1467"/>
                  </a:lnTo>
                  <a:lnTo>
                    <a:pt x="191902" y="183"/>
                  </a:lnTo>
                  <a:lnTo>
                    <a:pt x="239577" y="0"/>
                  </a:lnTo>
                  <a:close/>
                </a:path>
              </a:pathLst>
            </a:custGeom>
            <a:ln w="22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268996" y="510372"/>
              <a:ext cx="1054735" cy="347980"/>
            </a:xfrm>
            <a:custGeom>
              <a:avLst/>
              <a:gdLst/>
              <a:ahLst/>
              <a:cxnLst/>
              <a:rect l="l" t="t" r="r" b="b"/>
              <a:pathLst>
                <a:path w="1054735" h="347980">
                  <a:moveTo>
                    <a:pt x="949005" y="0"/>
                  </a:moveTo>
                  <a:lnTo>
                    <a:pt x="105275" y="0"/>
                  </a:lnTo>
                  <a:lnTo>
                    <a:pt x="84163" y="705"/>
                  </a:lnTo>
                  <a:lnTo>
                    <a:pt x="38508" y="14117"/>
                  </a:lnTo>
                  <a:lnTo>
                    <a:pt x="6345" y="54245"/>
                  </a:lnTo>
                  <a:lnTo>
                    <a:pt x="0" y="105275"/>
                  </a:lnTo>
                  <a:lnTo>
                    <a:pt x="0" y="242461"/>
                  </a:lnTo>
                  <a:lnTo>
                    <a:pt x="6345" y="293491"/>
                  </a:lnTo>
                  <a:lnTo>
                    <a:pt x="38508" y="333618"/>
                  </a:lnTo>
                  <a:lnTo>
                    <a:pt x="84163" y="347031"/>
                  </a:lnTo>
                  <a:lnTo>
                    <a:pt x="105275" y="347736"/>
                  </a:lnTo>
                  <a:lnTo>
                    <a:pt x="949005" y="347736"/>
                  </a:lnTo>
                  <a:lnTo>
                    <a:pt x="1000036" y="341390"/>
                  </a:lnTo>
                  <a:lnTo>
                    <a:pt x="1040163" y="309227"/>
                  </a:lnTo>
                  <a:lnTo>
                    <a:pt x="1053576" y="263573"/>
                  </a:lnTo>
                  <a:lnTo>
                    <a:pt x="1054282" y="242461"/>
                  </a:lnTo>
                  <a:lnTo>
                    <a:pt x="1054282" y="105275"/>
                  </a:lnTo>
                  <a:lnTo>
                    <a:pt x="1047935" y="54245"/>
                  </a:lnTo>
                  <a:lnTo>
                    <a:pt x="1015772" y="14117"/>
                  </a:lnTo>
                  <a:lnTo>
                    <a:pt x="970117" y="705"/>
                  </a:lnTo>
                  <a:lnTo>
                    <a:pt x="949005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268896" y="510272"/>
              <a:ext cx="1054735" cy="347980"/>
            </a:xfrm>
            <a:custGeom>
              <a:avLst/>
              <a:gdLst/>
              <a:ahLst/>
              <a:cxnLst/>
              <a:rect l="l" t="t" r="r" b="b"/>
              <a:pathLst>
                <a:path w="1054735" h="347980">
                  <a:moveTo>
                    <a:pt x="131555" y="0"/>
                  </a:moveTo>
                  <a:lnTo>
                    <a:pt x="922927" y="0"/>
                  </a:lnTo>
                  <a:lnTo>
                    <a:pt x="949106" y="100"/>
                  </a:lnTo>
                  <a:lnTo>
                    <a:pt x="1000137" y="6446"/>
                  </a:lnTo>
                  <a:lnTo>
                    <a:pt x="1040264" y="38609"/>
                  </a:lnTo>
                  <a:lnTo>
                    <a:pt x="1053677" y="84264"/>
                  </a:lnTo>
                  <a:lnTo>
                    <a:pt x="1054483" y="131555"/>
                  </a:lnTo>
                  <a:lnTo>
                    <a:pt x="1054483" y="216382"/>
                  </a:lnTo>
                  <a:lnTo>
                    <a:pt x="1053677" y="263673"/>
                  </a:lnTo>
                  <a:lnTo>
                    <a:pt x="1040264" y="309328"/>
                  </a:lnTo>
                  <a:lnTo>
                    <a:pt x="1000137" y="341491"/>
                  </a:lnTo>
                  <a:lnTo>
                    <a:pt x="949106" y="347837"/>
                  </a:lnTo>
                  <a:lnTo>
                    <a:pt x="922927" y="347938"/>
                  </a:lnTo>
                  <a:lnTo>
                    <a:pt x="131555" y="347938"/>
                  </a:lnTo>
                  <a:lnTo>
                    <a:pt x="84264" y="347132"/>
                  </a:lnTo>
                  <a:lnTo>
                    <a:pt x="38609" y="333719"/>
                  </a:lnTo>
                  <a:lnTo>
                    <a:pt x="6446" y="293592"/>
                  </a:lnTo>
                  <a:lnTo>
                    <a:pt x="100" y="242561"/>
                  </a:lnTo>
                  <a:lnTo>
                    <a:pt x="0" y="216382"/>
                  </a:lnTo>
                  <a:lnTo>
                    <a:pt x="0" y="131555"/>
                  </a:lnTo>
                  <a:lnTo>
                    <a:pt x="805" y="84264"/>
                  </a:lnTo>
                  <a:lnTo>
                    <a:pt x="14218" y="38609"/>
                  </a:lnTo>
                  <a:lnTo>
                    <a:pt x="54345" y="6446"/>
                  </a:lnTo>
                  <a:lnTo>
                    <a:pt x="105376" y="100"/>
                  </a:lnTo>
                  <a:lnTo>
                    <a:pt x="131555" y="0"/>
                  </a:lnTo>
                  <a:close/>
                </a:path>
              </a:pathLst>
            </a:custGeom>
            <a:ln w="22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228388" y="2239417"/>
            <a:ext cx="680085" cy="44577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 algn="just">
              <a:lnSpc>
                <a:spcPts val="1080"/>
              </a:lnSpc>
              <a:spcBef>
                <a:spcPts val="185"/>
              </a:spcBef>
            </a:pPr>
            <a:r>
              <a:rPr sz="950" spc="-10" dirty="0">
                <a:solidFill>
                  <a:srgbClr val="5E5E5E"/>
                </a:solidFill>
                <a:latin typeface="Gill Sans"/>
                <a:cs typeface="Gill Sans"/>
              </a:rPr>
              <a:t>Clave</a:t>
            </a:r>
            <a:r>
              <a:rPr sz="950" spc="-20" dirty="0">
                <a:solidFill>
                  <a:srgbClr val="5E5E5E"/>
                </a:solidFill>
                <a:latin typeface="Gill Sans"/>
                <a:cs typeface="Gill Sans"/>
              </a:rPr>
              <a:t> </a:t>
            </a:r>
            <a:r>
              <a:rPr sz="950" spc="-10" dirty="0">
                <a:solidFill>
                  <a:srgbClr val="5E5E5E"/>
                </a:solidFill>
                <a:latin typeface="Gill Sans"/>
                <a:cs typeface="Gill Sans"/>
              </a:rPr>
              <a:t>Cliente </a:t>
            </a:r>
            <a:r>
              <a:rPr sz="950" spc="-30" dirty="0">
                <a:solidFill>
                  <a:srgbClr val="5E5E5E"/>
                </a:solidFill>
                <a:latin typeface="Gill Sans"/>
                <a:cs typeface="Gill Sans"/>
              </a:rPr>
              <a:t>Clave</a:t>
            </a:r>
            <a:r>
              <a:rPr sz="950" spc="-35" dirty="0">
                <a:solidFill>
                  <a:srgbClr val="5E5E5E"/>
                </a:solidFill>
                <a:latin typeface="Gill Sans"/>
                <a:cs typeface="Gill Sans"/>
              </a:rPr>
              <a:t> </a:t>
            </a:r>
            <a:r>
              <a:rPr sz="950" spc="-20" dirty="0">
                <a:solidFill>
                  <a:srgbClr val="5E5E5E"/>
                </a:solidFill>
                <a:latin typeface="Gill Sans"/>
                <a:cs typeface="Gill Sans"/>
              </a:rPr>
              <a:t>Trabajo </a:t>
            </a:r>
            <a:r>
              <a:rPr sz="950" spc="-10" dirty="0">
                <a:solidFill>
                  <a:srgbClr val="5E5E5E"/>
                </a:solidFill>
                <a:latin typeface="Gill Sans"/>
                <a:cs typeface="Gill Sans"/>
              </a:rPr>
              <a:t>Clave</a:t>
            </a:r>
            <a:r>
              <a:rPr sz="950" spc="-20" dirty="0">
                <a:solidFill>
                  <a:srgbClr val="5E5E5E"/>
                </a:solidFill>
                <a:latin typeface="Gill Sans"/>
                <a:cs typeface="Gill Sans"/>
              </a:rPr>
              <a:t> </a:t>
            </a:r>
            <a:r>
              <a:rPr sz="950" spc="-10" dirty="0">
                <a:solidFill>
                  <a:srgbClr val="5E5E5E"/>
                </a:solidFill>
                <a:latin typeface="Gill Sans"/>
                <a:cs typeface="Gill Sans"/>
              </a:rPr>
              <a:t>Familia</a:t>
            </a:r>
            <a:endParaRPr sz="950">
              <a:latin typeface="Gill Sans"/>
              <a:cs typeface="Gill San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28388" y="2652500"/>
            <a:ext cx="85471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solidFill>
                  <a:srgbClr val="5E5E5E"/>
                </a:solidFill>
                <a:latin typeface="Gill Sans"/>
                <a:cs typeface="Gill Sans"/>
              </a:rPr>
              <a:t>Clave</a:t>
            </a:r>
            <a:r>
              <a:rPr sz="950" spc="-20" dirty="0">
                <a:solidFill>
                  <a:srgbClr val="5E5E5E"/>
                </a:solidFill>
                <a:latin typeface="Gill Sans"/>
                <a:cs typeface="Gill Sans"/>
              </a:rPr>
              <a:t> </a:t>
            </a:r>
            <a:r>
              <a:rPr sz="950" spc="-10" dirty="0">
                <a:solidFill>
                  <a:srgbClr val="5E5E5E"/>
                </a:solidFill>
                <a:latin typeface="Gill Sans"/>
                <a:cs typeface="Gill Sans"/>
              </a:rPr>
              <a:t>Geográfica</a:t>
            </a:r>
            <a:endParaRPr sz="950">
              <a:latin typeface="Gill Sans"/>
              <a:cs typeface="Gill San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28388" y="2790193"/>
            <a:ext cx="1024255" cy="44577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>
              <a:lnSpc>
                <a:spcPts val="1080"/>
              </a:lnSpc>
              <a:spcBef>
                <a:spcPts val="185"/>
              </a:spcBef>
            </a:pPr>
            <a:r>
              <a:rPr sz="950" spc="-10" dirty="0">
                <a:solidFill>
                  <a:srgbClr val="5E5E5E"/>
                </a:solidFill>
                <a:latin typeface="Gill Sans"/>
                <a:cs typeface="Gill Sans"/>
              </a:rPr>
              <a:t>Importe_Préstamo Tiempo_Devolución Tipo_Interés</a:t>
            </a:r>
            <a:endParaRPr sz="950">
              <a:latin typeface="Gill Sans"/>
              <a:cs typeface="Gill San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52006" y="2206317"/>
            <a:ext cx="641985" cy="42735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>
              <a:lnSpc>
                <a:spcPts val="1040"/>
              </a:lnSpc>
              <a:spcBef>
                <a:spcPts val="170"/>
              </a:spcBef>
            </a:pPr>
            <a:r>
              <a:rPr sz="900" spc="-20" dirty="0">
                <a:solidFill>
                  <a:srgbClr val="5E5E5E"/>
                </a:solidFill>
                <a:latin typeface="Gill Sans"/>
                <a:cs typeface="Gill Sans"/>
              </a:rPr>
              <a:t>Clave</a:t>
            </a:r>
            <a:r>
              <a:rPr sz="900" spc="-85" dirty="0">
                <a:solidFill>
                  <a:srgbClr val="5E5E5E"/>
                </a:solidFill>
                <a:latin typeface="Gill Sans"/>
                <a:cs typeface="Gill Sans"/>
              </a:rPr>
              <a:t> </a:t>
            </a:r>
            <a:r>
              <a:rPr sz="900" spc="-25" dirty="0">
                <a:solidFill>
                  <a:srgbClr val="5E5E5E"/>
                </a:solidFill>
                <a:latin typeface="Gill Sans"/>
                <a:cs typeface="Gill Sans"/>
              </a:rPr>
              <a:t>Trabajo </a:t>
            </a:r>
            <a:r>
              <a:rPr sz="900" spc="-10" dirty="0">
                <a:solidFill>
                  <a:srgbClr val="5E5E5E"/>
                </a:solidFill>
                <a:latin typeface="Gill Sans"/>
                <a:cs typeface="Gill Sans"/>
              </a:rPr>
              <a:t>Salario Retenciones</a:t>
            </a:r>
            <a:endParaRPr sz="900">
              <a:latin typeface="Gill Sans"/>
              <a:cs typeface="Gill San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152006" y="2602187"/>
            <a:ext cx="882650" cy="55943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>
              <a:lnSpc>
                <a:spcPts val="1040"/>
              </a:lnSpc>
              <a:spcBef>
                <a:spcPts val="170"/>
              </a:spcBef>
            </a:pPr>
            <a:r>
              <a:rPr sz="900" spc="-10" dirty="0">
                <a:solidFill>
                  <a:srgbClr val="5E5E5E"/>
                </a:solidFill>
                <a:latin typeface="Gill Sans"/>
                <a:cs typeface="Gill Sans"/>
              </a:rPr>
              <a:t>Riesgos_Laborales Durabilidad Antigüedad Pluriempleo</a:t>
            </a:r>
            <a:endParaRPr sz="900">
              <a:latin typeface="Gill Sans"/>
              <a:cs typeface="Gill San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23311" y="860737"/>
            <a:ext cx="59626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solidFill>
                  <a:srgbClr val="5E5E5E"/>
                </a:solidFill>
                <a:latin typeface="Gill Sans"/>
                <a:cs typeface="Gill Sans"/>
              </a:rPr>
              <a:t>Clave</a:t>
            </a:r>
            <a:r>
              <a:rPr sz="950" spc="-20" dirty="0">
                <a:solidFill>
                  <a:srgbClr val="5E5E5E"/>
                </a:solidFill>
                <a:latin typeface="Gill Sans"/>
                <a:cs typeface="Gill Sans"/>
              </a:rPr>
              <a:t> </a:t>
            </a:r>
            <a:r>
              <a:rPr sz="950" spc="-10" dirty="0">
                <a:solidFill>
                  <a:srgbClr val="5E5E5E"/>
                </a:solidFill>
                <a:latin typeface="Gill Sans"/>
                <a:cs typeface="Gill Sans"/>
              </a:rPr>
              <a:t>Lugar</a:t>
            </a:r>
            <a:endParaRPr sz="950">
              <a:latin typeface="Gill Sans"/>
              <a:cs typeface="Gill San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323311" y="998430"/>
            <a:ext cx="795020" cy="44577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>
              <a:lnSpc>
                <a:spcPts val="1080"/>
              </a:lnSpc>
              <a:spcBef>
                <a:spcPts val="185"/>
              </a:spcBef>
            </a:pPr>
            <a:r>
              <a:rPr sz="950" spc="-10" dirty="0">
                <a:solidFill>
                  <a:srgbClr val="5E5E5E"/>
                </a:solidFill>
                <a:latin typeface="Gill Sans"/>
                <a:cs typeface="Gill Sans"/>
              </a:rPr>
              <a:t>Act_Económica Salario Situación_Fiscal</a:t>
            </a:r>
            <a:endParaRPr sz="950">
              <a:latin typeface="Gill Sans"/>
              <a:cs typeface="Gill San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398090" y="522761"/>
            <a:ext cx="803275" cy="30797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83185" marR="5080" indent="-71120">
              <a:lnSpc>
                <a:spcPts val="1080"/>
              </a:lnSpc>
              <a:spcBef>
                <a:spcPts val="185"/>
              </a:spcBef>
            </a:pPr>
            <a:r>
              <a:rPr sz="950" b="1" spc="-10" dirty="0">
                <a:latin typeface="Gill Sans"/>
                <a:cs typeface="Gill Sans"/>
              </a:rPr>
              <a:t>DIMENSIÓN ESPACIAL</a:t>
            </a:r>
            <a:endParaRPr sz="950">
              <a:latin typeface="Gill Sans"/>
              <a:cs typeface="Gill San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282124" y="1886003"/>
            <a:ext cx="803275" cy="30797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83820" marR="5080" indent="-71755">
              <a:lnSpc>
                <a:spcPts val="1080"/>
              </a:lnSpc>
              <a:spcBef>
                <a:spcPts val="185"/>
              </a:spcBef>
            </a:pPr>
            <a:r>
              <a:rPr sz="950" b="1" spc="-10" dirty="0">
                <a:latin typeface="Gill Sans"/>
                <a:cs typeface="Gill Sans"/>
              </a:rPr>
              <a:t>DIMENSIÓN LABORAL</a:t>
            </a:r>
            <a:endParaRPr sz="950">
              <a:latin typeface="Gill Sans"/>
              <a:cs typeface="Gill San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447139" y="1886003"/>
            <a:ext cx="917575" cy="130429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231140" marR="5080" indent="-104775">
              <a:lnSpc>
                <a:spcPts val="1080"/>
              </a:lnSpc>
              <a:spcBef>
                <a:spcPts val="185"/>
              </a:spcBef>
            </a:pPr>
            <a:r>
              <a:rPr sz="950" b="1" spc="-10" dirty="0">
                <a:latin typeface="Gill Sans"/>
                <a:cs typeface="Gill Sans"/>
              </a:rPr>
              <a:t>DIMENSIÓN CLIENTE</a:t>
            </a:r>
            <a:endParaRPr sz="950">
              <a:latin typeface="Gill Sans"/>
              <a:cs typeface="Gill Sans"/>
            </a:endParaRPr>
          </a:p>
          <a:p>
            <a:pPr marL="12700" marR="273685">
              <a:lnSpc>
                <a:spcPts val="1040"/>
              </a:lnSpc>
              <a:spcBef>
                <a:spcPts val="575"/>
              </a:spcBef>
            </a:pPr>
            <a:r>
              <a:rPr sz="900" spc="-10" dirty="0">
                <a:solidFill>
                  <a:srgbClr val="5E5E5E"/>
                </a:solidFill>
                <a:latin typeface="Gill Sans"/>
                <a:cs typeface="Gill Sans"/>
              </a:rPr>
              <a:t>Clave</a:t>
            </a:r>
            <a:r>
              <a:rPr sz="900" spc="-20" dirty="0">
                <a:solidFill>
                  <a:srgbClr val="5E5E5E"/>
                </a:solidFill>
                <a:latin typeface="Gill Sans"/>
                <a:cs typeface="Gill Sans"/>
              </a:rPr>
              <a:t> </a:t>
            </a:r>
            <a:r>
              <a:rPr sz="900" spc="-10" dirty="0">
                <a:solidFill>
                  <a:srgbClr val="5E5E5E"/>
                </a:solidFill>
                <a:latin typeface="Gill Sans"/>
                <a:cs typeface="Gill Sans"/>
              </a:rPr>
              <a:t>Cliente </a:t>
            </a:r>
            <a:r>
              <a:rPr sz="900" spc="-20" dirty="0">
                <a:solidFill>
                  <a:srgbClr val="5E5E5E"/>
                </a:solidFill>
                <a:latin typeface="Gill Sans"/>
                <a:cs typeface="Gill Sans"/>
              </a:rPr>
              <a:t>Sexo </a:t>
            </a:r>
            <a:r>
              <a:rPr sz="900" spc="-10" dirty="0">
                <a:solidFill>
                  <a:srgbClr val="5E5E5E"/>
                </a:solidFill>
                <a:latin typeface="Gill Sans"/>
                <a:cs typeface="Gill Sans"/>
              </a:rPr>
              <a:t>Nacionalidad </a:t>
            </a:r>
            <a:r>
              <a:rPr sz="900" spc="-20" dirty="0">
                <a:solidFill>
                  <a:srgbClr val="5E5E5E"/>
                </a:solidFill>
                <a:latin typeface="Gill Sans"/>
                <a:cs typeface="Gill Sans"/>
              </a:rPr>
              <a:t>Edad</a:t>
            </a:r>
            <a:endParaRPr sz="900">
              <a:latin typeface="Gill Sans"/>
              <a:cs typeface="Gill Sans"/>
            </a:endParaRPr>
          </a:p>
          <a:p>
            <a:pPr marL="12700">
              <a:lnSpc>
                <a:spcPts val="990"/>
              </a:lnSpc>
            </a:pPr>
            <a:r>
              <a:rPr sz="900" dirty="0">
                <a:solidFill>
                  <a:srgbClr val="5E5E5E"/>
                </a:solidFill>
                <a:latin typeface="Gill Sans"/>
                <a:cs typeface="Gill Sans"/>
              </a:rPr>
              <a:t>Estado</a:t>
            </a:r>
            <a:r>
              <a:rPr sz="900" spc="-25" dirty="0">
                <a:solidFill>
                  <a:srgbClr val="5E5E5E"/>
                </a:solidFill>
                <a:latin typeface="Gill Sans"/>
                <a:cs typeface="Gill Sans"/>
              </a:rPr>
              <a:t> </a:t>
            </a:r>
            <a:r>
              <a:rPr sz="900" spc="-10" dirty="0">
                <a:solidFill>
                  <a:srgbClr val="5E5E5E"/>
                </a:solidFill>
                <a:latin typeface="Gill Sans"/>
                <a:cs typeface="Gill Sans"/>
              </a:rPr>
              <a:t>Civil</a:t>
            </a:r>
            <a:endParaRPr sz="900">
              <a:latin typeface="Gill Sans"/>
              <a:cs typeface="Gill Sans"/>
            </a:endParaRPr>
          </a:p>
          <a:p>
            <a:pPr marL="12700" marR="256540">
              <a:lnSpc>
                <a:spcPts val="1040"/>
              </a:lnSpc>
              <a:spcBef>
                <a:spcPts val="45"/>
              </a:spcBef>
            </a:pPr>
            <a:r>
              <a:rPr sz="900" spc="-10" dirty="0">
                <a:solidFill>
                  <a:srgbClr val="5E5E5E"/>
                </a:solidFill>
                <a:latin typeface="Gill Sans"/>
                <a:cs typeface="Gill Sans"/>
              </a:rPr>
              <a:t>Estudios Antecedentes</a:t>
            </a:r>
            <a:endParaRPr sz="900">
              <a:latin typeface="Gill Sans"/>
              <a:cs typeface="Gill San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299787" y="3678843"/>
            <a:ext cx="883919" cy="874394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61290" marR="5080" indent="-68580">
              <a:lnSpc>
                <a:spcPts val="1080"/>
              </a:lnSpc>
              <a:spcBef>
                <a:spcPts val="185"/>
              </a:spcBef>
            </a:pPr>
            <a:r>
              <a:rPr sz="950" b="1" spc="-10" dirty="0">
                <a:latin typeface="Gill Sans"/>
                <a:cs typeface="Gill Sans"/>
              </a:rPr>
              <a:t>DIMENSIÓN FAMILIAR</a:t>
            </a:r>
            <a:endParaRPr sz="950">
              <a:latin typeface="Gill Sans"/>
              <a:cs typeface="Gill Sans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950">
              <a:latin typeface="Gill Sans"/>
              <a:cs typeface="Gill Sans"/>
            </a:endParaRPr>
          </a:p>
          <a:p>
            <a:pPr marL="12700" marR="41910">
              <a:lnSpc>
                <a:spcPts val="1080"/>
              </a:lnSpc>
              <a:spcBef>
                <a:spcPts val="5"/>
              </a:spcBef>
            </a:pPr>
            <a:r>
              <a:rPr sz="950" spc="-10" dirty="0">
                <a:solidFill>
                  <a:srgbClr val="5E5E5E"/>
                </a:solidFill>
                <a:latin typeface="Gill Sans"/>
                <a:cs typeface="Gill Sans"/>
              </a:rPr>
              <a:t>Clave</a:t>
            </a:r>
            <a:r>
              <a:rPr sz="950" spc="-20" dirty="0">
                <a:solidFill>
                  <a:srgbClr val="5E5E5E"/>
                </a:solidFill>
                <a:latin typeface="Gill Sans"/>
                <a:cs typeface="Gill Sans"/>
              </a:rPr>
              <a:t> </a:t>
            </a:r>
            <a:r>
              <a:rPr sz="950" spc="-10" dirty="0">
                <a:solidFill>
                  <a:srgbClr val="5E5E5E"/>
                </a:solidFill>
                <a:latin typeface="Gill Sans"/>
                <a:cs typeface="Gill Sans"/>
              </a:rPr>
              <a:t>Familia </a:t>
            </a:r>
            <a:r>
              <a:rPr sz="950" dirty="0">
                <a:solidFill>
                  <a:srgbClr val="5E5E5E"/>
                </a:solidFill>
                <a:latin typeface="Gill Sans"/>
                <a:cs typeface="Gill Sans"/>
              </a:rPr>
              <a:t>Cargas</a:t>
            </a:r>
            <a:r>
              <a:rPr sz="950" spc="-5" dirty="0">
                <a:solidFill>
                  <a:srgbClr val="5E5E5E"/>
                </a:solidFill>
                <a:latin typeface="Gill Sans"/>
                <a:cs typeface="Gill Sans"/>
              </a:rPr>
              <a:t> </a:t>
            </a:r>
            <a:r>
              <a:rPr sz="950" spc="-10" dirty="0">
                <a:solidFill>
                  <a:srgbClr val="5E5E5E"/>
                </a:solidFill>
                <a:latin typeface="Gill Sans"/>
                <a:cs typeface="Gill Sans"/>
              </a:rPr>
              <a:t>familiares </a:t>
            </a:r>
            <a:r>
              <a:rPr sz="950" spc="-20" dirty="0">
                <a:solidFill>
                  <a:srgbClr val="5E5E5E"/>
                </a:solidFill>
                <a:latin typeface="Gill Sans"/>
                <a:cs typeface="Gill Sans"/>
              </a:rPr>
              <a:t>Aval</a:t>
            </a:r>
            <a:endParaRPr sz="950">
              <a:latin typeface="Gill Sans"/>
              <a:cs typeface="Gill San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230326" y="1886003"/>
            <a:ext cx="1066165" cy="307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110"/>
              </a:lnSpc>
              <a:spcBef>
                <a:spcPts val="95"/>
              </a:spcBef>
            </a:pPr>
            <a:r>
              <a:rPr sz="950" b="1" spc="-10" dirty="0">
                <a:latin typeface="Gill Sans"/>
                <a:cs typeface="Gill Sans"/>
              </a:rPr>
              <a:t>TABLA</a:t>
            </a:r>
            <a:r>
              <a:rPr sz="950" b="1" spc="-55" dirty="0">
                <a:latin typeface="Gill Sans"/>
                <a:cs typeface="Gill Sans"/>
              </a:rPr>
              <a:t> </a:t>
            </a:r>
            <a:r>
              <a:rPr sz="950" b="1" spc="-10" dirty="0">
                <a:latin typeface="Gill Sans"/>
                <a:cs typeface="Gill Sans"/>
              </a:rPr>
              <a:t>HECHOS</a:t>
            </a:r>
            <a:endParaRPr sz="950">
              <a:latin typeface="Gill Sans"/>
              <a:cs typeface="Gill Sans"/>
            </a:endParaRPr>
          </a:p>
          <a:p>
            <a:pPr algn="ctr">
              <a:lnSpc>
                <a:spcPts val="1110"/>
              </a:lnSpc>
            </a:pPr>
            <a:r>
              <a:rPr sz="950" b="1" spc="-10" dirty="0">
                <a:latin typeface="Gill Sans"/>
                <a:cs typeface="Gill Sans"/>
              </a:rPr>
              <a:t>(Idoneidad)</a:t>
            </a:r>
            <a:endParaRPr sz="950">
              <a:latin typeface="Gill Sans"/>
              <a:cs typeface="Gill Sans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982572" y="920252"/>
            <a:ext cx="3401060" cy="3291840"/>
            <a:chOff x="3982572" y="920252"/>
            <a:chExt cx="3401060" cy="3291840"/>
          </a:xfrm>
        </p:grpSpPr>
        <p:sp>
          <p:nvSpPr>
            <p:cNvPr id="35" name="object 35"/>
            <p:cNvSpPr/>
            <p:nvPr/>
          </p:nvSpPr>
          <p:spPr>
            <a:xfrm>
              <a:off x="6013363" y="2328529"/>
              <a:ext cx="1370330" cy="0"/>
            </a:xfrm>
            <a:custGeom>
              <a:avLst/>
              <a:gdLst/>
              <a:ahLst/>
              <a:cxnLst/>
              <a:rect l="l" t="t" r="r" b="b"/>
              <a:pathLst>
                <a:path w="1370329">
                  <a:moveTo>
                    <a:pt x="0" y="0"/>
                  </a:moveTo>
                  <a:lnTo>
                    <a:pt x="1369741" y="0"/>
                  </a:lnTo>
                </a:path>
              </a:pathLst>
            </a:custGeom>
            <a:ln w="28686">
              <a:solidFill>
                <a:srgbClr val="B517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757680" y="2607914"/>
              <a:ext cx="477520" cy="0"/>
            </a:xfrm>
            <a:custGeom>
              <a:avLst/>
              <a:gdLst/>
              <a:ahLst/>
              <a:cxnLst/>
              <a:rect l="l" t="t" r="r" b="b"/>
              <a:pathLst>
                <a:path w="477520">
                  <a:moveTo>
                    <a:pt x="0" y="0"/>
                  </a:moveTo>
                  <a:lnTo>
                    <a:pt x="477003" y="0"/>
                  </a:lnTo>
                </a:path>
              </a:pathLst>
            </a:custGeom>
            <a:ln w="28686">
              <a:solidFill>
                <a:srgbClr val="B517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769316" y="2605682"/>
              <a:ext cx="0" cy="1595755"/>
            </a:xfrm>
            <a:custGeom>
              <a:avLst/>
              <a:gdLst/>
              <a:ahLst/>
              <a:cxnLst/>
              <a:rect l="l" t="t" r="r" b="b"/>
              <a:pathLst>
                <a:path h="1595754">
                  <a:moveTo>
                    <a:pt x="0" y="1595225"/>
                  </a:moveTo>
                  <a:lnTo>
                    <a:pt x="0" y="0"/>
                  </a:lnTo>
                </a:path>
              </a:pathLst>
            </a:custGeom>
            <a:ln w="28686">
              <a:solidFill>
                <a:srgbClr val="B517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758494" y="4197429"/>
              <a:ext cx="534670" cy="0"/>
            </a:xfrm>
            <a:custGeom>
              <a:avLst/>
              <a:gdLst/>
              <a:ahLst/>
              <a:cxnLst/>
              <a:rect l="l" t="t" r="r" b="b"/>
              <a:pathLst>
                <a:path w="534670">
                  <a:moveTo>
                    <a:pt x="0" y="0"/>
                  </a:moveTo>
                  <a:lnTo>
                    <a:pt x="534375" y="0"/>
                  </a:lnTo>
                </a:path>
              </a:pathLst>
            </a:custGeom>
            <a:ln w="28686">
              <a:solidFill>
                <a:srgbClr val="B517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098837" y="2756077"/>
              <a:ext cx="534670" cy="0"/>
            </a:xfrm>
            <a:custGeom>
              <a:avLst/>
              <a:gdLst/>
              <a:ahLst/>
              <a:cxnLst/>
              <a:rect l="l" t="t" r="r" b="b"/>
              <a:pathLst>
                <a:path w="534670">
                  <a:moveTo>
                    <a:pt x="0" y="0"/>
                  </a:moveTo>
                  <a:lnTo>
                    <a:pt x="534375" y="0"/>
                  </a:lnTo>
                </a:path>
              </a:pathLst>
            </a:custGeom>
            <a:ln w="28686">
              <a:solidFill>
                <a:srgbClr val="B517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626146" y="928627"/>
              <a:ext cx="0" cy="1836420"/>
            </a:xfrm>
            <a:custGeom>
              <a:avLst/>
              <a:gdLst/>
              <a:ahLst/>
              <a:cxnLst/>
              <a:rect l="l" t="t" r="r" b="b"/>
              <a:pathLst>
                <a:path h="1836420">
                  <a:moveTo>
                    <a:pt x="0" y="1836189"/>
                  </a:moveTo>
                  <a:lnTo>
                    <a:pt x="0" y="0"/>
                  </a:lnTo>
                </a:path>
              </a:pathLst>
            </a:custGeom>
            <a:ln w="28686">
              <a:solidFill>
                <a:srgbClr val="B517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995567" y="934595"/>
              <a:ext cx="632460" cy="0"/>
            </a:xfrm>
            <a:custGeom>
              <a:avLst/>
              <a:gdLst/>
              <a:ahLst/>
              <a:cxnLst/>
              <a:rect l="l" t="t" r="r" b="b"/>
              <a:pathLst>
                <a:path w="632459">
                  <a:moveTo>
                    <a:pt x="0" y="0"/>
                  </a:moveTo>
                  <a:lnTo>
                    <a:pt x="631908" y="0"/>
                  </a:lnTo>
                </a:path>
              </a:pathLst>
            </a:custGeom>
            <a:ln w="28686">
              <a:solidFill>
                <a:srgbClr val="B517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434271" y="2475514"/>
              <a:ext cx="800735" cy="0"/>
            </a:xfrm>
            <a:custGeom>
              <a:avLst/>
              <a:gdLst/>
              <a:ahLst/>
              <a:cxnLst/>
              <a:rect l="l" t="t" r="r" b="b"/>
              <a:pathLst>
                <a:path w="800735">
                  <a:moveTo>
                    <a:pt x="0" y="0"/>
                  </a:moveTo>
                  <a:lnTo>
                    <a:pt x="800123" y="0"/>
                  </a:lnTo>
                </a:path>
              </a:pathLst>
            </a:custGeom>
            <a:ln w="28686">
              <a:solidFill>
                <a:srgbClr val="B517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440006" y="2298013"/>
              <a:ext cx="0" cy="184785"/>
            </a:xfrm>
            <a:custGeom>
              <a:avLst/>
              <a:gdLst/>
              <a:ahLst/>
              <a:cxnLst/>
              <a:rect l="l" t="t" r="r" b="b"/>
              <a:pathLst>
                <a:path h="184785">
                  <a:moveTo>
                    <a:pt x="0" y="184166"/>
                  </a:moveTo>
                  <a:lnTo>
                    <a:pt x="0" y="0"/>
                  </a:lnTo>
                </a:path>
              </a:pathLst>
            </a:custGeom>
            <a:ln w="28686">
              <a:solidFill>
                <a:srgbClr val="B517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982572" y="2299200"/>
              <a:ext cx="468630" cy="0"/>
            </a:xfrm>
            <a:custGeom>
              <a:avLst/>
              <a:gdLst/>
              <a:ahLst/>
              <a:cxnLst/>
              <a:rect l="l" t="t" r="r" b="b"/>
              <a:pathLst>
                <a:path w="468629">
                  <a:moveTo>
                    <a:pt x="0" y="0"/>
                  </a:moveTo>
                  <a:lnTo>
                    <a:pt x="468160" y="0"/>
                  </a:lnTo>
                </a:path>
              </a:pathLst>
            </a:custGeom>
            <a:ln w="28686">
              <a:solidFill>
                <a:srgbClr val="B517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84" y="253491"/>
            <a:ext cx="294259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5080">
              <a:lnSpc>
                <a:spcPct val="71000"/>
              </a:lnSpc>
              <a:spcBef>
                <a:spcPts val="149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Diseño</a:t>
            </a:r>
            <a:r>
              <a:rPr sz="4000" b="1" spc="-6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en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copo</a:t>
            </a:r>
            <a:r>
              <a:rPr sz="4000" b="1" spc="-2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de</a:t>
            </a:r>
            <a:r>
              <a:rPr sz="4000" b="1" spc="-1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nieve:</a:t>
            </a:r>
            <a:endParaRPr sz="4000">
              <a:latin typeface="Arial Narrow"/>
              <a:cs typeface="Arial Narrow"/>
            </a:endParaRPr>
          </a:p>
          <a:p>
            <a:pPr marL="190500">
              <a:lnSpc>
                <a:spcPct val="100000"/>
              </a:lnSpc>
              <a:spcBef>
                <a:spcPts val="240"/>
              </a:spcBef>
            </a:pPr>
            <a:r>
              <a:rPr sz="2800" b="1" spc="-10" dirty="0">
                <a:solidFill>
                  <a:srgbClr val="FF0000"/>
                </a:solidFill>
                <a:latin typeface="Arial Narrow"/>
                <a:cs typeface="Arial Narrow"/>
              </a:rPr>
              <a:t>Normalización: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14635" y="241299"/>
            <a:ext cx="4226560" cy="2256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92100">
              <a:lnSpc>
                <a:spcPct val="100000"/>
              </a:lnSpc>
              <a:spcBef>
                <a:spcPts val="10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265" dirty="0">
                <a:latin typeface="Arial"/>
                <a:cs typeface="Arial"/>
              </a:rPr>
              <a:t>A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partir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de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190" dirty="0">
                <a:latin typeface="Arial"/>
                <a:cs typeface="Arial"/>
              </a:rPr>
              <a:t>las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14" dirty="0">
                <a:latin typeface="Arial"/>
                <a:cs typeface="Arial"/>
              </a:rPr>
              <a:t>dimensiones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250" dirty="0">
                <a:latin typeface="Arial"/>
                <a:cs typeface="Arial"/>
              </a:rPr>
              <a:t>Crea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90" dirty="0">
                <a:latin typeface="Arial"/>
                <a:cs typeface="Arial"/>
              </a:rPr>
              <a:t>nuevas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45" dirty="0">
                <a:latin typeface="Arial"/>
                <a:cs typeface="Arial"/>
              </a:rPr>
              <a:t>dimensiones</a:t>
            </a:r>
            <a:endParaRPr sz="2800">
              <a:latin typeface="Arial"/>
              <a:cs typeface="Arial"/>
            </a:endParaRPr>
          </a:p>
          <a:p>
            <a:pPr marL="755015" lvl="1" indent="-320675">
              <a:lnSpc>
                <a:spcPct val="100000"/>
              </a:lnSpc>
              <a:spcBef>
                <a:spcPts val="244"/>
              </a:spcBef>
              <a:buFont typeface="Apple SD Gothic Neo Light"/>
              <a:buChar char="■"/>
              <a:tabLst>
                <a:tab pos="755015" algn="l"/>
              </a:tabLst>
            </a:pPr>
            <a:r>
              <a:rPr sz="2800" spc="-220" dirty="0">
                <a:latin typeface="Arial"/>
                <a:cs typeface="Arial"/>
              </a:rPr>
              <a:t>Sub-</a:t>
            </a:r>
            <a:r>
              <a:rPr sz="2800" spc="-45" dirty="0">
                <a:latin typeface="Arial"/>
                <a:cs typeface="Arial"/>
              </a:rPr>
              <a:t>dimensiones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1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35" dirty="0">
                <a:latin typeface="Arial"/>
                <a:cs typeface="Arial"/>
              </a:rPr>
              <a:t>Elimina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55" dirty="0">
                <a:latin typeface="Arial"/>
                <a:cs typeface="Arial"/>
              </a:rPr>
              <a:t>redundancias</a:t>
            </a:r>
            <a:endParaRPr sz="2800">
              <a:latin typeface="Arial"/>
              <a:cs typeface="Arial"/>
            </a:endParaRPr>
          </a:p>
          <a:p>
            <a:pPr marL="297815" indent="-292100">
              <a:lnSpc>
                <a:spcPct val="100000"/>
              </a:lnSpc>
              <a:spcBef>
                <a:spcPts val="240"/>
              </a:spcBef>
              <a:buSzPct val="91071"/>
              <a:buFont typeface="Apple SD Gothic Neo Light"/>
              <a:buChar char="■"/>
              <a:tabLst>
                <a:tab pos="297815" algn="l"/>
              </a:tabLst>
            </a:pPr>
            <a:r>
              <a:rPr sz="2800" spc="-175" dirty="0">
                <a:latin typeface="Arial"/>
                <a:cs typeface="Arial"/>
              </a:rPr>
              <a:t>Consultas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complejas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79520" y="2642615"/>
            <a:ext cx="3992879" cy="2429256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4" y="253491"/>
            <a:ext cx="3124835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5080">
              <a:lnSpc>
                <a:spcPct val="71000"/>
              </a:lnSpc>
              <a:spcBef>
                <a:spcPts val="1490"/>
              </a:spcBef>
            </a:pPr>
            <a:r>
              <a:rPr dirty="0"/>
              <a:t>Diseño</a:t>
            </a:r>
            <a:r>
              <a:rPr spc="-45" dirty="0"/>
              <a:t> </a:t>
            </a:r>
            <a:r>
              <a:rPr dirty="0"/>
              <a:t>en</a:t>
            </a:r>
            <a:r>
              <a:rPr spc="-40" dirty="0"/>
              <a:t> </a:t>
            </a:r>
            <a:r>
              <a:rPr spc="-20" dirty="0"/>
              <a:t>copo </a:t>
            </a:r>
            <a:r>
              <a:rPr dirty="0"/>
              <a:t>de</a:t>
            </a:r>
            <a:r>
              <a:rPr spc="-10" dirty="0"/>
              <a:t> nieve:</a:t>
            </a:r>
          </a:p>
          <a:p>
            <a:pPr marL="190500">
              <a:lnSpc>
                <a:spcPct val="100000"/>
              </a:lnSpc>
              <a:spcBef>
                <a:spcPts val="240"/>
              </a:spcBef>
            </a:pPr>
            <a:r>
              <a:rPr sz="2800" spc="-10" dirty="0">
                <a:solidFill>
                  <a:srgbClr val="FF0000"/>
                </a:solidFill>
              </a:rPr>
              <a:t>Normalización: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68512" y="586203"/>
            <a:ext cx="5375489" cy="45572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513207" y="586431"/>
            <a:ext cx="772795" cy="8597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13030" marR="5080" indent="-65405">
              <a:lnSpc>
                <a:spcPct val="100000"/>
              </a:lnSpc>
              <a:spcBef>
                <a:spcPts val="114"/>
              </a:spcBef>
            </a:pPr>
            <a:r>
              <a:rPr sz="850" b="1" spc="-10" dirty="0">
                <a:latin typeface="Gill Sans"/>
                <a:cs typeface="Gill Sans"/>
              </a:rPr>
              <a:t>DIMENSIÓN ESPACIAL</a:t>
            </a:r>
            <a:endParaRPr sz="850">
              <a:latin typeface="Gill Sans"/>
              <a:cs typeface="Gill Sans"/>
            </a:endParaRPr>
          </a:p>
          <a:p>
            <a:pPr marL="12700" marR="47625">
              <a:lnSpc>
                <a:spcPct val="100000"/>
              </a:lnSpc>
              <a:spcBef>
                <a:spcPts val="450"/>
              </a:spcBef>
            </a:pPr>
            <a:r>
              <a:rPr sz="850" dirty="0">
                <a:solidFill>
                  <a:srgbClr val="5E5E5E"/>
                </a:solidFill>
                <a:latin typeface="Gill Sans"/>
                <a:cs typeface="Gill Sans"/>
              </a:rPr>
              <a:t>Clave</a:t>
            </a:r>
            <a:r>
              <a:rPr sz="850" spc="-30" dirty="0">
                <a:solidFill>
                  <a:srgbClr val="5E5E5E"/>
                </a:solidFill>
                <a:latin typeface="Gill Sans"/>
                <a:cs typeface="Gill Sans"/>
              </a:rPr>
              <a:t> </a:t>
            </a:r>
            <a:r>
              <a:rPr sz="850" spc="-10" dirty="0">
                <a:solidFill>
                  <a:srgbClr val="5E5E5E"/>
                </a:solidFill>
                <a:latin typeface="Gill Sans"/>
                <a:cs typeface="Gill Sans"/>
              </a:rPr>
              <a:t>Lugar Act_Económica Salario Situacion_Fiscal</a:t>
            </a:r>
            <a:endParaRPr sz="850">
              <a:latin typeface="Gill Sans"/>
              <a:cs typeface="Gill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61482" y="1756523"/>
            <a:ext cx="848994" cy="121094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60020" marR="34290" indent="-65405">
              <a:lnSpc>
                <a:spcPct val="100000"/>
              </a:lnSpc>
              <a:spcBef>
                <a:spcPts val="114"/>
              </a:spcBef>
            </a:pPr>
            <a:r>
              <a:rPr sz="850" b="1" spc="-10" dirty="0">
                <a:latin typeface="Gill Sans"/>
                <a:cs typeface="Gill Sans"/>
              </a:rPr>
              <a:t>DIMENSIÓN LABORAL</a:t>
            </a:r>
            <a:endParaRPr sz="850">
              <a:latin typeface="Gill Sans"/>
              <a:cs typeface="Gill Sans"/>
            </a:endParaRPr>
          </a:p>
          <a:p>
            <a:pPr marL="12700" marR="5080">
              <a:lnSpc>
                <a:spcPct val="100000"/>
              </a:lnSpc>
              <a:spcBef>
                <a:spcPts val="175"/>
              </a:spcBef>
            </a:pPr>
            <a:r>
              <a:rPr sz="850" spc="-10" dirty="0">
                <a:solidFill>
                  <a:srgbClr val="5E5E5E"/>
                </a:solidFill>
                <a:latin typeface="Gill Sans"/>
                <a:cs typeface="Gill Sans"/>
              </a:rPr>
              <a:t>Clave</a:t>
            </a:r>
            <a:r>
              <a:rPr sz="850" spc="-90" dirty="0">
                <a:solidFill>
                  <a:srgbClr val="5E5E5E"/>
                </a:solidFill>
                <a:latin typeface="Gill Sans"/>
                <a:cs typeface="Gill Sans"/>
              </a:rPr>
              <a:t> </a:t>
            </a:r>
            <a:r>
              <a:rPr sz="850" spc="-10" dirty="0">
                <a:solidFill>
                  <a:srgbClr val="5E5E5E"/>
                </a:solidFill>
                <a:latin typeface="Gill Sans"/>
                <a:cs typeface="Gill Sans"/>
              </a:rPr>
              <a:t>Trabajo Salario</a:t>
            </a:r>
            <a:r>
              <a:rPr sz="850" spc="500" dirty="0">
                <a:solidFill>
                  <a:srgbClr val="5E5E5E"/>
                </a:solidFill>
                <a:latin typeface="Gill Sans"/>
                <a:cs typeface="Gill Sans"/>
              </a:rPr>
              <a:t> </a:t>
            </a:r>
            <a:r>
              <a:rPr sz="850" spc="-10" dirty="0">
                <a:solidFill>
                  <a:srgbClr val="5E5E5E"/>
                </a:solidFill>
                <a:latin typeface="Gill Sans"/>
                <a:cs typeface="Gill Sans"/>
              </a:rPr>
              <a:t>Retenciones Riesgos_Laborales Durabilidad Antigüedad Pluriempleo</a:t>
            </a:r>
            <a:endParaRPr sz="850">
              <a:latin typeface="Gill Sans"/>
              <a:cs typeface="Gill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30957" y="1773143"/>
            <a:ext cx="854075" cy="121094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24790" marR="5080" indent="-95885">
              <a:lnSpc>
                <a:spcPct val="100000"/>
              </a:lnSpc>
              <a:spcBef>
                <a:spcPts val="114"/>
              </a:spcBef>
            </a:pPr>
            <a:r>
              <a:rPr sz="850" b="1" spc="-10" dirty="0">
                <a:latin typeface="Gill Sans"/>
                <a:cs typeface="Gill Sans"/>
              </a:rPr>
              <a:t>DIMENSIÓN CLIENTE</a:t>
            </a:r>
            <a:endParaRPr sz="850">
              <a:latin typeface="Gill Sans"/>
              <a:cs typeface="Gill Sans"/>
            </a:endParaRPr>
          </a:p>
          <a:p>
            <a:pPr marL="12700" marR="234315">
              <a:lnSpc>
                <a:spcPct val="100000"/>
              </a:lnSpc>
              <a:spcBef>
                <a:spcPts val="175"/>
              </a:spcBef>
            </a:pPr>
            <a:r>
              <a:rPr sz="850" dirty="0">
                <a:solidFill>
                  <a:srgbClr val="5E5E5E"/>
                </a:solidFill>
                <a:latin typeface="Gill Sans"/>
                <a:cs typeface="Gill Sans"/>
              </a:rPr>
              <a:t>Clave</a:t>
            </a:r>
            <a:r>
              <a:rPr sz="850" spc="-30" dirty="0">
                <a:solidFill>
                  <a:srgbClr val="5E5E5E"/>
                </a:solidFill>
                <a:latin typeface="Gill Sans"/>
                <a:cs typeface="Gill Sans"/>
              </a:rPr>
              <a:t> </a:t>
            </a:r>
            <a:r>
              <a:rPr sz="850" spc="-10" dirty="0">
                <a:solidFill>
                  <a:srgbClr val="5E5E5E"/>
                </a:solidFill>
                <a:latin typeface="Gill Sans"/>
                <a:cs typeface="Gill Sans"/>
              </a:rPr>
              <a:t>Cliente </a:t>
            </a:r>
            <a:r>
              <a:rPr sz="850" spc="-20" dirty="0">
                <a:solidFill>
                  <a:srgbClr val="5E5E5E"/>
                </a:solidFill>
                <a:latin typeface="Gill Sans"/>
                <a:cs typeface="Gill Sans"/>
              </a:rPr>
              <a:t>Sexo </a:t>
            </a:r>
            <a:r>
              <a:rPr sz="850" spc="-10" dirty="0">
                <a:solidFill>
                  <a:srgbClr val="5E5E5E"/>
                </a:solidFill>
                <a:latin typeface="Gill Sans"/>
                <a:cs typeface="Gill Sans"/>
              </a:rPr>
              <a:t>Nacionalidad </a:t>
            </a:r>
            <a:r>
              <a:rPr sz="850" spc="-20" dirty="0">
                <a:solidFill>
                  <a:srgbClr val="5E5E5E"/>
                </a:solidFill>
                <a:latin typeface="Gill Sans"/>
                <a:cs typeface="Gill Sans"/>
              </a:rPr>
              <a:t>Edad</a:t>
            </a:r>
            <a:endParaRPr sz="850">
              <a:latin typeface="Gill Sans"/>
              <a:cs typeface="Gill Sans"/>
            </a:endParaRPr>
          </a:p>
          <a:p>
            <a:pPr marL="12700" marR="217170">
              <a:lnSpc>
                <a:spcPts val="1010"/>
              </a:lnSpc>
              <a:spcBef>
                <a:spcPts val="15"/>
              </a:spcBef>
            </a:pPr>
            <a:r>
              <a:rPr sz="850" dirty="0">
                <a:solidFill>
                  <a:srgbClr val="5E5E5E"/>
                </a:solidFill>
                <a:latin typeface="Gill Sans"/>
                <a:cs typeface="Gill Sans"/>
              </a:rPr>
              <a:t>Estado</a:t>
            </a:r>
            <a:r>
              <a:rPr sz="850" spc="30" dirty="0">
                <a:solidFill>
                  <a:srgbClr val="5E5E5E"/>
                </a:solidFill>
                <a:latin typeface="Gill Sans"/>
                <a:cs typeface="Gill Sans"/>
              </a:rPr>
              <a:t> </a:t>
            </a:r>
            <a:r>
              <a:rPr sz="850" spc="-10" dirty="0">
                <a:solidFill>
                  <a:srgbClr val="5E5E5E"/>
                </a:solidFill>
                <a:latin typeface="Gill Sans"/>
                <a:cs typeface="Gill Sans"/>
              </a:rPr>
              <a:t>Civil Estudios Antecedentes</a:t>
            </a:r>
            <a:endParaRPr sz="850">
              <a:latin typeface="Gill Sans"/>
              <a:cs typeface="Gill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93332" y="3271171"/>
            <a:ext cx="832485" cy="7747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15570" marR="58419" indent="-62865">
              <a:lnSpc>
                <a:spcPct val="100000"/>
              </a:lnSpc>
              <a:spcBef>
                <a:spcPts val="114"/>
              </a:spcBef>
            </a:pPr>
            <a:r>
              <a:rPr sz="850" b="1" spc="-10" dirty="0">
                <a:latin typeface="Gill Sans"/>
                <a:cs typeface="Gill Sans"/>
              </a:rPr>
              <a:t>DIMENSIÓN FAMILIAR</a:t>
            </a:r>
            <a:endParaRPr sz="850">
              <a:latin typeface="Gill Sans"/>
              <a:cs typeface="Gill Sans"/>
            </a:endParaRPr>
          </a:p>
          <a:p>
            <a:pPr marL="12700" marR="5080">
              <a:lnSpc>
                <a:spcPct val="100000"/>
              </a:lnSpc>
              <a:spcBef>
                <a:spcPts val="790"/>
              </a:spcBef>
            </a:pPr>
            <a:r>
              <a:rPr sz="850" dirty="0">
                <a:solidFill>
                  <a:srgbClr val="5E5E5E"/>
                </a:solidFill>
                <a:latin typeface="Gill Sans"/>
                <a:cs typeface="Gill Sans"/>
              </a:rPr>
              <a:t>Clave</a:t>
            </a:r>
            <a:r>
              <a:rPr sz="850" spc="-30" dirty="0">
                <a:solidFill>
                  <a:srgbClr val="5E5E5E"/>
                </a:solidFill>
                <a:latin typeface="Gill Sans"/>
                <a:cs typeface="Gill Sans"/>
              </a:rPr>
              <a:t> </a:t>
            </a:r>
            <a:r>
              <a:rPr sz="850" spc="-10" dirty="0">
                <a:solidFill>
                  <a:srgbClr val="5E5E5E"/>
                </a:solidFill>
                <a:latin typeface="Gill Sans"/>
                <a:cs typeface="Gill Sans"/>
              </a:rPr>
              <a:t>Familia Cargas_Familiares </a:t>
            </a:r>
            <a:r>
              <a:rPr sz="850" spc="-20" dirty="0">
                <a:solidFill>
                  <a:srgbClr val="5E5E5E"/>
                </a:solidFill>
                <a:latin typeface="Gill Sans"/>
                <a:cs typeface="Gill Sans"/>
              </a:rPr>
              <a:t>Aval</a:t>
            </a:r>
            <a:endParaRPr sz="850">
              <a:latin typeface="Gill Sans"/>
              <a:cs typeface="Gill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05865" y="1751928"/>
            <a:ext cx="977900" cy="12058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93345" marR="5080" indent="-81280">
              <a:lnSpc>
                <a:spcPct val="100000"/>
              </a:lnSpc>
              <a:spcBef>
                <a:spcPts val="114"/>
              </a:spcBef>
            </a:pPr>
            <a:r>
              <a:rPr sz="850" b="1" dirty="0">
                <a:latin typeface="Gill Sans"/>
                <a:cs typeface="Gill Sans"/>
              </a:rPr>
              <a:t>TABLA</a:t>
            </a:r>
            <a:r>
              <a:rPr sz="850" b="1" spc="-50" dirty="0">
                <a:latin typeface="Gill Sans"/>
                <a:cs typeface="Gill Sans"/>
              </a:rPr>
              <a:t> </a:t>
            </a:r>
            <a:r>
              <a:rPr sz="850" b="1" spc="-10" dirty="0">
                <a:latin typeface="Gill Sans"/>
                <a:cs typeface="Gill Sans"/>
              </a:rPr>
              <a:t>HECHOS (IDONEIDAD)</a:t>
            </a:r>
            <a:endParaRPr sz="850">
              <a:latin typeface="Gill Sans"/>
              <a:cs typeface="Gill Sans"/>
            </a:endParaRPr>
          </a:p>
          <a:p>
            <a:pPr marL="39370" marR="80010">
              <a:lnSpc>
                <a:spcPct val="100000"/>
              </a:lnSpc>
              <a:spcBef>
                <a:spcPts val="135"/>
              </a:spcBef>
            </a:pPr>
            <a:r>
              <a:rPr sz="850" dirty="0">
                <a:solidFill>
                  <a:srgbClr val="5E5E5E"/>
                </a:solidFill>
                <a:latin typeface="Gill Sans"/>
                <a:cs typeface="Gill Sans"/>
              </a:rPr>
              <a:t>Clave</a:t>
            </a:r>
            <a:r>
              <a:rPr sz="850" spc="-30" dirty="0">
                <a:solidFill>
                  <a:srgbClr val="5E5E5E"/>
                </a:solidFill>
                <a:latin typeface="Gill Sans"/>
                <a:cs typeface="Gill Sans"/>
              </a:rPr>
              <a:t> </a:t>
            </a:r>
            <a:r>
              <a:rPr sz="850" spc="-10" dirty="0">
                <a:solidFill>
                  <a:srgbClr val="5E5E5E"/>
                </a:solidFill>
                <a:latin typeface="Gill Sans"/>
                <a:cs typeface="Gill Sans"/>
              </a:rPr>
              <a:t>Cliente</a:t>
            </a:r>
            <a:r>
              <a:rPr sz="850" spc="500" dirty="0">
                <a:solidFill>
                  <a:srgbClr val="5E5E5E"/>
                </a:solidFill>
                <a:latin typeface="Gill Sans"/>
                <a:cs typeface="Gill Sans"/>
              </a:rPr>
              <a:t> </a:t>
            </a:r>
            <a:r>
              <a:rPr sz="850" spc="-10" dirty="0">
                <a:solidFill>
                  <a:srgbClr val="5E5E5E"/>
                </a:solidFill>
                <a:latin typeface="Gill Sans"/>
                <a:cs typeface="Gill Sans"/>
              </a:rPr>
              <a:t>Clave</a:t>
            </a:r>
            <a:r>
              <a:rPr sz="850" spc="-90" dirty="0">
                <a:solidFill>
                  <a:srgbClr val="5E5E5E"/>
                </a:solidFill>
                <a:latin typeface="Gill Sans"/>
                <a:cs typeface="Gill Sans"/>
              </a:rPr>
              <a:t> </a:t>
            </a:r>
            <a:r>
              <a:rPr sz="850" spc="-10" dirty="0">
                <a:solidFill>
                  <a:srgbClr val="5E5E5E"/>
                </a:solidFill>
                <a:latin typeface="Gill Sans"/>
                <a:cs typeface="Gill Sans"/>
              </a:rPr>
              <a:t>Trabajo</a:t>
            </a:r>
            <a:r>
              <a:rPr sz="850" spc="500" dirty="0">
                <a:solidFill>
                  <a:srgbClr val="5E5E5E"/>
                </a:solidFill>
                <a:latin typeface="Gill Sans"/>
                <a:cs typeface="Gill Sans"/>
              </a:rPr>
              <a:t> </a:t>
            </a:r>
            <a:r>
              <a:rPr sz="850" dirty="0">
                <a:solidFill>
                  <a:srgbClr val="5E5E5E"/>
                </a:solidFill>
                <a:latin typeface="Gill Sans"/>
                <a:cs typeface="Gill Sans"/>
              </a:rPr>
              <a:t>Clave</a:t>
            </a:r>
            <a:r>
              <a:rPr sz="850" spc="-30" dirty="0">
                <a:solidFill>
                  <a:srgbClr val="5E5E5E"/>
                </a:solidFill>
                <a:latin typeface="Gill Sans"/>
                <a:cs typeface="Gill Sans"/>
              </a:rPr>
              <a:t> </a:t>
            </a:r>
            <a:r>
              <a:rPr sz="850" spc="-10" dirty="0">
                <a:solidFill>
                  <a:srgbClr val="5E5E5E"/>
                </a:solidFill>
                <a:latin typeface="Gill Sans"/>
                <a:cs typeface="Gill Sans"/>
              </a:rPr>
              <a:t>Familia</a:t>
            </a:r>
            <a:r>
              <a:rPr sz="850" spc="500" dirty="0">
                <a:solidFill>
                  <a:srgbClr val="5E5E5E"/>
                </a:solidFill>
                <a:latin typeface="Gill Sans"/>
                <a:cs typeface="Gill Sans"/>
              </a:rPr>
              <a:t> </a:t>
            </a:r>
            <a:r>
              <a:rPr sz="850" dirty="0">
                <a:solidFill>
                  <a:srgbClr val="5E5E5E"/>
                </a:solidFill>
                <a:latin typeface="Gill Sans"/>
                <a:cs typeface="Gill Sans"/>
              </a:rPr>
              <a:t>Clave</a:t>
            </a:r>
            <a:r>
              <a:rPr sz="850" spc="-30" dirty="0">
                <a:solidFill>
                  <a:srgbClr val="5E5E5E"/>
                </a:solidFill>
                <a:latin typeface="Gill Sans"/>
                <a:cs typeface="Gill Sans"/>
              </a:rPr>
              <a:t> </a:t>
            </a:r>
            <a:r>
              <a:rPr sz="850" spc="-10" dirty="0">
                <a:solidFill>
                  <a:srgbClr val="5E5E5E"/>
                </a:solidFill>
                <a:latin typeface="Gill Sans"/>
                <a:cs typeface="Gill Sans"/>
              </a:rPr>
              <a:t>Lugar Importe_Préstamo</a:t>
            </a:r>
            <a:endParaRPr sz="850">
              <a:latin typeface="Gill Sans"/>
              <a:cs typeface="Gill Sans"/>
            </a:endParaRPr>
          </a:p>
          <a:p>
            <a:pPr marL="39370" marR="15875">
              <a:lnSpc>
                <a:spcPts val="1010"/>
              </a:lnSpc>
              <a:spcBef>
                <a:spcPts val="5"/>
              </a:spcBef>
            </a:pPr>
            <a:r>
              <a:rPr sz="850" spc="-10" dirty="0">
                <a:solidFill>
                  <a:srgbClr val="5E5E5E"/>
                </a:solidFill>
                <a:latin typeface="Gill Sans"/>
                <a:cs typeface="Gill Sans"/>
              </a:rPr>
              <a:t>Tiempo_Devolución Interés</a:t>
            </a:r>
            <a:endParaRPr sz="850">
              <a:latin typeface="Gill Sans"/>
              <a:cs typeface="Gill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91963" y="1938496"/>
            <a:ext cx="749935" cy="8629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70485" marR="5080" indent="-45720">
              <a:lnSpc>
                <a:spcPct val="100000"/>
              </a:lnSpc>
              <a:spcBef>
                <a:spcPts val="114"/>
              </a:spcBef>
            </a:pPr>
            <a:r>
              <a:rPr sz="850" b="1" spc="-10" dirty="0">
                <a:latin typeface="Gill Sans"/>
                <a:cs typeface="Gill Sans"/>
              </a:rPr>
              <a:t>DIMENSIÓN ANTECED.</a:t>
            </a:r>
            <a:endParaRPr sz="850">
              <a:latin typeface="Gill Sans"/>
              <a:cs typeface="Gill Sans"/>
            </a:endParaRPr>
          </a:p>
          <a:p>
            <a:pPr marL="12700" marR="48260" algn="just">
              <a:lnSpc>
                <a:spcPct val="100000"/>
              </a:lnSpc>
              <a:spcBef>
                <a:spcPts val="475"/>
              </a:spcBef>
            </a:pPr>
            <a:r>
              <a:rPr sz="850" spc="-10" dirty="0">
                <a:solidFill>
                  <a:srgbClr val="5E5E5E"/>
                </a:solidFill>
                <a:latin typeface="Gill Sans"/>
                <a:cs typeface="Gill Sans"/>
              </a:rPr>
              <a:t>Clave_Anteced Ant_Bancarios Ant_Sanitarios Ant_Civiles</a:t>
            </a:r>
            <a:endParaRPr sz="850">
              <a:latin typeface="Gill Sans"/>
              <a:cs typeface="Gill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42522" y="3290560"/>
            <a:ext cx="745490" cy="7359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15900" marR="5080" indent="-195580">
              <a:lnSpc>
                <a:spcPct val="100000"/>
              </a:lnSpc>
              <a:spcBef>
                <a:spcPts val="114"/>
              </a:spcBef>
            </a:pPr>
            <a:r>
              <a:rPr sz="850" b="1" spc="-10" dirty="0">
                <a:latin typeface="Gill Sans"/>
                <a:cs typeface="Gill Sans"/>
              </a:rPr>
              <a:t>DIMENSIÓN </a:t>
            </a:r>
            <a:r>
              <a:rPr sz="850" b="1" spc="-20" dirty="0">
                <a:latin typeface="Gill Sans"/>
                <a:cs typeface="Gill Sans"/>
              </a:rPr>
              <a:t>AVAL</a:t>
            </a:r>
            <a:endParaRPr sz="850">
              <a:latin typeface="Gill Sans"/>
              <a:cs typeface="Gill Sans"/>
            </a:endParaRPr>
          </a:p>
          <a:p>
            <a:pPr marL="12700" marR="269875">
              <a:lnSpc>
                <a:spcPct val="100000"/>
              </a:lnSpc>
              <a:spcBef>
                <a:spcPts val="484"/>
              </a:spcBef>
            </a:pPr>
            <a:r>
              <a:rPr sz="850" spc="-10" dirty="0">
                <a:solidFill>
                  <a:srgbClr val="5E5E5E"/>
                </a:solidFill>
                <a:latin typeface="Gill Sans"/>
                <a:cs typeface="Gill Sans"/>
              </a:rPr>
              <a:t>Clave</a:t>
            </a:r>
            <a:r>
              <a:rPr sz="850" spc="-70" dirty="0">
                <a:solidFill>
                  <a:srgbClr val="5E5E5E"/>
                </a:solidFill>
                <a:latin typeface="Gill Sans"/>
                <a:cs typeface="Gill Sans"/>
              </a:rPr>
              <a:t> </a:t>
            </a:r>
            <a:r>
              <a:rPr sz="850" spc="-20" dirty="0">
                <a:solidFill>
                  <a:srgbClr val="5E5E5E"/>
                </a:solidFill>
                <a:latin typeface="Gill Sans"/>
                <a:cs typeface="Gill Sans"/>
              </a:rPr>
              <a:t>Aval </a:t>
            </a:r>
            <a:r>
              <a:rPr sz="850" spc="-10" dirty="0">
                <a:solidFill>
                  <a:srgbClr val="5E5E5E"/>
                </a:solidFill>
                <a:latin typeface="Gill Sans"/>
                <a:cs typeface="Gill Sans"/>
              </a:rPr>
              <a:t>Familiar Bien_Aval</a:t>
            </a:r>
            <a:endParaRPr sz="850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4" y="253491"/>
            <a:ext cx="2942590" cy="152527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marR="5080">
              <a:lnSpc>
                <a:spcPct val="71000"/>
              </a:lnSpc>
              <a:spcBef>
                <a:spcPts val="1490"/>
              </a:spcBef>
            </a:pPr>
            <a:r>
              <a:rPr dirty="0"/>
              <a:t>Diseño</a:t>
            </a:r>
            <a:r>
              <a:rPr spc="-65" dirty="0"/>
              <a:t> </a:t>
            </a:r>
            <a:r>
              <a:rPr spc="-25" dirty="0"/>
              <a:t>en </a:t>
            </a:r>
            <a:r>
              <a:rPr dirty="0"/>
              <a:t>copo</a:t>
            </a:r>
            <a:r>
              <a:rPr spc="-2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spc="-10" dirty="0"/>
              <a:t>nieve:</a:t>
            </a:r>
          </a:p>
          <a:p>
            <a:pPr marL="869950">
              <a:lnSpc>
                <a:spcPct val="100000"/>
              </a:lnSpc>
              <a:spcBef>
                <a:spcPts val="240"/>
              </a:spcBef>
            </a:pPr>
            <a:r>
              <a:rPr sz="2800" spc="-10" dirty="0">
                <a:solidFill>
                  <a:srgbClr val="FF0000"/>
                </a:solidFill>
              </a:rPr>
              <a:t>Resumen: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4"/>
                </a:moveTo>
                <a:lnTo>
                  <a:pt x="373441" y="863065"/>
                </a:lnTo>
                <a:lnTo>
                  <a:pt x="326852" y="870829"/>
                </a:lnTo>
                <a:lnTo>
                  <a:pt x="282088" y="883425"/>
                </a:lnTo>
                <a:lnTo>
                  <a:pt x="239430" y="900570"/>
                </a:lnTo>
                <a:lnTo>
                  <a:pt x="199160" y="921983"/>
                </a:lnTo>
                <a:lnTo>
                  <a:pt x="161560" y="947381"/>
                </a:lnTo>
                <a:lnTo>
                  <a:pt x="126911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0"/>
                </a:lnTo>
                <a:lnTo>
                  <a:pt x="0" y="1199915"/>
                </a:lnTo>
                <a:lnTo>
                  <a:pt x="843141" y="1199915"/>
                </a:lnTo>
                <a:lnTo>
                  <a:pt x="819666" y="1124290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1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4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2" y="32837"/>
                </a:lnTo>
                <a:lnTo>
                  <a:pt x="711268" y="53161"/>
                </a:lnTo>
                <a:lnTo>
                  <a:pt x="673568" y="77425"/>
                </a:lnTo>
                <a:lnTo>
                  <a:pt x="638686" y="105358"/>
                </a:lnTo>
                <a:lnTo>
                  <a:pt x="606891" y="136689"/>
                </a:lnTo>
                <a:lnTo>
                  <a:pt x="578456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6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3"/>
                </a:lnTo>
                <a:lnTo>
                  <a:pt x="578456" y="685587"/>
                </a:lnTo>
                <a:lnTo>
                  <a:pt x="606891" y="720045"/>
                </a:lnTo>
                <a:lnTo>
                  <a:pt x="638686" y="751376"/>
                </a:lnTo>
                <a:lnTo>
                  <a:pt x="673568" y="779309"/>
                </a:lnTo>
                <a:lnTo>
                  <a:pt x="711268" y="803573"/>
                </a:lnTo>
                <a:lnTo>
                  <a:pt x="751512" y="823897"/>
                </a:lnTo>
                <a:lnTo>
                  <a:pt x="794032" y="840009"/>
                </a:lnTo>
                <a:lnTo>
                  <a:pt x="838554" y="851637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DEA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875485" y="421885"/>
            <a:ext cx="1586865" cy="892810"/>
            <a:chOff x="3875485" y="421885"/>
            <a:chExt cx="1586865" cy="892810"/>
          </a:xfrm>
        </p:grpSpPr>
        <p:sp>
          <p:nvSpPr>
            <p:cNvPr id="5" name="object 5"/>
            <p:cNvSpPr/>
            <p:nvPr/>
          </p:nvSpPr>
          <p:spPr>
            <a:xfrm>
              <a:off x="3888185" y="434585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4" h="867410">
                  <a:moveTo>
                    <a:pt x="1474326" y="0"/>
                  </a:moveTo>
                  <a:lnTo>
                    <a:pt x="86724" y="0"/>
                  </a:lnTo>
                  <a:lnTo>
                    <a:pt x="52967" y="6815"/>
                  </a:lnTo>
                  <a:lnTo>
                    <a:pt x="25400" y="25401"/>
                  </a:lnTo>
                  <a:lnTo>
                    <a:pt x="6815" y="52967"/>
                  </a:lnTo>
                  <a:lnTo>
                    <a:pt x="0" y="86725"/>
                  </a:lnTo>
                  <a:lnTo>
                    <a:pt x="0" y="780525"/>
                  </a:lnTo>
                  <a:lnTo>
                    <a:pt x="6815" y="814282"/>
                  </a:lnTo>
                  <a:lnTo>
                    <a:pt x="25400" y="841849"/>
                  </a:lnTo>
                  <a:lnTo>
                    <a:pt x="52967" y="860435"/>
                  </a:lnTo>
                  <a:lnTo>
                    <a:pt x="86724" y="867251"/>
                  </a:lnTo>
                  <a:lnTo>
                    <a:pt x="1474326" y="867251"/>
                  </a:lnTo>
                  <a:lnTo>
                    <a:pt x="1508083" y="860435"/>
                  </a:lnTo>
                  <a:lnTo>
                    <a:pt x="1535650" y="841849"/>
                  </a:lnTo>
                  <a:lnTo>
                    <a:pt x="1554236" y="814282"/>
                  </a:lnTo>
                  <a:lnTo>
                    <a:pt x="1561052" y="780525"/>
                  </a:lnTo>
                  <a:lnTo>
                    <a:pt x="1561052" y="86725"/>
                  </a:lnTo>
                  <a:lnTo>
                    <a:pt x="1554236" y="52967"/>
                  </a:lnTo>
                  <a:lnTo>
                    <a:pt x="1535650" y="25401"/>
                  </a:lnTo>
                  <a:lnTo>
                    <a:pt x="1508083" y="6815"/>
                  </a:lnTo>
                  <a:lnTo>
                    <a:pt x="1474326" y="0"/>
                  </a:lnTo>
                  <a:close/>
                </a:path>
              </a:pathLst>
            </a:custGeom>
            <a:solidFill>
              <a:srgbClr val="D7E4BD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88185" y="434585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4" h="867410">
                  <a:moveTo>
                    <a:pt x="0" y="86725"/>
                  </a:moveTo>
                  <a:lnTo>
                    <a:pt x="6815" y="52967"/>
                  </a:lnTo>
                  <a:lnTo>
                    <a:pt x="25401" y="25401"/>
                  </a:lnTo>
                  <a:lnTo>
                    <a:pt x="52967" y="6815"/>
                  </a:lnTo>
                  <a:lnTo>
                    <a:pt x="86725" y="0"/>
                  </a:lnTo>
                  <a:lnTo>
                    <a:pt x="1474327" y="0"/>
                  </a:lnTo>
                  <a:lnTo>
                    <a:pt x="1508084" y="6815"/>
                  </a:lnTo>
                  <a:lnTo>
                    <a:pt x="1535650" y="25401"/>
                  </a:lnTo>
                  <a:lnTo>
                    <a:pt x="1554236" y="52967"/>
                  </a:lnTo>
                  <a:lnTo>
                    <a:pt x="1561052" y="86725"/>
                  </a:lnTo>
                  <a:lnTo>
                    <a:pt x="1561052" y="780525"/>
                  </a:lnTo>
                  <a:lnTo>
                    <a:pt x="1554236" y="814283"/>
                  </a:lnTo>
                  <a:lnTo>
                    <a:pt x="1535650" y="841849"/>
                  </a:lnTo>
                  <a:lnTo>
                    <a:pt x="1508084" y="860435"/>
                  </a:lnTo>
                  <a:lnTo>
                    <a:pt x="1474327" y="867251"/>
                  </a:lnTo>
                  <a:lnTo>
                    <a:pt x="86725" y="867251"/>
                  </a:lnTo>
                  <a:lnTo>
                    <a:pt x="52967" y="860435"/>
                  </a:lnTo>
                  <a:lnTo>
                    <a:pt x="25401" y="841849"/>
                  </a:lnTo>
                  <a:lnTo>
                    <a:pt x="6815" y="814283"/>
                  </a:lnTo>
                  <a:lnTo>
                    <a:pt x="0" y="780525"/>
                  </a:lnTo>
                  <a:lnTo>
                    <a:pt x="0" y="8672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272883" y="697991"/>
            <a:ext cx="79184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25" dirty="0">
                <a:latin typeface="Arial"/>
                <a:cs typeface="Arial"/>
              </a:rPr>
              <a:t>Ventajas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130338" y="421885"/>
            <a:ext cx="1586865" cy="892810"/>
            <a:chOff x="6130338" y="421885"/>
            <a:chExt cx="1586865" cy="892810"/>
          </a:xfrm>
        </p:grpSpPr>
        <p:sp>
          <p:nvSpPr>
            <p:cNvPr id="9" name="object 9"/>
            <p:cNvSpPr/>
            <p:nvPr/>
          </p:nvSpPr>
          <p:spPr>
            <a:xfrm>
              <a:off x="6143038" y="434585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5" h="867410">
                  <a:moveTo>
                    <a:pt x="1474326" y="0"/>
                  </a:moveTo>
                  <a:lnTo>
                    <a:pt x="86724" y="0"/>
                  </a:lnTo>
                  <a:lnTo>
                    <a:pt x="52967" y="6815"/>
                  </a:lnTo>
                  <a:lnTo>
                    <a:pt x="25400" y="25401"/>
                  </a:lnTo>
                  <a:lnTo>
                    <a:pt x="6815" y="52967"/>
                  </a:lnTo>
                  <a:lnTo>
                    <a:pt x="0" y="86725"/>
                  </a:lnTo>
                  <a:lnTo>
                    <a:pt x="0" y="780525"/>
                  </a:lnTo>
                  <a:lnTo>
                    <a:pt x="6815" y="814282"/>
                  </a:lnTo>
                  <a:lnTo>
                    <a:pt x="25400" y="841849"/>
                  </a:lnTo>
                  <a:lnTo>
                    <a:pt x="52967" y="860435"/>
                  </a:lnTo>
                  <a:lnTo>
                    <a:pt x="86724" y="867251"/>
                  </a:lnTo>
                  <a:lnTo>
                    <a:pt x="1474326" y="867251"/>
                  </a:lnTo>
                  <a:lnTo>
                    <a:pt x="1508083" y="860435"/>
                  </a:lnTo>
                  <a:lnTo>
                    <a:pt x="1535650" y="841849"/>
                  </a:lnTo>
                  <a:lnTo>
                    <a:pt x="1554235" y="814282"/>
                  </a:lnTo>
                  <a:lnTo>
                    <a:pt x="1561050" y="780525"/>
                  </a:lnTo>
                  <a:lnTo>
                    <a:pt x="1561050" y="86725"/>
                  </a:lnTo>
                  <a:lnTo>
                    <a:pt x="1554235" y="52967"/>
                  </a:lnTo>
                  <a:lnTo>
                    <a:pt x="1535650" y="25401"/>
                  </a:lnTo>
                  <a:lnTo>
                    <a:pt x="1508083" y="6815"/>
                  </a:lnTo>
                  <a:lnTo>
                    <a:pt x="1474326" y="0"/>
                  </a:lnTo>
                  <a:close/>
                </a:path>
              </a:pathLst>
            </a:custGeom>
            <a:solidFill>
              <a:srgbClr val="D7E4BD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43038" y="434585"/>
              <a:ext cx="1561465" cy="867410"/>
            </a:xfrm>
            <a:custGeom>
              <a:avLst/>
              <a:gdLst/>
              <a:ahLst/>
              <a:cxnLst/>
              <a:rect l="l" t="t" r="r" b="b"/>
              <a:pathLst>
                <a:path w="1561465" h="867410">
                  <a:moveTo>
                    <a:pt x="0" y="86725"/>
                  </a:moveTo>
                  <a:lnTo>
                    <a:pt x="6815" y="52967"/>
                  </a:lnTo>
                  <a:lnTo>
                    <a:pt x="25401" y="25401"/>
                  </a:lnTo>
                  <a:lnTo>
                    <a:pt x="52967" y="6815"/>
                  </a:lnTo>
                  <a:lnTo>
                    <a:pt x="86725" y="0"/>
                  </a:lnTo>
                  <a:lnTo>
                    <a:pt x="1474327" y="0"/>
                  </a:lnTo>
                  <a:lnTo>
                    <a:pt x="1508084" y="6815"/>
                  </a:lnTo>
                  <a:lnTo>
                    <a:pt x="1535650" y="25401"/>
                  </a:lnTo>
                  <a:lnTo>
                    <a:pt x="1554236" y="52967"/>
                  </a:lnTo>
                  <a:lnTo>
                    <a:pt x="1561052" y="86725"/>
                  </a:lnTo>
                  <a:lnTo>
                    <a:pt x="1561052" y="780525"/>
                  </a:lnTo>
                  <a:lnTo>
                    <a:pt x="1554236" y="814283"/>
                  </a:lnTo>
                  <a:lnTo>
                    <a:pt x="1535650" y="841849"/>
                  </a:lnTo>
                  <a:lnTo>
                    <a:pt x="1508084" y="860435"/>
                  </a:lnTo>
                  <a:lnTo>
                    <a:pt x="1474327" y="867251"/>
                  </a:lnTo>
                  <a:lnTo>
                    <a:pt x="86725" y="867251"/>
                  </a:lnTo>
                  <a:lnTo>
                    <a:pt x="52967" y="860435"/>
                  </a:lnTo>
                  <a:lnTo>
                    <a:pt x="25401" y="841849"/>
                  </a:lnTo>
                  <a:lnTo>
                    <a:pt x="6815" y="814283"/>
                  </a:lnTo>
                  <a:lnTo>
                    <a:pt x="0" y="780525"/>
                  </a:lnTo>
                  <a:lnTo>
                    <a:pt x="0" y="86725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231382" y="697991"/>
            <a:ext cx="138366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25" dirty="0">
                <a:latin typeface="Arial"/>
                <a:cs typeface="Arial"/>
              </a:rPr>
              <a:t>Inconvenientes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832122" y="3075673"/>
            <a:ext cx="3928110" cy="1708150"/>
            <a:chOff x="3832122" y="3075673"/>
            <a:chExt cx="3928110" cy="1708150"/>
          </a:xfrm>
        </p:grpSpPr>
        <p:sp>
          <p:nvSpPr>
            <p:cNvPr id="13" name="object 13"/>
            <p:cNvSpPr/>
            <p:nvPr/>
          </p:nvSpPr>
          <p:spPr>
            <a:xfrm>
              <a:off x="5470917" y="4120401"/>
              <a:ext cx="650875" cy="650875"/>
            </a:xfrm>
            <a:custGeom>
              <a:avLst/>
              <a:gdLst/>
              <a:ahLst/>
              <a:cxnLst/>
              <a:rect l="l" t="t" r="r" b="b"/>
              <a:pathLst>
                <a:path w="650875" h="650875">
                  <a:moveTo>
                    <a:pt x="325219" y="0"/>
                  </a:moveTo>
                  <a:lnTo>
                    <a:pt x="0" y="650437"/>
                  </a:lnTo>
                  <a:lnTo>
                    <a:pt x="650438" y="650437"/>
                  </a:lnTo>
                  <a:lnTo>
                    <a:pt x="325219" y="0"/>
                  </a:lnTo>
                  <a:close/>
                </a:path>
              </a:pathLst>
            </a:custGeom>
            <a:solidFill>
              <a:srgbClr val="D0D8E8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470917" y="4120401"/>
              <a:ext cx="650875" cy="650875"/>
            </a:xfrm>
            <a:custGeom>
              <a:avLst/>
              <a:gdLst/>
              <a:ahLst/>
              <a:cxnLst/>
              <a:rect l="l" t="t" r="r" b="b"/>
              <a:pathLst>
                <a:path w="650875" h="650875">
                  <a:moveTo>
                    <a:pt x="0" y="650438"/>
                  </a:moveTo>
                  <a:lnTo>
                    <a:pt x="325219" y="0"/>
                  </a:lnTo>
                  <a:lnTo>
                    <a:pt x="650438" y="650438"/>
                  </a:lnTo>
                  <a:lnTo>
                    <a:pt x="0" y="650438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44822" y="3848084"/>
              <a:ext cx="3902710" cy="264160"/>
            </a:xfrm>
            <a:custGeom>
              <a:avLst/>
              <a:gdLst/>
              <a:ahLst/>
              <a:cxnLst/>
              <a:rect l="l" t="t" r="r" b="b"/>
              <a:pathLst>
                <a:path w="3902709" h="264160">
                  <a:moveTo>
                    <a:pt x="3902629" y="0"/>
                  </a:moveTo>
                  <a:lnTo>
                    <a:pt x="0" y="0"/>
                  </a:lnTo>
                  <a:lnTo>
                    <a:pt x="0" y="263644"/>
                  </a:lnTo>
                  <a:lnTo>
                    <a:pt x="3902629" y="263644"/>
                  </a:lnTo>
                  <a:lnTo>
                    <a:pt x="3902629" y="0"/>
                  </a:lnTo>
                  <a:close/>
                </a:path>
              </a:pathLst>
            </a:custGeom>
            <a:solidFill>
              <a:srgbClr val="D0D8E8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44822" y="3848084"/>
              <a:ext cx="3902710" cy="264160"/>
            </a:xfrm>
            <a:custGeom>
              <a:avLst/>
              <a:gdLst/>
              <a:ahLst/>
              <a:cxnLst/>
              <a:rect l="l" t="t" r="r" b="b"/>
              <a:pathLst>
                <a:path w="3902709" h="264160">
                  <a:moveTo>
                    <a:pt x="0" y="0"/>
                  </a:moveTo>
                  <a:lnTo>
                    <a:pt x="3902630" y="0"/>
                  </a:lnTo>
                  <a:lnTo>
                    <a:pt x="3902630" y="263644"/>
                  </a:lnTo>
                  <a:lnTo>
                    <a:pt x="0" y="263644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43038" y="3088373"/>
              <a:ext cx="1561465" cy="728980"/>
            </a:xfrm>
            <a:custGeom>
              <a:avLst/>
              <a:gdLst/>
              <a:ahLst/>
              <a:cxnLst/>
              <a:rect l="l" t="t" r="r" b="b"/>
              <a:pathLst>
                <a:path w="1561465" h="728979">
                  <a:moveTo>
                    <a:pt x="1439633" y="0"/>
                  </a:moveTo>
                  <a:lnTo>
                    <a:pt x="121415" y="0"/>
                  </a:lnTo>
                  <a:lnTo>
                    <a:pt x="74155" y="9541"/>
                  </a:lnTo>
                  <a:lnTo>
                    <a:pt x="35561" y="35562"/>
                  </a:lnTo>
                  <a:lnTo>
                    <a:pt x="9541" y="74155"/>
                  </a:lnTo>
                  <a:lnTo>
                    <a:pt x="0" y="121417"/>
                  </a:lnTo>
                  <a:lnTo>
                    <a:pt x="0" y="607073"/>
                  </a:lnTo>
                  <a:lnTo>
                    <a:pt x="9541" y="654334"/>
                  </a:lnTo>
                  <a:lnTo>
                    <a:pt x="35561" y="692928"/>
                  </a:lnTo>
                  <a:lnTo>
                    <a:pt x="74155" y="718949"/>
                  </a:lnTo>
                  <a:lnTo>
                    <a:pt x="121415" y="728491"/>
                  </a:lnTo>
                  <a:lnTo>
                    <a:pt x="1439633" y="728491"/>
                  </a:lnTo>
                  <a:lnTo>
                    <a:pt x="1486895" y="718949"/>
                  </a:lnTo>
                  <a:lnTo>
                    <a:pt x="1525488" y="692928"/>
                  </a:lnTo>
                  <a:lnTo>
                    <a:pt x="1551509" y="654334"/>
                  </a:lnTo>
                  <a:lnTo>
                    <a:pt x="1561050" y="607073"/>
                  </a:lnTo>
                  <a:lnTo>
                    <a:pt x="1561050" y="121417"/>
                  </a:lnTo>
                  <a:lnTo>
                    <a:pt x="1551509" y="74155"/>
                  </a:lnTo>
                  <a:lnTo>
                    <a:pt x="1525488" y="35562"/>
                  </a:lnTo>
                  <a:lnTo>
                    <a:pt x="1486895" y="9541"/>
                  </a:lnTo>
                  <a:lnTo>
                    <a:pt x="1439633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143038" y="3088373"/>
              <a:ext cx="1561465" cy="728980"/>
            </a:xfrm>
            <a:custGeom>
              <a:avLst/>
              <a:gdLst/>
              <a:ahLst/>
              <a:cxnLst/>
              <a:rect l="l" t="t" r="r" b="b"/>
              <a:pathLst>
                <a:path w="1561465" h="728979">
                  <a:moveTo>
                    <a:pt x="0" y="121416"/>
                  </a:moveTo>
                  <a:lnTo>
                    <a:pt x="9541" y="74155"/>
                  </a:lnTo>
                  <a:lnTo>
                    <a:pt x="35562" y="35562"/>
                  </a:lnTo>
                  <a:lnTo>
                    <a:pt x="74155" y="9541"/>
                  </a:lnTo>
                  <a:lnTo>
                    <a:pt x="121416" y="0"/>
                  </a:lnTo>
                  <a:lnTo>
                    <a:pt x="1439635" y="0"/>
                  </a:lnTo>
                  <a:lnTo>
                    <a:pt x="1486896" y="9541"/>
                  </a:lnTo>
                  <a:lnTo>
                    <a:pt x="1525489" y="35562"/>
                  </a:lnTo>
                  <a:lnTo>
                    <a:pt x="1551510" y="74155"/>
                  </a:lnTo>
                  <a:lnTo>
                    <a:pt x="1561052" y="121416"/>
                  </a:lnTo>
                  <a:lnTo>
                    <a:pt x="1561052" y="607074"/>
                  </a:lnTo>
                  <a:lnTo>
                    <a:pt x="1551510" y="654335"/>
                  </a:lnTo>
                  <a:lnTo>
                    <a:pt x="1525489" y="692928"/>
                  </a:lnTo>
                  <a:lnTo>
                    <a:pt x="1486896" y="718949"/>
                  </a:lnTo>
                  <a:lnTo>
                    <a:pt x="1439635" y="728491"/>
                  </a:lnTo>
                  <a:lnTo>
                    <a:pt x="121416" y="728491"/>
                  </a:lnTo>
                  <a:lnTo>
                    <a:pt x="74155" y="718949"/>
                  </a:lnTo>
                  <a:lnTo>
                    <a:pt x="35562" y="692928"/>
                  </a:lnTo>
                  <a:lnTo>
                    <a:pt x="9541" y="654335"/>
                  </a:lnTo>
                  <a:lnTo>
                    <a:pt x="0" y="607074"/>
                  </a:lnTo>
                  <a:lnTo>
                    <a:pt x="0" y="121416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241826" y="3324352"/>
            <a:ext cx="136398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60" dirty="0">
                <a:solidFill>
                  <a:srgbClr val="FFFFFF"/>
                </a:solidFill>
                <a:latin typeface="Arial"/>
                <a:cs typeface="Arial"/>
              </a:rPr>
              <a:t>Estructura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FFFFFF"/>
                </a:solidFill>
                <a:latin typeface="Arial"/>
                <a:cs typeface="Arial"/>
              </a:rPr>
              <a:t>compleja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130338" y="2295146"/>
            <a:ext cx="1586865" cy="754380"/>
            <a:chOff x="6130338" y="2295146"/>
            <a:chExt cx="1586865" cy="754380"/>
          </a:xfrm>
        </p:grpSpPr>
        <p:sp>
          <p:nvSpPr>
            <p:cNvPr id="21" name="object 21"/>
            <p:cNvSpPr/>
            <p:nvPr/>
          </p:nvSpPr>
          <p:spPr>
            <a:xfrm>
              <a:off x="6143038" y="2307846"/>
              <a:ext cx="1561465" cy="728980"/>
            </a:xfrm>
            <a:custGeom>
              <a:avLst/>
              <a:gdLst/>
              <a:ahLst/>
              <a:cxnLst/>
              <a:rect l="l" t="t" r="r" b="b"/>
              <a:pathLst>
                <a:path w="1561465" h="728980">
                  <a:moveTo>
                    <a:pt x="1439633" y="0"/>
                  </a:moveTo>
                  <a:lnTo>
                    <a:pt x="121415" y="0"/>
                  </a:lnTo>
                  <a:lnTo>
                    <a:pt x="74155" y="9541"/>
                  </a:lnTo>
                  <a:lnTo>
                    <a:pt x="35561" y="35562"/>
                  </a:lnTo>
                  <a:lnTo>
                    <a:pt x="9541" y="74156"/>
                  </a:lnTo>
                  <a:lnTo>
                    <a:pt x="0" y="121417"/>
                  </a:lnTo>
                  <a:lnTo>
                    <a:pt x="0" y="607073"/>
                  </a:lnTo>
                  <a:lnTo>
                    <a:pt x="9541" y="654335"/>
                  </a:lnTo>
                  <a:lnTo>
                    <a:pt x="35561" y="692928"/>
                  </a:lnTo>
                  <a:lnTo>
                    <a:pt x="74155" y="718949"/>
                  </a:lnTo>
                  <a:lnTo>
                    <a:pt x="121415" y="728491"/>
                  </a:lnTo>
                  <a:lnTo>
                    <a:pt x="1439633" y="728491"/>
                  </a:lnTo>
                  <a:lnTo>
                    <a:pt x="1486895" y="718949"/>
                  </a:lnTo>
                  <a:lnTo>
                    <a:pt x="1525488" y="692928"/>
                  </a:lnTo>
                  <a:lnTo>
                    <a:pt x="1551509" y="654335"/>
                  </a:lnTo>
                  <a:lnTo>
                    <a:pt x="1561050" y="607073"/>
                  </a:lnTo>
                  <a:lnTo>
                    <a:pt x="1561050" y="121417"/>
                  </a:lnTo>
                  <a:lnTo>
                    <a:pt x="1551509" y="74156"/>
                  </a:lnTo>
                  <a:lnTo>
                    <a:pt x="1525488" y="35562"/>
                  </a:lnTo>
                  <a:lnTo>
                    <a:pt x="1486895" y="9541"/>
                  </a:lnTo>
                  <a:lnTo>
                    <a:pt x="1439633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143038" y="2307846"/>
              <a:ext cx="1561465" cy="728980"/>
            </a:xfrm>
            <a:custGeom>
              <a:avLst/>
              <a:gdLst/>
              <a:ahLst/>
              <a:cxnLst/>
              <a:rect l="l" t="t" r="r" b="b"/>
              <a:pathLst>
                <a:path w="1561465" h="728980">
                  <a:moveTo>
                    <a:pt x="0" y="121416"/>
                  </a:moveTo>
                  <a:lnTo>
                    <a:pt x="9541" y="74155"/>
                  </a:lnTo>
                  <a:lnTo>
                    <a:pt x="35562" y="35562"/>
                  </a:lnTo>
                  <a:lnTo>
                    <a:pt x="74155" y="9541"/>
                  </a:lnTo>
                  <a:lnTo>
                    <a:pt x="121416" y="0"/>
                  </a:lnTo>
                  <a:lnTo>
                    <a:pt x="1439635" y="0"/>
                  </a:lnTo>
                  <a:lnTo>
                    <a:pt x="1486896" y="9541"/>
                  </a:lnTo>
                  <a:lnTo>
                    <a:pt x="1525489" y="35562"/>
                  </a:lnTo>
                  <a:lnTo>
                    <a:pt x="1551510" y="74155"/>
                  </a:lnTo>
                  <a:lnTo>
                    <a:pt x="1561052" y="121416"/>
                  </a:lnTo>
                  <a:lnTo>
                    <a:pt x="1561052" y="607074"/>
                  </a:lnTo>
                  <a:lnTo>
                    <a:pt x="1551510" y="654335"/>
                  </a:lnTo>
                  <a:lnTo>
                    <a:pt x="1525489" y="692928"/>
                  </a:lnTo>
                  <a:lnTo>
                    <a:pt x="1486896" y="718949"/>
                  </a:lnTo>
                  <a:lnTo>
                    <a:pt x="1439635" y="728491"/>
                  </a:lnTo>
                  <a:lnTo>
                    <a:pt x="121416" y="728491"/>
                  </a:lnTo>
                  <a:lnTo>
                    <a:pt x="74155" y="718949"/>
                  </a:lnTo>
                  <a:lnTo>
                    <a:pt x="35562" y="692928"/>
                  </a:lnTo>
                  <a:lnTo>
                    <a:pt x="9541" y="654335"/>
                  </a:lnTo>
                  <a:lnTo>
                    <a:pt x="0" y="607074"/>
                  </a:lnTo>
                  <a:lnTo>
                    <a:pt x="0" y="121416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304026" y="2452623"/>
            <a:ext cx="1239520" cy="40068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306705" marR="5080" indent="-294640">
              <a:lnSpc>
                <a:spcPts val="1390"/>
              </a:lnSpc>
              <a:spcBef>
                <a:spcPts val="285"/>
              </a:spcBef>
            </a:pPr>
            <a:r>
              <a:rPr sz="1300" spc="-80" dirty="0">
                <a:solidFill>
                  <a:srgbClr val="FFFFFF"/>
                </a:solidFill>
                <a:latin typeface="Arial"/>
                <a:cs typeface="Arial"/>
              </a:rPr>
              <a:t>Más</a:t>
            </a:r>
            <a:r>
              <a:rPr sz="13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FFFFFF"/>
                </a:solidFill>
                <a:latin typeface="Arial"/>
                <a:cs typeface="Arial"/>
              </a:rPr>
              <a:t>complejos</a:t>
            </a:r>
            <a:r>
              <a:rPr sz="13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gestionar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130338" y="1514621"/>
            <a:ext cx="1586865" cy="754380"/>
            <a:chOff x="6130338" y="1514621"/>
            <a:chExt cx="1586865" cy="754380"/>
          </a:xfrm>
        </p:grpSpPr>
        <p:sp>
          <p:nvSpPr>
            <p:cNvPr id="25" name="object 25"/>
            <p:cNvSpPr/>
            <p:nvPr/>
          </p:nvSpPr>
          <p:spPr>
            <a:xfrm>
              <a:off x="6143038" y="1527321"/>
              <a:ext cx="1561465" cy="728980"/>
            </a:xfrm>
            <a:custGeom>
              <a:avLst/>
              <a:gdLst/>
              <a:ahLst/>
              <a:cxnLst/>
              <a:rect l="l" t="t" r="r" b="b"/>
              <a:pathLst>
                <a:path w="1561465" h="728980">
                  <a:moveTo>
                    <a:pt x="1439633" y="0"/>
                  </a:moveTo>
                  <a:lnTo>
                    <a:pt x="121415" y="0"/>
                  </a:lnTo>
                  <a:lnTo>
                    <a:pt x="74155" y="9541"/>
                  </a:lnTo>
                  <a:lnTo>
                    <a:pt x="35561" y="35562"/>
                  </a:lnTo>
                  <a:lnTo>
                    <a:pt x="9541" y="74155"/>
                  </a:lnTo>
                  <a:lnTo>
                    <a:pt x="0" y="121417"/>
                  </a:lnTo>
                  <a:lnTo>
                    <a:pt x="0" y="607073"/>
                  </a:lnTo>
                  <a:lnTo>
                    <a:pt x="9541" y="654335"/>
                  </a:lnTo>
                  <a:lnTo>
                    <a:pt x="35561" y="692928"/>
                  </a:lnTo>
                  <a:lnTo>
                    <a:pt x="74155" y="718949"/>
                  </a:lnTo>
                  <a:lnTo>
                    <a:pt x="121415" y="728491"/>
                  </a:lnTo>
                  <a:lnTo>
                    <a:pt x="1439633" y="728491"/>
                  </a:lnTo>
                  <a:lnTo>
                    <a:pt x="1486895" y="718949"/>
                  </a:lnTo>
                  <a:lnTo>
                    <a:pt x="1525488" y="692928"/>
                  </a:lnTo>
                  <a:lnTo>
                    <a:pt x="1551509" y="654335"/>
                  </a:lnTo>
                  <a:lnTo>
                    <a:pt x="1561050" y="607073"/>
                  </a:lnTo>
                  <a:lnTo>
                    <a:pt x="1561050" y="121417"/>
                  </a:lnTo>
                  <a:lnTo>
                    <a:pt x="1551509" y="74155"/>
                  </a:lnTo>
                  <a:lnTo>
                    <a:pt x="1525488" y="35562"/>
                  </a:lnTo>
                  <a:lnTo>
                    <a:pt x="1486895" y="9541"/>
                  </a:lnTo>
                  <a:lnTo>
                    <a:pt x="1439633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143038" y="1527321"/>
              <a:ext cx="1561465" cy="728980"/>
            </a:xfrm>
            <a:custGeom>
              <a:avLst/>
              <a:gdLst/>
              <a:ahLst/>
              <a:cxnLst/>
              <a:rect l="l" t="t" r="r" b="b"/>
              <a:pathLst>
                <a:path w="1561465" h="728980">
                  <a:moveTo>
                    <a:pt x="0" y="121416"/>
                  </a:moveTo>
                  <a:lnTo>
                    <a:pt x="9541" y="74155"/>
                  </a:lnTo>
                  <a:lnTo>
                    <a:pt x="35562" y="35562"/>
                  </a:lnTo>
                  <a:lnTo>
                    <a:pt x="74155" y="9541"/>
                  </a:lnTo>
                  <a:lnTo>
                    <a:pt x="121416" y="0"/>
                  </a:lnTo>
                  <a:lnTo>
                    <a:pt x="1439635" y="0"/>
                  </a:lnTo>
                  <a:lnTo>
                    <a:pt x="1486896" y="9541"/>
                  </a:lnTo>
                  <a:lnTo>
                    <a:pt x="1525489" y="35562"/>
                  </a:lnTo>
                  <a:lnTo>
                    <a:pt x="1551510" y="74155"/>
                  </a:lnTo>
                  <a:lnTo>
                    <a:pt x="1561052" y="121416"/>
                  </a:lnTo>
                  <a:lnTo>
                    <a:pt x="1561052" y="607074"/>
                  </a:lnTo>
                  <a:lnTo>
                    <a:pt x="1551510" y="654335"/>
                  </a:lnTo>
                  <a:lnTo>
                    <a:pt x="1525489" y="692928"/>
                  </a:lnTo>
                  <a:lnTo>
                    <a:pt x="1486896" y="718949"/>
                  </a:lnTo>
                  <a:lnTo>
                    <a:pt x="1439635" y="728491"/>
                  </a:lnTo>
                  <a:lnTo>
                    <a:pt x="121416" y="728491"/>
                  </a:lnTo>
                  <a:lnTo>
                    <a:pt x="74155" y="718949"/>
                  </a:lnTo>
                  <a:lnTo>
                    <a:pt x="35562" y="692928"/>
                  </a:lnTo>
                  <a:lnTo>
                    <a:pt x="9541" y="654335"/>
                  </a:lnTo>
                  <a:lnTo>
                    <a:pt x="0" y="607074"/>
                  </a:lnTo>
                  <a:lnTo>
                    <a:pt x="0" y="121416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221793" y="1672335"/>
            <a:ext cx="1404620" cy="40068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344805" marR="5080" indent="-332740">
              <a:lnSpc>
                <a:spcPts val="1390"/>
              </a:lnSpc>
              <a:spcBef>
                <a:spcPts val="285"/>
              </a:spcBef>
            </a:pPr>
            <a:r>
              <a:rPr sz="1300" spc="-80" dirty="0">
                <a:solidFill>
                  <a:srgbClr val="FFFFFF"/>
                </a:solidFill>
                <a:latin typeface="Arial"/>
                <a:cs typeface="Arial"/>
              </a:rPr>
              <a:t>Tiempos</a:t>
            </a:r>
            <a:r>
              <a:rPr sz="13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7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3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FFFFFF"/>
                </a:solidFill>
                <a:latin typeface="Arial"/>
                <a:cs typeface="Arial"/>
              </a:rPr>
              <a:t>consulta </a:t>
            </a:r>
            <a:r>
              <a:rPr sz="1300" spc="-105" dirty="0">
                <a:solidFill>
                  <a:srgbClr val="FFFFFF"/>
                </a:solidFill>
                <a:latin typeface="Arial"/>
                <a:cs typeface="Arial"/>
              </a:rPr>
              <a:t>más</a:t>
            </a:r>
            <a:r>
              <a:rPr sz="13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largos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875485" y="3075673"/>
            <a:ext cx="1586865" cy="754380"/>
            <a:chOff x="3875485" y="3075673"/>
            <a:chExt cx="1586865" cy="754380"/>
          </a:xfrm>
        </p:grpSpPr>
        <p:sp>
          <p:nvSpPr>
            <p:cNvPr id="29" name="object 29"/>
            <p:cNvSpPr/>
            <p:nvPr/>
          </p:nvSpPr>
          <p:spPr>
            <a:xfrm>
              <a:off x="3888185" y="3088373"/>
              <a:ext cx="1561465" cy="728980"/>
            </a:xfrm>
            <a:custGeom>
              <a:avLst/>
              <a:gdLst/>
              <a:ahLst/>
              <a:cxnLst/>
              <a:rect l="l" t="t" r="r" b="b"/>
              <a:pathLst>
                <a:path w="1561464" h="728979">
                  <a:moveTo>
                    <a:pt x="1439635" y="0"/>
                  </a:moveTo>
                  <a:lnTo>
                    <a:pt x="121417" y="0"/>
                  </a:lnTo>
                  <a:lnTo>
                    <a:pt x="74155" y="9541"/>
                  </a:lnTo>
                  <a:lnTo>
                    <a:pt x="35562" y="35562"/>
                  </a:lnTo>
                  <a:lnTo>
                    <a:pt x="9541" y="74155"/>
                  </a:lnTo>
                  <a:lnTo>
                    <a:pt x="0" y="121417"/>
                  </a:lnTo>
                  <a:lnTo>
                    <a:pt x="0" y="607073"/>
                  </a:lnTo>
                  <a:lnTo>
                    <a:pt x="9541" y="654334"/>
                  </a:lnTo>
                  <a:lnTo>
                    <a:pt x="35562" y="692928"/>
                  </a:lnTo>
                  <a:lnTo>
                    <a:pt x="74155" y="718949"/>
                  </a:lnTo>
                  <a:lnTo>
                    <a:pt x="121417" y="728491"/>
                  </a:lnTo>
                  <a:lnTo>
                    <a:pt x="1439635" y="728491"/>
                  </a:lnTo>
                  <a:lnTo>
                    <a:pt x="1486895" y="718949"/>
                  </a:lnTo>
                  <a:lnTo>
                    <a:pt x="1525489" y="692928"/>
                  </a:lnTo>
                  <a:lnTo>
                    <a:pt x="1551510" y="654334"/>
                  </a:lnTo>
                  <a:lnTo>
                    <a:pt x="1561052" y="607073"/>
                  </a:lnTo>
                  <a:lnTo>
                    <a:pt x="1561052" y="121417"/>
                  </a:lnTo>
                  <a:lnTo>
                    <a:pt x="1551510" y="74155"/>
                  </a:lnTo>
                  <a:lnTo>
                    <a:pt x="1525489" y="35562"/>
                  </a:lnTo>
                  <a:lnTo>
                    <a:pt x="1486895" y="9541"/>
                  </a:lnTo>
                  <a:lnTo>
                    <a:pt x="1439635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888185" y="3088373"/>
              <a:ext cx="1561465" cy="728980"/>
            </a:xfrm>
            <a:custGeom>
              <a:avLst/>
              <a:gdLst/>
              <a:ahLst/>
              <a:cxnLst/>
              <a:rect l="l" t="t" r="r" b="b"/>
              <a:pathLst>
                <a:path w="1561464" h="728979">
                  <a:moveTo>
                    <a:pt x="0" y="121416"/>
                  </a:moveTo>
                  <a:lnTo>
                    <a:pt x="9541" y="74155"/>
                  </a:lnTo>
                  <a:lnTo>
                    <a:pt x="35562" y="35562"/>
                  </a:lnTo>
                  <a:lnTo>
                    <a:pt x="74155" y="9541"/>
                  </a:lnTo>
                  <a:lnTo>
                    <a:pt x="121416" y="0"/>
                  </a:lnTo>
                  <a:lnTo>
                    <a:pt x="1439635" y="0"/>
                  </a:lnTo>
                  <a:lnTo>
                    <a:pt x="1486896" y="9541"/>
                  </a:lnTo>
                  <a:lnTo>
                    <a:pt x="1525489" y="35562"/>
                  </a:lnTo>
                  <a:lnTo>
                    <a:pt x="1551510" y="74155"/>
                  </a:lnTo>
                  <a:lnTo>
                    <a:pt x="1561052" y="121416"/>
                  </a:lnTo>
                  <a:lnTo>
                    <a:pt x="1561052" y="607074"/>
                  </a:lnTo>
                  <a:lnTo>
                    <a:pt x="1551510" y="654335"/>
                  </a:lnTo>
                  <a:lnTo>
                    <a:pt x="1525489" y="692928"/>
                  </a:lnTo>
                  <a:lnTo>
                    <a:pt x="1486896" y="718949"/>
                  </a:lnTo>
                  <a:lnTo>
                    <a:pt x="1439635" y="728491"/>
                  </a:lnTo>
                  <a:lnTo>
                    <a:pt x="121416" y="728491"/>
                  </a:lnTo>
                  <a:lnTo>
                    <a:pt x="74155" y="718949"/>
                  </a:lnTo>
                  <a:lnTo>
                    <a:pt x="35562" y="692928"/>
                  </a:lnTo>
                  <a:lnTo>
                    <a:pt x="9541" y="654335"/>
                  </a:lnTo>
                  <a:lnTo>
                    <a:pt x="0" y="607074"/>
                  </a:lnTo>
                  <a:lnTo>
                    <a:pt x="0" y="121416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039203" y="3232911"/>
            <a:ext cx="1259205" cy="40068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382905" marR="5080" indent="-370840">
              <a:lnSpc>
                <a:spcPts val="1390"/>
              </a:lnSpc>
              <a:spcBef>
                <a:spcPts val="285"/>
              </a:spcBef>
            </a:pPr>
            <a:r>
              <a:rPr sz="13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3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partir</a:t>
            </a:r>
            <a:r>
              <a:rPr sz="13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40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13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FFFFFF"/>
                </a:solidFill>
                <a:latin typeface="Arial"/>
                <a:cs typeface="Arial"/>
              </a:rPr>
              <a:t>diseño </a:t>
            </a: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estrella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875485" y="2295146"/>
            <a:ext cx="1586865" cy="754380"/>
            <a:chOff x="3875485" y="2295146"/>
            <a:chExt cx="1586865" cy="754380"/>
          </a:xfrm>
        </p:grpSpPr>
        <p:sp>
          <p:nvSpPr>
            <p:cNvPr id="33" name="object 33"/>
            <p:cNvSpPr/>
            <p:nvPr/>
          </p:nvSpPr>
          <p:spPr>
            <a:xfrm>
              <a:off x="3888185" y="2307846"/>
              <a:ext cx="1561465" cy="728980"/>
            </a:xfrm>
            <a:custGeom>
              <a:avLst/>
              <a:gdLst/>
              <a:ahLst/>
              <a:cxnLst/>
              <a:rect l="l" t="t" r="r" b="b"/>
              <a:pathLst>
                <a:path w="1561464" h="728980">
                  <a:moveTo>
                    <a:pt x="1439635" y="0"/>
                  </a:moveTo>
                  <a:lnTo>
                    <a:pt x="121417" y="0"/>
                  </a:lnTo>
                  <a:lnTo>
                    <a:pt x="74155" y="9541"/>
                  </a:lnTo>
                  <a:lnTo>
                    <a:pt x="35562" y="35562"/>
                  </a:lnTo>
                  <a:lnTo>
                    <a:pt x="9541" y="74156"/>
                  </a:lnTo>
                  <a:lnTo>
                    <a:pt x="0" y="121417"/>
                  </a:lnTo>
                  <a:lnTo>
                    <a:pt x="0" y="607073"/>
                  </a:lnTo>
                  <a:lnTo>
                    <a:pt x="9541" y="654335"/>
                  </a:lnTo>
                  <a:lnTo>
                    <a:pt x="35562" y="692928"/>
                  </a:lnTo>
                  <a:lnTo>
                    <a:pt x="74155" y="718949"/>
                  </a:lnTo>
                  <a:lnTo>
                    <a:pt x="121417" y="728491"/>
                  </a:lnTo>
                  <a:lnTo>
                    <a:pt x="1439635" y="728491"/>
                  </a:lnTo>
                  <a:lnTo>
                    <a:pt x="1486895" y="718949"/>
                  </a:lnTo>
                  <a:lnTo>
                    <a:pt x="1525489" y="692928"/>
                  </a:lnTo>
                  <a:lnTo>
                    <a:pt x="1551510" y="654335"/>
                  </a:lnTo>
                  <a:lnTo>
                    <a:pt x="1561052" y="607073"/>
                  </a:lnTo>
                  <a:lnTo>
                    <a:pt x="1561052" y="121417"/>
                  </a:lnTo>
                  <a:lnTo>
                    <a:pt x="1551510" y="74156"/>
                  </a:lnTo>
                  <a:lnTo>
                    <a:pt x="1525489" y="35562"/>
                  </a:lnTo>
                  <a:lnTo>
                    <a:pt x="1486895" y="9541"/>
                  </a:lnTo>
                  <a:lnTo>
                    <a:pt x="1439635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888185" y="2307846"/>
              <a:ext cx="1561465" cy="728980"/>
            </a:xfrm>
            <a:custGeom>
              <a:avLst/>
              <a:gdLst/>
              <a:ahLst/>
              <a:cxnLst/>
              <a:rect l="l" t="t" r="r" b="b"/>
              <a:pathLst>
                <a:path w="1561464" h="728980">
                  <a:moveTo>
                    <a:pt x="0" y="121416"/>
                  </a:moveTo>
                  <a:lnTo>
                    <a:pt x="9541" y="74155"/>
                  </a:lnTo>
                  <a:lnTo>
                    <a:pt x="35562" y="35562"/>
                  </a:lnTo>
                  <a:lnTo>
                    <a:pt x="74155" y="9541"/>
                  </a:lnTo>
                  <a:lnTo>
                    <a:pt x="121416" y="0"/>
                  </a:lnTo>
                  <a:lnTo>
                    <a:pt x="1439635" y="0"/>
                  </a:lnTo>
                  <a:lnTo>
                    <a:pt x="1486896" y="9541"/>
                  </a:lnTo>
                  <a:lnTo>
                    <a:pt x="1525489" y="35562"/>
                  </a:lnTo>
                  <a:lnTo>
                    <a:pt x="1551510" y="74155"/>
                  </a:lnTo>
                  <a:lnTo>
                    <a:pt x="1561052" y="121416"/>
                  </a:lnTo>
                  <a:lnTo>
                    <a:pt x="1561052" y="607074"/>
                  </a:lnTo>
                  <a:lnTo>
                    <a:pt x="1551510" y="654335"/>
                  </a:lnTo>
                  <a:lnTo>
                    <a:pt x="1525489" y="692928"/>
                  </a:lnTo>
                  <a:lnTo>
                    <a:pt x="1486896" y="718949"/>
                  </a:lnTo>
                  <a:lnTo>
                    <a:pt x="1439635" y="728491"/>
                  </a:lnTo>
                  <a:lnTo>
                    <a:pt x="121416" y="728491"/>
                  </a:lnTo>
                  <a:lnTo>
                    <a:pt x="74155" y="718949"/>
                  </a:lnTo>
                  <a:lnTo>
                    <a:pt x="35562" y="692928"/>
                  </a:lnTo>
                  <a:lnTo>
                    <a:pt x="9541" y="654335"/>
                  </a:lnTo>
                  <a:lnTo>
                    <a:pt x="0" y="607074"/>
                  </a:lnTo>
                  <a:lnTo>
                    <a:pt x="0" y="121416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243292" y="2452623"/>
            <a:ext cx="851535" cy="40068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 indent="68580">
              <a:lnSpc>
                <a:spcPts val="1390"/>
              </a:lnSpc>
              <a:spcBef>
                <a:spcPts val="285"/>
              </a:spcBef>
            </a:pP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Estructura </a:t>
            </a:r>
            <a:r>
              <a:rPr sz="1300" spc="-65" dirty="0">
                <a:solidFill>
                  <a:srgbClr val="FFFFFF"/>
                </a:solidFill>
                <a:latin typeface="Arial"/>
                <a:cs typeface="Arial"/>
              </a:rPr>
              <a:t>normalizada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875485" y="1514621"/>
            <a:ext cx="1586865" cy="754380"/>
            <a:chOff x="3875485" y="1514621"/>
            <a:chExt cx="1586865" cy="754380"/>
          </a:xfrm>
        </p:grpSpPr>
        <p:sp>
          <p:nvSpPr>
            <p:cNvPr id="37" name="object 37"/>
            <p:cNvSpPr/>
            <p:nvPr/>
          </p:nvSpPr>
          <p:spPr>
            <a:xfrm>
              <a:off x="3888185" y="1527321"/>
              <a:ext cx="1561465" cy="728980"/>
            </a:xfrm>
            <a:custGeom>
              <a:avLst/>
              <a:gdLst/>
              <a:ahLst/>
              <a:cxnLst/>
              <a:rect l="l" t="t" r="r" b="b"/>
              <a:pathLst>
                <a:path w="1561464" h="728980">
                  <a:moveTo>
                    <a:pt x="1439635" y="0"/>
                  </a:moveTo>
                  <a:lnTo>
                    <a:pt x="121417" y="0"/>
                  </a:lnTo>
                  <a:lnTo>
                    <a:pt x="74155" y="9541"/>
                  </a:lnTo>
                  <a:lnTo>
                    <a:pt x="35562" y="35562"/>
                  </a:lnTo>
                  <a:lnTo>
                    <a:pt x="9541" y="74155"/>
                  </a:lnTo>
                  <a:lnTo>
                    <a:pt x="0" y="121417"/>
                  </a:lnTo>
                  <a:lnTo>
                    <a:pt x="0" y="607073"/>
                  </a:lnTo>
                  <a:lnTo>
                    <a:pt x="9541" y="654335"/>
                  </a:lnTo>
                  <a:lnTo>
                    <a:pt x="35562" y="692928"/>
                  </a:lnTo>
                  <a:lnTo>
                    <a:pt x="74155" y="718949"/>
                  </a:lnTo>
                  <a:lnTo>
                    <a:pt x="121417" y="728491"/>
                  </a:lnTo>
                  <a:lnTo>
                    <a:pt x="1439635" y="728491"/>
                  </a:lnTo>
                  <a:lnTo>
                    <a:pt x="1486895" y="718949"/>
                  </a:lnTo>
                  <a:lnTo>
                    <a:pt x="1525489" y="692928"/>
                  </a:lnTo>
                  <a:lnTo>
                    <a:pt x="1551510" y="654335"/>
                  </a:lnTo>
                  <a:lnTo>
                    <a:pt x="1561052" y="607073"/>
                  </a:lnTo>
                  <a:lnTo>
                    <a:pt x="1561052" y="121417"/>
                  </a:lnTo>
                  <a:lnTo>
                    <a:pt x="1551510" y="74155"/>
                  </a:lnTo>
                  <a:lnTo>
                    <a:pt x="1525489" y="35562"/>
                  </a:lnTo>
                  <a:lnTo>
                    <a:pt x="1486895" y="9541"/>
                  </a:lnTo>
                  <a:lnTo>
                    <a:pt x="1439635" y="0"/>
                  </a:lnTo>
                  <a:close/>
                </a:path>
              </a:pathLst>
            </a:custGeom>
            <a:solidFill>
              <a:srgbClr val="1AD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88185" y="1527321"/>
              <a:ext cx="1561465" cy="728980"/>
            </a:xfrm>
            <a:custGeom>
              <a:avLst/>
              <a:gdLst/>
              <a:ahLst/>
              <a:cxnLst/>
              <a:rect l="l" t="t" r="r" b="b"/>
              <a:pathLst>
                <a:path w="1561464" h="728980">
                  <a:moveTo>
                    <a:pt x="0" y="121416"/>
                  </a:moveTo>
                  <a:lnTo>
                    <a:pt x="9541" y="74155"/>
                  </a:lnTo>
                  <a:lnTo>
                    <a:pt x="35562" y="35562"/>
                  </a:lnTo>
                  <a:lnTo>
                    <a:pt x="74155" y="9541"/>
                  </a:lnTo>
                  <a:lnTo>
                    <a:pt x="121416" y="0"/>
                  </a:lnTo>
                  <a:lnTo>
                    <a:pt x="1439635" y="0"/>
                  </a:lnTo>
                  <a:lnTo>
                    <a:pt x="1486896" y="9541"/>
                  </a:lnTo>
                  <a:lnTo>
                    <a:pt x="1525489" y="35562"/>
                  </a:lnTo>
                  <a:lnTo>
                    <a:pt x="1551510" y="74155"/>
                  </a:lnTo>
                  <a:lnTo>
                    <a:pt x="1561052" y="121416"/>
                  </a:lnTo>
                  <a:lnTo>
                    <a:pt x="1561052" y="607074"/>
                  </a:lnTo>
                  <a:lnTo>
                    <a:pt x="1551510" y="654335"/>
                  </a:lnTo>
                  <a:lnTo>
                    <a:pt x="1525489" y="692928"/>
                  </a:lnTo>
                  <a:lnTo>
                    <a:pt x="1486896" y="718949"/>
                  </a:lnTo>
                  <a:lnTo>
                    <a:pt x="1439635" y="728491"/>
                  </a:lnTo>
                  <a:lnTo>
                    <a:pt x="121416" y="728491"/>
                  </a:lnTo>
                  <a:lnTo>
                    <a:pt x="74155" y="718949"/>
                  </a:lnTo>
                  <a:lnTo>
                    <a:pt x="35562" y="692928"/>
                  </a:lnTo>
                  <a:lnTo>
                    <a:pt x="9541" y="654335"/>
                  </a:lnTo>
                  <a:lnTo>
                    <a:pt x="0" y="607074"/>
                  </a:lnTo>
                  <a:lnTo>
                    <a:pt x="0" y="121416"/>
                  </a:lnTo>
                  <a:close/>
                </a:path>
              </a:pathLst>
            </a:custGeom>
            <a:ln w="25400">
              <a:solidFill>
                <a:srgbClr val="0442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3984529" y="1672335"/>
            <a:ext cx="1368425" cy="40068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 indent="254635">
              <a:lnSpc>
                <a:spcPts val="1390"/>
              </a:lnSpc>
              <a:spcBef>
                <a:spcPts val="285"/>
              </a:spcBef>
            </a:pPr>
            <a:r>
              <a:rPr sz="1300" spc="-75" dirty="0">
                <a:solidFill>
                  <a:srgbClr val="FFFFFF"/>
                </a:solidFill>
                <a:latin typeface="Arial"/>
                <a:cs typeface="Arial"/>
              </a:rPr>
              <a:t>Eficiencia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300" spc="-75" dirty="0">
                <a:solidFill>
                  <a:srgbClr val="FFFFFF"/>
                </a:solidFill>
                <a:latin typeface="Arial"/>
                <a:cs typeface="Arial"/>
              </a:rPr>
              <a:t>consultas</a:t>
            </a:r>
            <a:r>
              <a:rPr sz="13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FFFFFF"/>
                </a:solidFill>
                <a:latin typeface="Arial"/>
                <a:cs typeface="Arial"/>
              </a:rPr>
              <a:t>complejas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1920</Words>
  <Application>Microsoft Macintosh PowerPoint</Application>
  <PresentationFormat>On-screen Show (16:9)</PresentationFormat>
  <Paragraphs>589</Paragraphs>
  <Slides>67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5" baseType="lpstr">
      <vt:lpstr>Apple SD Gothic Neo Light</vt:lpstr>
      <vt:lpstr>Arial</vt:lpstr>
      <vt:lpstr>Arial Narrow</vt:lpstr>
      <vt:lpstr>Courier New</vt:lpstr>
      <vt:lpstr>Gill Sans</vt:lpstr>
      <vt:lpstr>Helvetica</vt:lpstr>
      <vt:lpstr>Times New Roman</vt:lpstr>
      <vt:lpstr>Office Theme</vt:lpstr>
      <vt:lpstr>Almacenes de Datos/Data Warehouses</vt:lpstr>
      <vt:lpstr>PowerPoint Presentation</vt:lpstr>
      <vt:lpstr>PowerPoint Presentation</vt:lpstr>
      <vt:lpstr>Almacenes de Datos: Características:</vt:lpstr>
      <vt:lpstr>Almacenes de Datos: Características:</vt:lpstr>
      <vt:lpstr>Almacenes de Datos: Arquitectura:</vt:lpstr>
      <vt:lpstr>Almacenes de Datos: Arquitectura:</vt:lpstr>
      <vt:lpstr>El proceso de Extracción, Transformación y Carga (ETL)</vt:lpstr>
      <vt:lpstr>PowerPoint Presentation</vt:lpstr>
      <vt:lpstr>El proceso ETL Etapas:</vt:lpstr>
      <vt:lpstr>PowerPoint Presentation</vt:lpstr>
      <vt:lpstr>PowerPoint Presentation</vt:lpstr>
      <vt:lpstr>El proceso ETL Transformación:</vt:lpstr>
      <vt:lpstr>PowerPoint Presentation</vt:lpstr>
      <vt:lpstr>PowerPoint Presentation</vt:lpstr>
      <vt:lpstr>PowerPoint Presentation</vt:lpstr>
      <vt:lpstr>PowerPoint Presentation</vt:lpstr>
      <vt:lpstr>Extracción Resumen:</vt:lpstr>
      <vt:lpstr>Extracción Estática:</vt:lpstr>
      <vt:lpstr>Extracción Incremental:</vt:lpstr>
      <vt:lpstr>Extracción Open Data:</vt:lpstr>
      <vt:lpstr>Extracción UCI:</vt:lpstr>
      <vt:lpstr>Extracción Kaggle:</vt:lpstr>
      <vt:lpstr>La fase de Transformación: Limpieza</vt:lpstr>
      <vt:lpstr>PowerPoint Presentation</vt:lpstr>
      <vt:lpstr>Transformación Preprocesamiento:</vt:lpstr>
      <vt:lpstr>Transformación Lenguaje R:</vt:lpstr>
      <vt:lpstr>Transformación Limpieza:</vt:lpstr>
      <vt:lpstr>Transformación Limpieza:</vt:lpstr>
      <vt:lpstr>Transformación Datos perdidos:</vt:lpstr>
      <vt:lpstr>Transformación Datos perdidos:</vt:lpstr>
      <vt:lpstr>Transformación Datos perdidos:</vt:lpstr>
      <vt:lpstr>Transformación Datos perdidos:</vt:lpstr>
      <vt:lpstr>Transformación Datos anómalos:</vt:lpstr>
      <vt:lpstr>Transformación Datos anómalos:</vt:lpstr>
      <vt:lpstr>La fase de Transformación: Manipulación</vt:lpstr>
      <vt:lpstr>PowerPoint Presentation</vt:lpstr>
      <vt:lpstr>Transformación Discretización:</vt:lpstr>
      <vt:lpstr>Transformación Discretización:</vt:lpstr>
      <vt:lpstr>Transformación Discretización: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Carga Resumen:</vt:lpstr>
      <vt:lpstr>Carga</vt:lpstr>
      <vt:lpstr>Carga</vt:lpstr>
      <vt:lpstr>Carga</vt:lpstr>
      <vt:lpstr>Carga</vt:lpstr>
      <vt:lpstr>Carga</vt:lpstr>
      <vt:lpstr>PowerPoint Presentation</vt:lpstr>
      <vt:lpstr>Diseño en estrella Etapas:</vt:lpstr>
      <vt:lpstr>PowerPoint Presentation</vt:lpstr>
      <vt:lpstr>PowerPoint Presentation</vt:lpstr>
      <vt:lpstr>PowerPoint Presentation</vt:lpstr>
      <vt:lpstr>PowerPoint Presentation</vt:lpstr>
      <vt:lpstr>Diseño en estrella:</vt:lpstr>
      <vt:lpstr>PowerPoint Presentation</vt:lpstr>
      <vt:lpstr>Almacenes de datos: diseño en copo de nieve</vt:lpstr>
      <vt:lpstr>PowerPoint Presentation</vt:lpstr>
      <vt:lpstr>Diseño en estrella Balance:</vt:lpstr>
      <vt:lpstr>Diseño en copo de nieve: Características:</vt:lpstr>
      <vt:lpstr>Diseño en estrella:</vt:lpstr>
      <vt:lpstr>PowerPoint Presentation</vt:lpstr>
      <vt:lpstr>Diseño en copo de nieve: Normalización:</vt:lpstr>
      <vt:lpstr>Diseño en copo de nieve: Resumen: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juan jose sanchez sanchez</cp:lastModifiedBy>
  <cp:revision>1</cp:revision>
  <dcterms:created xsi:type="dcterms:W3CDTF">2026-10-22T17:41:43Z</dcterms:created>
  <dcterms:modified xsi:type="dcterms:W3CDTF">2026-10-26T16:07:11Z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2021-09-20T00:00:00Z</vt:filetime>
  </property>
  <property fmtid="{D5CDD505-2E9C-101B-9397-08002B2CF9AE}" pid="3" name="LastSaved">
    <vt:filetime>2026-10-22T00:00:00Z</vt:filetime>
  </property>
  <property fmtid="{D5CDD505-2E9C-101B-9397-08002B2CF9AE}" pid="4" name="Producer">
    <vt:lpwstr>macOS Versión 11.4 (Compilación 20F71) Quartz PDFContext</vt:lpwstr>
  </property>
</Properties>
</file>