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4" r:id="rId5"/>
    <p:sldId id="275" r:id="rId6"/>
    <p:sldId id="273" r:id="rId7"/>
    <p:sldId id="274" r:id="rId8"/>
    <p:sldId id="260" r:id="rId9"/>
    <p:sldId id="265" r:id="rId10"/>
    <p:sldId id="263" r:id="rId11"/>
    <p:sldId id="267" r:id="rId12"/>
    <p:sldId id="268" r:id="rId13"/>
    <p:sldId id="270" r:id="rId14"/>
    <p:sldId id="269" r:id="rId15"/>
    <p:sldId id="261" r:id="rId16"/>
    <p:sldId id="271" r:id="rId17"/>
    <p:sldId id="276" r:id="rId18"/>
    <p:sldId id="277" r:id="rId19"/>
    <p:sldId id="278" r:id="rId20"/>
    <p:sldId id="262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Jose Sanchez Sanchez" initials="JJSS" lastIdx="1" clrIdx="0">
    <p:extLst>
      <p:ext uri="{19B8F6BF-5375-455C-9EA6-DF929625EA0E}">
        <p15:presenceInfo xmlns:p15="http://schemas.microsoft.com/office/powerpoint/2012/main" userId="Juan Jose Sanchez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95" autoAdjust="0"/>
    <p:restoredTop sz="76735" autoAdjust="0"/>
  </p:normalViewPr>
  <p:slideViewPr>
    <p:cSldViewPr snapToGrid="0">
      <p:cViewPr varScale="1">
        <p:scale>
          <a:sx n="97" d="100"/>
          <a:sy n="97" d="100"/>
        </p:scale>
        <p:origin x="88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C2772-5119-4343-8776-802D868A55A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4EBB7-2A15-4806-9696-7AF444C036C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77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39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353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BFC7-57C5-9D8C-F631-62B8745B7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A62FFC-E261-71CF-2BD2-3D1A1A915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6CBF43-2259-DAF2-6EE8-2E7F4B363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19ACFE-1DED-B6F3-4D0B-852FF009B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990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49F0-54CB-AAD4-0C19-376D3F5B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30C944-C509-5214-8A78-67C1459AF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3037F3-C2A1-B647-8A2C-A160E25A3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B02496-0C90-2EF8-013B-DF2A77F7F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6078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6E18-1A0B-5EAC-74FD-49864B14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F39B18-C4FA-593A-E258-51F7BFAAA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81543C-788B-8600-EB8F-6BD8E26C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AE8C20-A19D-F7B5-68AE-63F7A5610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841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2º</a:t>
            </a:r>
            <a:r>
              <a:rPr lang="en-US" baseline="0" dirty="0"/>
              <a:t> </a:t>
            </a:r>
            <a:r>
              <a:rPr lang="en-US" dirty="0"/>
              <a:t>Some would call this the “integration branch”.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4º We tend to be very strict at this, so that theoretically, we could use a </a:t>
            </a:r>
            <a:r>
              <a:rPr lang="en-US" dirty="0" err="1"/>
              <a:t>Git</a:t>
            </a:r>
            <a:r>
              <a:rPr lang="en-US" dirty="0"/>
              <a:t> hook script to automatically build and roll-out our software to our production servers </a:t>
            </a:r>
            <a:r>
              <a:rPr lang="en-US" dirty="0" err="1"/>
              <a:t>everytime</a:t>
            </a:r>
            <a:r>
              <a:rPr lang="en-US" dirty="0"/>
              <a:t> there was a commit on master.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627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Next to the main branches master and develop, our development model uses a variety of supporting branches to aid parallel development between team members, ease tracking of features, prepare for production releases and to assist in quickly fixing live production problems.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of these branches have a specific purpose and are bound to strict rules as to which branches may be their originating branch and which branches must be their merge targets.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91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727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401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959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E8A8-EDC3-A959-FEA4-32CAD71E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09E0644-6D60-FE60-2D78-C60BC69E2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1A21E7-074B-5BF7-1F79-B1D9AA610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77CE02-761E-B840-0B0B-F415DC335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152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5635-639B-A455-9B04-48660B83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022404-14E4-C42C-8211-7274E0583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796B1D-CAFF-49A8-7006-9B73B8C80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39353-F243-C644-95FF-2CA7C2EA2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1679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41ACF-0AC8-C452-B36C-AA0BDE679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B0A6E9-AB5B-9FC2-0E40-FCA4E9EA1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4D243A-10F3-FCE1-CD4E-BD4FDDB47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BBECE8-8921-FFE8-2FC2-E600637BE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7797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4EBB7-2A15-4806-9696-7AF444C036C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6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26076" y="387178"/>
            <a:ext cx="11030465" cy="2224463"/>
          </a:xfrm>
        </p:spPr>
        <p:txBody>
          <a:bodyPr>
            <a:normAutofit/>
          </a:bodyPr>
          <a:lstStyle/>
          <a:p>
            <a:pPr algn="ctr"/>
            <a:r>
              <a:rPr lang="es-ES" sz="7200" b="1" dirty="0"/>
              <a:t>Git Flow </a:t>
            </a:r>
            <a:r>
              <a:rPr lang="es-ES" sz="7200" dirty="0"/>
              <a:t>and </a:t>
            </a:r>
            <a:r>
              <a:rPr lang="es-ES" sz="7200" b="1" dirty="0"/>
              <a:t>Best Practices </a:t>
            </a:r>
            <a:br>
              <a:rPr lang="es-ES" sz="7200" dirty="0"/>
            </a:br>
            <a:r>
              <a:rPr lang="es-ES" sz="7200" dirty="0"/>
              <a:t>Introduction</a:t>
            </a:r>
            <a:endParaRPr lang="de-DE" sz="72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26076" y="4455620"/>
            <a:ext cx="11030465" cy="1143000"/>
          </a:xfrm>
        </p:spPr>
        <p:txBody>
          <a:bodyPr/>
          <a:lstStyle/>
          <a:p>
            <a:r>
              <a:rPr lang="es-ES" cap="none" dirty="0"/>
              <a:t>Juan José Sánchez Sánchez</a:t>
            </a:r>
          </a:p>
          <a:p>
            <a:r>
              <a:rPr lang="es-ES" cap="none" dirty="0"/>
              <a:t>Oktober 2021</a:t>
            </a:r>
            <a:endParaRPr lang="de-DE" cap="non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099" y="2611641"/>
            <a:ext cx="3348498" cy="167215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997" y="2597875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5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/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/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9645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3392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is a fast, scalable, distributed revision control system with an unusually rich command set that provides both high-level operations and full access to internals.</a:t>
            </a:r>
          </a:p>
          <a:p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tracks the changes you make to files, so you have a record of what has been done, and you can revert to specific versions should you ever need to. </a:t>
            </a:r>
          </a:p>
          <a:p>
            <a:endParaRPr lang="en-US" dirty="0"/>
          </a:p>
          <a:p>
            <a:r>
              <a:rPr lang="en-US" dirty="0"/>
              <a:t>Git also makes collaboration easier, allowing changes by multiple people to all be merged into one source. </a:t>
            </a:r>
          </a:p>
          <a:p>
            <a:endParaRPr lang="en-US" dirty="0"/>
          </a:p>
          <a:p>
            <a:r>
              <a:rPr lang="en-US" b="1" dirty="0"/>
              <a:t>Git is the most commonly used version control system.</a:t>
            </a:r>
            <a:endParaRPr lang="es-ES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865" y="3871453"/>
            <a:ext cx="4510216" cy="23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9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E1CF-06AA-6DA1-4ACF-14850341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1792A772-0B89-E919-47DE-66FEEFD91B74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Git? - .</a:t>
            </a:r>
            <a:r>
              <a:rPr lang="es-ES" sz="3200" dirty="0" err="1"/>
              <a:t>gitignore</a:t>
            </a:r>
            <a:endParaRPr lang="es-ES" sz="3200" dirty="0"/>
          </a:p>
          <a:p>
            <a:endParaRPr lang="de-DE" sz="7200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C2A12E0-374C-C42E-F1A1-8935DF55F28B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C7E4D11E-3EC2-4DA3-88A4-CE9676CBDA24}"/>
              </a:ext>
            </a:extLst>
          </p:cNvPr>
          <p:cNvSpPr txBox="1"/>
          <p:nvPr/>
        </p:nvSpPr>
        <p:spPr>
          <a:xfrm>
            <a:off x="683741" y="1169773"/>
            <a:ext cx="11030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is a simple text file that specifies intentionally untracked files and directories that Git should ignore when managing your project. These files could include build artifacts, system-generated files, logs, or any other files that shouldn't be committed to the repository.</a:t>
            </a:r>
            <a:endParaRPr lang="es-ES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0D8FB23-F333-DA44-7984-986446CC3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865" y="3871453"/>
            <a:ext cx="4510216" cy="23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6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B632-293B-C0E5-9AB6-E55A72DB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DC6ED444-0805-335A-75BD-01BA059BEBA3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Most common Git commands &gt;&gt; </a:t>
            </a:r>
            <a:r>
              <a:rPr lang="en-US" sz="3200" b="1" dirty="0"/>
              <a:t>man git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45CEB742-A588-20E3-03BF-AEAD9B92A9B7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2932D5-1525-EFA9-8C5F-937AB8EF4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147844"/>
              </p:ext>
            </p:extLst>
          </p:nvPr>
        </p:nvGraphicFramePr>
        <p:xfrm>
          <a:off x="683741" y="1169773"/>
          <a:ext cx="1082451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2259">
                  <a:extLst>
                    <a:ext uri="{9D8B030D-6E8A-4147-A177-3AD203B41FA5}">
                      <a16:colId xmlns:a16="http://schemas.microsoft.com/office/drawing/2014/main" val="3346045517"/>
                    </a:ext>
                  </a:extLst>
                </a:gridCol>
                <a:gridCol w="5412259">
                  <a:extLst>
                    <a:ext uri="{9D8B030D-6E8A-4147-A177-3AD203B41FA5}">
                      <a16:colId xmlns:a16="http://schemas.microsoft.com/office/drawing/2014/main" val="1996848727"/>
                    </a:ext>
                  </a:extLst>
                </a:gridCol>
              </a:tblGrid>
              <a:tr h="4740876">
                <a:tc>
                  <a:txBody>
                    <a:bodyPr/>
                    <a:lstStyle/>
                    <a:p>
                      <a:r>
                        <a:rPr lang="en-US" b="1" dirty="0"/>
                        <a:t>git </a:t>
                      </a:r>
                      <a:r>
                        <a:rPr lang="en-US" b="1" dirty="0" err="1"/>
                        <a:t>init</a:t>
                      </a:r>
                      <a:endParaRPr lang="en-US" b="1" dirty="0"/>
                    </a:p>
                    <a:p>
                      <a:r>
                        <a:rPr lang="en-US" dirty="0"/>
                        <a:t>- Create an empty Git repository or </a:t>
                      </a:r>
                      <a:r>
                        <a:rPr lang="en-US" dirty="0" err="1"/>
                        <a:t>reinitalize</a:t>
                      </a:r>
                      <a:r>
                        <a:rPr lang="en-US" dirty="0"/>
                        <a:t> one.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clone</a:t>
                      </a:r>
                    </a:p>
                    <a:p>
                      <a:r>
                        <a:rPr lang="en-US" dirty="0"/>
                        <a:t>- Clones an repository into the working directory.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add</a:t>
                      </a:r>
                    </a:p>
                    <a:p>
                      <a:r>
                        <a:rPr lang="en-US" dirty="0"/>
                        <a:t> - Add file contents to the index.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checkout</a:t>
                      </a:r>
                    </a:p>
                    <a:p>
                      <a:r>
                        <a:rPr lang="en-US" dirty="0"/>
                        <a:t>- Switch branches or restore working tree files.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branch  (-b | -d | -D)</a:t>
                      </a:r>
                    </a:p>
                    <a:p>
                      <a:r>
                        <a:rPr lang="en-US" dirty="0"/>
                        <a:t>- List, create, or delete branches. 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pull </a:t>
                      </a:r>
                    </a:p>
                    <a:p>
                      <a:r>
                        <a:rPr lang="en-US" dirty="0"/>
                        <a:t>- Incorporates changes from a remote repository into the current branch.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git push</a:t>
                      </a:r>
                    </a:p>
                    <a:p>
                      <a:r>
                        <a:rPr lang="en-US" dirty="0"/>
                        <a:t>- Update remote refs along with associated objects.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fetch</a:t>
                      </a:r>
                    </a:p>
                    <a:p>
                      <a:r>
                        <a:rPr lang="en-US" dirty="0"/>
                        <a:t>- Fetch all the branches from the repository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status</a:t>
                      </a:r>
                    </a:p>
                    <a:p>
                      <a:r>
                        <a:rPr lang="en-US" dirty="0"/>
                        <a:t>- Show the working tree status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merge</a:t>
                      </a:r>
                    </a:p>
                    <a:p>
                      <a:r>
                        <a:rPr lang="en-US" dirty="0"/>
                        <a:t>- Join two or more development histories together.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git commit -m “”</a:t>
                      </a:r>
                    </a:p>
                    <a:p>
                      <a:r>
                        <a:rPr lang="en-US" dirty="0"/>
                        <a:t>- Create a new commit with the contents of the index.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log</a:t>
                      </a:r>
                    </a:p>
                    <a:p>
                      <a:r>
                        <a:rPr lang="en-US" dirty="0"/>
                        <a:t>- Show commit logs.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12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15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75AD-B5A4-4030-11AE-51FECBBC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A2C5E59C-BE0A-5A5A-EDAE-6B46F7F583A8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Most common Git commands &gt;&gt; </a:t>
            </a:r>
            <a:r>
              <a:rPr lang="en-US" sz="3200" b="1" dirty="0"/>
              <a:t>man git</a:t>
            </a:r>
            <a:endParaRPr lang="en-US" sz="3200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5F21C05-53C7-8938-9D9D-DD8688AF7891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6FDD6AF4-8BC9-78BB-B5A2-5A2E9B87E2E0}"/>
              </a:ext>
            </a:extLst>
          </p:cNvPr>
          <p:cNvSpPr txBox="1"/>
          <p:nvPr/>
        </p:nvSpPr>
        <p:spPr>
          <a:xfrm>
            <a:off x="683741" y="1169773"/>
            <a:ext cx="110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EB4F6F-D6B5-7D86-9CEA-0AAA8F57F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684936"/>
              </p:ext>
            </p:extLst>
          </p:nvPr>
        </p:nvGraphicFramePr>
        <p:xfrm>
          <a:off x="683741" y="1169773"/>
          <a:ext cx="10824518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2259">
                  <a:extLst>
                    <a:ext uri="{9D8B030D-6E8A-4147-A177-3AD203B41FA5}">
                      <a16:colId xmlns:a16="http://schemas.microsoft.com/office/drawing/2014/main" val="3346045517"/>
                    </a:ext>
                  </a:extLst>
                </a:gridCol>
                <a:gridCol w="5412259">
                  <a:extLst>
                    <a:ext uri="{9D8B030D-6E8A-4147-A177-3AD203B41FA5}">
                      <a16:colId xmlns:a16="http://schemas.microsoft.com/office/drawing/2014/main" val="1996848727"/>
                    </a:ext>
                  </a:extLst>
                </a:gridCol>
              </a:tblGrid>
              <a:tr h="4222610">
                <a:tc>
                  <a:txBody>
                    <a:bodyPr/>
                    <a:lstStyle/>
                    <a:p>
                      <a:r>
                        <a:rPr lang="en-US" b="1" dirty="0"/>
                        <a:t>git clean</a:t>
                      </a:r>
                    </a:p>
                    <a:p>
                      <a:r>
                        <a:rPr lang="en-US" dirty="0"/>
                        <a:t>- Cleans the working tree.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revert</a:t>
                      </a:r>
                    </a:p>
                    <a:p>
                      <a:r>
                        <a:rPr lang="en-US" dirty="0"/>
                        <a:t> - Revert some existing commits.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stash</a:t>
                      </a:r>
                    </a:p>
                    <a:p>
                      <a:r>
                        <a:rPr lang="en-US" dirty="0"/>
                        <a:t> - Stash the changes in a dirty working directory away.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cherry-pick </a:t>
                      </a:r>
                    </a:p>
                    <a:p>
                      <a:r>
                        <a:rPr lang="en-US" dirty="0"/>
                        <a:t>- Apply changes introduced by some existing commits.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diff</a:t>
                      </a:r>
                    </a:p>
                    <a:p>
                      <a:r>
                        <a:rPr lang="en-US" dirty="0"/>
                        <a:t>- Show changes between commits.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rebase </a:t>
                      </a:r>
                    </a:p>
                    <a:p>
                      <a:r>
                        <a:rPr lang="en-US" dirty="0"/>
                        <a:t>- Reapply commits on top of another base tip.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git reset</a:t>
                      </a:r>
                    </a:p>
                    <a:p>
                      <a:r>
                        <a:rPr lang="en-US" dirty="0"/>
                        <a:t>- Reset current HEAD to the specified state.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&lt;command&gt; --help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Documentation of every command that’s searched for.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git config</a:t>
                      </a:r>
                    </a:p>
                    <a:p>
                      <a:r>
                        <a:rPr lang="en-US" dirty="0"/>
                        <a:t>- Get and set repository or global options.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12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47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5935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 Flow?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81389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branching model for software development using </a:t>
            </a:r>
            <a:r>
              <a:rPr lang="en-US" dirty="0" err="1"/>
              <a:t>Git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flow is not a official standard from </a:t>
            </a:r>
            <a:r>
              <a:rPr lang="en-US" dirty="0" err="1"/>
              <a:t>Git</a:t>
            </a:r>
            <a:r>
              <a:rPr lang="en-US" dirty="0"/>
              <a:t>, it is more like an idea of how a successful branching model could look like. It provides some pre-defined rules that teams can consider to use or not.</a:t>
            </a:r>
          </a:p>
          <a:p>
            <a:endParaRPr lang="en-US" dirty="0"/>
          </a:p>
          <a:p>
            <a:r>
              <a:rPr lang="en-US" dirty="0"/>
              <a:t>Essentially it is a set of procedures that every team member has to follow in order to come to a managed software development process. </a:t>
            </a:r>
            <a:endParaRPr lang="es-E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724" y="1013254"/>
            <a:ext cx="2891482" cy="50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36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/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/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1221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169" y="1093022"/>
            <a:ext cx="3233037" cy="4845199"/>
          </a:xfrm>
          <a:prstGeom prst="rect">
            <a:avLst/>
          </a:prstGeom>
        </p:spPr>
      </p:pic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 Flow?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742" y="1169773"/>
            <a:ext cx="79438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branches: </a:t>
            </a:r>
            <a:r>
              <a:rPr lang="en-US" b="1" dirty="0"/>
              <a:t>master &amp; develop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origin/master</a:t>
            </a:r>
            <a:r>
              <a:rPr lang="en-US" dirty="0"/>
              <a:t> is the main branch where the source code of HEAD always reflects a production-ready state.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origin/develop</a:t>
            </a:r>
            <a:r>
              <a:rPr lang="en-US" dirty="0"/>
              <a:t> is the main branch where the source code of HEAD always reflects a state with the latest delivered development changes for the next release.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source code in the develop branch reaches a stable point and is ready to be released, all of the changes should be merged back into master somehow and then tagged with a release number.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Therefore, each time when changes are merged back into master, this is a new production release by definition.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786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710" y="1169773"/>
            <a:ext cx="1682496" cy="4227076"/>
          </a:xfrm>
          <a:prstGeom prst="rect">
            <a:avLst/>
          </a:prstGeom>
        </p:spPr>
      </p:pic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 Flow?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742" y="1169773"/>
            <a:ext cx="95252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Supporting branches: </a:t>
            </a:r>
            <a:r>
              <a:rPr lang="en-US" b="1" dirty="0"/>
              <a:t>feature &amp; </a:t>
            </a:r>
            <a:r>
              <a:rPr lang="en-US" b="1" dirty="0" err="1"/>
              <a:t>bugfix</a:t>
            </a:r>
            <a:endParaRPr lang="en-US" dirty="0"/>
          </a:p>
          <a:p>
            <a:pPr algn="just"/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Specific user stories single tickets/tasks branches starting from </a:t>
            </a:r>
            <a:r>
              <a:rPr lang="en-US" b="1" dirty="0"/>
              <a:t>dev</a:t>
            </a:r>
            <a:r>
              <a:rPr lang="en-US" dirty="0"/>
              <a:t> branch</a:t>
            </a:r>
            <a:endParaRPr lang="en-US" b="1" dirty="0"/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feature/</a:t>
            </a:r>
            <a:r>
              <a:rPr lang="en-US" b="1" dirty="0" err="1"/>
              <a:t>branch_name</a:t>
            </a:r>
            <a:r>
              <a:rPr lang="en-US" dirty="0"/>
              <a:t> are used to develop new features for the upcoming or a distant future release and can be used also for branches that </a:t>
            </a:r>
            <a:r>
              <a:rPr lang="en-US" b="1" dirty="0"/>
              <a:t>improve/refactor</a:t>
            </a:r>
            <a:r>
              <a:rPr lang="en-US" dirty="0"/>
              <a:t> existing code.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bugfix</a:t>
            </a:r>
            <a:r>
              <a:rPr lang="en-US" b="1" dirty="0"/>
              <a:t>/</a:t>
            </a:r>
            <a:r>
              <a:rPr lang="en-US" b="1" dirty="0" err="1"/>
              <a:t>branch_name</a:t>
            </a:r>
            <a:r>
              <a:rPr lang="en-US" dirty="0"/>
              <a:t> are the ones used for correcting bugs.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feature/feature-name/</a:t>
            </a:r>
            <a:r>
              <a:rPr lang="en-US" b="1" dirty="0" err="1"/>
              <a:t>sub_branch_name</a:t>
            </a:r>
            <a:r>
              <a:rPr lang="en-US" b="1" dirty="0"/>
              <a:t>,</a:t>
            </a:r>
            <a:r>
              <a:rPr lang="en-US" dirty="0"/>
              <a:t> could be a possibility that one feature ticket it's to big for one </a:t>
            </a:r>
            <a:r>
              <a:rPr lang="en-US" b="1" dirty="0"/>
              <a:t>feature/feature-name</a:t>
            </a:r>
            <a:r>
              <a:rPr lang="en-US" dirty="0"/>
              <a:t> branch, then it could be </a:t>
            </a:r>
            <a:r>
              <a:rPr lang="en-US" dirty="0" err="1"/>
              <a:t>splited</a:t>
            </a:r>
            <a:r>
              <a:rPr lang="en-US" dirty="0"/>
              <a:t> into multiple ones and later on be merged all together in the parent </a:t>
            </a:r>
            <a:r>
              <a:rPr lang="en-US" b="1" dirty="0"/>
              <a:t>feature/feature-name</a:t>
            </a:r>
            <a:r>
              <a:rPr lang="en-US" dirty="0"/>
              <a:t> and later on the parent be merged into </a:t>
            </a:r>
            <a:r>
              <a:rPr lang="en-US" b="1" dirty="0"/>
              <a:t>dev/</a:t>
            </a:r>
            <a:r>
              <a:rPr lang="en-US" dirty="0"/>
              <a:t> and so on.</a:t>
            </a:r>
          </a:p>
        </p:txBody>
      </p:sp>
    </p:spTree>
    <p:extLst>
      <p:ext uri="{BB962C8B-B14F-4D97-AF65-F5344CB8AC3E}">
        <p14:creationId xmlns:p14="http://schemas.microsoft.com/office/powerpoint/2010/main" val="387798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710" y="1169773"/>
            <a:ext cx="1682496" cy="4227076"/>
          </a:xfrm>
          <a:prstGeom prst="rect">
            <a:avLst/>
          </a:prstGeom>
        </p:spPr>
      </p:pic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 Flow?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742" y="1169773"/>
            <a:ext cx="95252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Supporting branches: </a:t>
            </a:r>
            <a:r>
              <a:rPr lang="en-US" b="1" dirty="0"/>
              <a:t>feature &amp; </a:t>
            </a:r>
            <a:r>
              <a:rPr lang="en-US" b="1" dirty="0" err="1"/>
              <a:t>bugfix</a:t>
            </a:r>
            <a:r>
              <a:rPr lang="en-US" b="1" dirty="0"/>
              <a:t> names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We should always keep the same flow and naming convention:</a:t>
            </a:r>
          </a:p>
          <a:p>
            <a:pPr algn="just"/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feature/[ticket-number]-[short-ticket-description]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bugfix</a:t>
            </a:r>
            <a:r>
              <a:rPr lang="en-US" b="1" dirty="0"/>
              <a:t>/[ticket-number]-[short-ticket-description]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Feature/</a:t>
            </a:r>
            <a:r>
              <a:rPr lang="en-US" b="1" dirty="0" err="1"/>
              <a:t>Bugfix</a:t>
            </a:r>
            <a:r>
              <a:rPr lang="en-US" b="1" dirty="0"/>
              <a:t> branches should only contain FILE CHANGES regarding the ticket description!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Branches and PR should not contain changes on files that are not related to the ticket as it makes harder to keep track of the changes when reviewing the PR.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(Even if there are </a:t>
            </a:r>
            <a:r>
              <a:rPr lang="en-US" dirty="0" err="1"/>
              <a:t>bugfix</a:t>
            </a:r>
            <a:r>
              <a:rPr lang="en-US" dirty="0"/>
              <a:t> corrections on the feature, for those cases create specific tickets and add the changes there when possible!!).</a:t>
            </a:r>
          </a:p>
        </p:txBody>
      </p:sp>
    </p:spTree>
    <p:extLst>
      <p:ext uri="{BB962C8B-B14F-4D97-AF65-F5344CB8AC3E}">
        <p14:creationId xmlns:p14="http://schemas.microsoft.com/office/powerpoint/2010/main" val="75516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What is Git Flow?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741" y="1169773"/>
            <a:ext cx="110304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Commit messages</a:t>
            </a:r>
          </a:p>
          <a:p>
            <a:pPr algn="just"/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Commits should have the following format: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commit -m </a:t>
            </a:r>
            <a:r>
              <a:rPr lang="en-US" b="1" dirty="0"/>
              <a:t>“(prefix) #[ticket-number] - Commit message”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 on Current branch</a:t>
            </a:r>
            <a:r>
              <a:rPr lang="en-US" b="1" dirty="0"/>
              <a:t>, feature/1-add-cockpit-panel-ui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commit -m “(feat) #1 – Implement cockpit panel UI interface”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commit -m “(feat) #1 – </a:t>
            </a:r>
            <a:r>
              <a:rPr lang="en-US" dirty="0" err="1"/>
              <a:t>Enhace</a:t>
            </a:r>
            <a:r>
              <a:rPr lang="en-US" dirty="0"/>
              <a:t> UI interface design”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commit -m “(feat) #1 – Refactor and clean up, correct review comments …”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Afterwards the </a:t>
            </a:r>
            <a:r>
              <a:rPr lang="en-US" b="1" dirty="0"/>
              <a:t>feature/</a:t>
            </a:r>
            <a:r>
              <a:rPr lang="en-US" b="1" dirty="0" err="1"/>
              <a:t>bugfix</a:t>
            </a:r>
            <a:r>
              <a:rPr lang="en-US" dirty="0"/>
              <a:t> branch commits </a:t>
            </a:r>
            <a:r>
              <a:rPr lang="en-US" b="1" dirty="0"/>
              <a:t>will be squashed and merged into develop </a:t>
            </a:r>
            <a:r>
              <a:rPr lang="en-US" dirty="0"/>
              <a:t>on one single commit with a meaningful ticket description message (provided from the developer who did solve the ticket, </a:t>
            </a:r>
            <a:r>
              <a:rPr lang="en-US" b="1" dirty="0"/>
              <a:t>please</a:t>
            </a:r>
            <a:r>
              <a:rPr lang="en-US" dirty="0"/>
              <a:t>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14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Decentralized but centralized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61810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Best Practices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683741" y="1169773"/>
            <a:ext cx="110304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</a:t>
            </a:r>
            <a:r>
              <a:rPr lang="en-US" b="1" dirty="0"/>
              <a:t>pull</a:t>
            </a:r>
            <a:r>
              <a:rPr lang="en-US" dirty="0"/>
              <a:t> to get the last state of the </a:t>
            </a:r>
            <a:r>
              <a:rPr lang="en-US" b="1" dirty="0"/>
              <a:t>dev</a:t>
            </a:r>
            <a:r>
              <a:rPr lang="en-US" dirty="0"/>
              <a:t> branch and before </a:t>
            </a:r>
            <a:r>
              <a:rPr lang="en-US" b="1" dirty="0"/>
              <a:t>assigning PR pull/merge</a:t>
            </a:r>
            <a:r>
              <a:rPr lang="en-US" dirty="0"/>
              <a:t> the last state of </a:t>
            </a:r>
            <a:r>
              <a:rPr lang="en-US" b="1" dirty="0"/>
              <a:t>dev</a:t>
            </a:r>
            <a:r>
              <a:rPr lang="en-US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branches have diverged you can always use </a:t>
            </a:r>
            <a:r>
              <a:rPr lang="en-US" b="1" dirty="0"/>
              <a:t>rebase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</a:t>
            </a:r>
            <a:r>
              <a:rPr lang="en-US" b="1" dirty="0"/>
              <a:t>clean</a:t>
            </a:r>
            <a:r>
              <a:rPr lang="en-US" dirty="0"/>
              <a:t>, </a:t>
            </a:r>
            <a:r>
              <a:rPr lang="en-US" b="1" dirty="0"/>
              <a:t>single-purpose commits</a:t>
            </a:r>
            <a:r>
              <a:rPr lang="en-US" dirty="0"/>
              <a:t>, writing </a:t>
            </a:r>
            <a:r>
              <a:rPr lang="en-US" b="1" dirty="0"/>
              <a:t>meaningful commit messages </a:t>
            </a:r>
            <a:r>
              <a:rPr lang="en-US" dirty="0"/>
              <a:t>and </a:t>
            </a:r>
            <a:r>
              <a:rPr lang="en-US" b="1" dirty="0"/>
              <a:t>push</a:t>
            </a:r>
            <a:r>
              <a:rPr lang="en-US" dirty="0"/>
              <a:t> often.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 </a:t>
            </a:r>
            <a:r>
              <a:rPr lang="en-US" b="1" dirty="0" err="1"/>
              <a:t>massives</a:t>
            </a:r>
            <a:r>
              <a:rPr lang="en-US" b="1" dirty="0"/>
              <a:t> PR</a:t>
            </a:r>
            <a:r>
              <a:rPr lang="en-US" dirty="0"/>
              <a:t>, when that's the case </a:t>
            </a:r>
            <a:r>
              <a:rPr lang="en-US" b="1" dirty="0"/>
              <a:t>split the feature ticket into </a:t>
            </a:r>
            <a:r>
              <a:rPr lang="en-US" b="1" dirty="0" err="1"/>
              <a:t>childs</a:t>
            </a:r>
            <a:r>
              <a:rPr lang="en-US" b="1" dirty="0"/>
              <a:t> and create a PR for every child to the parent</a:t>
            </a:r>
            <a:r>
              <a:rPr lang="en-US" dirty="0"/>
              <a:t>. When tested and reviewed then merge it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</a:t>
            </a:r>
            <a:r>
              <a:rPr lang="en-US" dirty="0"/>
              <a:t> yourself of </a:t>
            </a:r>
            <a:r>
              <a:rPr lang="en-US" b="1" dirty="0"/>
              <a:t>adding</a:t>
            </a:r>
            <a:r>
              <a:rPr lang="en-US" dirty="0"/>
              <a:t> </a:t>
            </a:r>
            <a:r>
              <a:rPr lang="en-US" b="1" dirty="0"/>
              <a:t>more things to the PR than requested on the ticket description</a:t>
            </a:r>
            <a:r>
              <a:rPr lang="en-US" dirty="0"/>
              <a:t>. </a:t>
            </a:r>
            <a:r>
              <a:rPr lang="en-US" b="1" dirty="0"/>
              <a:t>Create new feature or </a:t>
            </a:r>
            <a:r>
              <a:rPr lang="en-US" b="1" dirty="0" err="1"/>
              <a:t>bugfix</a:t>
            </a:r>
            <a:r>
              <a:rPr lang="en-US" b="1" dirty="0"/>
              <a:t> tickets </a:t>
            </a:r>
            <a:r>
              <a:rPr lang="en-US" dirty="0"/>
              <a:t>if that is the case.</a:t>
            </a:r>
          </a:p>
        </p:txBody>
      </p:sp>
    </p:spTree>
    <p:extLst>
      <p:ext uri="{BB962C8B-B14F-4D97-AF65-F5344CB8AC3E}">
        <p14:creationId xmlns:p14="http://schemas.microsoft.com/office/powerpoint/2010/main" val="1108567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381B-6B89-99FA-A586-001B7240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E82D5A88-B7BE-6761-1CB7-F001468C3C46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/>
              <a:t>Best</a:t>
            </a:r>
            <a:r>
              <a:rPr lang="es-ES" sz="3200" dirty="0"/>
              <a:t> </a:t>
            </a:r>
            <a:r>
              <a:rPr lang="es-ES" sz="3200" dirty="0" err="1"/>
              <a:t>Practices</a:t>
            </a:r>
            <a:r>
              <a:rPr lang="es-ES" sz="3200" dirty="0"/>
              <a:t> - </a:t>
            </a:r>
            <a:r>
              <a:rPr lang="es-ES" sz="3200" b="1" dirty="0"/>
              <a:t>.</a:t>
            </a:r>
            <a:r>
              <a:rPr lang="es-ES" sz="3200" b="1" dirty="0" err="1"/>
              <a:t>gitignore</a:t>
            </a:r>
            <a:endParaRPr lang="de-DE" sz="7200" b="1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D5955480-0EE7-F998-1276-EA132CADE1F1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D006A633-8EA2-4AA2-60CD-C5A3F17DA897}"/>
              </a:ext>
            </a:extLst>
          </p:cNvPr>
          <p:cNvSpPr txBox="1"/>
          <p:nvPr/>
        </p:nvSpPr>
        <p:spPr>
          <a:xfrm>
            <a:off x="683741" y="1169773"/>
            <a:ext cx="11030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is a simple text file that specifies intentionally untracked files and directories that Git should ignore when managing your project. These files could include build artifacts, system-generated files, logs, or any other files that shouldn't be committed to the repository.</a:t>
            </a:r>
            <a:endParaRPr lang="es-ES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Picture 2" descr="A diagram of a software system&#10;&#10;Description automatically generated">
            <a:extLst>
              <a:ext uri="{FF2B5EF4-FFF2-40B4-BE49-F238E27FC236}">
                <a16:creationId xmlns:a16="http://schemas.microsoft.com/office/drawing/2014/main" id="{27D1A5E9-5DCF-2583-7D67-5737863FF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23" y="2061384"/>
            <a:ext cx="6499955" cy="42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63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C5F8-F6A6-9E41-08F6-392FE9A9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B000CEE1-23CF-29B8-4429-4A4E073B533B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/>
              <a:t>Best</a:t>
            </a:r>
            <a:r>
              <a:rPr lang="es-ES" sz="3200" dirty="0"/>
              <a:t> </a:t>
            </a:r>
            <a:r>
              <a:rPr lang="es-ES" sz="3200" dirty="0" err="1"/>
              <a:t>Practices</a:t>
            </a:r>
            <a:r>
              <a:rPr lang="es-ES" sz="3200" dirty="0"/>
              <a:t> - </a:t>
            </a:r>
            <a:r>
              <a:rPr lang="es-ES" sz="3200" b="1" dirty="0"/>
              <a:t>.</a:t>
            </a:r>
            <a:r>
              <a:rPr lang="es-ES" sz="3200" b="1" dirty="0" err="1"/>
              <a:t>gitignore</a:t>
            </a:r>
            <a:endParaRPr lang="de-DE" sz="7200" b="1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DDD95A9-DD92-8C7F-D2C1-E9C740438C88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2EDBBEE8-D522-E4AA-3F03-B0D544A3CA40}"/>
              </a:ext>
            </a:extLst>
          </p:cNvPr>
          <p:cNvSpPr txBox="1"/>
          <p:nvPr/>
        </p:nvSpPr>
        <p:spPr>
          <a:xfrm>
            <a:off x="683741" y="1169773"/>
            <a:ext cx="110304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syntax of a </a:t>
            </a:r>
            <a:r>
              <a:rPr lang="en-US" b="1" dirty="0"/>
              <a:t>`.</a:t>
            </a:r>
            <a:r>
              <a:rPr lang="en-US" b="1" dirty="0" err="1"/>
              <a:t>gitignore</a:t>
            </a:r>
            <a:r>
              <a:rPr lang="en-US" b="1" dirty="0"/>
              <a:t>`</a:t>
            </a:r>
            <a:r>
              <a:rPr lang="en-US" dirty="0"/>
              <a:t> file is simple. Each line specifies a pattern for </a:t>
            </a:r>
            <a:r>
              <a:rPr lang="en-US" b="1" dirty="0"/>
              <a:t>files</a:t>
            </a:r>
            <a:r>
              <a:rPr lang="en-US" dirty="0"/>
              <a:t> or </a:t>
            </a:r>
            <a:r>
              <a:rPr lang="en-US" b="1" dirty="0"/>
              <a:t>directories</a:t>
            </a:r>
            <a:r>
              <a:rPr lang="en-US" dirty="0"/>
              <a:t> to ignore. Wildcards, such as </a:t>
            </a:r>
            <a:r>
              <a:rPr lang="en-US" b="1" dirty="0"/>
              <a:t>`*`</a:t>
            </a:r>
            <a:r>
              <a:rPr lang="en-US" dirty="0"/>
              <a:t> and </a:t>
            </a:r>
            <a:r>
              <a:rPr lang="en-US" b="1" dirty="0"/>
              <a:t>`**`</a:t>
            </a:r>
            <a:r>
              <a:rPr lang="en-US" dirty="0"/>
              <a:t>, can be used for pattern matching.</a:t>
            </a: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You can negate patterns to include files that match a pattern but are ignored by other rules. For example:</a:t>
            </a:r>
            <a:endParaRPr lang="es-ES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Picture 3" descr="A white rectangular object with text&#10;&#10;Description automatically generated">
            <a:extLst>
              <a:ext uri="{FF2B5EF4-FFF2-40B4-BE49-F238E27FC236}">
                <a16:creationId xmlns:a16="http://schemas.microsoft.com/office/drawing/2014/main" id="{4AE074BC-462B-B357-9487-376E433E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1" y="1866607"/>
            <a:ext cx="7772400" cy="1917718"/>
          </a:xfrm>
          <a:prstGeom prst="rect">
            <a:avLst/>
          </a:prstGeom>
        </p:spPr>
      </p:pic>
      <p:pic>
        <p:nvPicPr>
          <p:cNvPr id="6" name="Picture 5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4A726211-3160-71AC-6851-7FA0D3605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41" y="4384742"/>
            <a:ext cx="7772400" cy="139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9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9DFD-1252-C0CC-739D-08ED69EB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>
            <a:extLst>
              <a:ext uri="{FF2B5EF4-FFF2-40B4-BE49-F238E27FC236}">
                <a16:creationId xmlns:a16="http://schemas.microsoft.com/office/drawing/2014/main" id="{26C70C72-67CB-C20B-C3E5-9272FBC52790}"/>
              </a:ext>
            </a:extLst>
          </p:cNvPr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/>
              <a:t>Best</a:t>
            </a:r>
            <a:r>
              <a:rPr lang="es-ES" sz="3200" dirty="0"/>
              <a:t> </a:t>
            </a:r>
            <a:r>
              <a:rPr lang="es-ES" sz="3200" dirty="0" err="1"/>
              <a:t>Practices</a:t>
            </a:r>
            <a:r>
              <a:rPr lang="es-ES" sz="3200" dirty="0"/>
              <a:t> - </a:t>
            </a:r>
            <a:r>
              <a:rPr lang="es-ES" sz="3200" b="1" dirty="0"/>
              <a:t>global .</a:t>
            </a:r>
            <a:r>
              <a:rPr lang="es-ES" sz="3200" b="1" dirty="0" err="1"/>
              <a:t>gitignore</a:t>
            </a:r>
            <a:endParaRPr lang="de-DE" sz="7200" b="1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8B101FE-08E3-930C-801B-58EAA1706C2B}"/>
              </a:ext>
            </a:extLst>
          </p:cNvPr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DC89BCB6-9FB8-F3D8-5556-3527626A7240}"/>
              </a:ext>
            </a:extLst>
          </p:cNvPr>
          <p:cNvSpPr txBox="1"/>
          <p:nvPr/>
        </p:nvSpPr>
        <p:spPr>
          <a:xfrm>
            <a:off x="683741" y="1169773"/>
            <a:ext cx="11030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create a global</a:t>
            </a:r>
            <a:r>
              <a:rPr lang="en-US" b="1" dirty="0"/>
              <a:t> `.</a:t>
            </a:r>
            <a:r>
              <a:rPr lang="en-US" b="1" dirty="0" err="1"/>
              <a:t>gitignore</a:t>
            </a:r>
            <a:r>
              <a:rPr lang="en-US" b="1" dirty="0"/>
              <a:t>`</a:t>
            </a:r>
            <a:r>
              <a:rPr lang="en-US" dirty="0"/>
              <a:t> file that applies to all your Git repositories. To set up a global </a:t>
            </a:r>
            <a:r>
              <a:rPr lang="en-US" b="1" dirty="0"/>
              <a:t>`.</a:t>
            </a:r>
            <a:r>
              <a:rPr lang="en-US" b="1" dirty="0" err="1"/>
              <a:t>gitignore</a:t>
            </a:r>
            <a:r>
              <a:rPr lang="en-US" b="1" dirty="0"/>
              <a:t>`</a:t>
            </a:r>
            <a:r>
              <a:rPr lang="en-US" dirty="0"/>
              <a:t> file, use the following commands:</a:t>
            </a:r>
            <a:endParaRPr lang="es-ES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283B19E-4780-72A2-5DEA-CB1A3863C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1" y="1922809"/>
            <a:ext cx="7772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04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/>
              <a:t>Index</a:t>
            </a:r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683741" y="1169773"/>
            <a:ext cx="110304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What is Git Flow?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Decentralized but centralized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The main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Supporting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Feature branches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Bugfix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Commit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>
                    <a:lumMod val="65000"/>
                  </a:schemeClr>
                </a:solidFill>
              </a:rPr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81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el 1"/>
          <p:cNvSpPr txBox="1">
            <a:spLocks/>
          </p:cNvSpPr>
          <p:nvPr/>
        </p:nvSpPr>
        <p:spPr>
          <a:xfrm>
            <a:off x="683741" y="502508"/>
            <a:ext cx="11030465" cy="51074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Q&amp;A</a:t>
            </a:r>
          </a:p>
          <a:p>
            <a:endParaRPr lang="de-DE" sz="7200" dirty="0"/>
          </a:p>
        </p:txBody>
      </p:sp>
      <p:cxnSp>
        <p:nvCxnSpPr>
          <p:cNvPr id="27" name="Gerader Verbinder 26"/>
          <p:cNvCxnSpPr/>
          <p:nvPr/>
        </p:nvCxnSpPr>
        <p:spPr>
          <a:xfrm>
            <a:off x="683741" y="947351"/>
            <a:ext cx="10989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" r="58269"/>
          <a:stretch/>
        </p:blipFill>
        <p:spPr>
          <a:xfrm>
            <a:off x="4863080" y="1695624"/>
            <a:ext cx="2630595" cy="40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0003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1334</TotalTime>
  <Words>1551</Words>
  <Application>Microsoft Macintosh PowerPoint</Application>
  <PresentationFormat>Widescreen</PresentationFormat>
  <Paragraphs>235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Rückblick</vt:lpstr>
      <vt:lpstr>Git Flow and Best Practices 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Airbus Defence &amp; Space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Flow and Best Practices  Introduction</dc:title>
  <dc:creator>Juan Jose Sanchez Sanchez</dc:creator>
  <cp:lastModifiedBy>juan jose sanchez sanchez</cp:lastModifiedBy>
  <cp:revision>20</cp:revision>
  <dcterms:created xsi:type="dcterms:W3CDTF">2021-10-20T10:50:30Z</dcterms:created>
  <dcterms:modified xsi:type="dcterms:W3CDTF">2026-10-05T09:39:23Z</dcterms:modified>
</cp:coreProperties>
</file>